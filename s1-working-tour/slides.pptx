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everybody. I am George Mount from Stringfest Analytics, and this is Python in Excel: a working tour for Excel analysts. The title on the screen is really the reaction I want you to have about forty minutes from now: Excel can do that now? Here is the promise. In the next forty five minutes you will write your first Python cell, build your first DataFrame from an Excel table, and then watch five things happen in the grid that Excel simply could not do a year ago. This is a working tour, so if you have Excel open with Python available, follow along; if you do not, watch and take notes, everything is recorded. Let me share my screen and show you the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run of show. Three parts. Part one is about seven minutes and it is deliberately tiny: we get into a Python cell, write hello world, and I show you the ordering error on purpose so it never surprises you later. Part two, about ten minutes, is where Excel people usually relax, because a DataFrame turns out to be an Excel table with a different accent. We load one, spill it back to the grid, run describe, and do a groupby that I will call the PivotTable in one line. Part three is the payoff: five demos, each one a single cell, each one preceded by how you would have done it in Excel. Then I will be honest about the limits, and point you to the book and the next free session. Chat is open the whole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housekeeping before we type anything. First, this is recorded, and the recording plus the workbook go on the free sessions page on Gumroad; the link is on the slide and I will drop it in chat now. Second, the follow-along workbook already has every table we need today: nyc, sales, mpg and AirPassengers, all formatted as Excel tables. Third, the requirement: Microsoft 365 with Python in Excel. The only check that matters is whether you see a Python group on the Formulas tab. If you do not, watch today and set it up afterward with the setup guide in the download. Fourth, chat is open; I read it after each part. And finally three key combos you will use over and over: Ctrl+Alt+Shift+P for a new Python cell, Ctrl+Enter to run, Ctrl+Alt+Shift+M to spill. Write those on a sticky note. Let's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I am going to keep this deliberately small so nobody falls behind. Three things happen here. We get into a Python cell three different ways and you pick your favourite. We write hello world and reference it from another cell, which teaches you the single most important idea: a Python cell creates an object, and other cells can ask for it. And then I break it on purpose, so you see the #PYTHON! ordering error in a safe place. Click over to a blank sheet in the follow-along workbook, or add one called hello-world. I am on mine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B2 with me. Now watch the ribbon: Formulas tab, and there is the Python group; click Insert Python. See the green PY badge on the cell and in the formula bar? That badge is the whole difference; this cell now runs Python, not a formula. Press Escape and it goes away. Second way: type =PY( and the badge appears the moment you type the paren. Escape again. Third way, and the one I use: Ctrl+Alt+Shift+P. Now type my_object equals, in quotes, Hello, world! And here is the trap: press Ctrl+Enter, not Enter. Enter inside a Python cell inserts a new line. Ctrl+Enter runs it. First run takes a few seconds while the cloud runtime spins up. There it is: Hello, world! in B2. It looks like a formula result, but it is not. We created a Python object and Excel is showing us its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click C3, below and to the right of B2. Ctrl+Alt+Shift+P for a new Python cell. Type just the object name, my_object, nothing else. Ctrl+Enter. C3 shows Hello, world! Notice what did not happen: no equals sign, no reference to B2. C3 simply asked Python for an object that already exists. That is the mental model for the whole session: cells create objects, later cells use them. One more click while we are here: Formulas tab, Python group, Editor. The Editor pane opens on the right. Click into B2 and the same code appears there. Use the formula bar for one-liners and the pane the moment code outgrows a line. Same cell either way. Leave that pane docked; we will live in it in part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am going to break it. Click A1, above and to the left of B2. Ctrl+Alt+Shift+P, type my_object again, exactly what worked in C3, Ctrl+Enter. #PYTHON!. Click the little error indicator and read the message: my_object is not defined. Same code, different cell, different answer. Here is why. Excel is a recalculating grid: any cell can reference any cell and Excel sorts out the dependency tree. Python cells are one program that Excel reads top to bottom, left to right. A1 runs before B2, so when A1 asks for my_object, it does not exist yet. The rule: create objects above or to the left of where you use them. That is why every workbook in this series runs down column A. Try it: cut B2, paste it into A1, and reference from B2. The error flips.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and this is where I want you to relax, because you already know most of this. A DataFrame is pandas' word for a table: rows, columns, headers, one data type per column. You have been building those in Excel for years. What is new is a handful of methods that answer questions you currently answer with a dozen formulas or a PivotTable. We will load a tiny table so you can see everything, learn the one key that moves data between Python and the grid, then move to a two-hundred-row sales table for describe and groupby. Click over to the nyc sheet with me. It has a five-row table called nyc_pop: borough, population, land area.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nyc, click D1. Ctrl+Alt+Shift+P. Now type nyc_df equals, and then instead of typing the rest, click and drag across the nyc_pop table on the sheet. Watch the formula bar: xl, quote, nyc_pop, hash All, headers equals True. Excel writes it for you, exactly like a structured reference. headers=True matters; a DataFrame needs a header row. Ctrl+Enter. The cell says DataFrame with a stacked-card icon. That is the box, not the contents. Click the icon: a card pops up with five rows by three columns, the same linked data type mechanism as Stocks and Geography. Now the key you will use most: Ctrl+Alt+Shift+M. The data spills into D1 to F6 with the blue spill border. Press it again: back to the object. Python Object for reuse, Excel Value to spill.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real table. Click the sales sheet: two hundred orders with product, category, price, quantity, customer age and country. Click I1, to the right of the table. Ctrl+Alt+Shift+P. First line: sales_df equals xl sales hash All headers True, and again you can click-drag the table to get it. Skip a line, then a hash and a comment, Print first few rows. A hash starts a note to the reader that Python ignores. Last line: sales_df dot head, open close paren. Ctrl+Enter, Ctrl+Alt+Shift+M. Five rows, a header, and an index column on the left with zero to four. Why head? Because two hundred rows is small, but two hundred thousand is normal, and spilling that would bury the sheet. You peek. On your own, try tail, or sample five and press F9 to reshuffle.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Scroll down a bit and click I8. Ctrl+Alt+Shift+P, and type one line: sales_df dot describe, open close paren. Ctrl+Enter, Ctrl+Alt+Shift+M. Look at what came back: count, mean, standard deviation, min, the quartiles and max, for every numeric column, in one line. If you have ever used Descriptive Statistics in the Data Analysis ToolPak, that is this, with one difference that matters: this stays connected. Change a price in the table, press F9, and the numbers update. Only the four numeric columns show up; the unlabeled left column is the statistic name. Two things to try later: describe with percentiles equals a list, and describe with exclude equals number, which profiles the text columns with count, unique, top and frequency.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one in this part, and it is the one that makes Excel people smile. Click I20. Ctrl+Alt+Shift+P. Read the line as you type it: sales_df, group by country, pick the unit_price column, take the mean. Ctrl+Enter, Ctrl+Alt+Shift+M. One row per country with the average price. Now do this with me if you have a second: insert a PivotTable on the sales table, drag country to Rows, unit_price to Values, change it to Average. The numbers match exactly. That is why I call it the PivotTable in one line: Rows field, Values field, summarize by. Swap mean for sum or count or median. Put two column names in a list to get country by category, like a second Rows field. Everything you know about PivotTables transfers. Questions in chat before part three? Let me look.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and this is the reason you came. Five demos, each one a single Python cell, each one something that was somewhere between painful and impossible in Excel a year ago. For every one I will tell you the Excel way first, so you can feel the difference, then I will type it live. The routine for the chart cells is the same every time and I will call it out: Ctrl+Enter to run, Ctrl+Alt+Shift+M to get the thumbnail, then click the small picture icon beside the cell, Create Reference, to get a big linked image you can drag and resize. Please type along for the first two, and if you fall behind on the last three, just watch; the code is in your workbook. Click the mpg sheet: three hundred and eighty-eight cars from the seventies and eighties.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Excel way first: you want a histogram of fuel economy for each region. Three histograms, three insert-chart clicks, then you fiddle with the axes until they match. Here it is in one line. On the mpg sheet, click K1, well to the right of the table. Ctrl+Alt+Shift+P. First line: mpg_df equals xl mpg hash All headers True; click-drag the table. Skip a line. Then: sns dot displot, x equals mpg, col equals origin, data equals mpg_df. Ctrl+Enter, and give it a few seconds, displot is slow. The cell says Image. Ctrl+Alt+Shift+M and a thumbnail squeezes into the cell. Now click the cell, point at the small picture icon to its right, Create Reference. Drag the corner to make it big. Three panels, same axes: US clusters low, Japan and Europe spread right. Change col to cylinders and run: the picture redraws. That is a linked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one. The Excel way to profile a table for data quality is a helper row per column: COUNTBLANK, COUNTA, maybe UNIQUE with COUNTA around it, then you assemble it. Click K20, Ctrl+Alt+Shift+P, and this time click into the Editor pane on the right, because it is a few lines. Type it with me: quality equals pd dot DataFrame, open paren, open curly brace. Then five entries, name in quotes, colon, and a Series: dtype from mpg_df dot dtypes, non_null from count, null_count from isna dot sum, null_pct is that same sum divided by len of mpg_df times a hundred, rounded to one, and unique from nunique. Close the brace and paren, and on the last line just quality. Ctrl+Enter, Ctrl+Alt+Shift+M. One row per column. Horsepower shows twelve blanks in this file, origin shows three unique values, and dtype tells you object means text. Add a column to the table and re-run; it picks it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one: is the difference real? Japanese cars average a couple of miles per gallon better than European cars in this data. The Excel way is the ToolPak t-Test dialog, and the output is a static block that never updates. Click K35, Ctrl+Alt+Shift+P, into the Editor pane. First line, from scipy import stats. Skip a line, then two filters: japan is mpg_df where origin equals japan, then the mpg column in single brackets; europe the same. Notice two equals signs to compare. Skip a line: t_stat comma p_value equals stats dot ttest_ind of japan comma europe. Two values coming back into two names in one go. Then the display trick you will reuse forever: pd dot DataFrame with a dictionary, and each value wrapped in square brackets. Test statistic, p-value, both means, difference. Ctrl+Enter, Ctrl+Alt+Shift+M. One row, five columns, p-value well under point oh five, difference about two point six. And it recalculates when the data changes.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one comes in two cells, and the first is the setup. Click the AirPassengers sheet: one hundred forty-four months of airline passengers, 1949 to 1960. Click D1, Ctrl+Alt+Shift+P, Editor pane. Load the table into passengers_df. Then two lines you will type for every time series: pd dot to_datetime on the date column so they are real timestamps, and set_index date so time becomes the index. Then from statsmodels dot tsa dot seasonal import seasonal_decompose. decomposition equals seasonal_decompose of the passengers column, model additive, period twelve, because we are looking for a pattern that repeats every twelve rows. Then decomposition dot plot, a suptitle, tight_layout. Ctrl+Enter, Ctrl+Alt+Shift+M, Create Reference, and stretch it tall. Four panels: observed, trend curving up, a seasonal wave identical every year, residual scattered around zero. Excel has nothing like this. And it tells us exactly what the forecast needs to handle: both trend and season.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forecast. Excel's Forecast Sheet is honestly a cousin of this, exponential smoothing with seasonality; what it will not give you is fitted values, residuals, or several models side by side. Click D40, Ctrl+Alt+Shift+P, Editor pane. Import ExponentialSmoothing from statsmodels dot tsa dot holtwinters. hw_model equals ExponentialSmoothing of the passengers column, trend add, seasonal add, seasonal_periods twelve. hw_fit equals hw_model dot fit. forecast_periods twenty-four, forecast equals hw_fit dot forecast steps forecast_periods. forecast_dates is a date_range starting at the last index date, twenty-five month starts, and the bracket one colon drops the first so we do not duplicate the last actual. Two lineplots: history in blue, forecast dashed red. Title. Ctrl+Enter, Ctrl+Alt+Shift+M, Create Reference. Look at the red line. It does not go straight. Higher months stay higher, lower months lower, and the level keeps climbing. A trendline would be straight; simple smoothing would be flat. If you see a warning about frequency, ignore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one, and my favourite. You buy eleven hundred units at thirty dollars, sell at fifty, and demand is usually around a thousand with a swing of two hundred. Scenario Manager gives you three cases; a Data Table gives you a grid over one input. Simulation gives you every future. Click any empty cell well below your others, Ctrl+Alt+Shift+P, Editor pane. Seed forty-two so we all match. Ten thousand simulations, the three business numbers. demand is np dot maximum of a normal draw, mean one thousand, sd two hundred, size ten thousand, floored at zero. units_sold is np dot minimum of demand and inventory, which is MIN for ten thousand rows at once. profit is revenue minus the full cost of inventory, sold or not. mean_profit. Then histplot of profit, a red dashed line at the mean, a black line at break-even, legend. Ctrl+Enter, Ctrl+Alt+Shift+M, Create Reference. A bell with a wall at twenty-two thousand, the cap, and a long left tail crossing zero. Roughly a five percent chance of a loss. Change inventory to nine hundred and re-run.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recap, the honest slide, because I would rather you hear the limits from me than discover them Monday morning. First, every chart you saw is a static picture. It is live and linked, change the code or the data and it redraws, but there is no hover tooltip and no click to drill. Second, the code runs on a Microsoft server, not your laptop. That means nothing to install, but you need a connection, and the first run of a session takes a few seconds. Third, no internet from a cell. You cannot read a CSV from a URL or call an API; the doorway for external data is Power Query, and then xl() reads the result. Fourth, you need Microsoft 365 with the feature switched on; the check is the Python group on the Formulas tab. And fifth, the one we hit in part one: reading order. Objects have to be created above or left of where you use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the whole session on one slide. Three keys: Ctrl+Alt+Shift+P to start a Python cell, Ctrl+Enter to run it, Ctrl+Alt+Shift+M to spill the result into the grid. If you remember nothing else, remember those. One line for a PivotTable: sales_df group by country, unit_price, mean. Five things Excel could not do a year ago: small multiples in one line, a data-quality table in one cell, a t-test that lives in the grid, decompose and forecast a time series, and ten thousand simulated futures in a histogram. Every one of those was one Python cell in a workbook you already have. That is the working tour. Now, where do you go from 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today comes straight out of my book, Python in Excel for Data Analysis, from Packt. The datasets are the book's datasets, the code is the book's code, and the order we went in today is roughly the order of the chapters: hello world, DataFrames, seaborn charts, the EDA workflow, statistical tests, time series and forecasting, simulation, and then wiring it all into a workbook a manager can use. If today felt like the trailer, the book is the movie, with the exercises and the explanations I skipped past to fit forty-five minutes. The link is on the slide and in the chat: stringfestanalytics dot com slash pyxlda. If you buy one thing after this session, buy the book, work through it with the files, and you will be doing this on your own data in a couple of weekends.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session one of four free sessions. Session two goes deeper on the DataFrame: filter, sort, group and the pandas pipeline that replaces a stack of helper columns and a PivotTable, plus a proper look at seaborn charts. Sessions three and four take on statistics and forecasting, and then simulation and building analyst-ready workbooks. Everything is free, everything is recorded, and the follow-along workbooks are all in one place: stringfestdata dot gumroad dot com slash pxlaf. Grab that now if you have not, because it has today's finished workbook with every cell solved, plus the setup guide. The repo link on the slide has the same files. Register for session two from the same page and I will see you there.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tour. Thank you for typing along, and thank you for the questions in chat; I will stay on for a few minutes to take any I missed. Two asks before you go. Open the follow-along workbook this week and re-run just one of the five demos on a table of your own. It will not be perfect, and that is exactly the point. And if it clicked, pick up the book and come to session two. I am George Mount, this was Stringfest Analytics, and I hope the next time somebody in your office says Excel cannot do that, you smile and say: it can now. Thanks, everybody.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1737360"/>
            <a:ext cx="7498079" cy="3840480"/>
          </a:xfrm>
          <a:prstGeom prst="rect">
            <a:avLst/>
          </a:prstGeom>
          <a:noFill/>
        </p:spPr>
        <p:txBody>
          <a:bodyPr wrap="square" lIns="0" rIns="0" tIns="0" bIns="0">
            <a:spAutoFit/>
          </a:bodyPr>
          <a:lstStyle/>
          <a:p>
            <a:r>
              <a:rPr sz="1400" b="1" i="0">
                <a:solidFill>
                  <a:srgbClr val="CF3338"/>
                </a:solidFill>
                <a:latin typeface="Arial Black"/>
              </a:rPr>
              <a:t>FREE LIVE SESSION 1 OF 4</a:t>
            </a:r>
          </a:p>
          <a:p>
            <a:r>
              <a:rPr sz="1500" b="0" i="1">
                <a:solidFill>
                  <a:srgbClr val="707070"/>
                </a:solidFill>
                <a:latin typeface="Arial"/>
              </a:rPr>
              <a:t>Excel can do that now?</a:t>
            </a:r>
          </a:p>
          <a:p>
            <a:pPr>
              <a:spcBef>
                <a:spcPts val="1000"/>
              </a:spcBef>
            </a:pPr>
            <a:r>
              <a:rPr sz="3000" b="1" i="0">
                <a:solidFill>
                  <a:srgbClr val="CF3338"/>
                </a:solidFill>
                <a:latin typeface="Arial Black"/>
              </a:rPr>
              <a:t>Python in Excel:</a:t>
            </a:r>
          </a:p>
          <a:p>
            <a:r>
              <a:rPr sz="4000" b="1" i="0">
                <a:solidFill>
                  <a:srgbClr val="1F2120"/>
                </a:solidFill>
                <a:latin typeface="Arial Black"/>
              </a:rPr>
              <a:t>A working tour for Excel analysts</a:t>
            </a:r>
          </a:p>
          <a:p>
            <a:pPr>
              <a:spcBef>
                <a:spcPts val="1400"/>
              </a:spcBef>
            </a:pPr>
            <a:r>
              <a:rPr sz="1800" b="0" i="0">
                <a:solidFill>
                  <a:srgbClr val="707070"/>
                </a:solidFill>
                <a:latin typeface="Arial"/>
              </a:rPr>
              <a:t>Your first Python cell, your first DataFrame, and five things Excel couldn't do last year.</a:t>
            </a:r>
          </a:p>
        </p:txBody>
      </p:sp>
      <p:sp>
        <p:nvSpPr>
          <p:cNvPr id="3" name="TextBox 2"/>
          <p:cNvSpPr txBox="1"/>
          <p:nvPr/>
        </p:nvSpPr>
        <p:spPr>
          <a:xfrm>
            <a:off x="640080" y="6172200"/>
            <a:ext cx="7498079" cy="457200"/>
          </a:xfrm>
          <a:prstGeom prst="rect">
            <a:avLst/>
          </a:prstGeom>
          <a:noFill/>
        </p:spPr>
        <p:txBody>
          <a:bodyPr wrap="square" lIns="0" rIns="0" tIns="0" bIns="0">
            <a:spAutoFit/>
          </a:bodyPr>
          <a:lstStyle/>
          <a:p>
            <a:r>
              <a:rPr sz="1100" b="0" i="1">
                <a:solidFill>
                  <a:srgbClr val="707070"/>
                </a:solidFill>
                <a:latin typeface="Arial"/>
              </a:rPr>
              <a:t>45 minutes  ·  recorded and posted to the free sessions on Gumroad  ·  George Mount, Stringfest Analytics</a:t>
            </a:r>
          </a:p>
        </p:txBody>
      </p:sp>
      <p:pic>
        <p:nvPicPr>
          <p:cNvPr id="4" name="Picture 3" descr="book-cover.png"/>
          <p:cNvPicPr>
            <a:picLocks noChangeAspect="1"/>
          </p:cNvPicPr>
          <p:nvPr/>
        </p:nvPicPr>
        <p:blipFill>
          <a:blip r:embed="rId2"/>
          <a:stretch>
            <a:fillRect/>
          </a:stretch>
        </p:blipFill>
        <p:spPr>
          <a:xfrm>
            <a:off x="7458120" y="960120"/>
            <a:ext cx="4002054" cy="4937760"/>
          </a:xfrm>
          <a:prstGeom prst="rect">
            <a:avLst/>
          </a:prstGeom>
        </p:spPr>
      </p:pic>
      <p:sp>
        <p:nvSpPr>
          <p:cNvPr id="5" name="TextBox 4"/>
          <p:cNvSpPr txBox="1"/>
          <p:nvPr/>
        </p:nvSpPr>
        <p:spPr>
          <a:xfrm>
            <a:off x="7458120" y="5989320"/>
            <a:ext cx="4002054" cy="457200"/>
          </a:xfrm>
          <a:prstGeom prst="rect">
            <a:avLst/>
          </a:prstGeom>
          <a:noFill/>
        </p:spPr>
        <p:txBody>
          <a:bodyPr wrap="square" lIns="0" rIns="0" tIns="0" bIns="0">
            <a:spAutoFit/>
          </a:bodyPr>
          <a:lstStyle/>
          <a:p>
            <a:pPr algn="l"/>
            <a:r>
              <a:rPr sz="1100" b="0" i="1">
                <a:solidFill>
                  <a:srgbClr val="707070"/>
                </a:solidFill>
                <a:latin typeface="Arial"/>
              </a:rPr>
              <a:t>built around the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we'll do today</a:t>
            </a:r>
          </a:p>
          <a:p>
            <a:pPr>
              <a:spcBef>
                <a:spcPts val="400"/>
              </a:spcBef>
            </a:pPr>
            <a:r>
              <a:rPr sz="1500" b="0" i="1">
                <a:solidFill>
                  <a:srgbClr val="CF3338"/>
                </a:solidFill>
                <a:latin typeface="Arial"/>
              </a:rPr>
              <a:t>A working tour, not a lecture</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Part 1: Your first Python cell (8 min, type along)</a:t>
            </a:r>
          </a:p>
          <a:p>
            <a:pPr>
              <a:spcAft>
                <a:spcPts val="700"/>
              </a:spcAft>
            </a:pPr>
            <a:r>
              <a:rPr sz="1200" b="1" i="0">
                <a:solidFill>
                  <a:srgbClr val="CF3338"/>
                </a:solidFill>
                <a:latin typeface="Arial"/>
              </a:rPr>
              <a:t>▶  </a:t>
            </a:r>
            <a:r>
              <a:rPr sz="1600" b="0" i="0">
                <a:solidFill>
                  <a:srgbClr val="1F2120"/>
                </a:solidFill>
                <a:latin typeface="Arial"/>
              </a:rPr>
              <a:t>Part 2: Your first DataFrame (12 min, type along)</a:t>
            </a:r>
          </a:p>
          <a:p>
            <a:pPr>
              <a:spcAft>
                <a:spcPts val="700"/>
              </a:spcAft>
            </a:pPr>
            <a:r>
              <a:rPr sz="1200" b="1" i="0">
                <a:solidFill>
                  <a:srgbClr val="CF3338"/>
                </a:solidFill>
                <a:latin typeface="Arial"/>
              </a:rPr>
              <a:t>▶  </a:t>
            </a:r>
            <a:r>
              <a:rPr sz="1600" b="0" i="0">
                <a:solidFill>
                  <a:srgbClr val="1F2120"/>
                </a:solidFill>
                <a:latin typeface="Arial"/>
              </a:rPr>
              <a:t>Part 3: Five things Excel couldn't do last year (18 min, watch me, then try it later from the workbook)</a:t>
            </a:r>
          </a:p>
          <a:p>
            <a:pPr>
              <a:spcAft>
                <a:spcPts val="700"/>
              </a:spcAft>
            </a:pPr>
            <a:r>
              <a:rPr sz="1200" b="1" i="0">
                <a:solidFill>
                  <a:srgbClr val="CF3338"/>
                </a:solidFill>
                <a:latin typeface="Arial"/>
              </a:rPr>
              <a:t>▶  </a:t>
            </a:r>
            <a:r>
              <a:rPr sz="1600" b="0" i="0">
                <a:solidFill>
                  <a:srgbClr val="1F2120"/>
                </a:solidFill>
                <a:latin typeface="Arial"/>
              </a:rPr>
              <a:t>What it can't do yet, and where to go next</a:t>
            </a:r>
          </a:p>
          <a:p>
            <a:pPr>
              <a:spcAft>
                <a:spcPts val="700"/>
              </a:spcAft>
            </a:pPr>
            <a:r>
              <a:rPr sz="1200" b="1" i="0">
                <a:solidFill>
                  <a:srgbClr val="CF3338"/>
                </a:solidFill>
                <a:latin typeface="Arial"/>
              </a:rPr>
              <a:t>▶  </a:t>
            </a:r>
            <a:r>
              <a:rPr sz="1600" b="0" i="0">
                <a:solidFill>
                  <a:srgbClr val="1F2120"/>
                </a:solidFill>
                <a:latin typeface="Arial"/>
              </a:rPr>
              <a:t>Questions any time in the chat; I pause after each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Housekeeping</a:t>
            </a:r>
          </a:p>
        </p:txBody>
      </p:sp>
      <p:sp>
        <p:nvSpPr>
          <p:cNvPr id="3" name="TextBox 2"/>
          <p:cNvSpPr txBox="1"/>
          <p:nvPr/>
        </p:nvSpPr>
        <p:spPr>
          <a:xfrm>
            <a:off x="640080" y="15544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This session is recorded and posted to the free sessions page on Gumroad</a:t>
            </a:r>
          </a:p>
          <a:p>
            <a:pPr>
              <a:spcAft>
                <a:spcPts val="700"/>
              </a:spcAft>
            </a:pPr>
            <a:r>
              <a:rPr sz="1200" b="1" i="0">
                <a:solidFill>
                  <a:srgbClr val="CF3338"/>
                </a:solidFill>
                <a:latin typeface="Arial"/>
              </a:rPr>
              <a:t>▶  </a:t>
            </a:r>
            <a:r>
              <a:rPr sz="1600" b="0" i="0">
                <a:solidFill>
                  <a:srgbClr val="1F2120"/>
                </a:solidFill>
                <a:latin typeface="Arial"/>
              </a:rPr>
              <a:t>The follow-along workbook is at stringfestdata.gumroad.com/l/pxlaf (free, and every data table is already in it)</a:t>
            </a:r>
          </a:p>
          <a:p>
            <a:pPr>
              <a:spcAft>
                <a:spcPts val="700"/>
              </a:spcAft>
            </a:pPr>
            <a:r>
              <a:rPr sz="1200" b="1" i="0">
                <a:solidFill>
                  <a:srgbClr val="CF3338"/>
                </a:solidFill>
                <a:latin typeface="Arial"/>
              </a:rPr>
              <a:t>▶  </a:t>
            </a:r>
            <a:r>
              <a:rPr sz="1600" b="0" i="0">
                <a:solidFill>
                  <a:srgbClr val="1F2120"/>
                </a:solidFill>
                <a:latin typeface="Arial"/>
              </a:rPr>
              <a:t>You need Microsoft 365 with Python in Excel: check for the Python group on the Formulas tab</a:t>
            </a:r>
          </a:p>
          <a:p>
            <a:pPr>
              <a:spcAft>
                <a:spcPts val="700"/>
              </a:spcAft>
            </a:pPr>
            <a:r>
              <a:rPr sz="1200" b="1" i="0">
                <a:solidFill>
                  <a:srgbClr val="CF3338"/>
                </a:solidFill>
                <a:latin typeface="Arial"/>
              </a:rPr>
              <a:t>▶  </a:t>
            </a:r>
            <a:r>
              <a:rPr sz="1600" b="0" i="0">
                <a:solidFill>
                  <a:srgbClr val="1F2120"/>
                </a:solidFill>
                <a:latin typeface="Arial"/>
              </a:rPr>
              <a:t>Ask questions in the chat any time; I will pause after each part</a:t>
            </a:r>
          </a:p>
          <a:p>
            <a:pPr>
              <a:spcAft>
                <a:spcPts val="700"/>
              </a:spcAft>
            </a:pPr>
            <a:r>
              <a:rPr sz="1200" b="1" i="0">
                <a:solidFill>
                  <a:srgbClr val="CF3338"/>
                </a:solidFill>
                <a:latin typeface="Arial"/>
              </a:rPr>
              <a:t>▶  </a:t>
            </a:r>
            <a:r>
              <a:rPr sz="1600" b="0" i="0">
                <a:solidFill>
                  <a:srgbClr val="1F2120"/>
                </a:solidFill>
                <a:latin typeface="Arial"/>
              </a:rPr>
              <a:t>Three keys to remember: Ctrl+Alt+Shift+P (new Python cell), Ctrl+Enter (run), Ctrl+Alt+Shift+M (spill)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1</a:t>
            </a:r>
          </a:p>
          <a:p>
            <a:pPr>
              <a:spcBef>
                <a:spcPts val="800"/>
              </a:spcBef>
            </a:pPr>
            <a:r>
              <a:rPr sz="3600" b="1" i="0">
                <a:solidFill>
                  <a:srgbClr val="FFFFFF"/>
                </a:solidFill>
                <a:latin typeface="Arial Black"/>
              </a:rPr>
              <a:t>Your first Python cell</a:t>
            </a:r>
          </a:p>
          <a:p>
            <a:pPr>
              <a:spcBef>
                <a:spcPts val="1400"/>
              </a:spcBef>
            </a:pPr>
            <a:r>
              <a:rPr sz="1800" b="0" i="0">
                <a:solidFill>
                  <a:srgbClr val="FFFFFF"/>
                </a:solidFill>
                <a:latin typeface="Arial"/>
              </a:rPr>
              <a:t>Three ways in, one way to run, one rule about 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Hello, world</a:t>
            </a:r>
          </a:p>
          <a:p>
            <a:pPr>
              <a:spcBef>
                <a:spcPts val="300"/>
              </a:spcBef>
            </a:pPr>
            <a:r>
              <a:rPr sz="1450" b="0" i="1">
                <a:solidFill>
                  <a:srgbClr val="707070"/>
                </a:solidFill>
                <a:latin typeface="Arial"/>
              </a:rPr>
              <a:t>Type along:  On a blank sheet (add one called hello-world if you like, or use the work column of the follow-along sheet), click B2. Get into a Python cell one of three ways: Formulas, Insert Python; type =PY( ; or press Ctrl+Alt+Shift+P. Type the line below and commit with Ctrl+Enter, not 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my_object = "Hello, world!"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Ctrl+Enter runs the cell. Enter just adds a new 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Reference the object from C3</a:t>
            </a:r>
          </a:p>
          <a:p>
            <a:pPr>
              <a:spcBef>
                <a:spcPts val="300"/>
              </a:spcBef>
            </a:pPr>
            <a:r>
              <a:rPr sz="1450" b="0" i="1">
                <a:solidFill>
                  <a:srgbClr val="707070"/>
                </a:solidFill>
                <a:latin typeface="Arial"/>
              </a:rPr>
              <a:t>Type along:  Click C3, press Ctrl+Alt+Shift+P to start a new Python cell, and type just the object name.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my_object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A Python cell creates an object; other cells can ask for it by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The ordering error</a:t>
            </a:r>
          </a:p>
          <a:p>
            <a:pPr>
              <a:spcBef>
                <a:spcPts val="300"/>
              </a:spcBef>
            </a:pPr>
            <a:r>
              <a:rPr sz="1450" b="0" i="1">
                <a:solidFill>
                  <a:srgbClr val="707070"/>
                </a:solidFill>
                <a:latin typeface="Arial"/>
              </a:rPr>
              <a:t>Type along:  Now click A1, make it a Python cell with Ctrl+Alt+Shift+P, and type exactly the same thing you typed in C3.</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my_object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Python cells run top to bottom, left to right, as one script.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2</a:t>
            </a:r>
          </a:p>
          <a:p>
            <a:pPr>
              <a:spcBef>
                <a:spcPts val="800"/>
              </a:spcBef>
            </a:pPr>
            <a:r>
              <a:rPr sz="3600" b="1" i="0">
                <a:solidFill>
                  <a:srgbClr val="FFFFFF"/>
                </a:solidFill>
                <a:latin typeface="Arial Black"/>
              </a:rPr>
              <a:t>Your first DataFrame</a:t>
            </a:r>
          </a:p>
          <a:p>
            <a:pPr>
              <a:spcBef>
                <a:spcPts val="1400"/>
              </a:spcBef>
            </a:pPr>
            <a:r>
              <a:rPr sz="1800" b="0" i="0">
                <a:solidFill>
                  <a:srgbClr val="FFFFFF"/>
                </a:solidFill>
                <a:latin typeface="Arial"/>
              </a:rPr>
              <a:t>An Excel table with a different accent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Load a table into a DataFrame</a:t>
            </a:r>
          </a:p>
          <a:p>
            <a:pPr>
              <a:spcBef>
                <a:spcPts val="300"/>
              </a:spcBef>
            </a:pPr>
            <a:r>
              <a:rPr sz="1450" b="0" i="1">
                <a:solidFill>
                  <a:srgbClr val="707070"/>
                </a:solidFill>
                <a:latin typeface="Arial"/>
              </a:rPr>
              <a:t>Type along:  On the nyc sheet, click D1, press Ctrl+Alt+Shift+P, type nyc_df = and then click-drag the nyc_pop table so xl() autocompletes for you. Ctrl+Enter.</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nyc_df = xl("nyc_pop[#All]", headers=True)</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Ctrl+Alt+Shift+M toggles between the Python object and a spilled Excel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 bigger table: sales_df.head()</a:t>
            </a:r>
          </a:p>
          <a:p>
            <a:pPr>
              <a:spcBef>
                <a:spcPts val="300"/>
              </a:spcBef>
            </a:pPr>
            <a:r>
              <a:rPr sz="1450" b="0" i="1">
                <a:solidFill>
                  <a:srgbClr val="707070"/>
                </a:solidFill>
                <a:latin typeface="Arial"/>
              </a:rPr>
              <a:t>Type along:  On the sales sheet, click I1 (anywhere right of the table). Load the 200-row sales table and peek at the first rows. Ctrl+Enter, then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sales_df = xl("sales[#All]", headers=True)</a:t>
            </a:r>
          </a:p>
          <a:p>
            <a:pPr algn="l">
              <a:spcAft>
                <a:spcPts val="100"/>
              </a:spcAft>
            </a:pPr>
            <a:r>
              <a:rPr sz="1300" b="0" i="0">
                <a:solidFill>
                  <a:srgbClr val="9EC57A"/>
                </a:solidFill>
                <a:latin typeface="Consolas"/>
              </a:rPr>
              <a:t># Print first few rows</a:t>
            </a:r>
          </a:p>
          <a:p>
            <a:pPr algn="l">
              <a:spcAft>
                <a:spcPts val="100"/>
              </a:spcAft>
            </a:pPr>
            <a:r>
              <a:rPr sz="1300" b="0" i="0">
                <a:solidFill>
                  <a:srgbClr val="F5F5F5"/>
                </a:solidFill>
                <a:latin typeface="Consolas"/>
              </a:rPr>
              <a:t>sales_df.head()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head() is the method you will type most: peek, don't spill everything.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Descriptive statistics in one line</a:t>
            </a:r>
          </a:p>
          <a:p>
            <a:pPr>
              <a:spcBef>
                <a:spcPts val="300"/>
              </a:spcBef>
            </a:pPr>
            <a:r>
              <a:rPr sz="1450" b="0" i="1">
                <a:solidFill>
                  <a:srgbClr val="707070"/>
                </a:solidFill>
                <a:latin typeface="Arial"/>
              </a:rPr>
              <a:t>Type along:  In I8, one line gives count, mean, standard deviation, min, quartiles and max for every numeric column.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sales_df.describe()</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The Data Analysis ToolPak's Descriptive Statistics, but it stays live.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The PivotTable in one line</a:t>
            </a:r>
          </a:p>
          <a:p>
            <a:pPr>
              <a:spcBef>
                <a:spcPts val="300"/>
              </a:spcBef>
            </a:pPr>
            <a:r>
              <a:rPr sz="1450" b="0" i="1">
                <a:solidFill>
                  <a:srgbClr val="707070"/>
                </a:solidFill>
                <a:latin typeface="Arial"/>
              </a:rPr>
              <a:t>Type along:  In I20, split rows by country, pick the unit_price column, take the mean of each group. Rows field, Values field, summarize-by.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sales_df.groupby('country')['unit_price'].mean()</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Rows field, Values field, summarize by: that is groupby.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3</a:t>
            </a:r>
          </a:p>
          <a:p>
            <a:pPr>
              <a:spcBef>
                <a:spcPts val="800"/>
              </a:spcBef>
            </a:pPr>
            <a:r>
              <a:rPr sz="3600" b="1" i="0">
                <a:solidFill>
                  <a:srgbClr val="FFFFFF"/>
                </a:solidFill>
                <a:latin typeface="Arial Black"/>
              </a:rPr>
              <a:t>Five things Excel couldn't do last year</a:t>
            </a:r>
          </a:p>
          <a:p>
            <a:pPr>
              <a:spcBef>
                <a:spcPts val="1400"/>
              </a:spcBef>
            </a:pPr>
            <a:r>
              <a:rPr sz="1800" b="0" i="0">
                <a:solidFill>
                  <a:srgbClr val="FFFFFF"/>
                </a:solidFill>
                <a:latin typeface="Arial"/>
              </a:rPr>
              <a:t>Each one is a single cell. Each one starts with 'the Excel 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Small multiples in one line</a:t>
            </a:r>
          </a:p>
          <a:p>
            <a:pPr>
              <a:spcBef>
                <a:spcPts val="300"/>
              </a:spcBef>
            </a:pPr>
            <a:r>
              <a:rPr sz="1450" b="0" i="1">
                <a:solidFill>
                  <a:srgbClr val="707070"/>
                </a:solidFill>
                <a:latin typeface="Arial"/>
              </a:rPr>
              <a:t>Watch this one (try it later from the workbook):  The Excel way: three histograms, built one at a time and lined up by hand.</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mpg_df = xl("mpg[#All]", headers=True)</a:t>
            </a:r>
          </a:p>
          <a:p>
            <a:pPr algn="l">
              <a:spcAft>
                <a:spcPts val="100"/>
              </a:spcAft>
            </a:pPr>
            <a:r>
              <a:rPr sz="1300" b="0" i="0">
                <a:solidFill>
                  <a:srgbClr val="F5F5F5"/>
                </a:solidFill>
                <a:latin typeface="Consolas"/>
              </a:rPr>
              <a:t>sns.displot(x='mpg', col='origin', data=mpg_df)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col= gives every group its own panel with shared axes.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 data-quality summary in one cell</a:t>
            </a:r>
          </a:p>
          <a:p>
            <a:pPr>
              <a:spcBef>
                <a:spcPts val="300"/>
              </a:spcBef>
            </a:pPr>
            <a:r>
              <a:rPr sz="1450" b="0" i="1">
                <a:solidFill>
                  <a:srgbClr val="707070"/>
                </a:solidFill>
                <a:latin typeface="Arial"/>
              </a:rPr>
              <a:t>Watch this one (try it later from the workbook):  The Excel way: COUNTBLANK, COUNTA and UNIQUE per column, stitched into a table by hand.</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9EC57A"/>
                </a:solidFill>
                <a:latin typeface="Consolas"/>
              </a:rPr>
              <a:t># Build a quality summary for each column</a:t>
            </a:r>
          </a:p>
          <a:p>
            <a:pPr algn="l">
              <a:spcAft>
                <a:spcPts val="100"/>
              </a:spcAft>
            </a:pPr>
            <a:r>
              <a:rPr sz="1300" b="0" i="0">
                <a:solidFill>
                  <a:srgbClr val="F5F5F5"/>
                </a:solidFill>
                <a:latin typeface="Consolas"/>
              </a:rPr>
              <a:t>quality = pd.DataFrame({</a:t>
            </a:r>
          </a:p>
          <a:p>
            <a:pPr algn="l">
              <a:spcAft>
                <a:spcPts val="100"/>
              </a:spcAft>
            </a:pPr>
            <a:r>
              <a:rPr sz="1300" b="0" i="0">
                <a:solidFill>
                  <a:srgbClr val="F5F5F5"/>
                </a:solidFill>
                <a:latin typeface="Consolas"/>
              </a:rPr>
              <a:t>    "dtype": mpg_df.dtypes,</a:t>
            </a:r>
          </a:p>
          <a:p>
            <a:pPr algn="l">
              <a:spcAft>
                <a:spcPts val="100"/>
              </a:spcAft>
            </a:pPr>
            <a:r>
              <a:rPr sz="1300" b="0" i="0">
                <a:solidFill>
                  <a:srgbClr val="F5F5F5"/>
                </a:solidFill>
                <a:latin typeface="Consolas"/>
              </a:rPr>
              <a:t>    "non_null": mpg_df.count(),</a:t>
            </a:r>
          </a:p>
          <a:p>
            <a:pPr algn="l">
              <a:spcAft>
                <a:spcPts val="100"/>
              </a:spcAft>
            </a:pPr>
            <a:r>
              <a:rPr sz="1300" b="0" i="0">
                <a:solidFill>
                  <a:srgbClr val="F5F5F5"/>
                </a:solidFill>
                <a:latin typeface="Consolas"/>
              </a:rPr>
              <a:t>    "null_count": mpg_df.isna().sum(),</a:t>
            </a:r>
          </a:p>
          <a:p>
            <a:pPr algn="l">
              <a:spcAft>
                <a:spcPts val="100"/>
              </a:spcAft>
            </a:pPr>
            <a:r>
              <a:rPr sz="1300" b="0" i="0">
                <a:solidFill>
                  <a:srgbClr val="F5F5F5"/>
                </a:solidFill>
                <a:latin typeface="Consolas"/>
              </a:rPr>
              <a:t>    "null_pct": (mpg_df.isna().sum() / len(mpg_df) * 100).round(1),</a:t>
            </a:r>
          </a:p>
          <a:p>
            <a:pPr algn="l">
              <a:spcAft>
                <a:spcPts val="100"/>
              </a:spcAft>
            </a:pPr>
            <a:r>
              <a:rPr sz="1300" b="0" i="0">
                <a:solidFill>
                  <a:srgbClr val="F5F5F5"/>
                </a:solidFill>
                <a:latin typeface="Consolas"/>
              </a:rPr>
              <a:t>    "unique": mpg_df.nunique()</a:t>
            </a:r>
          </a:p>
          <a:p>
            <a:pPr algn="l">
              <a:spcAft>
                <a:spcPts val="100"/>
              </a:spcAft>
            </a:pPr>
            <a:r>
              <a:rPr sz="1300" b="0" i="0">
                <a:solidFill>
                  <a:srgbClr val="F5F5F5"/>
                </a:solidFill>
                <a:latin typeface="Consolas"/>
              </a:rPr>
              <a:t>})</a:t>
            </a:r>
          </a:p>
          <a:p>
            <a:pPr algn="l">
              <a:spcAft>
                <a:spcPts val="100"/>
              </a:spcAft>
            </a:pPr>
            <a:r>
              <a:rPr sz="1300" b="0" i="0">
                <a:solidFill>
                  <a:srgbClr val="F5F5F5"/>
                </a:solidFill>
                <a:latin typeface="Consolas"/>
              </a:rPr>
              <a:t>quality</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pd.DataFrame({name: Series}) builds any table you want to see in the grid.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Is the difference real? A t-test</a:t>
            </a:r>
          </a:p>
          <a:p>
            <a:pPr>
              <a:spcBef>
                <a:spcPts val="300"/>
              </a:spcBef>
            </a:pPr>
            <a:r>
              <a:rPr sz="1450" b="0" i="1">
                <a:solidFill>
                  <a:srgbClr val="707070"/>
                </a:solidFill>
                <a:latin typeface="Arial"/>
              </a:rPr>
              <a:t>Watch this one (try it later from the workbook):  The Excel way: the ToolPak t-Test dialog, with output pasted as static values.</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from scipy import stats</a:t>
            </a:r>
          </a:p>
          <a:p>
            <a:pPr algn="l">
              <a:spcAft>
                <a:spcPts val="100"/>
              </a:spcAft>
            </a:pPr>
            <a:r>
              <a:rPr sz="1300" b="0" i="0">
                <a:solidFill>
                  <a:srgbClr val="F5F5F5"/>
                </a:solidFill>
                <a:latin typeface="Consolas"/>
              </a:rPr>
              <a:t>japan = mpg_df[mpg_df['origin'] == 'japan']['mpg']</a:t>
            </a:r>
          </a:p>
          <a:p>
            <a:pPr algn="l">
              <a:spcAft>
                <a:spcPts val="100"/>
              </a:spcAft>
            </a:pPr>
            <a:r>
              <a:rPr sz="1300" b="0" i="0">
                <a:solidFill>
                  <a:srgbClr val="F5F5F5"/>
                </a:solidFill>
                <a:latin typeface="Consolas"/>
              </a:rPr>
              <a:t>europe = mpg_df[mpg_df['origin'] == 'europe']['mpg']</a:t>
            </a:r>
          </a:p>
          <a:p>
            <a:pPr algn="l">
              <a:spcAft>
                <a:spcPts val="100"/>
              </a:spcAft>
            </a:pPr>
            <a:r>
              <a:rPr sz="1300" b="0" i="0">
                <a:solidFill>
                  <a:srgbClr val="F5F5F5"/>
                </a:solidFill>
                <a:latin typeface="Consolas"/>
              </a:rPr>
              <a:t>t_stat, p_value = stats.ttest_ind(japan, europe)</a:t>
            </a:r>
          </a:p>
          <a:p>
            <a:pPr algn="l">
              <a:spcAft>
                <a:spcPts val="100"/>
              </a:spcAft>
            </a:pPr>
            <a:r>
              <a:rPr sz="1300" b="0" i="0">
                <a:solidFill>
                  <a:srgbClr val="F5F5F5"/>
                </a:solidFill>
                <a:latin typeface="Consolas"/>
              </a:rPr>
              <a:t>pd.DataFrame({</a:t>
            </a:r>
          </a:p>
          <a:p>
            <a:pPr algn="l">
              <a:spcAft>
                <a:spcPts val="100"/>
              </a:spcAft>
            </a:pPr>
            <a:r>
              <a:rPr sz="1300" b="0" i="0">
                <a:solidFill>
                  <a:srgbClr val="F5F5F5"/>
                </a:solidFill>
                <a:latin typeface="Consolas"/>
              </a:rPr>
              <a:t>    'Test statistic': [round(t_stat, 4)],</a:t>
            </a:r>
          </a:p>
          <a:p>
            <a:pPr algn="l">
              <a:spcAft>
                <a:spcPts val="100"/>
              </a:spcAft>
            </a:pPr>
            <a:r>
              <a:rPr sz="1300" b="0" i="0">
                <a:solidFill>
                  <a:srgbClr val="F5F5F5"/>
                </a:solidFill>
                <a:latin typeface="Consolas"/>
              </a:rPr>
              <a:t>    'p-value': [round(p_value, 4)],</a:t>
            </a:r>
          </a:p>
          <a:p>
            <a:pPr algn="l">
              <a:spcAft>
                <a:spcPts val="100"/>
              </a:spcAft>
            </a:pPr>
            <a:r>
              <a:rPr sz="1300" b="0" i="0">
                <a:solidFill>
                  <a:srgbClr val="F5F5F5"/>
                </a:solidFill>
                <a:latin typeface="Consolas"/>
              </a:rPr>
              <a:t>    'Japan mean': [round(japan.mean(), 2)],</a:t>
            </a:r>
          </a:p>
          <a:p>
            <a:pPr algn="l">
              <a:spcAft>
                <a:spcPts val="100"/>
              </a:spcAft>
            </a:pPr>
            <a:r>
              <a:rPr sz="1300" b="0" i="0">
                <a:solidFill>
                  <a:srgbClr val="F5F5F5"/>
                </a:solidFill>
                <a:latin typeface="Consolas"/>
              </a:rPr>
              <a:t>    'Europe mean': [round(europe.mean(), 2)],</a:t>
            </a:r>
          </a:p>
          <a:p>
            <a:pPr algn="l">
              <a:spcAft>
                <a:spcPts val="100"/>
              </a:spcAft>
            </a:pPr>
            <a:r>
              <a:rPr sz="1300" b="0" i="0">
                <a:solidFill>
                  <a:srgbClr val="F5F5F5"/>
                </a:solidFill>
                <a:latin typeface="Consolas"/>
              </a:rPr>
              <a:t>    'Difference': [round(japan.mean() - europe.mean(), 2)]</a:t>
            </a:r>
          </a:p>
          <a:p>
            <a:pPr algn="l">
              <a:spcAft>
                <a:spcPts val="100"/>
              </a:spcAft>
            </a:pPr>
            <a:r>
              <a:rPr sz="1300" b="0" i="0">
                <a:solidFill>
                  <a:srgbClr val="F5F5F5"/>
                </a:solidFill>
                <a:latin typeface="Consolas"/>
              </a:rPr>
              <a: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Wrap results in pd.DataFrame({column: [value]}) so they spill as a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Decompose a time series</a:t>
            </a:r>
          </a:p>
          <a:p>
            <a:pPr>
              <a:spcBef>
                <a:spcPts val="300"/>
              </a:spcBef>
            </a:pPr>
            <a:r>
              <a:rPr sz="1450" b="0" i="1">
                <a:solidFill>
                  <a:srgbClr val="707070"/>
                </a:solidFill>
                <a:latin typeface="Arial"/>
              </a:rPr>
              <a:t>Watch this one (try it later from the workbook):  The Excel way: there isn't one. Excel has no built-in decomposition.</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passengers_df = xl("passengers[#All]", headers=True)</a:t>
            </a:r>
          </a:p>
          <a:p>
            <a:pPr algn="l">
              <a:spcAft>
                <a:spcPts val="100"/>
              </a:spcAft>
            </a:pPr>
            <a:r>
              <a:rPr sz="1300" b="0" i="0">
                <a:solidFill>
                  <a:srgbClr val="F5F5F5"/>
                </a:solidFill>
                <a:latin typeface="Consolas"/>
              </a:rPr>
              <a:t>passengers_df['date'] = pd.to_datetime(passengers_df['date'])</a:t>
            </a:r>
          </a:p>
          <a:p>
            <a:pPr algn="l">
              <a:spcAft>
                <a:spcPts val="100"/>
              </a:spcAft>
            </a:pPr>
            <a:r>
              <a:rPr sz="1300" b="0" i="0">
                <a:solidFill>
                  <a:srgbClr val="F5F5F5"/>
                </a:solidFill>
                <a:latin typeface="Consolas"/>
              </a:rPr>
              <a:t>passengers_df = passengers_df.set_index('date')</a:t>
            </a:r>
          </a:p>
          <a:p>
            <a:pPr algn="l">
              <a:spcAft>
                <a:spcPts val="100"/>
              </a:spcAft>
            </a:pPr>
            <a:r>
              <a:rPr sz="1300" b="0" i="0">
                <a:solidFill>
                  <a:srgbClr val="F5F5F5"/>
                </a:solidFill>
                <a:latin typeface="Consolas"/>
              </a:rPr>
              <a:t>from statsmodels.tsa.seasonal import seasonal_decompose</a:t>
            </a:r>
          </a:p>
          <a:p>
            <a:pPr algn="l">
              <a:spcAft>
                <a:spcPts val="100"/>
              </a:spcAft>
            </a:pPr>
            <a:r>
              <a:rPr sz="1300" b="0" i="0">
                <a:solidFill>
                  <a:srgbClr val="F5F5F5"/>
                </a:solidFill>
                <a:latin typeface="Consolas"/>
              </a:rPr>
              <a:t>decomposition = seasonal_decompose(passengers_df['passengers'],</a:t>
            </a:r>
          </a:p>
          <a:p>
            <a:pPr algn="l">
              <a:spcAft>
                <a:spcPts val="100"/>
              </a:spcAft>
            </a:pPr>
            <a:r>
              <a:rPr sz="1300" b="0" i="0">
                <a:solidFill>
                  <a:srgbClr val="F5F5F5"/>
                </a:solidFill>
                <a:latin typeface="Consolas"/>
              </a:rPr>
              <a:t>                                   model='additive', period=12)</a:t>
            </a:r>
          </a:p>
          <a:p>
            <a:pPr algn="l">
              <a:spcAft>
                <a:spcPts val="100"/>
              </a:spcAft>
            </a:pPr>
            <a:r>
              <a:rPr sz="1300" b="0" i="0">
                <a:solidFill>
                  <a:srgbClr val="F5F5F5"/>
                </a:solidFill>
                <a:latin typeface="Consolas"/>
              </a:rPr>
              <a:t>decomposition.plot()</a:t>
            </a:r>
          </a:p>
          <a:p>
            <a:pPr algn="l">
              <a:spcAft>
                <a:spcPts val="100"/>
              </a:spcAft>
            </a:pPr>
            <a:r>
              <a:rPr sz="1300" b="0" i="0">
                <a:solidFill>
                  <a:srgbClr val="F5F5F5"/>
                </a:solidFill>
                <a:latin typeface="Consolas"/>
              </a:rPr>
              <a:t>plt.suptitle('Airline Passenger Data Decomposition')</a:t>
            </a:r>
          </a:p>
          <a:p>
            <a:pPr algn="l">
              <a:spcAft>
                <a:spcPts val="100"/>
              </a:spcAft>
            </a:pPr>
            <a:r>
              <a:rPr sz="1300" b="0" i="0">
                <a:solidFill>
                  <a:srgbClr val="F5F5F5"/>
                </a:solidFill>
                <a:latin typeface="Consolas"/>
              </a:rPr>
              <a:t>plt.tight_layout()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Trend plus season plus residual: now you know what a forecast has to handle.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A 24-month Holt-Winters forecast</a:t>
            </a:r>
          </a:p>
          <a:p>
            <a:pPr>
              <a:spcBef>
                <a:spcPts val="300"/>
              </a:spcBef>
            </a:pPr>
            <a:r>
              <a:rPr sz="1450" b="0" i="1">
                <a:solidFill>
                  <a:srgbClr val="707070"/>
                </a:solidFill>
                <a:latin typeface="Arial"/>
              </a:rPr>
              <a:t>Watch this one (try it later from the workbook):  The Excel way: Forecast Sheet, which is the same family, but nothing under the hood.</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from statsmodels.tsa.holtwinters import ExponentialSmoothing</a:t>
            </a:r>
          </a:p>
          <a:p>
            <a:pPr algn="l">
              <a:spcAft>
                <a:spcPts val="100"/>
              </a:spcAft>
            </a:pPr>
            <a:r>
              <a:rPr sz="1300" b="0" i="0">
                <a:solidFill>
                  <a:srgbClr val="F5F5F5"/>
                </a:solidFill>
                <a:latin typeface="Consolas"/>
              </a:rPr>
              <a:t>hw_model = ExponentialSmoothing(passengers_df['passengers'],</a:t>
            </a:r>
          </a:p>
          <a:p>
            <a:pPr algn="l">
              <a:spcAft>
                <a:spcPts val="100"/>
              </a:spcAft>
            </a:pPr>
            <a:r>
              <a:rPr sz="1300" b="0" i="0">
                <a:solidFill>
                  <a:srgbClr val="F5F5F5"/>
                </a:solidFill>
                <a:latin typeface="Consolas"/>
              </a:rPr>
              <a:t>                                trend='add', seasonal='add', seasonal_periods=12)</a:t>
            </a:r>
          </a:p>
          <a:p>
            <a:pPr algn="l">
              <a:spcAft>
                <a:spcPts val="100"/>
              </a:spcAft>
            </a:pPr>
            <a:r>
              <a:rPr sz="1300" b="0" i="0">
                <a:solidFill>
                  <a:srgbClr val="F5F5F5"/>
                </a:solidFill>
                <a:latin typeface="Consolas"/>
              </a:rPr>
              <a:t>hw_fit = hw_model.fit()</a:t>
            </a:r>
          </a:p>
          <a:p>
            <a:pPr algn="l">
              <a:spcAft>
                <a:spcPts val="100"/>
              </a:spcAft>
            </a:pPr>
            <a:r>
              <a:rPr sz="1300" b="0" i="0">
                <a:solidFill>
                  <a:srgbClr val="F5F5F5"/>
                </a:solidFill>
                <a:latin typeface="Consolas"/>
              </a:rPr>
              <a:t>forecast_periods = 24</a:t>
            </a:r>
          </a:p>
          <a:p>
            <a:pPr algn="l">
              <a:spcAft>
                <a:spcPts val="100"/>
              </a:spcAft>
            </a:pPr>
            <a:r>
              <a:rPr sz="1300" b="0" i="0">
                <a:solidFill>
                  <a:srgbClr val="F5F5F5"/>
                </a:solidFill>
                <a:latin typeface="Consolas"/>
              </a:rPr>
              <a:t>forecast = hw_fit.forecast(steps=forecast_periods)</a:t>
            </a:r>
          </a:p>
          <a:p>
            <a:pPr algn="l">
              <a:spcAft>
                <a:spcPts val="100"/>
              </a:spcAft>
            </a:pPr>
            <a:r>
              <a:rPr sz="1300" b="0" i="0">
                <a:solidFill>
                  <a:srgbClr val="F5F5F5"/>
                </a:solidFill>
                <a:latin typeface="Consolas"/>
              </a:rPr>
              <a:t>forecast_dates = pd.date_range(start=passengers_df.index[-1],</a:t>
            </a:r>
          </a:p>
          <a:p>
            <a:pPr algn="l">
              <a:spcAft>
                <a:spcPts val="100"/>
              </a:spcAft>
            </a:pPr>
            <a:r>
              <a:rPr sz="1300" b="0" i="0">
                <a:solidFill>
                  <a:srgbClr val="F5F5F5"/>
                </a:solidFill>
                <a:latin typeface="Consolas"/>
              </a:rPr>
              <a:t>                               periods=forecast_periods + 1, freq='MS')[1:]</a:t>
            </a:r>
          </a:p>
          <a:p>
            <a:pPr algn="l">
              <a:spcAft>
                <a:spcPts val="100"/>
              </a:spcAft>
            </a:pPr>
            <a:r>
              <a:rPr sz="1300" b="0" i="0">
                <a:solidFill>
                  <a:srgbClr val="F5F5F5"/>
                </a:solidFill>
                <a:latin typeface="Consolas"/>
              </a:rPr>
              <a:t>sns.lineplot(x=passengers_df.index, y=passengers_df['passengers'],</a:t>
            </a:r>
          </a:p>
          <a:p>
            <a:pPr algn="l">
              <a:spcAft>
                <a:spcPts val="100"/>
              </a:spcAft>
            </a:pPr>
            <a:r>
              <a:rPr sz="1300" b="0" i="0">
                <a:solidFill>
                  <a:srgbClr val="F5F5F5"/>
                </a:solidFill>
                <a:latin typeface="Consolas"/>
              </a:rPr>
              <a:t>             label='Historical Data', linewidth=2)</a:t>
            </a:r>
          </a:p>
          <a:p>
            <a:pPr algn="l">
              <a:spcAft>
                <a:spcPts val="100"/>
              </a:spcAft>
            </a:pPr>
            <a:r>
              <a:rPr sz="1300" b="0" i="0">
                <a:solidFill>
                  <a:srgbClr val="F5F5F5"/>
                </a:solidFill>
                <a:latin typeface="Consolas"/>
              </a:rPr>
              <a:t>sns.lineplot(x=forecast_dates, y=forecast.values,</a:t>
            </a:r>
          </a:p>
          <a:p>
            <a:pPr algn="l">
              <a:spcAft>
                <a:spcPts val="100"/>
              </a:spcAft>
            </a:pPr>
            <a:r>
              <a:rPr sz="1300" b="0" i="0">
                <a:solidFill>
                  <a:srgbClr val="F5F5F5"/>
                </a:solidFill>
                <a:latin typeface="Consolas"/>
              </a:rPr>
              <a:t>             label='Holt-Winters Forecast', linestyle='--', color='red')</a:t>
            </a:r>
          </a:p>
          <a:p>
            <a:pPr algn="l">
              <a:spcAft>
                <a:spcPts val="100"/>
              </a:spcAft>
            </a:pPr>
            <a:r>
              <a:rPr sz="1300" b="0" i="0">
                <a:solidFill>
                  <a:srgbClr val="F5F5F5"/>
                </a:solidFill>
                <a:latin typeface="Consolas"/>
              </a:rPr>
              <a:t>plt.title('Airline Passengers: Holt-Winters Forecast')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The red line does not go straight: it keeps the trend and the yearly wave.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10,000 futures: a Monte Carlo profit histogram</a:t>
            </a:r>
          </a:p>
          <a:p>
            <a:pPr>
              <a:spcBef>
                <a:spcPts val="300"/>
              </a:spcBef>
            </a:pPr>
            <a:r>
              <a:rPr sz="1450" b="0" i="1">
                <a:solidFill>
                  <a:srgbClr val="707070"/>
                </a:solidFill>
                <a:latin typeface="Arial"/>
              </a:rPr>
              <a:t>Watch this one (try it later from the workbook):  The Excel way: Scenario Manager with three cases, or a Data Table over one input.</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np.random.seed(42)</a:t>
            </a:r>
          </a:p>
          <a:p>
            <a:pPr algn="l">
              <a:spcAft>
                <a:spcPts val="100"/>
              </a:spcAft>
            </a:pPr>
            <a:r>
              <a:rPr sz="1300" b="0" i="0">
                <a:solidFill>
                  <a:srgbClr val="F5F5F5"/>
                </a:solidFill>
                <a:latin typeface="Consolas"/>
              </a:rPr>
              <a:t>num_simulations = 10000</a:t>
            </a:r>
          </a:p>
          <a:p>
            <a:pPr algn="l">
              <a:spcAft>
                <a:spcPts val="100"/>
              </a:spcAft>
            </a:pPr>
            <a:r>
              <a:rPr sz="1300" b="0" i="0">
                <a:solidFill>
                  <a:srgbClr val="F5F5F5"/>
                </a:solidFill>
                <a:latin typeface="Consolas"/>
              </a:rPr>
              <a:t>selling_price = 50</a:t>
            </a:r>
          </a:p>
          <a:p>
            <a:pPr algn="l">
              <a:spcAft>
                <a:spcPts val="100"/>
              </a:spcAft>
            </a:pPr>
            <a:r>
              <a:rPr sz="1300" b="0" i="0">
                <a:solidFill>
                  <a:srgbClr val="F5F5F5"/>
                </a:solidFill>
                <a:latin typeface="Consolas"/>
              </a:rPr>
              <a:t>cost_per_unit = 30</a:t>
            </a:r>
          </a:p>
          <a:p>
            <a:pPr algn="l">
              <a:spcAft>
                <a:spcPts val="100"/>
              </a:spcAft>
            </a:pPr>
            <a:r>
              <a:rPr sz="1300" b="0" i="0">
                <a:solidFill>
                  <a:srgbClr val="F5F5F5"/>
                </a:solidFill>
                <a:latin typeface="Consolas"/>
              </a:rPr>
              <a:t>inventory_available = 1100</a:t>
            </a:r>
          </a:p>
          <a:p>
            <a:pPr algn="l">
              <a:spcAft>
                <a:spcPts val="100"/>
              </a:spcAft>
            </a:pPr>
            <a:r>
              <a:rPr sz="1300" b="0" i="0">
                <a:solidFill>
                  <a:srgbClr val="F5F5F5"/>
                </a:solidFill>
                <a:latin typeface="Consolas"/>
              </a:rPr>
              <a:t>demand = np.maximum(np.random.normal(1000, 200, num_simulations), 0)</a:t>
            </a:r>
          </a:p>
          <a:p>
            <a:pPr algn="l">
              <a:spcAft>
                <a:spcPts val="100"/>
              </a:spcAft>
            </a:pPr>
            <a:r>
              <a:rPr sz="1300" b="0" i="0">
                <a:solidFill>
                  <a:srgbClr val="F5F5F5"/>
                </a:solidFill>
                <a:latin typeface="Consolas"/>
              </a:rPr>
              <a:t>units_sold = np.minimum(demand, inventory_available)</a:t>
            </a:r>
          </a:p>
          <a:p>
            <a:pPr algn="l">
              <a:spcAft>
                <a:spcPts val="100"/>
              </a:spcAft>
            </a:pPr>
            <a:r>
              <a:rPr sz="1300" b="0" i="0">
                <a:solidFill>
                  <a:srgbClr val="F5F5F5"/>
                </a:solidFill>
                <a:latin typeface="Consolas"/>
              </a:rPr>
              <a:t>profit = units_sold * selling_price - inventory_available * cost_per_unit</a:t>
            </a:r>
          </a:p>
          <a:p>
            <a:pPr algn="l">
              <a:spcAft>
                <a:spcPts val="100"/>
              </a:spcAft>
            </a:pPr>
            <a:r>
              <a:rPr sz="1300" b="0" i="0">
                <a:solidFill>
                  <a:srgbClr val="F5F5F5"/>
                </a:solidFill>
                <a:latin typeface="Consolas"/>
              </a:rPr>
              <a:t>mean_profit = np.mean(profit)</a:t>
            </a:r>
          </a:p>
          <a:p>
            <a:pPr algn="l">
              <a:spcAft>
                <a:spcPts val="100"/>
              </a:spcAft>
            </a:pPr>
            <a:r>
              <a:rPr sz="1300" b="0" i="0">
                <a:solidFill>
                  <a:srgbClr val="F5F5F5"/>
                </a:solidFill>
                <a:latin typeface="Consolas"/>
              </a:rPr>
              <a:t>sns.histplot(profit, bins=50, color="steelblue", edgecolor="black")</a:t>
            </a:r>
          </a:p>
          <a:p>
            <a:pPr algn="l">
              <a:spcAft>
                <a:spcPts val="100"/>
              </a:spcAft>
            </a:pPr>
            <a:r>
              <a:rPr sz="1300" b="0" i="0">
                <a:solidFill>
                  <a:srgbClr val="F5F5F5"/>
                </a:solidFill>
                <a:latin typeface="Consolas"/>
              </a:rPr>
              <a:t>plt.axvline(mean_profit, color="red", linestyle="--", linewidth=2,</a:t>
            </a:r>
          </a:p>
          <a:p>
            <a:pPr algn="l">
              <a:spcAft>
                <a:spcPts val="100"/>
              </a:spcAft>
            </a:pPr>
            <a:r>
              <a:rPr sz="1300" b="0" i="0">
                <a:solidFill>
                  <a:srgbClr val="F5F5F5"/>
                </a:solidFill>
                <a:latin typeface="Consolas"/>
              </a:rPr>
              <a:t>            label="Mean: $" + str(round(mean_profit)))</a:t>
            </a:r>
          </a:p>
          <a:p>
            <a:pPr algn="l">
              <a:spcAft>
                <a:spcPts val="100"/>
              </a:spcAft>
            </a:pPr>
            <a:r>
              <a:rPr sz="1300" b="0" i="0">
                <a:solidFill>
                  <a:srgbClr val="F5F5F5"/>
                </a:solidFill>
                <a:latin typeface="Consolas"/>
              </a:rPr>
              <a:t>plt.axvline(0, color="black", linestyle="-", linewidth=1.5, label="Break-even")</a:t>
            </a:r>
          </a:p>
          <a:p>
            <a:pPr algn="l">
              <a:spcAft>
                <a:spcPts val="100"/>
              </a:spcAft>
            </a:pPr>
            <a:r>
              <a:rPr sz="1300" b="0" i="0">
                <a:solidFill>
                  <a:srgbClr val="F5F5F5"/>
                </a:solidFill>
                <a:latin typeface="Consolas"/>
              </a:rPr>
              <a:t>plt.legend()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Demand was normal; profit is not. You only see that with the whole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it can't do (yet)</a:t>
            </a:r>
          </a:p>
          <a:p>
            <a:pPr>
              <a:spcBef>
                <a:spcPts val="400"/>
              </a:spcBef>
            </a:pPr>
            <a:r>
              <a:rPr sz="1500" b="0" i="1">
                <a:solidFill>
                  <a:srgbClr val="CF3338"/>
                </a:solidFill>
                <a:latin typeface="Arial"/>
              </a:rPr>
              <a:t>Honest limits, so nothing surprises you on Monday</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Charts are static pictures: no hover, no click to drill, but always live and linked to the source cell</a:t>
            </a:r>
          </a:p>
          <a:p>
            <a:pPr>
              <a:spcAft>
                <a:spcPts val="700"/>
              </a:spcAft>
            </a:pPr>
            <a:r>
              <a:rPr sz="1200" b="1" i="0">
                <a:solidFill>
                  <a:srgbClr val="CF3338"/>
                </a:solidFill>
                <a:latin typeface="Arial"/>
              </a:rPr>
              <a:t>▶  </a:t>
            </a:r>
            <a:r>
              <a:rPr sz="1600" b="0" i="0">
                <a:solidFill>
                  <a:srgbClr val="1F2120"/>
                </a:solidFill>
                <a:latin typeface="Arial"/>
              </a:rPr>
              <a:t>It runs in the Microsoft cloud, not on your PC: you need a connection, and the first run of a session takes a few seconds</a:t>
            </a:r>
          </a:p>
          <a:p>
            <a:pPr>
              <a:spcAft>
                <a:spcPts val="700"/>
              </a:spcAft>
            </a:pPr>
            <a:r>
              <a:rPr sz="1200" b="1" i="0">
                <a:solidFill>
                  <a:srgbClr val="CF3338"/>
                </a:solidFill>
                <a:latin typeface="Arial"/>
              </a:rPr>
              <a:t>▶  </a:t>
            </a:r>
            <a:r>
              <a:rPr sz="1600" b="0" i="0">
                <a:solidFill>
                  <a:srgbClr val="1F2120"/>
                </a:solidFill>
                <a:latin typeface="Arial"/>
              </a:rPr>
              <a:t>No internet or API calls from a cell: pd.read_csv from a URL will not work; bring external data in with Power Query first</a:t>
            </a:r>
          </a:p>
          <a:p>
            <a:pPr>
              <a:spcAft>
                <a:spcPts val="700"/>
              </a:spcAft>
            </a:pPr>
            <a:r>
              <a:rPr sz="1200" b="1" i="0">
                <a:solidFill>
                  <a:srgbClr val="CF3338"/>
                </a:solidFill>
                <a:latin typeface="Arial"/>
              </a:rPr>
              <a:t>▶  </a:t>
            </a:r>
            <a:r>
              <a:rPr sz="1600" b="0" i="0">
                <a:solidFill>
                  <a:srgbClr val="1F2120"/>
                </a:solidFill>
                <a:latin typeface="Arial"/>
              </a:rPr>
              <a:t>You need Microsoft 365 with Python in Excel switched on: look for the Python group on the Formulas tab</a:t>
            </a:r>
          </a:p>
          <a:p>
            <a:pPr>
              <a:spcAft>
                <a:spcPts val="700"/>
              </a:spcAft>
            </a:pPr>
            <a:r>
              <a:rPr sz="1200" b="1" i="0">
                <a:solidFill>
                  <a:srgbClr val="CF3338"/>
                </a:solidFill>
                <a:latin typeface="Arial"/>
              </a:rPr>
              <a:t>▶  </a:t>
            </a:r>
            <a:r>
              <a:rPr sz="1600" b="0" i="0">
                <a:solidFill>
                  <a:srgbClr val="1F2120"/>
                </a:solidFill>
                <a:latin typeface="Arial"/>
              </a:rPr>
              <a:t>Cells run in reading order, top to bottom and left to right: create objects above or left of where you use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640080"/>
            <a:ext cx="10881360" cy="914400"/>
          </a:xfrm>
          <a:prstGeom prst="rect">
            <a:avLst/>
          </a:prstGeom>
          <a:noFill/>
        </p:spPr>
        <p:txBody>
          <a:bodyPr wrap="square" lIns="0" rIns="0" tIns="0" bIns="0">
            <a:spAutoFit/>
          </a:bodyPr>
          <a:lstStyle/>
          <a:p>
            <a:r>
              <a:rPr sz="2900" b="1" i="0">
                <a:solidFill>
                  <a:srgbClr val="1F2120"/>
                </a:solidFill>
                <a:latin typeface="Arial Black"/>
              </a:rPr>
              <a:t>What you just saw</a:t>
            </a:r>
          </a:p>
        </p:txBody>
      </p:sp>
      <p:sp>
        <p:nvSpPr>
          <p:cNvPr id="3" name="TextBox 2"/>
          <p:cNvSpPr txBox="1"/>
          <p:nvPr/>
        </p:nvSpPr>
        <p:spPr>
          <a:xfrm>
            <a:off x="640080" y="2468880"/>
            <a:ext cx="2446020" cy="2560320"/>
          </a:xfrm>
          <a:prstGeom prst="rect">
            <a:avLst/>
          </a:prstGeom>
          <a:noFill/>
        </p:spPr>
        <p:txBody>
          <a:bodyPr wrap="square" lIns="0" rIns="0" tIns="0" bIns="0">
            <a:spAutoFit/>
          </a:bodyPr>
          <a:lstStyle/>
          <a:p>
            <a:r>
              <a:rPr sz="5800" b="1" i="0">
                <a:solidFill>
                  <a:srgbClr val="CF3338"/>
                </a:solidFill>
                <a:latin typeface="Arial Black"/>
              </a:rPr>
              <a:t>3</a:t>
            </a:r>
          </a:p>
          <a:p>
            <a:pPr>
              <a:spcBef>
                <a:spcPts val="600"/>
              </a:spcBef>
            </a:pPr>
            <a:r>
              <a:rPr sz="1500" b="0" i="0">
                <a:solidFill>
                  <a:srgbClr val="707070"/>
                </a:solidFill>
                <a:latin typeface="Arial"/>
              </a:rPr>
              <a:t>keys to remember</a:t>
            </a:r>
          </a:p>
        </p:txBody>
      </p:sp>
      <p:sp>
        <p:nvSpPr>
          <p:cNvPr id="4" name="TextBox 3"/>
          <p:cNvSpPr txBox="1"/>
          <p:nvPr/>
        </p:nvSpPr>
        <p:spPr>
          <a:xfrm>
            <a:off x="3360420" y="2468880"/>
            <a:ext cx="2446020" cy="2560320"/>
          </a:xfrm>
          <a:prstGeom prst="rect">
            <a:avLst/>
          </a:prstGeom>
          <a:noFill/>
        </p:spPr>
        <p:txBody>
          <a:bodyPr wrap="square" lIns="0" rIns="0" tIns="0" bIns="0">
            <a:spAutoFit/>
          </a:bodyPr>
          <a:lstStyle/>
          <a:p>
            <a:r>
              <a:rPr sz="5800" b="1" i="0">
                <a:solidFill>
                  <a:srgbClr val="CF3338"/>
                </a:solidFill>
                <a:latin typeface="Arial Black"/>
              </a:rPr>
              <a:t>1</a:t>
            </a:r>
          </a:p>
          <a:p>
            <a:pPr>
              <a:spcBef>
                <a:spcPts val="600"/>
              </a:spcBef>
            </a:pPr>
            <a:r>
              <a:rPr sz="1500" b="0" i="0">
                <a:solidFill>
                  <a:srgbClr val="707070"/>
                </a:solidFill>
                <a:latin typeface="Arial"/>
              </a:rPr>
              <a:t>line for a PivotTable</a:t>
            </a:r>
          </a:p>
        </p:txBody>
      </p:sp>
      <p:sp>
        <p:nvSpPr>
          <p:cNvPr id="5" name="TextBox 4"/>
          <p:cNvSpPr txBox="1"/>
          <p:nvPr/>
        </p:nvSpPr>
        <p:spPr>
          <a:xfrm>
            <a:off x="6080760" y="2468880"/>
            <a:ext cx="2446020" cy="2560320"/>
          </a:xfrm>
          <a:prstGeom prst="rect">
            <a:avLst/>
          </a:prstGeom>
          <a:noFill/>
        </p:spPr>
        <p:txBody>
          <a:bodyPr wrap="square" lIns="0" rIns="0" tIns="0" bIns="0">
            <a:spAutoFit/>
          </a:bodyPr>
          <a:lstStyle/>
          <a:p>
            <a:r>
              <a:rPr sz="5800" b="1" i="0">
                <a:solidFill>
                  <a:srgbClr val="CF3338"/>
                </a:solidFill>
                <a:latin typeface="Arial Black"/>
              </a:rPr>
              <a:t>5</a:t>
            </a:r>
          </a:p>
          <a:p>
            <a:pPr>
              <a:spcBef>
                <a:spcPts val="600"/>
              </a:spcBef>
            </a:pPr>
            <a:r>
              <a:rPr sz="1500" b="0" i="0">
                <a:solidFill>
                  <a:srgbClr val="707070"/>
                </a:solidFill>
                <a:latin typeface="Arial"/>
              </a:rPr>
              <a:t>things Excel couldn't do</a:t>
            </a:r>
          </a:p>
        </p:txBody>
      </p:sp>
      <p:sp>
        <p:nvSpPr>
          <p:cNvPr id="6" name="TextBox 5"/>
          <p:cNvSpPr txBox="1"/>
          <p:nvPr/>
        </p:nvSpPr>
        <p:spPr>
          <a:xfrm>
            <a:off x="8801100" y="2468880"/>
            <a:ext cx="2446020" cy="2560320"/>
          </a:xfrm>
          <a:prstGeom prst="rect">
            <a:avLst/>
          </a:prstGeom>
          <a:noFill/>
        </p:spPr>
        <p:txBody>
          <a:bodyPr wrap="square" lIns="0" rIns="0" tIns="0" bIns="0">
            <a:spAutoFit/>
          </a:bodyPr>
          <a:lstStyle/>
          <a:p>
            <a:r>
              <a:rPr sz="3800" b="1" i="0">
                <a:solidFill>
                  <a:srgbClr val="CF3338"/>
                </a:solidFill>
                <a:latin typeface="Arial Black"/>
              </a:rPr>
              <a:t>10,000</a:t>
            </a:r>
          </a:p>
          <a:p>
            <a:pPr>
              <a:spcBef>
                <a:spcPts val="600"/>
              </a:spcBef>
            </a:pPr>
            <a:r>
              <a:rPr sz="1500" b="0" i="0">
                <a:solidFill>
                  <a:srgbClr val="707070"/>
                </a:solidFill>
                <a:latin typeface="Arial"/>
              </a:rPr>
              <a:t>simulated futures</a:t>
            </a:r>
          </a:p>
        </p:txBody>
      </p:sp>
      <p:sp>
        <p:nvSpPr>
          <p:cNvPr id="7" name="TextBox 6"/>
          <p:cNvSpPr txBox="1"/>
          <p:nvPr/>
        </p:nvSpPr>
        <p:spPr>
          <a:xfrm>
            <a:off x="640080" y="5486400"/>
            <a:ext cx="10881360" cy="822960"/>
          </a:xfrm>
          <a:prstGeom prst="rect">
            <a:avLst/>
          </a:prstGeom>
          <a:noFill/>
        </p:spPr>
        <p:txBody>
          <a:bodyPr wrap="square" lIns="0" rIns="0" tIns="0" bIns="0">
            <a:spAutoFit/>
          </a:bodyPr>
          <a:lstStyle/>
          <a:p>
            <a:r>
              <a:rPr sz="1500" b="0" i="1">
                <a:solidFill>
                  <a:srgbClr val="1F2120"/>
                </a:solidFill>
                <a:latin typeface="Arial"/>
              </a:rPr>
              <a:t>Ctrl+Alt+Shift+P to start, Ctrl+Enter to run, Ctrl+Alt+Shift+M to spill.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6949440" cy="1097280"/>
          </a:xfrm>
          <a:prstGeom prst="rect">
            <a:avLst/>
          </a:prstGeom>
          <a:noFill/>
        </p:spPr>
        <p:txBody>
          <a:bodyPr wrap="square" lIns="0" rIns="0" tIns="0" bIns="0">
            <a:spAutoFit/>
          </a:bodyPr>
          <a:lstStyle/>
          <a:p>
            <a:r>
              <a:rPr sz="1500" b="1" i="0">
                <a:solidFill>
                  <a:srgbClr val="CF3338"/>
                </a:solidFill>
                <a:latin typeface="Arial Black"/>
              </a:rPr>
              <a:t>THE BOOK</a:t>
            </a:r>
          </a:p>
          <a:p>
            <a:pPr>
              <a:spcBef>
                <a:spcPts val="600"/>
              </a:spcBef>
            </a:pPr>
            <a:r>
              <a:rPr sz="3000" b="1" i="0">
                <a:solidFill>
                  <a:srgbClr val="1F2120"/>
                </a:solidFill>
                <a:latin typeface="Arial Black"/>
              </a:rPr>
              <a:t>Python in Excel for Data Analytics</a:t>
            </a:r>
          </a:p>
        </p:txBody>
      </p:sp>
      <p:sp>
        <p:nvSpPr>
          <p:cNvPr id="3" name="TextBox 2"/>
          <p:cNvSpPr txBox="1"/>
          <p:nvPr/>
        </p:nvSpPr>
        <p:spPr>
          <a:xfrm>
            <a:off x="640080" y="1920240"/>
            <a:ext cx="6766560" cy="4023360"/>
          </a:xfrm>
          <a:prstGeom prst="rect">
            <a:avLst/>
          </a:prstGeom>
          <a:noFill/>
        </p:spPr>
        <p:txBody>
          <a:bodyPr wrap="square" lIns="0" rIns="0" tIns="0" bIns="0">
            <a:spAutoFit/>
          </a:bodyPr>
          <a:lstStyle/>
          <a:p>
            <a:pPr>
              <a:spcAft>
                <a:spcPts val="900"/>
              </a:spcAft>
            </a:pPr>
            <a:r>
              <a:rPr sz="1200" b="1" i="0">
                <a:solidFill>
                  <a:srgbClr val="CF3338"/>
                </a:solidFill>
                <a:latin typeface="Arial"/>
              </a:rPr>
              <a:t>▶  </a:t>
            </a:r>
            <a:r>
              <a:rPr sz="1600" b="0" i="0">
                <a:solidFill>
                  <a:srgbClr val="1F2120"/>
                </a:solidFill>
                <a:latin typeface="Arial"/>
              </a:rPr>
              <a:t>Everything you saw today, with the how and the why: Chapters 1 to 4 and a taste of 5 to 8.</a:t>
            </a:r>
          </a:p>
          <a:p>
            <a:pPr>
              <a:spcAft>
                <a:spcPts val="900"/>
              </a:spcAft>
            </a:pPr>
            <a:r>
              <a:rPr sz="1200" b="1" i="0">
                <a:solidFill>
                  <a:srgbClr val="CF3338"/>
                </a:solidFill>
                <a:latin typeface="Arial"/>
              </a:rPr>
              <a:t>▶  </a:t>
            </a:r>
            <a:r>
              <a:rPr sz="1600" b="0" i="0">
                <a:solidFill>
                  <a:srgbClr val="1F2120"/>
                </a:solidFill>
                <a:latin typeface="Arial"/>
              </a:rPr>
              <a:t>Twelve chapters from your first =PY() cell to forecasting, simulation, text analytics and AI-assisted analysis.</a:t>
            </a:r>
          </a:p>
          <a:p>
            <a:pPr>
              <a:spcAft>
                <a:spcPts val="900"/>
              </a:spcAft>
            </a:pPr>
            <a:r>
              <a:rPr sz="1200" b="1" i="0">
                <a:solidFill>
                  <a:srgbClr val="CF3338"/>
                </a:solidFill>
                <a:latin typeface="Arial"/>
              </a:rPr>
              <a:t>▶  </a:t>
            </a:r>
            <a:r>
              <a:rPr sz="1600" b="0" i="0">
                <a:solidFill>
                  <a:srgbClr val="1F2120"/>
                </a:solidFill>
                <a:latin typeface="Arial"/>
              </a:rPr>
              <a:t>Companion workbooks for every chapter.</a:t>
            </a:r>
          </a:p>
          <a:p>
            <a:pPr>
              <a:spcAft>
                <a:spcPts val="900"/>
              </a:spcAft>
            </a:pPr>
            <a:r>
              <a:rPr sz="1600" b="1" i="0">
                <a:solidFill>
                  <a:srgbClr val="CF3338"/>
                </a:solidFill>
                <a:latin typeface="Arial"/>
              </a:rPr>
              <a:t>https://stringfestanalytics.com/pyxlda/</a:t>
            </a:r>
          </a:p>
        </p:txBody>
      </p:sp>
      <p:pic>
        <p:nvPicPr>
          <p:cNvPr id="4" name="Picture 3" descr="book-cover.png"/>
          <p:cNvPicPr>
            <a:picLocks noChangeAspect="1"/>
          </p:cNvPicPr>
          <p:nvPr/>
        </p:nvPicPr>
        <p:blipFill>
          <a:blip r:embed="rId2"/>
          <a:stretch>
            <a:fillRect/>
          </a:stretch>
        </p:blipFill>
        <p:spPr>
          <a:xfrm>
            <a:off x="7528255" y="946976"/>
            <a:ext cx="4023360" cy="496404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7315200" cy="1188720"/>
          </a:xfrm>
          <a:prstGeom prst="rect">
            <a:avLst/>
          </a:prstGeom>
          <a:noFill/>
        </p:spPr>
        <p:txBody>
          <a:bodyPr wrap="square" lIns="0" rIns="0" tIns="0" bIns="0">
            <a:spAutoFit/>
          </a:bodyPr>
          <a:lstStyle/>
          <a:p>
            <a:r>
              <a:rPr sz="1500" b="1" i="0">
                <a:solidFill>
                  <a:srgbClr val="CF3338"/>
                </a:solidFill>
                <a:latin typeface="Arial Black"/>
              </a:rPr>
              <a:t>FILES, RECORDING, AND WHAT'S NEXT</a:t>
            </a:r>
          </a:p>
          <a:p>
            <a:pPr>
              <a:spcBef>
                <a:spcPts val="600"/>
              </a:spcBef>
            </a:pPr>
            <a:r>
              <a:rPr sz="2600" b="1" i="0">
                <a:solidFill>
                  <a:srgbClr val="1F2120"/>
                </a:solidFill>
                <a:latin typeface="Arial Black"/>
              </a:rPr>
              <a:t>Python in Excel for Analysts: The Free Sessions</a:t>
            </a:r>
          </a:p>
        </p:txBody>
      </p:sp>
      <p:sp>
        <p:nvSpPr>
          <p:cNvPr id="3" name="TextBox 2"/>
          <p:cNvSpPr txBox="1"/>
          <p:nvPr/>
        </p:nvSpPr>
        <p:spPr>
          <a:xfrm>
            <a:off x="640080" y="2011680"/>
            <a:ext cx="7315200" cy="4023360"/>
          </a:xfrm>
          <a:prstGeom prst="rect">
            <a:avLst/>
          </a:prstGeom>
          <a:noFill/>
        </p:spPr>
        <p:txBody>
          <a:bodyPr wrap="square" lIns="0" rIns="0" tIns="0" bIns="0">
            <a:spAutoFit/>
          </a:bodyPr>
          <a:lstStyle/>
          <a:p>
            <a:pPr>
              <a:spcAft>
                <a:spcPts val="1000"/>
              </a:spcAft>
            </a:pPr>
            <a:r>
              <a:rPr sz="1200" b="1" i="0">
                <a:solidFill>
                  <a:srgbClr val="CF3338"/>
                </a:solidFill>
                <a:latin typeface="Arial"/>
              </a:rPr>
              <a:t>▶  </a:t>
            </a:r>
            <a:r>
              <a:rPr sz="1600" b="0" i="0">
                <a:solidFill>
                  <a:srgbClr val="1F2120"/>
                </a:solidFill>
                <a:latin typeface="Arial"/>
              </a:rPr>
              <a:t>Today's recording, workbook and code land here within a few days: https://stringfestdata.gumroad.com/l/pxlaf</a:t>
            </a:r>
          </a:p>
          <a:p>
            <a:pPr>
              <a:spcAft>
                <a:spcPts val="1000"/>
              </a:spcAft>
            </a:pPr>
            <a:r>
              <a:rPr sz="1200" b="1" i="0">
                <a:solidFill>
                  <a:srgbClr val="CF3338"/>
                </a:solidFill>
                <a:latin typeface="Arial"/>
              </a:rPr>
              <a:t>▶  </a:t>
            </a:r>
            <a:r>
              <a:rPr sz="1600" b="0" i="0">
                <a:solidFill>
                  <a:srgbClr val="1F2120"/>
                </a:solidFill>
                <a:latin typeface="Arial"/>
              </a:rPr>
              <a:t>Grab it now (it's free) and Gumroad notifies you as each session posts.</a:t>
            </a:r>
          </a:p>
          <a:p>
            <a:pPr>
              <a:spcAft>
                <a:spcPts val="1000"/>
              </a:spcAft>
            </a:pPr>
            <a:r>
              <a:rPr sz="1200" b="1" i="0">
                <a:solidFill>
                  <a:srgbClr val="CF3338"/>
                </a:solidFill>
                <a:latin typeface="Arial"/>
              </a:rPr>
              <a:t>▶  </a:t>
            </a:r>
            <a:r>
              <a:rPr sz="1600" b="0" i="0">
                <a:solidFill>
                  <a:srgbClr val="1F2120"/>
                </a:solidFill>
                <a:latin typeface="Arial"/>
              </a:rPr>
              <a:t>All files are also on GitHub: https://github.com/stringfestdata/python-excel-analysts-free</a:t>
            </a:r>
          </a:p>
          <a:p>
            <a:pPr>
              <a:spcAft>
                <a:spcPts val="1000"/>
              </a:spcAft>
            </a:pPr>
            <a:r>
              <a:rPr sz="1200" b="1" i="0">
                <a:solidFill>
                  <a:srgbClr val="CF3338"/>
                </a:solidFill>
                <a:latin typeface="Arial"/>
              </a:rPr>
              <a:t>▶  </a:t>
            </a:r>
            <a:r>
              <a:rPr sz="1600" b="0" i="0">
                <a:solidFill>
                  <a:srgbClr val="1F2120"/>
                </a:solidFill>
                <a:latin typeface="Arial"/>
              </a:rPr>
              <a:t>Next: Session 2, Charts and exploration Excel can't do alone. Register at https://stringfestanalytics.com/events</a:t>
            </a:r>
          </a:p>
        </p:txBody>
      </p:sp>
      <p:pic>
        <p:nvPicPr>
          <p:cNvPr id="4" name="Picture 3" descr="free-sessions.png"/>
          <p:cNvPicPr>
            <a:picLocks noChangeAspect="1"/>
          </p:cNvPicPr>
          <p:nvPr/>
        </p:nvPicPr>
        <p:blipFill>
          <a:blip r:embed="rId2"/>
          <a:stretch>
            <a:fillRect/>
          </a:stretch>
        </p:blipFill>
        <p:spPr>
          <a:xfrm>
            <a:off x="7528255" y="2296828"/>
            <a:ext cx="4023360" cy="22643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THANK YOU</a:t>
            </a:r>
          </a:p>
          <a:p>
            <a:pPr>
              <a:spcBef>
                <a:spcPts val="800"/>
              </a:spcBef>
            </a:pPr>
            <a:r>
              <a:rPr sz="3600" b="1" i="0">
                <a:solidFill>
                  <a:srgbClr val="FFFFFF"/>
                </a:solidFill>
                <a:latin typeface="Arial Black"/>
              </a:rPr>
              <a:t>Questions?</a:t>
            </a:r>
          </a:p>
          <a:p>
            <a:pPr>
              <a:spcBef>
                <a:spcPts val="1400"/>
              </a:spcBef>
            </a:pPr>
            <a:r>
              <a:rPr sz="1800" b="0" i="0">
                <a:solidFill>
                  <a:srgbClr val="FFFFFF"/>
                </a:solidFill>
                <a:latin typeface="Arial"/>
              </a:rPr>
              <a:t>george@stringfestanalytics.com  ·  stringfestanalytics.com  ·  https://stringfestanalytics.com/pyxlda/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