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e61a30ec0340e9" /><Relationship Type="http://schemas.openxmlformats.org/officeDocument/2006/relationships/extended-properties" Target="/docProps/app.xml" Id="Rb78f052f722a428d" /><Relationship Type="http://schemas.openxmlformats.org/officeDocument/2006/relationships/officeDocument" Target="/ppt/presentation.xml" Id="Rf838d785577a4602" /></Relationships>
</file>

<file path=ppt/presentation.xml><?xml version="1.0" encoding="utf-8"?>
<p:presentation xmlns:p="http://schemas.openxmlformats.org/presentationml/2006/main">
  <p:sldMasterIdLst>
    <p:sldMasterId xmlns:r="http://schemas.openxmlformats.org/officeDocument/2006/relationships" id="2147483648" r:id="R1e773105ff71465b"/>
  </p:sldMasterIdLst>
  <p:notesMasterIdLst>
    <p:notesMasterId xmlns:r="http://schemas.openxmlformats.org/officeDocument/2006/relationships" r:id="R2d4bbe5249434c92"/>
  </p:notesMasterIdLst>
  <p:sldIdLst>
    <p:sldId xmlns:r="http://schemas.openxmlformats.org/officeDocument/2006/relationships" id="256" r:id="Ree3765a3313e4515"/>
    <p:sldId xmlns:r="http://schemas.openxmlformats.org/officeDocument/2006/relationships" id="257" r:id="Rab8e65d9816c41e0"/>
    <p:sldId xmlns:r="http://schemas.openxmlformats.org/officeDocument/2006/relationships" id="258" r:id="R6bb63415dfc6470e"/>
    <p:sldId xmlns:r="http://schemas.openxmlformats.org/officeDocument/2006/relationships" id="259" r:id="R9528b0ce5c974cfb"/>
    <p:sldId xmlns:r="http://schemas.openxmlformats.org/officeDocument/2006/relationships" id="260" r:id="R293f967ccaa549d7"/>
    <p:sldId xmlns:r="http://schemas.openxmlformats.org/officeDocument/2006/relationships" id="261" r:id="Ra1ec509c1ab24b16"/>
    <p:sldId xmlns:r="http://schemas.openxmlformats.org/officeDocument/2006/relationships" id="262" r:id="Rad8a33a628aa404b"/>
    <p:sldId xmlns:r="http://schemas.openxmlformats.org/officeDocument/2006/relationships" id="263" r:id="R1da3afcf06184cb4"/>
    <p:sldId xmlns:r="http://schemas.openxmlformats.org/officeDocument/2006/relationships" id="264" r:id="R5c9549c80d9e4f1e"/>
    <p:sldId xmlns:r="http://schemas.openxmlformats.org/officeDocument/2006/relationships" id="265" r:id="Rdd8ffef0851e4958"/>
    <p:sldId xmlns:r="http://schemas.openxmlformats.org/officeDocument/2006/relationships" id="266" r:id="R881d3d52d75b437f"/>
    <p:sldId xmlns:r="http://schemas.openxmlformats.org/officeDocument/2006/relationships" id="267" r:id="R5bee97c70a094903"/>
    <p:sldId xmlns:r="http://schemas.openxmlformats.org/officeDocument/2006/relationships" id="268" r:id="R8c13d708443f46c7"/>
    <p:sldId xmlns:r="http://schemas.openxmlformats.org/officeDocument/2006/relationships" id="269" r:id="R03cf4cb9fc4d49b9"/>
    <p:sldId xmlns:r="http://schemas.openxmlformats.org/officeDocument/2006/relationships" id="270" r:id="Rccac463866f74293"/>
    <p:sldId xmlns:r="http://schemas.openxmlformats.org/officeDocument/2006/relationships" id="271" r:id="R4b1449d0fb374308"/>
    <p:sldId xmlns:r="http://schemas.openxmlformats.org/officeDocument/2006/relationships" id="272" r:id="R93481fe211634198"/>
    <p:sldId xmlns:r="http://schemas.openxmlformats.org/officeDocument/2006/relationships" id="273" r:id="R4e5faa2ddfa04f02"/>
    <p:sldId xmlns:r="http://schemas.openxmlformats.org/officeDocument/2006/relationships" id="274" r:id="Rd649a68f15b8468f"/>
    <p:sldId xmlns:r="http://schemas.openxmlformats.org/officeDocument/2006/relationships" id="275" r:id="Raddec3bc938441d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c8f1364d7474e" /><Relationship Type="http://schemas.openxmlformats.org/officeDocument/2006/relationships/slideMaster" Target="/ppt/slideMasters/slideMaster1.xml" Id="R1e773105ff71465b" /><Relationship Type="http://schemas.openxmlformats.org/officeDocument/2006/relationships/notesMaster" Target="/ppt/notesMasters/notesMaster1.xml" Id="R2d4bbe5249434c92" /><Relationship Type="http://schemas.openxmlformats.org/officeDocument/2006/relationships/presProps" Target="/ppt/presProps.xml" Id="R5659ce84218c4552" /><Relationship Type="http://schemas.openxmlformats.org/officeDocument/2006/relationships/tableStyles" Target="/ppt/tableStyles.xml" Id="Rc728abd05597472e" /><Relationship Type="http://schemas.openxmlformats.org/officeDocument/2006/relationships/slide" Target="/ppt/slides/slide1.xml" Id="Ree3765a3313e4515" /><Relationship Type="http://schemas.openxmlformats.org/officeDocument/2006/relationships/slide" Target="/ppt/slides/slide2.xml" Id="Rab8e65d9816c41e0" /><Relationship Type="http://schemas.openxmlformats.org/officeDocument/2006/relationships/slide" Target="/ppt/slides/slide3.xml" Id="R6bb63415dfc6470e" /><Relationship Type="http://schemas.openxmlformats.org/officeDocument/2006/relationships/slide" Target="/ppt/slides/slide4.xml" Id="R9528b0ce5c974cfb" /><Relationship Type="http://schemas.openxmlformats.org/officeDocument/2006/relationships/slide" Target="/ppt/slides/slide5.xml" Id="R293f967ccaa549d7" /><Relationship Type="http://schemas.openxmlformats.org/officeDocument/2006/relationships/slide" Target="/ppt/slides/slide6.xml" Id="Ra1ec509c1ab24b16" /><Relationship Type="http://schemas.openxmlformats.org/officeDocument/2006/relationships/slide" Target="/ppt/slides/slide7.xml" Id="Rad8a33a628aa404b" /><Relationship Type="http://schemas.openxmlformats.org/officeDocument/2006/relationships/slide" Target="/ppt/slides/slide8.xml" Id="R1da3afcf06184cb4" /><Relationship Type="http://schemas.openxmlformats.org/officeDocument/2006/relationships/slide" Target="/ppt/slides/slide9.xml" Id="R5c9549c80d9e4f1e" /><Relationship Type="http://schemas.openxmlformats.org/officeDocument/2006/relationships/slide" Target="/ppt/slides/slide10.xml" Id="Rdd8ffef0851e4958" /><Relationship Type="http://schemas.openxmlformats.org/officeDocument/2006/relationships/slide" Target="/ppt/slides/slide11.xml" Id="R881d3d52d75b437f" /><Relationship Type="http://schemas.openxmlformats.org/officeDocument/2006/relationships/slide" Target="/ppt/slides/slide12.xml" Id="R5bee97c70a094903" /><Relationship Type="http://schemas.openxmlformats.org/officeDocument/2006/relationships/slide" Target="/ppt/slides/slide13.xml" Id="R8c13d708443f46c7" /><Relationship Type="http://schemas.openxmlformats.org/officeDocument/2006/relationships/slide" Target="/ppt/slides/slide14.xml" Id="R03cf4cb9fc4d49b9" /><Relationship Type="http://schemas.openxmlformats.org/officeDocument/2006/relationships/slide" Target="/ppt/slides/slide15.xml" Id="Rccac463866f74293" /><Relationship Type="http://schemas.openxmlformats.org/officeDocument/2006/relationships/slide" Target="/ppt/slides/slide16.xml" Id="R4b1449d0fb374308" /><Relationship Type="http://schemas.openxmlformats.org/officeDocument/2006/relationships/slide" Target="/ppt/slides/slide17.xml" Id="R93481fe211634198" /><Relationship Type="http://schemas.openxmlformats.org/officeDocument/2006/relationships/slide" Target="/ppt/slides/slide18.xml" Id="R4e5faa2ddfa04f02" /><Relationship Type="http://schemas.openxmlformats.org/officeDocument/2006/relationships/slide" Target="/ppt/slides/slide19.xml" Id="Rd649a68f15b8468f" /><Relationship Type="http://schemas.openxmlformats.org/officeDocument/2006/relationships/slide" Target="/ppt/slides/slide20.xml" Id="Raddec3bc938441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c0f3d69d394f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793df294264124" /><Relationship Type="http://schemas.openxmlformats.org/officeDocument/2006/relationships/notesMaster" Target="/ppt/notesMasters/notesMaster1.xml" Id="R716e947ed7c141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00e1db4f6c40ee" /><Relationship Type="http://schemas.openxmlformats.org/officeDocument/2006/relationships/notesMaster" Target="/ppt/notesMasters/notesMaster1.xml" Id="R034e7ecc452345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c756e3627c4a55" /><Relationship Type="http://schemas.openxmlformats.org/officeDocument/2006/relationships/notesMaster" Target="/ppt/notesMasters/notesMaster1.xml" Id="Re89ca97dd6f842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ca1c0051484018" /><Relationship Type="http://schemas.openxmlformats.org/officeDocument/2006/relationships/notesMaster" Target="/ppt/notesMasters/notesMaster1.xml" Id="R77e2c32719bf4f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4fb8ee1b6242f2" /><Relationship Type="http://schemas.openxmlformats.org/officeDocument/2006/relationships/notesMaster" Target="/ppt/notesMasters/notesMaster1.xml" Id="Ra433c2c5977745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85832752584bfc" /><Relationship Type="http://schemas.openxmlformats.org/officeDocument/2006/relationships/notesMaster" Target="/ppt/notesMasters/notesMaster1.xml" Id="R2ad5427cea264c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c03c9d787a4392" /><Relationship Type="http://schemas.openxmlformats.org/officeDocument/2006/relationships/notesMaster" Target="/ppt/notesMasters/notesMaster1.xml" Id="R18f009f955d141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2aa6d337bb424f" /><Relationship Type="http://schemas.openxmlformats.org/officeDocument/2006/relationships/notesMaster" Target="/ppt/notesMasters/notesMaster1.xml" Id="Rf320ca2b55fd4c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9dabf7281749c2" /><Relationship Type="http://schemas.openxmlformats.org/officeDocument/2006/relationships/notesMaster" Target="/ppt/notesMasters/notesMaster1.xml" Id="R743c1b09aa804f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507bbfd16d4558" /><Relationship Type="http://schemas.openxmlformats.org/officeDocument/2006/relationships/notesMaster" Target="/ppt/notesMasters/notesMaster1.xml" Id="Rca7d990a991641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0039e0dfa24fec" /><Relationship Type="http://schemas.openxmlformats.org/officeDocument/2006/relationships/notesMaster" Target="/ppt/notesMasters/notesMaster1.xml" Id="R2370379c404d4a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e2f54fdfac4f0e" /><Relationship Type="http://schemas.openxmlformats.org/officeDocument/2006/relationships/notesMaster" Target="/ppt/notesMasters/notesMaster1.xml" Id="R484bd87dc0f44b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4bd470d1624a18" /><Relationship Type="http://schemas.openxmlformats.org/officeDocument/2006/relationships/notesMaster" Target="/ppt/notesMasters/notesMaster1.xml" Id="R68d6916990ed4a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e1ae13c31e4ba8" /><Relationship Type="http://schemas.openxmlformats.org/officeDocument/2006/relationships/notesMaster" Target="/ppt/notesMasters/notesMaster1.xml" Id="R15aeb90621484c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74ed3c67504dfa" /><Relationship Type="http://schemas.openxmlformats.org/officeDocument/2006/relationships/notesMaster" Target="/ppt/notesMasters/notesMaster1.xml" Id="Rf90e2b8df6b44e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b3da00986143b6" /><Relationship Type="http://schemas.openxmlformats.org/officeDocument/2006/relationships/notesMaster" Target="/ppt/notesMasters/notesMaster1.xml" Id="R04418423f3ff49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1da1696bf1410f" /><Relationship Type="http://schemas.openxmlformats.org/officeDocument/2006/relationships/notesMaster" Target="/ppt/notesMasters/notesMaster1.xml" Id="Rf6027b8ad36a4c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86572c09244d3a" /><Relationship Type="http://schemas.openxmlformats.org/officeDocument/2006/relationships/notesMaster" Target="/ppt/notesMasters/notesMaster1.xml" Id="Rd5e3c7db811b45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0e3490f7674dc5" /><Relationship Type="http://schemas.openxmlformats.org/officeDocument/2006/relationships/notesMaster" Target="/ppt/notesMasters/notesMaster1.xml" Id="R1b16a9f5c41e4c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8b6f5edb49444f" /><Relationship Type="http://schemas.openxmlformats.org/officeDocument/2006/relationships/notesMaster" Target="/ppt/notesMasters/notesMaster1.xml" Id="R41f18a4fd4d148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Welcome. You already know how to work in Excel. Today you will use that experience to answer a question with a little Python. We will move slowly through a few cells, then I will show you two possibilities worth exploring. You can watch or type along. I wrote Python in Excel for Data Analytics to help you keep going after this first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01:00-02:00. Think of a workbook you maintain. You get a reasonable question and suddenly you need more helper columns, another chart or another round of copying. The cost is time spent rebuilding analysis and checking it. Ask attendees to write one recurring task on page 1. Keep this specific. Python is one option when that task becomes cumbersome; ordinary Excel tools still have a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02:00-03:00. I am George Mount, founder of Stringfest Analytics, a Microsoft Excel MVP and an author. My work is helping Excel users take the next step with analytics. You already understand rows, columns and the questions the business asks. I will connect each new Python idea to something familiar. The book follows that same approach. Source for author credentials and intended audience: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03:00-04:00. This is the whole plan. First run a Python cell. Then use the sales table already in the workbook to answer one question. Finally watch two short demonstrations. We will leave time for the book and your questions. The worksheet is our shorter route through the existing workbook; the workbook's opening tab includes extra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04:00-06:00. Open follow-along.xlsx and the attendee worksheet. Use the worksheet's cell locations for today's shorter route, rather than following the longer opening tab. Add a blank sheet called hello-world and place it first. Confirm Insert Python is available on the Formulas tab. These keystrokes are for Windows. On other supported versions use the ribbon and the Python output menu. If Python is not available, watch and write down the checkpoints. Keep questions in chat. The recording and files are available through the free sessions page. Sources: https://support.microsoft.com/en-us/excel/python/get-started-with-python-in-excel; https://stringfestdata.gumroad.com/l/pxlaf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06:00-09:00. Worksheet page 1, step 1. On hello-world select B2 and choose Formulas &gt; Insert Python. Type the two lines in the formula bar. Enter makes a new line while editing. Ctrl+Enter runs the cell. If needed, choose Excel Value from the Python output menu. Wait for the result. Ask attendees to check that they see Hello, world! Explain that my_object is a name we chose. The first line saves a message under that name. The last line asks Excel to show it. Do not promise that assignment alone displays the value. Source: https://support.microsoft.com/en-us/excel/python/get-started-with-python-in-excel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09:00-11:00. Worksheet page 1, step 2. In C3 insert Python, type my_object and run. The result matches B2. We can use a name in later Python cells. Python calculates across each row, then down to the next row; sheet order also matters. B2 is before C3. Avoid a deliberate error today so attendees keep a working example. If asked, code in A1 would run before B2, so a name first defined in B2 is not yet available there. Source: https://support.microsoft.com/en-us/excel/python/get-started-with-python-in-excel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11:00-15:00. Worksheet page 2, step 3. Go to sales, cell I1. This is safely to the right of the existing A:G table. Insert Python. Type these two lines. Run, then use Excel Value in the Python output menu to see the rows. sales is the Excel table's existing name. sales_df is the Python name we choose for it. xl reads the table. headers=True uses the first row as column names. DataFrame is the term for this table in Python. head shows the first five rows. There is an index starting at zero; it is a row label. Do not teach all the punctuation yet. Source: https://support.microsoft.com/en-us/excel/python/get-started-with-python-in-excel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15:00-17:00. Stay on sales I1. Use the Python output menu by the formula bar. Python Object keeps a reusable object in one cell; Excel Value returns its contents to the grid. In Windows Ctrl+Alt+Shift+M switches the output type. Make sure there is empty space to the right and below for the result. Ask attendees to record the first product on page 2: Desk. A DataFrame card is a valid result, not a failure. Source: https://support.microsoft.com/en-us/excel/python/python-in-excel-dataframes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17:00-20:00. Worksheet page 2, step 4. On sales I10 insert Python, type sales_df.describe() and run. Choose Excel Value. Look only at unit_price today. Count is how many nonblank prices there are. Mean is the average. Max is the largest. Attendees record count 200 and max 760.69. The mean is 211.9483. Ignore the order_id summary because an identifier's average is not useful. A statistical summary is a starting check, not proof the data is right. Workbook source: supplied follow-along.xlsx, sales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20:00-24:00. Worksheet page 2, step 5. In sales I22 insert Python, type the line and run. This leaves room below the prior spill. Read it together: split the rows by country, select unit_price, average those values. Translate to the familiar PivotTable setup: country in Rows and Average of unit_price in Values. Ask which country is highest. The United Kingdom averages 274.4285365853658, displayed about 274.43. These are average listed unit prices across records, not average order values or quantity-weighted prices. Data source: supplied follow-along.xlsx sales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24:00-26:00. Pause for an actual win. Ask attendees to complete the statement on page 2 before revealing the number. United Kingdom is highest at about 274.43 in the supplied practice data. This does not prove that market is the most profitable or sells the most units. Product mix matters. You have a reusable pattern, and you know what your answer measures. Later, replace mean with median as an optional exercise, then compare.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26:00-30:00. Watch together; worksheet page 3. In mpg K1 insert Python and run the code below. This makes one fuel-economy histogram per origin with common bins and axes. A histogram counts how many values fall in each range. Ask which group tends to have lower fuel economy; USA in this practice dataset. Avoid a causal conclusion. The slide previews the same supplied data using editable PowerPoint columns with identical 5-mpg intervals.</a:t>
            </a:r>
          </a:p>
          <a:p xmlns:a="http://schemas.openxmlformats.org/drawingml/2006/main">
            <a:r>
              <a:t/>
            </a:r>
          </a:p>
          <a:p xmlns:a="http://schemas.openxmlformats.org/drawingml/2006/main">
            <a:r>
              <a:t>mpg_df = xl("mpg[#All]", headers=True)</a:t>
            </a:r>
          </a:p>
          <a:p xmlns:a="http://schemas.openxmlformats.org/drawingml/2006/main">
            <a:r>
              <a:t>sns.displot(data=mpg_df, x="mpg", col="origin", col_order=["usa", "europe", "japan"], bins=range(5, 56, 5), color="#CF3338")</a:t>
            </a:r>
          </a:p>
          <a:p xmlns:a="http://schemas.openxmlformats.org/drawingml/2006/main">
            <a:r>
              <a:t/>
            </a:r>
          </a:p>
          <a:p xmlns:a="http://schemas.openxmlformats.org/drawingml/2006/main">
            <a:r>
              <a:t>Choose Excel Value if necessary to see the image. Enlarge it through the available image controls. Source: follow-along.xlsx mpg table;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30:00-34:00. Watch together; worksheet page 3. Add a blank sheet called simulation at the end. Select A1 and insert Python. Paste the code below. This is a toy inventory example, not a prediction. Stock 1,100 units at $30 each and sell each unit for $50. Assume demand follows a normal distribution centered on 1,000 with standard deviation 200, bounded at zero. No salvage value, fixed costs or other expenses. We pay for all stock, even unsold units. The random seed makes this demonstration repeatable. A range of outcomes includes losses even when average profit is positive. The slide uses the same $5,000 bins as the code. Profit cannot exceed $22,000 at this stock level. Ask what missing assumption attendees would investigate.</a:t>
            </a:r>
          </a:p>
          <a:p xmlns:a="http://schemas.openxmlformats.org/drawingml/2006/main">
            <a:r>
              <a:t/>
            </a:r>
          </a:p>
          <a:p xmlns:a="http://schemas.openxmlformats.org/drawingml/2006/main">
            <a:r>
              <a:t>np.random.seed(42)</a:t>
            </a:r>
          </a:p>
          <a:p xmlns:a="http://schemas.openxmlformats.org/drawingml/2006/main">
            <a:r>
              <a:t>demand = np.maximum(np.random.normal(1000, 200, 10000), 0)</a:t>
            </a:r>
          </a:p>
          <a:p xmlns:a="http://schemas.openxmlformats.org/drawingml/2006/main">
            <a:r>
              <a:t>units_sold = np.minimum(demand, 1100)</a:t>
            </a:r>
          </a:p>
          <a:p xmlns:a="http://schemas.openxmlformats.org/drawingml/2006/main">
            <a:r>
              <a:t>profit = units_sold * 50 - 1100 * 30</a:t>
            </a:r>
          </a:p>
          <a:p xmlns:a="http://schemas.openxmlformats.org/drawingml/2006/main">
            <a:r>
              <a:t>sns.histplot(profit, bins=range(-25000, 25001, 5000), color="#CF3338")</a:t>
            </a:r>
          </a:p>
          <a:p xmlns:a="http://schemas.openxmlformats.org/drawingml/2006/main">
            <a:r>
              <a:t>plt.axvline(0, color="black")</a:t>
            </a:r>
          </a:p>
          <a:p xmlns:a="http://schemas.openxmlformats.org/drawingml/2006/main">
            <a:r>
              <a:t/>
            </a:r>
          </a:p>
          <a:p xmlns:a="http://schemas.openxmlformats.org/drawingml/2006/main">
            <a:r>
              <a:t>Expected checks with seed 42: mean profit about $14,998.25, 465 losses out of 10,000, maximum $22,000. Do not sell the model as a forecast or recommend a stock level. Sources: supplied workbook example, revised to bound demand at zero;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34:00-35:00. Be direct. Python in Excel needs a supported Microsoft 365 setup with the feature enabled and an internet connection. Python runs in Microsoft's cloud. These Python charts are images, without native Excel chart interactivity. Read data from the workbook or Power Query; cells cannot make arbitrary network requests or read local files. Keep existing Excel tools for simple work where they are already effective. Source: https://support.microsoft.com/en-us/excel/python/get-started-with-python-in-excel;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35:00-36:00. Worksheet page 4. Return to the task attendees wrote at the beginning. Ask them to write one small result they would like to produce and how they would check it against a familiar Excel result. A small, testable step is enough. They do not need to learn everything before starting.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36:00-39:00. Here is the book behind this session: Python in Excel for Data Analytics, published by Packt. If today's examples helped you see a use for Python, the book gives you a structured way to practice and understand the choices. It starts with Python in Excel, pandas and visualization, then moves into statistical tests, regression, forecasting and simulation. Downloadable Excel workbooks accompany the practical examples. It assumes Excel familiarity and introduces programming gradually. The payoff is having a sequence to work through when you return to your own workbook. Do not promise unannounced bonuses, instant preorder file access or guaranteed time savings. Source and current book details: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39:00-40:30. Make the ask plainly: If you want to keep building on what you did today, preorder Python in Excel for Data Analytics. Open this page, choose your bookseller and reserve your preferred format. Pause for twenty seconds so people can scan. This supports the next step they just wrote on the worksheet. The author page currently lists Amazon, Packt and Barnes &amp; Noble. The book is scheduled for January 8, 2027; keep dates off the slides so the page remains the current source. Preorder does not mean the published book is available immediately. Source checked September 20, 2026: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40:30-41:00. Keep this brief so the book remains the main next step. The free sessions page has the practice files and replay when posted. They can return to today's examples there. No separate paid-course pitch. Ask attendees to save the page, then return to the book link for Q&amp;A. Source: supplied session materials, https://stringfestdata.gumroad.com/l/pxlaf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41:00-45:00. Take questions with the preorder link left on screen. If someone asks whether they need to be a programmer, explain that the book introduces the code gradually for people already comfortable in Excel. If someone asks what to practice first, point to loading a table and checking a country summary against a PivotTable. If someone asks about release or format, point to the book page for current details. Close: You have a first working example and a next question to try. If you want the step-by-step path, preorder the book through this page. Thank you for joining.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032910812943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ac260308074dda" /><Relationship Type="http://schemas.openxmlformats.org/officeDocument/2006/relationships/slideLayout" Target="/ppt/slideLayouts/slideLayout1.xml" Id="Rf7840e895b4e4d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840e895b4e4d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0bb9e3a8d74a25" /><Relationship Type="http://schemas.openxmlformats.org/officeDocument/2006/relationships/image" Target="/ppt/media/image.png" Id="R78dcfeed41394919" /><Relationship Type="http://schemas.openxmlformats.org/officeDocument/2006/relationships/notesSlide" Target="/ppt/notesSlides/notesSlide1.xml" Id="Re80b350f211741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33a9017e9e432d" /><Relationship Type="http://schemas.openxmlformats.org/officeDocument/2006/relationships/notesSlide" Target="/ppt/notesSlides/notesSlide2.xml" Id="R95b5577de8fb48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296e421f414ef2" /><Relationship Type="http://schemas.openxmlformats.org/officeDocument/2006/relationships/notesSlide" Target="/ppt/notesSlides/notesSlide3.xml" Id="Ra3652733c90343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0c87558a744d75" /><Relationship Type="http://schemas.openxmlformats.org/officeDocument/2006/relationships/notesSlide" Target="/ppt/notesSlides/notesSlide4.xml" Id="R1fad6c522d6749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6adbe679594c3a" /><Relationship Type="http://schemas.openxmlformats.org/officeDocument/2006/relationships/notesSlide" Target="/ppt/notesSlides/notesSlide5.xml" Id="R7bcdc1754f9048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aadd5ff8044bfd" /><Relationship Type="http://schemas.openxmlformats.org/officeDocument/2006/relationships/notesSlide" Target="/ppt/notesSlides/notesSlide6.xml" Id="Rf2b6e64111e743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2764a9496444b2" /><Relationship Type="http://schemas.openxmlformats.org/officeDocument/2006/relationships/notesSlide" Target="/ppt/notesSlides/notesSlide7.xml" Id="Rcd0fd539e8dc43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5c5934b5814bf4" /><Relationship Type="http://schemas.openxmlformats.org/officeDocument/2006/relationships/notesSlide" Target="/ppt/notesSlides/notesSlide8.xml" Id="R7f87125080f443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60da3d014c4e52" /><Relationship Type="http://schemas.openxmlformats.org/officeDocument/2006/relationships/notesSlide" Target="/ppt/notesSlides/notesSlide9.xml" Id="Rcc445128d8be44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80248245dc406c" /><Relationship Type="http://schemas.openxmlformats.org/officeDocument/2006/relationships/notesSlide" Target="/ppt/notesSlides/notesSlide10.xml" Id="Rfeee9e5baeac49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db5e5026ec44a1" /><Relationship Type="http://schemas.openxmlformats.org/officeDocument/2006/relationships/notesSlide" Target="/ppt/notesSlides/notesSlide11.xml" Id="R867ae766d8a24f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0a29b0ee234e61" /><Relationship Type="http://schemas.openxmlformats.org/officeDocument/2006/relationships/notesSlide" Target="/ppt/notesSlides/notesSlide12.xml" Id="R1bcf36c2781a49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0e261ba4c34c39" /><Relationship Type="http://schemas.openxmlformats.org/officeDocument/2006/relationships/chart" Target="/ppt/slides/charts/chart1.xml" Id="Rfeff9bc98b134074" /><Relationship Type="http://schemas.openxmlformats.org/officeDocument/2006/relationships/chart" Target="/ppt/slides/charts/chart2.xml" Id="Re1fba7296e6c44e3" /><Relationship Type="http://schemas.openxmlformats.org/officeDocument/2006/relationships/chart" Target="/ppt/slides/charts/chart3.xml" Id="R4478467b382f4e79" /><Relationship Type="http://schemas.openxmlformats.org/officeDocument/2006/relationships/notesSlide" Target="/ppt/notesSlides/notesSlide13.xml" Id="R69f79850b0fe4a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19386a2c7f4124" /><Relationship Type="http://schemas.openxmlformats.org/officeDocument/2006/relationships/chart" Target="/ppt/slides/charts/chart4.xml" Id="R06967809363d4936" /><Relationship Type="http://schemas.openxmlformats.org/officeDocument/2006/relationships/notesSlide" Target="/ppt/notesSlides/notesSlide14.xml" Id="Ree0fe687e74341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6399651a5848d8" /><Relationship Type="http://schemas.openxmlformats.org/officeDocument/2006/relationships/notesSlide" Target="/ppt/notesSlides/notesSlide15.xml" Id="Rfe88f6e8085a45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7e47a2ee814c27" /><Relationship Type="http://schemas.openxmlformats.org/officeDocument/2006/relationships/notesSlide" Target="/ppt/notesSlides/notesSlide16.xml" Id="R8df51a5de1954a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4be93ab2bf74e17" /><Relationship Type="http://schemas.openxmlformats.org/officeDocument/2006/relationships/image" Target="/ppt/media/image2.png" Id="Rb814b799b3f3407d" /><Relationship Type="http://schemas.openxmlformats.org/officeDocument/2006/relationships/notesSlide" Target="/ppt/notesSlides/notesSlide17.xml" Id="R8d14315fd4c148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57432539f24abc" /><Relationship Type="http://schemas.openxmlformats.org/officeDocument/2006/relationships/image" Target="/ppt/media/image3.png" Id="Rc6423998836b411b" /><Relationship Type="http://schemas.openxmlformats.org/officeDocument/2006/relationships/hyperlink" Target="https://stringfestanalytics.com/pyxlda/" TargetMode="External" Id="Rd74d4544fed7434f" /><Relationship Type="http://schemas.openxmlformats.org/officeDocument/2006/relationships/notesSlide" Target="/ppt/notesSlides/notesSlide18.xml" Id="R7479660b4d8e42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e437cff3dae49d3" /><Relationship Type="http://schemas.openxmlformats.org/officeDocument/2006/relationships/hyperlink" Target="https://stringfestdata.gumroad.com/l/pxlaf" TargetMode="External" Id="R7a725d58cd464747" /><Relationship Type="http://schemas.openxmlformats.org/officeDocument/2006/relationships/notesSlide" Target="/ppt/notesSlides/notesSlide19.xml" Id="R27eb8fc5080a4c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ad320ea7974fa7" /><Relationship Type="http://schemas.openxmlformats.org/officeDocument/2006/relationships/hyperlink" Target="https://stringfestanalytics.com/pyxlda/" TargetMode="External" Id="Rb4fb5c9f5e3549e3" /><Relationship Type="http://schemas.openxmlformats.org/officeDocument/2006/relationships/notesSlide" Target="/ppt/notesSlides/notesSlide20.xml" Id="R541cb97a55a344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F2120"/>
                </a:solidFill>
                <a:latin typeface="Arial"/>
                <a:ea typeface="Arial"/>
                <a:cs typeface="Arial"/>
              </a:rPr>
              <a:t>USA</a:t>
            </a:r>
          </a:p>
        </c:rich>
      </c:tx>
      <c:overlay val="0"/>
      <c:txPr>
        <a:bodyPr xmlns:a="http://schemas.openxmlformats.org/drawingml/2006/main" anchorCtr="1"/>
        <a:lstStyle xmlns:a="http://schemas.openxmlformats.org/drawingml/2006/main"/>
        <a:p xmlns:a="http://schemas.openxmlformats.org/drawingml/2006/main">
          <a:pPr>
            <a:defRPr sz="1950" b="1">
              <a:solidFill>
                <a:srgbClr val="1F2120"/>
              </a:solidFill>
              <a:latin typeface="Arial"/>
              <a:ea typeface="Arial"/>
              <a:cs typeface="Arial"/>
            </a:defRPr>
          </a:pPr>
        </a:p>
      </c:txPr>
    </c:title>
    <c:plotArea>
      <c:barChart>
        <c:barDir val="col"/>
        <c:varyColors val="0"/>
        <c:ser>
          <c:idx val="0"/>
          <c:order val="0"/>
          <c:tx>
            <c:v>Cars</c:v>
          </c:tx>
          <c:spPr>
            <a:solidFill xmlns:a="http://schemas.openxmlformats.org/drawingml/2006/main">
              <a:srgbClr val="CF3338"/>
            </a:solidFill>
          </c:spPr>
          <c:cat>
            <c:numRef>
              <c:f>'Chart Data'!$A$2:$A$11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Data'!$B$2:$B$11</c:f>
              <c:numCache>
                <c:formatCode>General</c:formatCode>
                <c:ptCount val="10"/>
                <c:pt idx="0">
                  <c:v>0</c:v>
                </c:pt>
                <c:pt idx="1">
                  <c:v>21</c:v>
                </c:pt>
                <c:pt idx="2">
                  <c:v>54</c:v>
                </c:pt>
                <c:pt idx="3">
                  <c:v>69</c:v>
                </c:pt>
                <c:pt idx="4">
                  <c:v>31</c:v>
                </c:pt>
                <c:pt idx="5">
                  <c:v>29</c:v>
                </c:pt>
                <c:pt idx="6">
                  <c:v>3</c:v>
                </c:pt>
                <c:pt idx="7">
                  <c:v>0</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3"/>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MPG (bin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8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Number of cars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majorUnit val="2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F2120"/>
                </a:solidFill>
                <a:latin typeface="Arial"/>
                <a:ea typeface="Arial"/>
                <a:cs typeface="Arial"/>
              </a:rPr>
              <a:t>Europe</a:t>
            </a:r>
          </a:p>
        </c:rich>
      </c:tx>
      <c:overlay val="0"/>
      <c:txPr>
        <a:bodyPr xmlns:a="http://schemas.openxmlformats.org/drawingml/2006/main" anchorCtr="1"/>
        <a:lstStyle xmlns:a="http://schemas.openxmlformats.org/drawingml/2006/main"/>
        <a:p xmlns:a="http://schemas.openxmlformats.org/drawingml/2006/main">
          <a:pPr>
            <a:defRPr sz="1950" b="1">
              <a:solidFill>
                <a:srgbClr val="1F2120"/>
              </a:solidFill>
              <a:latin typeface="Arial"/>
              <a:ea typeface="Arial"/>
              <a:cs typeface="Arial"/>
            </a:defRPr>
          </a:pPr>
        </a:p>
      </c:txPr>
    </c:title>
    <c:plotArea>
      <c:barChart>
        <c:barDir val="col"/>
        <c:varyColors val="0"/>
        <c:ser>
          <c:idx val="0"/>
          <c:order val="0"/>
          <c:tx>
            <c:v>Cars</c:v>
          </c:tx>
          <c:spPr>
            <a:solidFill xmlns:a="http://schemas.openxmlformats.org/drawingml/2006/main">
              <a:srgbClr val="CF3338"/>
            </a:solidFill>
          </c:spPr>
          <c:cat>
            <c:numRef>
              <c:f>'Chart Data'!$A$2:$A$11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Data'!$B$2:$B$11</c:f>
              <c:numCache>
                <c:formatCode>General</c:formatCode>
                <c:ptCount val="10"/>
                <c:pt idx="0">
                  <c:v>0</c:v>
                </c:pt>
                <c:pt idx="1">
                  <c:v>0</c:v>
                </c:pt>
                <c:pt idx="2">
                  <c:v>1</c:v>
                </c:pt>
                <c:pt idx="3">
                  <c:v>13</c:v>
                </c:pt>
                <c:pt idx="4">
                  <c:v>21</c:v>
                </c:pt>
                <c:pt idx="5">
                  <c:v>14</c:v>
                </c:pt>
                <c:pt idx="6">
                  <c:v>23</c:v>
                </c:pt>
                <c:pt idx="7">
                  <c:v>9</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3"/>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MPG (bin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majorUnit val="2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F2120"/>
                </a:solidFill>
                <a:latin typeface="Arial"/>
                <a:ea typeface="Arial"/>
                <a:cs typeface="Arial"/>
              </a:rPr>
              <a:t>Japan</a:t>
            </a:r>
          </a:p>
        </c:rich>
      </c:tx>
      <c:overlay val="0"/>
      <c:txPr>
        <a:bodyPr xmlns:a="http://schemas.openxmlformats.org/drawingml/2006/main" anchorCtr="1"/>
        <a:lstStyle xmlns:a="http://schemas.openxmlformats.org/drawingml/2006/main"/>
        <a:p xmlns:a="http://schemas.openxmlformats.org/drawingml/2006/main">
          <a:pPr>
            <a:defRPr sz="1950" b="1">
              <a:solidFill>
                <a:srgbClr val="1F2120"/>
              </a:solidFill>
              <a:latin typeface="Arial"/>
              <a:ea typeface="Arial"/>
              <a:cs typeface="Arial"/>
            </a:defRPr>
          </a:pPr>
        </a:p>
      </c:txPr>
    </c:title>
    <c:plotArea>
      <c:barChart>
        <c:barDir val="col"/>
        <c:varyColors val="0"/>
        <c:ser>
          <c:idx val="0"/>
          <c:order val="0"/>
          <c:tx>
            <c:v>Cars</c:v>
          </c:tx>
          <c:spPr>
            <a:solidFill xmlns:a="http://schemas.openxmlformats.org/drawingml/2006/main">
              <a:srgbClr val="CF3338"/>
            </a:solidFill>
          </c:spPr>
          <c:cat>
            <c:numRef>
              <c:f>'Chart Data'!$A$2:$A$11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Data'!$B$2:$B$11</c:f>
              <c:numCache>
                <c:formatCode>General</c:formatCode>
                <c:ptCount val="10"/>
                <c:pt idx="0">
                  <c:v>0</c:v>
                </c:pt>
                <c:pt idx="1">
                  <c:v>0</c:v>
                </c:pt>
                <c:pt idx="2">
                  <c:v>0</c:v>
                </c:pt>
                <c:pt idx="3">
                  <c:v>0</c:v>
                </c:pt>
                <c:pt idx="4">
                  <c:v>21</c:v>
                </c:pt>
                <c:pt idx="5">
                  <c:v>34</c:v>
                </c:pt>
                <c:pt idx="6">
                  <c:v>18</c:v>
                </c:pt>
                <c:pt idx="7">
                  <c:v>21</c:v>
                </c:pt>
                <c:pt idx="8">
                  <c:v>6</c:v>
                </c:pt>
                <c:pt idx="9">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3"/>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MPG (bin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majorUnit val="2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Simulated outcomes</c:v>
          </c:tx>
          <c:spPr>
            <a:solidFill xmlns:a="http://schemas.openxmlformats.org/drawingml/2006/main">
              <a:srgbClr val="CF3338"/>
            </a:solidFill>
          </c:spPr>
          <c:cat>
            <c:numRef>
              <c:f>'Chart Data'!$A$2:$A$11</c:f>
              <c:numCache>
                <c:formatCode>General</c:formatCode>
                <c:ptCount val="10"/>
                <c:pt idx="0">
                  <c:v>-25</c:v>
                </c:pt>
                <c:pt idx="1">
                  <c:v>-20</c:v>
                </c:pt>
                <c:pt idx="2">
                  <c:v>-15</c:v>
                </c:pt>
                <c:pt idx="3">
                  <c:v>-10</c:v>
                </c:pt>
                <c:pt idx="4">
                  <c:v>-5</c:v>
                </c:pt>
                <c:pt idx="5">
                  <c:v>0</c:v>
                </c:pt>
                <c:pt idx="6">
                  <c:v>5</c:v>
                </c:pt>
                <c:pt idx="7">
                  <c:v>10</c:v>
                </c:pt>
                <c:pt idx="8">
                  <c:v>15</c:v>
                </c:pt>
                <c:pt idx="9">
                  <c:v>20</c:v>
                </c:pt>
              </c:numCache>
            </c:numRef>
          </c:cat>
          <c:val>
            <c:numRef>
              <c:f>'Chart Data'!$B$2:$B$11</c:f>
              <c:numCache>
                <c:formatCode>General</c:formatCode>
                <c:ptCount val="10"/>
                <c:pt idx="0">
                  <c:v>2</c:v>
                </c:pt>
                <c:pt idx="1">
                  <c:v>5</c:v>
                </c:pt>
                <c:pt idx="2">
                  <c:v>35</c:v>
                </c:pt>
                <c:pt idx="3">
                  <c:v>92</c:v>
                </c:pt>
                <c:pt idx="4">
                  <c:v>331</c:v>
                </c:pt>
                <c:pt idx="5">
                  <c:v>683</c:v>
                </c:pt>
                <c:pt idx="6">
                  <c:v>1283</c:v>
                </c:pt>
                <c:pt idx="7">
                  <c:v>1792</c:v>
                </c:pt>
                <c:pt idx="8">
                  <c:v>1966</c:v>
                </c:pt>
                <c:pt idx="9">
                  <c:v>3811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Profit in $000s (bin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ax val="600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Number of outcomes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majorUnit val="200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dcfeed41394919"/>
          <a:stretch xmlns:a="http://schemas.openxmlformats.org/drawingml/2006/main"/>
        </p:blipFill>
        <p:spPr>
          <a:xfrm xmlns:a="http://schemas.openxmlformats.org/drawingml/2006/main">
            <a:off x="610132" y="514350"/>
            <a:ext cx="3427937" cy="5934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ED0D8D-DF60-40D1-A99F-F91A24586EFC}"/>
              </a:ext>
            </a:extLst>
          </p:cNvPr>
          <p:cNvSpPr>
            <a:spLocks xmlns:a="http://schemas.openxmlformats.org/drawingml/2006/main" noGrp="1"/>
          </p:cNvSpPr>
          <p:nvPr/>
        </p:nvSpPr>
        <p:spPr>
          <a:xfrm xmlns:a="http://schemas.openxmlformats.org/drawingml/2006/main">
            <a:off x="609600" y="20383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950" b="1">
                <a:solidFill>
                  <a:srgbClr val="CF3338"/>
                </a:solidFill>
                <a:latin typeface="Arial Black"/>
                <a:ea typeface="Arial Black"/>
                <a:cs typeface="Arial Black"/>
              </a:defRPr>
            </a:pPr>
            <a:r>
              <a:rPr sz="4950" b="1">
                <a:solidFill>
                  <a:srgbClr val="CF3338"/>
                </a:solidFill>
                <a:latin typeface="Arial Black"/>
                <a:ea typeface="Arial Black"/>
                <a:cs typeface="Arial Black"/>
              </a:rPr>
              <a:t>Python in Excel</a:t>
            </a:r>
          </a:p>
        </p:txBody>
      </p:sp>
      <p:sp>
        <p:nvSpPr>
          <p:cNvPr id="3" name="">
            <a:extLst xmlns:a="http://schemas.openxmlformats.org/drawingml/2006/main">
              <a:ext uri="{FF2B5EF4-FFF2-40B4-BE49-F238E27FC236}">
                <a16:creationId xmlns:a16="http://schemas.microsoft.com/office/drawing/2014/main" id="{18C67FB5-E25C-4770-B225-C003B8A386AF}"/>
              </a:ext>
            </a:extLst>
          </p:cNvPr>
          <p:cNvSpPr>
            <a:spLocks xmlns:a="http://schemas.openxmlformats.org/drawingml/2006/main" noGrp="1"/>
          </p:cNvSpPr>
          <p:nvPr/>
        </p:nvSpPr>
        <p:spPr>
          <a:xfrm xmlns:a="http://schemas.openxmlformats.org/drawingml/2006/main">
            <a:off x="609600" y="29146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F2120"/>
                </a:solidFill>
                <a:latin typeface="Arial"/>
                <a:ea typeface="Arial"/>
                <a:cs typeface="Arial"/>
              </a:defRPr>
            </a:pPr>
            <a:r>
              <a:rPr sz="3000" b="1">
                <a:solidFill>
                  <a:srgbClr val="1F2120"/>
                </a:solidFill>
                <a:latin typeface="Arial"/>
                <a:ea typeface="Arial"/>
                <a:cs typeface="Arial"/>
              </a:rPr>
              <a:t>A working tour for Excel analysts</a:t>
            </a:r>
          </a:p>
        </p:txBody>
      </p:sp>
      <p:sp>
        <p:nvSpPr>
          <p:cNvPr id="4" name="">
            <a:extLst xmlns:a="http://schemas.openxmlformats.org/drawingml/2006/main">
              <a:ext uri="{FF2B5EF4-FFF2-40B4-BE49-F238E27FC236}">
                <a16:creationId xmlns:a16="http://schemas.microsoft.com/office/drawing/2014/main" id="{356B5155-4C5C-497A-BDC6-3F36525BF4D2}"/>
              </a:ext>
            </a:extLst>
          </p:cNvPr>
          <p:cNvSpPr>
            <a:spLocks xmlns:a="http://schemas.openxmlformats.org/drawingml/2006/main" noGrp="1"/>
          </p:cNvSpPr>
          <p:nvPr/>
        </p:nvSpPr>
        <p:spPr>
          <a:xfrm xmlns:a="http://schemas.openxmlformats.org/drawingml/2006/main">
            <a:off x="609600" y="4086225"/>
            <a:ext cx="962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Your first Python cell. A useful answer from your sales data.</a:t>
            </a:r>
          </a:p>
        </p:txBody>
      </p:sp>
      <p:sp>
        <p:nvSpPr>
          <p:cNvPr id="5" name="">
            <a:extLst xmlns:a="http://schemas.openxmlformats.org/drawingml/2006/main">
              <a:ext uri="{FF2B5EF4-FFF2-40B4-BE49-F238E27FC236}">
                <a16:creationId xmlns:a16="http://schemas.microsoft.com/office/drawing/2014/main" id="{0CE41111-3844-40BE-ABC4-CA4576592799}"/>
              </a:ext>
            </a:extLst>
          </p:cNvPr>
          <p:cNvSpPr>
            <a:spLocks xmlns:a="http://schemas.openxmlformats.org/drawingml/2006/main" noGrp="1"/>
          </p:cNvSpPr>
          <p:nvPr/>
        </p:nvSpPr>
        <p:spPr>
          <a:xfrm xmlns:a="http://schemas.openxmlformats.org/drawingml/2006/main">
            <a:off x="609600" y="60293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07070"/>
                </a:solidFill>
                <a:latin typeface="Arial"/>
                <a:ea typeface="Arial"/>
                <a:cs typeface="Arial"/>
              </a:defRPr>
            </a:pPr>
            <a:r>
              <a:rPr sz="1725" b="0">
                <a:solidFill>
                  <a:srgbClr val="707070"/>
                </a:solidFill>
                <a:latin typeface="Arial"/>
                <a:ea typeface="Arial"/>
                <a:cs typeface="Arial"/>
              </a:rPr>
              <a:t>George Mount  /  45-minute live session</a:t>
            </a:r>
          </a:p>
        </p:txBody>
      </p:sp>
    </p:spTree>
    <p:extLst>
      <p:ext uri="{BB962C8B-B14F-4D97-AF65-F5344CB8AC3E}">
        <p14:creationId xmlns:p14="http://schemas.microsoft.com/office/powerpoint/2010/main" val="2084687131"/>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0D67F2-FEE8-4F22-89E8-9FD002A08514}"/>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When a simple question takes too much work</a:t>
            </a:r>
          </a:p>
        </p:txBody>
      </p:sp>
      <p:sp>
        <p:nvSpPr>
          <p:cNvPr id="2" name="">
            <a:extLst xmlns:a="http://schemas.openxmlformats.org/drawingml/2006/main">
              <a:ext uri="{FF2B5EF4-FFF2-40B4-BE49-F238E27FC236}">
                <a16:creationId xmlns:a16="http://schemas.microsoft.com/office/drawing/2014/main" id="{9232E110-ADD7-4F8E-9B0F-9FBEE0850C00}"/>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You want a reliable answer while the question still matters.</a:t>
            </a:r>
          </a:p>
        </p:txBody>
      </p:sp>
      <p:sp>
        <p:nvSpPr>
          <p:cNvPr id="3" name="">
            <a:extLst xmlns:a="http://schemas.openxmlformats.org/drawingml/2006/main">
              <a:ext uri="{FF2B5EF4-FFF2-40B4-BE49-F238E27FC236}">
                <a16:creationId xmlns:a16="http://schemas.microsoft.com/office/drawing/2014/main" id="{68817B97-3AC2-4B37-8526-36C89ABA2DCA}"/>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1D2D19C-9F4F-477C-AD50-E7C4F16A1827}"/>
              </a:ext>
            </a:extLst>
          </p:cNvPr>
          <p:cNvSpPr>
            <a:spLocks xmlns:a="http://schemas.openxmlformats.org/drawingml/2006/main" noGrp="1"/>
          </p:cNvSpPr>
          <p:nvPr/>
        </p:nvSpPr>
        <p:spPr>
          <a:xfrm xmlns:a="http://schemas.openxmlformats.org/drawingml/2006/main">
            <a:off x="609600" y="26860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CF3338"/>
                </a:solidFill>
                <a:latin typeface="Arial"/>
                <a:ea typeface="Arial"/>
                <a:cs typeface="Arial"/>
              </a:defRPr>
            </a:pPr>
            <a:r>
              <a:rPr sz="2100" b="1">
                <a:solidFill>
                  <a:srgbClr val="CF3338"/>
                </a:solidFill>
                <a:latin typeface="Arial"/>
                <a:ea typeface="Arial"/>
                <a:cs typeface="Arial"/>
              </a:rPr>
              <a:t>The work you recognize</a:t>
            </a:r>
          </a:p>
        </p:txBody>
      </p:sp>
      <p:sp>
        <p:nvSpPr>
          <p:cNvPr id="5" name="">
            <a:extLst xmlns:a="http://schemas.openxmlformats.org/drawingml/2006/main">
              <a:ext uri="{FF2B5EF4-FFF2-40B4-BE49-F238E27FC236}">
                <a16:creationId xmlns:a16="http://schemas.microsoft.com/office/drawing/2014/main" id="{1ECE9FBD-BCFE-4DED-9EF3-5A67C9BD479D}"/>
              </a:ext>
            </a:extLst>
          </p:cNvPr>
          <p:cNvSpPr>
            <a:spLocks xmlns:a="http://schemas.openxmlformats.org/drawingml/2006/main" noGrp="1"/>
          </p:cNvSpPr>
          <p:nvPr/>
        </p:nvSpPr>
        <p:spPr>
          <a:xfrm xmlns:a="http://schemas.openxmlformats.org/drawingml/2006/main">
            <a:off x="609600" y="3333750"/>
            <a:ext cx="657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Another monthly refresh</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Another set of charts to rebuild</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Another assumption to test</a:t>
            </a:r>
          </a:p>
        </p:txBody>
      </p:sp>
      <p:sp>
        <p:nvSpPr>
          <p:cNvPr id="6" name="">
            <a:extLst xmlns:a="http://schemas.openxmlformats.org/drawingml/2006/main">
              <a:ext uri="{FF2B5EF4-FFF2-40B4-BE49-F238E27FC236}">
                <a16:creationId xmlns:a16="http://schemas.microsoft.com/office/drawing/2014/main" id="{E0EB200D-DBE7-45CC-AFED-A7473DA216F3}"/>
              </a:ext>
            </a:extLst>
          </p:cNvPr>
          <p:cNvSpPr>
            <a:spLocks xmlns:a="http://schemas.openxmlformats.org/drawingml/2006/main" noGrp="1"/>
          </p:cNvSpPr>
          <p:nvPr/>
        </p:nvSpPr>
        <p:spPr>
          <a:xfrm xmlns:a="http://schemas.openxmlformats.org/drawingml/2006/main">
            <a:off x="8058150" y="2609850"/>
            <a:ext cx="3524250" cy="297180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8D973C-2EB6-4B15-83D5-C7BD25C6A1BD}"/>
              </a:ext>
            </a:extLst>
          </p:cNvPr>
          <p:cNvSpPr>
            <a:spLocks xmlns:a="http://schemas.openxmlformats.org/drawingml/2006/main" noGrp="1"/>
          </p:cNvSpPr>
          <p:nvPr/>
        </p:nvSpPr>
        <p:spPr>
          <a:xfrm xmlns:a="http://schemas.openxmlformats.org/drawingml/2006/main">
            <a:off x="8353425" y="2924175"/>
            <a:ext cx="2876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Your task</a:t>
            </a:r>
          </a:p>
        </p:txBody>
      </p:sp>
      <p:sp>
        <p:nvSpPr>
          <p:cNvPr id="8" name="">
            <a:extLst xmlns:a="http://schemas.openxmlformats.org/drawingml/2006/main">
              <a:ext uri="{FF2B5EF4-FFF2-40B4-BE49-F238E27FC236}">
                <a16:creationId xmlns:a16="http://schemas.microsoft.com/office/drawing/2014/main" id="{3906AD06-3857-4F0F-9269-0075AF10AAC5}"/>
              </a:ext>
            </a:extLst>
          </p:cNvPr>
          <p:cNvSpPr>
            <a:spLocks xmlns:a="http://schemas.openxmlformats.org/drawingml/2006/main" noGrp="1"/>
          </p:cNvSpPr>
          <p:nvPr/>
        </p:nvSpPr>
        <p:spPr>
          <a:xfrm xmlns:a="http://schemas.openxmlformats.org/drawingml/2006/main">
            <a:off x="8353425" y="3600450"/>
            <a:ext cx="28765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EEECE1"/>
                </a:solidFill>
                <a:latin typeface="Arial"/>
                <a:ea typeface="Arial"/>
                <a:cs typeface="Arial"/>
              </a:defRPr>
            </a:pPr>
            <a:r>
              <a:rPr sz="2025" b="0">
                <a:solidFill>
                  <a:srgbClr val="EEECE1"/>
                </a:solidFill>
                <a:latin typeface="Arial"/>
                <a:ea typeface="Arial"/>
                <a:cs typeface="Arial"/>
              </a:rPr>
              <a:t>What do you keep doing by hand?</a:t>
            </a:r>
          </a:p>
          <a:p xmlns:a="http://schemas.openxmlformats.org/drawingml/2006/main">
            <a:r>
              <a:t/>
            </a:r>
          </a:p>
          <a:p xmlns:a="http://schemas.openxmlformats.org/drawingml/2006/main">
            <a:pPr>
              <a:defRPr sz="2025" b="0">
                <a:solidFill>
                  <a:srgbClr val="EEECE1"/>
                </a:solidFill>
                <a:latin typeface="Arial"/>
                <a:ea typeface="Arial"/>
                <a:cs typeface="Arial"/>
              </a:defRPr>
            </a:pPr>
            <a:r>
              <a:rPr sz="2025" b="0">
                <a:solidFill>
                  <a:srgbClr val="EEECE1"/>
                </a:solidFill>
                <a:latin typeface="Arial"/>
                <a:ea typeface="Arial"/>
                <a:cs typeface="Arial"/>
              </a:rPr>
              <a:t>Write it on worksheet page 1.</a:t>
            </a:r>
          </a:p>
        </p:txBody>
      </p:sp>
    </p:spTree>
    <p:extLst>
      <p:ext uri="{BB962C8B-B14F-4D97-AF65-F5344CB8AC3E}">
        <p14:creationId xmlns:p14="http://schemas.microsoft.com/office/powerpoint/2010/main" val="1927370649"/>
      </p:ext>
    </p:extLst>
  </p:cSld>
</p:sld>
</file>

<file path=ppt/slides/slide3.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414066-1BD9-4784-8B29-002B337C889A}"/>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Your Excel experience is the starting point</a:t>
            </a:r>
          </a:p>
        </p:txBody>
      </p:sp>
      <p:sp>
        <p:nvSpPr>
          <p:cNvPr id="2" name="">
            <a:extLst xmlns:a="http://schemas.openxmlformats.org/drawingml/2006/main">
              <a:ext uri="{FF2B5EF4-FFF2-40B4-BE49-F238E27FC236}">
                <a16:creationId xmlns:a16="http://schemas.microsoft.com/office/drawing/2014/main" id="{5B8DC855-7B0D-46D0-97A4-F91CD5FF5787}"/>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DE29BEB-115F-4D1D-9FC6-0A55A108057E}"/>
              </a:ext>
            </a:extLst>
          </p:cNvPr>
          <p:cNvSpPr>
            <a:spLocks xmlns:a="http://schemas.openxmlformats.org/drawingml/2006/main" noGrp="1"/>
          </p:cNvSpPr>
          <p:nvPr/>
        </p:nvSpPr>
        <p:spPr>
          <a:xfrm xmlns:a="http://schemas.openxmlformats.org/drawingml/2006/main">
            <a:off x="609600" y="2228850"/>
            <a:ext cx="471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EEECE1"/>
                </a:solidFill>
                <a:latin typeface="Arial"/>
                <a:ea typeface="Arial"/>
                <a:cs typeface="Arial"/>
              </a:defRPr>
            </a:pPr>
            <a:r>
              <a:rPr sz="2400" b="1">
                <a:solidFill>
                  <a:srgbClr val="EEECE1"/>
                </a:solidFill>
                <a:latin typeface="Arial"/>
                <a:ea typeface="Arial"/>
                <a:cs typeface="Arial"/>
              </a:rPr>
              <a:t>You bring</a:t>
            </a:r>
          </a:p>
        </p:txBody>
      </p:sp>
      <p:sp>
        <p:nvSpPr>
          <p:cNvPr id="4" name="">
            <a:extLst xmlns:a="http://schemas.openxmlformats.org/drawingml/2006/main">
              <a:ext uri="{FF2B5EF4-FFF2-40B4-BE49-F238E27FC236}">
                <a16:creationId xmlns:a16="http://schemas.microsoft.com/office/drawing/2014/main" id="{E2CF6422-204B-4237-B3C2-110F1EF6A381}"/>
              </a:ext>
            </a:extLst>
          </p:cNvPr>
          <p:cNvSpPr>
            <a:spLocks xmlns:a="http://schemas.openxmlformats.org/drawingml/2006/main" noGrp="1"/>
          </p:cNvSpPr>
          <p:nvPr/>
        </p:nvSpPr>
        <p:spPr>
          <a:xfrm xmlns:a="http://schemas.openxmlformats.org/drawingml/2006/main">
            <a:off x="609600" y="294322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The business question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Your knowledge of Excel</a:t>
            </a:r>
          </a:p>
        </p:txBody>
      </p:sp>
      <p:sp>
        <p:nvSpPr>
          <p:cNvPr id="5" name="">
            <a:extLst xmlns:a="http://schemas.openxmlformats.org/drawingml/2006/main">
              <a:ext uri="{FF2B5EF4-FFF2-40B4-BE49-F238E27FC236}">
                <a16:creationId xmlns:a16="http://schemas.microsoft.com/office/drawing/2014/main" id="{2A443EEB-AB65-431D-8160-06FC27B2EF47}"/>
              </a:ext>
            </a:extLst>
          </p:cNvPr>
          <p:cNvSpPr>
            <a:spLocks xmlns:a="http://schemas.openxmlformats.org/drawingml/2006/main" noGrp="1"/>
          </p:cNvSpPr>
          <p:nvPr/>
        </p:nvSpPr>
        <p:spPr>
          <a:xfrm xmlns:a="http://schemas.openxmlformats.org/drawingml/2006/main">
            <a:off x="6524625" y="22288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EEECE1"/>
                </a:solidFill>
                <a:latin typeface="Arial"/>
                <a:ea typeface="Arial"/>
                <a:cs typeface="Arial"/>
              </a:defRPr>
            </a:pPr>
            <a:r>
              <a:rPr sz="2400" b="1">
                <a:solidFill>
                  <a:srgbClr val="EEECE1"/>
                </a:solidFill>
                <a:latin typeface="Arial"/>
                <a:ea typeface="Arial"/>
                <a:cs typeface="Arial"/>
              </a:rPr>
              <a:t>I will help with</a:t>
            </a:r>
          </a:p>
        </p:txBody>
      </p:sp>
      <p:sp>
        <p:nvSpPr>
          <p:cNvPr id="6" name="">
            <a:extLst xmlns:a="http://schemas.openxmlformats.org/drawingml/2006/main">
              <a:ext uri="{FF2B5EF4-FFF2-40B4-BE49-F238E27FC236}">
                <a16:creationId xmlns:a16="http://schemas.microsoft.com/office/drawing/2014/main" id="{AD0A070D-1D3C-4932-B9FB-0C2DFEA1A37F}"/>
              </a:ext>
            </a:extLst>
          </p:cNvPr>
          <p:cNvSpPr>
            <a:spLocks xmlns:a="http://schemas.openxmlformats.org/drawingml/2006/main" noGrp="1"/>
          </p:cNvSpPr>
          <p:nvPr/>
        </p:nvSpPr>
        <p:spPr>
          <a:xfrm xmlns:a="http://schemas.openxmlformats.org/drawingml/2006/main">
            <a:off x="6524625" y="2943225"/>
            <a:ext cx="4953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A small amount of Python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Examples you can practice</a:t>
            </a:r>
          </a:p>
        </p:txBody>
      </p:sp>
      <p:sp>
        <p:nvSpPr>
          <p:cNvPr id="7" name="">
            <a:extLst xmlns:a="http://schemas.openxmlformats.org/drawingml/2006/main">
              <a:ext uri="{FF2B5EF4-FFF2-40B4-BE49-F238E27FC236}">
                <a16:creationId xmlns:a16="http://schemas.microsoft.com/office/drawing/2014/main" id="{9848BE38-3E08-4CEA-B490-C143664A577B}"/>
              </a:ext>
            </a:extLst>
          </p:cNvPr>
          <p:cNvSpPr>
            <a:spLocks xmlns:a="http://schemas.openxmlformats.org/drawingml/2006/main" noGrp="1"/>
          </p:cNvSpPr>
          <p:nvPr/>
        </p:nvSpPr>
        <p:spPr>
          <a:xfrm xmlns:a="http://schemas.openxmlformats.org/drawingml/2006/main">
            <a:off x="609600" y="56388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EEECE1"/>
                </a:solidFill>
                <a:latin typeface="Arial"/>
                <a:ea typeface="Arial"/>
                <a:cs typeface="Arial"/>
              </a:defRPr>
            </a:pPr>
            <a:r>
              <a:rPr sz="1650" b="0">
                <a:solidFill>
                  <a:srgbClr val="EEECE1"/>
                </a:solidFill>
                <a:latin typeface="Arial"/>
                <a:ea typeface="Arial"/>
                <a:cs typeface="Arial"/>
              </a:rPr>
              <a:t>George Mount  /  Stringfest Analytics  /  Microsoft Excel MVP</a:t>
            </a:r>
          </a:p>
        </p:txBody>
      </p:sp>
    </p:spTree>
    <p:extLst>
      <p:ext uri="{BB962C8B-B14F-4D97-AF65-F5344CB8AC3E}">
        <p14:creationId xmlns:p14="http://schemas.microsoft.com/office/powerpoint/2010/main" val="1587507359"/>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07E7E4-8197-437A-B8A3-53A4D6D493B2}"/>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Today’s route</a:t>
            </a:r>
          </a:p>
        </p:txBody>
      </p:sp>
      <p:sp>
        <p:nvSpPr>
          <p:cNvPr id="2" name="">
            <a:extLst xmlns:a="http://schemas.openxmlformats.org/drawingml/2006/main">
              <a:ext uri="{FF2B5EF4-FFF2-40B4-BE49-F238E27FC236}">
                <a16:creationId xmlns:a16="http://schemas.microsoft.com/office/drawing/2014/main" id="{628EFDC8-AA1D-4B41-8DC1-3A2B089514B8}"/>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A few cells together, followed by two short demonstrations.</a:t>
            </a:r>
          </a:p>
        </p:txBody>
      </p:sp>
      <p:sp>
        <p:nvSpPr>
          <p:cNvPr id="3" name="">
            <a:extLst xmlns:a="http://schemas.openxmlformats.org/drawingml/2006/main">
              <a:ext uri="{FF2B5EF4-FFF2-40B4-BE49-F238E27FC236}">
                <a16:creationId xmlns:a16="http://schemas.microsoft.com/office/drawing/2014/main" id="{DEB601BA-1C46-47D7-A8CD-053B204E14C9}"/>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23B0968-9A71-4D39-8D8B-A7E1F11C94A3}"/>
              </a:ext>
            </a:extLst>
          </p:cNvPr>
          <p:cNvSpPr>
            <a:spLocks xmlns:a="http://schemas.openxmlformats.org/drawingml/2006/main" noGrp="1"/>
          </p:cNvSpPr>
          <p:nvPr/>
        </p:nvSpPr>
        <p:spPr>
          <a:xfrm xmlns:a="http://schemas.openxmlformats.org/drawingml/2006/main">
            <a:off x="609600" y="26670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CF3338"/>
                </a:solidFill>
                <a:latin typeface="Arial"/>
                <a:ea typeface="Arial"/>
                <a:cs typeface="Arial"/>
              </a:defRPr>
            </a:pPr>
            <a:r>
              <a:rPr sz="3600" b="1">
                <a:solidFill>
                  <a:srgbClr val="CF333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5D6AC7C-B9A2-45F8-A2CA-A2E4947C81E8}"/>
              </a:ext>
            </a:extLst>
          </p:cNvPr>
          <p:cNvSpPr>
            <a:spLocks xmlns:a="http://schemas.openxmlformats.org/drawingml/2006/main" noGrp="1"/>
          </p:cNvSpPr>
          <p:nvPr/>
        </p:nvSpPr>
        <p:spPr>
          <a:xfrm xmlns:a="http://schemas.openxmlformats.org/drawingml/2006/main">
            <a:off x="1971675" y="2667000"/>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F2120"/>
                </a:solidFill>
                <a:latin typeface="Arial"/>
                <a:ea typeface="Arial"/>
                <a:cs typeface="Arial"/>
              </a:defRPr>
            </a:pPr>
            <a:r>
              <a:rPr sz="2325" b="1">
                <a:solidFill>
                  <a:srgbClr val="1F2120"/>
                </a:solidFill>
                <a:latin typeface="Arial"/>
                <a:ea typeface="Arial"/>
                <a:cs typeface="Arial"/>
              </a:rPr>
              <a:t>Run your first cell</a:t>
            </a:r>
          </a:p>
        </p:txBody>
      </p:sp>
      <p:sp>
        <p:nvSpPr>
          <p:cNvPr id="6" name="">
            <a:extLst xmlns:a="http://schemas.openxmlformats.org/drawingml/2006/main">
              <a:ext uri="{FF2B5EF4-FFF2-40B4-BE49-F238E27FC236}">
                <a16:creationId xmlns:a16="http://schemas.microsoft.com/office/drawing/2014/main" id="{9FF3DF8C-2A66-4E43-A644-2D34E40D5B49}"/>
              </a:ext>
            </a:extLst>
          </p:cNvPr>
          <p:cNvSpPr>
            <a:spLocks xmlns:a="http://schemas.openxmlformats.org/drawingml/2006/main" noGrp="1"/>
          </p:cNvSpPr>
          <p:nvPr/>
        </p:nvSpPr>
        <p:spPr>
          <a:xfrm xmlns:a="http://schemas.openxmlformats.org/drawingml/2006/main">
            <a:off x="1971675" y="3133725"/>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A short message in Excel.</a:t>
            </a:r>
          </a:p>
        </p:txBody>
      </p:sp>
      <p:sp>
        <p:nvSpPr>
          <p:cNvPr id="7" name="">
            <a:extLst xmlns:a="http://schemas.openxmlformats.org/drawingml/2006/main">
              <a:ext uri="{FF2B5EF4-FFF2-40B4-BE49-F238E27FC236}">
                <a16:creationId xmlns:a16="http://schemas.microsoft.com/office/drawing/2014/main" id="{FDD91D8D-24BB-4239-857C-09406878E302}"/>
              </a:ext>
            </a:extLst>
          </p:cNvPr>
          <p:cNvSpPr>
            <a:spLocks xmlns:a="http://schemas.openxmlformats.org/drawingml/2006/main" noGrp="1"/>
          </p:cNvSpPr>
          <p:nvPr/>
        </p:nvSpPr>
        <p:spPr>
          <a:xfrm xmlns:a="http://schemas.openxmlformats.org/drawingml/2006/main">
            <a:off x="609600" y="37338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CF3338"/>
                </a:solidFill>
                <a:latin typeface="Arial"/>
                <a:ea typeface="Arial"/>
                <a:cs typeface="Arial"/>
              </a:defRPr>
            </a:pPr>
            <a:r>
              <a:rPr sz="3600" b="1">
                <a:solidFill>
                  <a:srgbClr val="CF333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9C316B9-B090-424E-9563-18B2A264C6F8}"/>
              </a:ext>
            </a:extLst>
          </p:cNvPr>
          <p:cNvSpPr>
            <a:spLocks xmlns:a="http://schemas.openxmlformats.org/drawingml/2006/main" noGrp="1"/>
          </p:cNvSpPr>
          <p:nvPr/>
        </p:nvSpPr>
        <p:spPr>
          <a:xfrm xmlns:a="http://schemas.openxmlformats.org/drawingml/2006/main">
            <a:off x="1971675" y="3733800"/>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F2120"/>
                </a:solidFill>
                <a:latin typeface="Arial"/>
                <a:ea typeface="Arial"/>
                <a:cs typeface="Arial"/>
              </a:defRPr>
            </a:pPr>
            <a:r>
              <a:rPr sz="2325" b="1">
                <a:solidFill>
                  <a:srgbClr val="1F2120"/>
                </a:solidFill>
                <a:latin typeface="Arial"/>
                <a:ea typeface="Arial"/>
                <a:cs typeface="Arial"/>
              </a:rPr>
              <a:t>Answer a sales question</a:t>
            </a:r>
          </a:p>
        </p:txBody>
      </p:sp>
      <p:sp>
        <p:nvSpPr>
          <p:cNvPr id="9" name="">
            <a:extLst xmlns:a="http://schemas.openxmlformats.org/drawingml/2006/main">
              <a:ext uri="{FF2B5EF4-FFF2-40B4-BE49-F238E27FC236}">
                <a16:creationId xmlns:a16="http://schemas.microsoft.com/office/drawing/2014/main" id="{A6A6CD3B-EC52-4ADF-8987-7D37255E9713}"/>
              </a:ext>
            </a:extLst>
          </p:cNvPr>
          <p:cNvSpPr>
            <a:spLocks xmlns:a="http://schemas.openxmlformats.org/drawingml/2006/main" noGrp="1"/>
          </p:cNvSpPr>
          <p:nvPr/>
        </p:nvSpPr>
        <p:spPr>
          <a:xfrm xmlns:a="http://schemas.openxmlformats.org/drawingml/2006/main">
            <a:off x="1971675" y="4200525"/>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Average unit price by country.</a:t>
            </a:r>
          </a:p>
        </p:txBody>
      </p:sp>
      <p:sp>
        <p:nvSpPr>
          <p:cNvPr id="10" name="">
            <a:extLst xmlns:a="http://schemas.openxmlformats.org/drawingml/2006/main">
              <a:ext uri="{FF2B5EF4-FFF2-40B4-BE49-F238E27FC236}">
                <a16:creationId xmlns:a16="http://schemas.microsoft.com/office/drawing/2014/main" id="{7EB80CAC-A1DB-4F52-BABB-057B096F9B00}"/>
              </a:ext>
            </a:extLst>
          </p:cNvPr>
          <p:cNvSpPr>
            <a:spLocks xmlns:a="http://schemas.openxmlformats.org/drawingml/2006/main" noGrp="1"/>
          </p:cNvSpPr>
          <p:nvPr/>
        </p:nvSpPr>
        <p:spPr>
          <a:xfrm xmlns:a="http://schemas.openxmlformats.org/drawingml/2006/main">
            <a:off x="609600" y="48006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CF3338"/>
                </a:solidFill>
                <a:latin typeface="Arial"/>
                <a:ea typeface="Arial"/>
                <a:cs typeface="Arial"/>
              </a:defRPr>
            </a:pPr>
            <a:r>
              <a:rPr sz="3600" b="1">
                <a:solidFill>
                  <a:srgbClr val="CF333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F28A4A1-734F-4600-94C4-54F9734BB455}"/>
              </a:ext>
            </a:extLst>
          </p:cNvPr>
          <p:cNvSpPr>
            <a:spLocks xmlns:a="http://schemas.openxmlformats.org/drawingml/2006/main" noGrp="1"/>
          </p:cNvSpPr>
          <p:nvPr/>
        </p:nvSpPr>
        <p:spPr>
          <a:xfrm xmlns:a="http://schemas.openxmlformats.org/drawingml/2006/main">
            <a:off x="1971675" y="4800600"/>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F2120"/>
                </a:solidFill>
                <a:latin typeface="Arial"/>
                <a:ea typeface="Arial"/>
                <a:cs typeface="Arial"/>
              </a:defRPr>
            </a:pPr>
            <a:r>
              <a:rPr sz="2325" b="1">
                <a:solidFill>
                  <a:srgbClr val="1F2120"/>
                </a:solidFill>
                <a:latin typeface="Arial"/>
                <a:ea typeface="Arial"/>
                <a:cs typeface="Arial"/>
              </a:rPr>
              <a:t>See what comes next</a:t>
            </a:r>
          </a:p>
        </p:txBody>
      </p:sp>
      <p:sp>
        <p:nvSpPr>
          <p:cNvPr id="12" name="">
            <a:extLst xmlns:a="http://schemas.openxmlformats.org/drawingml/2006/main">
              <a:ext uri="{FF2B5EF4-FFF2-40B4-BE49-F238E27FC236}">
                <a16:creationId xmlns:a16="http://schemas.microsoft.com/office/drawing/2014/main" id="{C2ACFBF5-B099-4865-9B95-0B9577DF5763}"/>
              </a:ext>
            </a:extLst>
          </p:cNvPr>
          <p:cNvSpPr>
            <a:spLocks xmlns:a="http://schemas.openxmlformats.org/drawingml/2006/main" noGrp="1"/>
          </p:cNvSpPr>
          <p:nvPr/>
        </p:nvSpPr>
        <p:spPr>
          <a:xfrm xmlns:a="http://schemas.openxmlformats.org/drawingml/2006/main">
            <a:off x="1971675" y="5267325"/>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Charts and possible profit outcomes.</a:t>
            </a:r>
          </a:p>
        </p:txBody>
      </p:sp>
    </p:spTree>
    <p:extLst>
      <p:ext uri="{BB962C8B-B14F-4D97-AF65-F5344CB8AC3E}">
        <p14:creationId xmlns:p14="http://schemas.microsoft.com/office/powerpoint/2010/main" val="1459879158"/>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3E9F3F-EA01-496F-A155-04F2B580C153}"/>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follow-along setup</a:t>
            </a:r>
          </a:p>
        </p:txBody>
      </p:sp>
      <p:sp>
        <p:nvSpPr>
          <p:cNvPr id="2" name="">
            <a:extLst xmlns:a="http://schemas.openxmlformats.org/drawingml/2006/main">
              <a:ext uri="{FF2B5EF4-FFF2-40B4-BE49-F238E27FC236}">
                <a16:creationId xmlns:a16="http://schemas.microsoft.com/office/drawing/2014/main" id="{A01AA90F-08ED-4696-9D1B-BB74C5ACCF1D}"/>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Worksheet page 1. Windows instructions.</a:t>
            </a:r>
          </a:p>
        </p:txBody>
      </p:sp>
      <p:sp>
        <p:nvSpPr>
          <p:cNvPr id="3" name="">
            <a:extLst xmlns:a="http://schemas.openxmlformats.org/drawingml/2006/main">
              <a:ext uri="{FF2B5EF4-FFF2-40B4-BE49-F238E27FC236}">
                <a16:creationId xmlns:a16="http://schemas.microsoft.com/office/drawing/2014/main" id="{BE01E8B9-A221-43FA-A48A-DD1D10AA287C}"/>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3A12D7D-81EF-40CC-8503-0F8383DABE8F}"/>
              </a:ext>
            </a:extLst>
          </p:cNvPr>
          <p:cNvSpPr>
            <a:spLocks xmlns:a="http://schemas.openxmlformats.org/drawingml/2006/main" noGrp="1"/>
          </p:cNvSpPr>
          <p:nvPr/>
        </p:nvSpPr>
        <p:spPr>
          <a:xfrm xmlns:a="http://schemas.openxmlformats.org/drawingml/2006/main">
            <a:off x="609600" y="2562225"/>
            <a:ext cx="107632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1  Open follow-along.xlsx and your worksheet.</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2  Add a blank sheet named hello-world.</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3  Select a blank cell, then Formulas &gt; Insert Python.</a:t>
            </a:r>
          </a:p>
        </p:txBody>
      </p:sp>
      <p:sp>
        <p:nvSpPr>
          <p:cNvPr id="5" name="">
            <a:extLst xmlns:a="http://schemas.openxmlformats.org/drawingml/2006/main">
              <a:ext uri="{FF2B5EF4-FFF2-40B4-BE49-F238E27FC236}">
                <a16:creationId xmlns:a16="http://schemas.microsoft.com/office/drawing/2014/main" id="{D692E6DF-61EB-4ED0-B926-6D54BAF41C77}"/>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26A5CD-3BF4-4ED8-9F83-5FFCAF09DB01}"/>
              </a:ext>
            </a:extLst>
          </p:cNvPr>
          <p:cNvSpPr>
            <a:spLocks xmlns:a="http://schemas.openxmlformats.org/drawingml/2006/main" noGrp="1"/>
          </p:cNvSpPr>
          <p:nvPr/>
        </p:nvSpPr>
        <p:spPr>
          <a:xfrm xmlns:a="http://schemas.openxmlformats.org/drawingml/2006/main">
            <a:off x="838200" y="4943475"/>
            <a:ext cx="10448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Ctrl+Enter runs the code.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No Python access today? Watch and complete the worksheet checkpoints.</a:t>
            </a:r>
          </a:p>
        </p:txBody>
      </p:sp>
    </p:spTree>
    <p:extLst>
      <p:ext uri="{BB962C8B-B14F-4D97-AF65-F5344CB8AC3E}">
        <p14:creationId xmlns:p14="http://schemas.microsoft.com/office/powerpoint/2010/main" val="1736152284"/>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92703A-E388-4334-8CA1-9B406AF38E66}"/>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first Python result</a:t>
            </a:r>
          </a:p>
        </p:txBody>
      </p:sp>
      <p:sp>
        <p:nvSpPr>
          <p:cNvPr id="2" name="">
            <a:extLst xmlns:a="http://schemas.openxmlformats.org/drawingml/2006/main">
              <a:ext uri="{FF2B5EF4-FFF2-40B4-BE49-F238E27FC236}">
                <a16:creationId xmlns:a16="http://schemas.microsoft.com/office/drawing/2014/main" id="{F0455D93-92F9-4895-BBFC-EA1C28C47565}"/>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hello-world sheet, cell B2. Insert Python, type both lines, then Ctrl+Enter.</a:t>
            </a:r>
          </a:p>
        </p:txBody>
      </p:sp>
      <p:sp>
        <p:nvSpPr>
          <p:cNvPr id="3" name="">
            <a:extLst xmlns:a="http://schemas.openxmlformats.org/drawingml/2006/main">
              <a:ext uri="{FF2B5EF4-FFF2-40B4-BE49-F238E27FC236}">
                <a16:creationId xmlns:a16="http://schemas.microsoft.com/office/drawing/2014/main" id="{4D95475D-12B8-4D54-9D13-2C234E8DF735}"/>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33C7383-853F-412F-B1B1-BFC9CC512037}"/>
              </a:ext>
            </a:extLst>
          </p:cNvPr>
          <p:cNvSpPr>
            <a:spLocks xmlns:a="http://schemas.openxmlformats.org/drawingml/2006/main" noGrp="1"/>
          </p:cNvSpPr>
          <p:nvPr/>
        </p:nvSpPr>
        <p:spPr>
          <a:xfrm xmlns:a="http://schemas.openxmlformats.org/drawingml/2006/main">
            <a:off x="609600" y="2609850"/>
            <a:ext cx="10972800" cy="165735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8FEB64-71CD-4F08-BFC8-4C442E200909}"/>
              </a:ext>
            </a:extLst>
          </p:cNvPr>
          <p:cNvSpPr>
            <a:spLocks xmlns:a="http://schemas.openxmlformats.org/drawingml/2006/main" noGrp="1"/>
          </p:cNvSpPr>
          <p:nvPr/>
        </p:nvSpPr>
        <p:spPr>
          <a:xfrm xmlns:a="http://schemas.openxmlformats.org/drawingml/2006/main">
            <a:off x="895350" y="2895600"/>
            <a:ext cx="104013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FFFFFF"/>
                </a:solidFill>
                <a:latin typeface="Consolas"/>
                <a:ea typeface="Consolas"/>
                <a:cs typeface="Consolas"/>
              </a:defRPr>
            </a:pPr>
            <a:r>
              <a:rPr sz="2625" b="0">
                <a:solidFill>
                  <a:srgbClr val="FFFFFF"/>
                </a:solidFill>
                <a:latin typeface="Consolas"/>
                <a:ea typeface="Consolas"/>
                <a:cs typeface="Consolas"/>
              </a:rPr>
              <a:t>my_object = "Hello, world!"</a:t>
            </a:r>
          </a:p>
          <a:p xmlns:a="http://schemas.openxmlformats.org/drawingml/2006/main">
            <a:pPr>
              <a:defRPr sz="2625" b="0">
                <a:solidFill>
                  <a:srgbClr val="FFFFFF"/>
                </a:solidFill>
                <a:latin typeface="Consolas"/>
                <a:ea typeface="Consolas"/>
                <a:cs typeface="Consolas"/>
              </a:defRPr>
            </a:pPr>
            <a:r>
              <a:rPr sz="2625" b="0">
                <a:solidFill>
                  <a:srgbClr val="FFFFFF"/>
                </a:solidFill>
                <a:latin typeface="Consolas"/>
                <a:ea typeface="Consolas"/>
                <a:cs typeface="Consolas"/>
              </a:rPr>
              <a:t>my_object</a:t>
            </a:r>
          </a:p>
        </p:txBody>
      </p:sp>
      <p:sp>
        <p:nvSpPr>
          <p:cNvPr id="6" name="">
            <a:extLst xmlns:a="http://schemas.openxmlformats.org/drawingml/2006/main">
              <a:ext uri="{FF2B5EF4-FFF2-40B4-BE49-F238E27FC236}">
                <a16:creationId xmlns:a16="http://schemas.microsoft.com/office/drawing/2014/main" id="{B2529214-FE67-4892-B242-1F89338BBFCE}"/>
              </a:ext>
            </a:extLst>
          </p:cNvPr>
          <p:cNvSpPr>
            <a:spLocks xmlns:a="http://schemas.openxmlformats.org/drawingml/2006/main" noGrp="1"/>
          </p:cNvSpPr>
          <p:nvPr/>
        </p:nvSpPr>
        <p:spPr>
          <a:xfrm xmlns:a="http://schemas.openxmlformats.org/drawingml/2006/main">
            <a:off x="609600" y="4714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Check: you see Hello, world!</a:t>
            </a:r>
          </a:p>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The first line saves the message. The second line shows it.</a:t>
            </a:r>
          </a:p>
        </p:txBody>
      </p:sp>
    </p:spTree>
    <p:extLst>
      <p:ext uri="{BB962C8B-B14F-4D97-AF65-F5344CB8AC3E}">
        <p14:creationId xmlns:p14="http://schemas.microsoft.com/office/powerpoint/2010/main" val="2059333780"/>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851537-015C-40A5-938C-1D84FC0901FF}"/>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name you can use again</a:t>
            </a:r>
          </a:p>
        </p:txBody>
      </p:sp>
      <p:sp>
        <p:nvSpPr>
          <p:cNvPr id="2" name="">
            <a:extLst xmlns:a="http://schemas.openxmlformats.org/drawingml/2006/main">
              <a:ext uri="{FF2B5EF4-FFF2-40B4-BE49-F238E27FC236}">
                <a16:creationId xmlns:a16="http://schemas.microsoft.com/office/drawing/2014/main" id="{1A35C8C1-19F8-44CB-B098-409990D4BE54}"/>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hello-world sheet, cell C3. Insert Python, then run this one line.</a:t>
            </a:r>
          </a:p>
        </p:txBody>
      </p:sp>
      <p:sp>
        <p:nvSpPr>
          <p:cNvPr id="3" name="">
            <a:extLst xmlns:a="http://schemas.openxmlformats.org/drawingml/2006/main">
              <a:ext uri="{FF2B5EF4-FFF2-40B4-BE49-F238E27FC236}">
                <a16:creationId xmlns:a16="http://schemas.microsoft.com/office/drawing/2014/main" id="{70AC416A-76D9-4F9D-969D-20802180EFC9}"/>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E93B7529-0BBF-4B12-8E21-9AF23D6AC26F}"/>
              </a:ext>
            </a:extLst>
          </p:cNvPr>
          <p:cNvSpPr>
            <a:spLocks xmlns:a="http://schemas.openxmlformats.org/drawingml/2006/main" noGrp="1"/>
          </p:cNvSpPr>
          <p:nvPr/>
        </p:nvSpPr>
        <p:spPr>
          <a:xfrm xmlns:a="http://schemas.openxmlformats.org/drawingml/2006/main">
            <a:off x="609600" y="2514600"/>
            <a:ext cx="10972800" cy="135255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C43818-CB70-437E-8ABC-3A14F900F926}"/>
              </a:ext>
            </a:extLst>
          </p:cNvPr>
          <p:cNvSpPr>
            <a:spLocks xmlns:a="http://schemas.openxmlformats.org/drawingml/2006/main" noGrp="1"/>
          </p:cNvSpPr>
          <p:nvPr/>
        </p:nvSpPr>
        <p:spPr>
          <a:xfrm xmlns:a="http://schemas.openxmlformats.org/drawingml/2006/main">
            <a:off x="895350" y="2800350"/>
            <a:ext cx="10401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FFFFFF"/>
                </a:solidFill>
                <a:latin typeface="Consolas"/>
                <a:ea typeface="Consolas"/>
                <a:cs typeface="Consolas"/>
              </a:defRPr>
            </a:pPr>
            <a:r>
              <a:rPr sz="2850" b="0">
                <a:solidFill>
                  <a:srgbClr val="FFFFFF"/>
                </a:solidFill>
                <a:latin typeface="Consolas"/>
                <a:ea typeface="Consolas"/>
                <a:cs typeface="Consolas"/>
              </a:rPr>
              <a:t>my_object</a:t>
            </a:r>
          </a:p>
        </p:txBody>
      </p:sp>
      <p:sp>
        <p:nvSpPr>
          <p:cNvPr id="6" name="">
            <a:extLst xmlns:a="http://schemas.openxmlformats.org/drawingml/2006/main">
              <a:ext uri="{FF2B5EF4-FFF2-40B4-BE49-F238E27FC236}">
                <a16:creationId xmlns:a16="http://schemas.microsoft.com/office/drawing/2014/main" id="{E04A7862-147B-4ED2-866D-A108AB4E5397}"/>
              </a:ext>
            </a:extLst>
          </p:cNvPr>
          <p:cNvSpPr>
            <a:spLocks xmlns:a="http://schemas.openxmlformats.org/drawingml/2006/main" noGrp="1"/>
          </p:cNvSpPr>
          <p:nvPr/>
        </p:nvSpPr>
        <p:spPr>
          <a:xfrm xmlns:a="http://schemas.openxmlformats.org/drawingml/2006/main">
            <a:off x="609600" y="43053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Check: the same message appears.</a:t>
            </a:r>
          </a:p>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Create a name before using it in a later Python cell.</a:t>
            </a:r>
          </a:p>
        </p:txBody>
      </p:sp>
      <p:sp>
        <p:nvSpPr>
          <p:cNvPr id="7" name="">
            <a:extLst xmlns:a="http://schemas.openxmlformats.org/drawingml/2006/main">
              <a:ext uri="{FF2B5EF4-FFF2-40B4-BE49-F238E27FC236}">
                <a16:creationId xmlns:a16="http://schemas.microsoft.com/office/drawing/2014/main" id="{8FA62694-8331-4B71-8661-7301D0600193}"/>
              </a:ext>
            </a:extLst>
          </p:cNvPr>
          <p:cNvSpPr>
            <a:spLocks xmlns:a="http://schemas.openxmlformats.org/drawingml/2006/main" noGrp="1"/>
          </p:cNvSpPr>
          <p:nvPr/>
        </p:nvSpPr>
        <p:spPr>
          <a:xfrm xmlns:a="http://schemas.openxmlformats.org/drawingml/2006/main">
            <a:off x="609600" y="55721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07070"/>
                </a:solidFill>
                <a:latin typeface="Arial"/>
                <a:ea typeface="Arial"/>
                <a:cs typeface="Arial"/>
              </a:defRPr>
            </a:pPr>
            <a:r>
              <a:rPr sz="1800" b="0">
                <a:solidFill>
                  <a:srgbClr val="707070"/>
                </a:solidFill>
                <a:latin typeface="Arial"/>
                <a:ea typeface="Arial"/>
                <a:cs typeface="Arial"/>
              </a:rPr>
              <a:t>Python reads across a row, then down. It also follows the order of your sheets.</a:t>
            </a:r>
          </a:p>
        </p:txBody>
      </p:sp>
    </p:spTree>
    <p:extLst>
      <p:ext uri="{BB962C8B-B14F-4D97-AF65-F5344CB8AC3E}">
        <p14:creationId xmlns:p14="http://schemas.microsoft.com/office/powerpoint/2010/main" val="541255034"/>
      </p:ext>
    </p:extLst>
  </p:cSld>
</p:sld>
</file>

<file path=ppt/slides/slide8.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474F33-25BF-4A49-B341-919844FCFC6C}"/>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An Excel table becomes a Python table</a:t>
            </a:r>
          </a:p>
        </p:txBody>
      </p:sp>
      <p:sp>
        <p:nvSpPr>
          <p:cNvPr id="2" name="">
            <a:extLst xmlns:a="http://schemas.openxmlformats.org/drawingml/2006/main">
              <a:ext uri="{FF2B5EF4-FFF2-40B4-BE49-F238E27FC236}">
                <a16:creationId xmlns:a16="http://schemas.microsoft.com/office/drawing/2014/main" id="{8365C6EB-4B2A-46FE-B534-B27CD93D7BDE}"/>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sales sheet, cell I1. The practice data is already in the workbook.</a:t>
            </a:r>
          </a:p>
        </p:txBody>
      </p:sp>
      <p:sp>
        <p:nvSpPr>
          <p:cNvPr id="3" name="">
            <a:extLst xmlns:a="http://schemas.openxmlformats.org/drawingml/2006/main">
              <a:ext uri="{FF2B5EF4-FFF2-40B4-BE49-F238E27FC236}">
                <a16:creationId xmlns:a16="http://schemas.microsoft.com/office/drawing/2014/main" id="{4BF622CD-FC6D-41C2-B2CC-6D1956B49114}"/>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0201F11-7EF1-42AE-9B2E-CDD54082D783}"/>
              </a:ext>
            </a:extLst>
          </p:cNvPr>
          <p:cNvSpPr>
            <a:spLocks xmlns:a="http://schemas.openxmlformats.org/drawingml/2006/main" noGrp="1"/>
          </p:cNvSpPr>
          <p:nvPr/>
        </p:nvSpPr>
        <p:spPr>
          <a:xfrm xmlns:a="http://schemas.openxmlformats.org/drawingml/2006/main">
            <a:off x="609600" y="2457450"/>
            <a:ext cx="10972800" cy="17621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D6489F-1BEA-4DA9-AF90-8D2625AE203F}"/>
              </a:ext>
            </a:extLst>
          </p:cNvPr>
          <p:cNvSpPr>
            <a:spLocks xmlns:a="http://schemas.openxmlformats.org/drawingml/2006/main" noGrp="1"/>
          </p:cNvSpPr>
          <p:nvPr/>
        </p:nvSpPr>
        <p:spPr>
          <a:xfrm xmlns:a="http://schemas.openxmlformats.org/drawingml/2006/main">
            <a:off x="895350" y="2743200"/>
            <a:ext cx="10401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Consolas"/>
                <a:ea typeface="Consolas"/>
                <a:cs typeface="Consolas"/>
              </a:defRPr>
            </a:pPr>
            <a:r>
              <a:rPr sz="2325" b="0">
                <a:solidFill>
                  <a:srgbClr val="FFFFFF"/>
                </a:solidFill>
                <a:latin typeface="Consolas"/>
                <a:ea typeface="Consolas"/>
                <a:cs typeface="Consolas"/>
              </a:rPr>
              <a:t>sales_df = xl("sales[#All]", headers=True)</a:t>
            </a:r>
          </a:p>
          <a:p xmlns:a="http://schemas.openxmlformats.org/drawingml/2006/main">
            <a:pPr>
              <a:defRPr sz="2325" b="0">
                <a:solidFill>
                  <a:srgbClr val="FFFFFF"/>
                </a:solidFill>
                <a:latin typeface="Consolas"/>
                <a:ea typeface="Consolas"/>
                <a:cs typeface="Consolas"/>
              </a:defRPr>
            </a:pPr>
            <a:r>
              <a:rPr sz="2325" b="0">
                <a:solidFill>
                  <a:srgbClr val="FFFFFF"/>
                </a:solidFill>
                <a:latin typeface="Consolas"/>
                <a:ea typeface="Consolas"/>
                <a:cs typeface="Consolas"/>
              </a:rPr>
              <a:t>sales_df.head()</a:t>
            </a:r>
          </a:p>
        </p:txBody>
      </p:sp>
      <p:sp>
        <p:nvSpPr>
          <p:cNvPr id="6" name="">
            <a:extLst xmlns:a="http://schemas.openxmlformats.org/drawingml/2006/main">
              <a:ext uri="{FF2B5EF4-FFF2-40B4-BE49-F238E27FC236}">
                <a16:creationId xmlns:a16="http://schemas.microsoft.com/office/drawing/2014/main" id="{4CADFC79-91DE-4D3B-AA8E-41B48F60D9DE}"/>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DataFrame = a table in Python.</a:t>
            </a:r>
          </a:p>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head() = show the first five rows.</a:t>
            </a:r>
          </a:p>
        </p:txBody>
      </p:sp>
    </p:spTree>
    <p:extLst>
      <p:ext uri="{BB962C8B-B14F-4D97-AF65-F5344CB8AC3E}">
        <p14:creationId xmlns:p14="http://schemas.microsoft.com/office/powerpoint/2010/main" val="2060619071"/>
      </p:ext>
    </p:extLst>
  </p:cSld>
</p:sld>
</file>

<file path=ppt/slides/slide9.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0492C5-1988-49C6-95FF-E30C8B13B2BE}"/>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Two ways to view the result</a:t>
            </a:r>
          </a:p>
        </p:txBody>
      </p:sp>
      <p:sp>
        <p:nvSpPr>
          <p:cNvPr id="2" name="">
            <a:extLst xmlns:a="http://schemas.openxmlformats.org/drawingml/2006/main">
              <a:ext uri="{FF2B5EF4-FFF2-40B4-BE49-F238E27FC236}">
                <a16:creationId xmlns:a16="http://schemas.microsoft.com/office/drawing/2014/main" id="{8507EDE8-E0D3-4D92-9FBC-ACBF94AECF4A}"/>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For today’s checks, choose Excel Value in the Python output menu.</a:t>
            </a:r>
          </a:p>
        </p:txBody>
      </p:sp>
      <p:sp>
        <p:nvSpPr>
          <p:cNvPr id="3" name="">
            <a:extLst xmlns:a="http://schemas.openxmlformats.org/drawingml/2006/main">
              <a:ext uri="{FF2B5EF4-FFF2-40B4-BE49-F238E27FC236}">
                <a16:creationId xmlns:a16="http://schemas.microsoft.com/office/drawing/2014/main" id="{E7BE15BB-7A67-4376-83E9-C689581F2CD3}"/>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20FA1721-380C-4F36-B0CD-F1B859558B86}"/>
              </a:ext>
            </a:extLst>
          </p:cNvPr>
          <p:cNvSpPr>
            <a:spLocks xmlns:a="http://schemas.openxmlformats.org/drawingml/2006/main" noGrp="1"/>
          </p:cNvSpPr>
          <p:nvPr/>
        </p:nvSpPr>
        <p:spPr>
          <a:xfrm xmlns:a="http://schemas.openxmlformats.org/drawingml/2006/main">
            <a:off x="609600" y="2752725"/>
            <a:ext cx="4972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CF3338"/>
                </a:solidFill>
                <a:latin typeface="Arial"/>
                <a:ea typeface="Arial"/>
                <a:cs typeface="Arial"/>
              </a:defRPr>
            </a:pPr>
            <a:r>
              <a:rPr sz="2625" b="1">
                <a:solidFill>
                  <a:srgbClr val="CF3338"/>
                </a:solidFill>
                <a:latin typeface="Arial"/>
                <a:ea typeface="Arial"/>
                <a:cs typeface="Arial"/>
              </a:rPr>
              <a:t>Python Object</a:t>
            </a:r>
          </a:p>
        </p:txBody>
      </p:sp>
      <p:sp>
        <p:nvSpPr>
          <p:cNvPr id="5" name="">
            <a:extLst xmlns:a="http://schemas.openxmlformats.org/drawingml/2006/main">
              <a:ext uri="{FF2B5EF4-FFF2-40B4-BE49-F238E27FC236}">
                <a16:creationId xmlns:a16="http://schemas.microsoft.com/office/drawing/2014/main" id="{0912FC5E-4FEC-435B-854F-83B4282BBC28}"/>
              </a:ext>
            </a:extLst>
          </p:cNvPr>
          <p:cNvSpPr>
            <a:spLocks xmlns:a="http://schemas.openxmlformats.org/drawingml/2006/main" noGrp="1"/>
          </p:cNvSpPr>
          <p:nvPr/>
        </p:nvSpPr>
        <p:spPr>
          <a:xfrm xmlns:a="http://schemas.openxmlformats.org/drawingml/2006/main">
            <a:off x="609600" y="3533775"/>
            <a:ext cx="4905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Keeps the table in a single cell.</a:t>
            </a:r>
          </a:p>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Useful when later code needs it.</a:t>
            </a:r>
          </a:p>
        </p:txBody>
      </p:sp>
      <p:sp>
        <p:nvSpPr>
          <p:cNvPr id="6" name="">
            <a:extLst xmlns:a="http://schemas.openxmlformats.org/drawingml/2006/main">
              <a:ext uri="{FF2B5EF4-FFF2-40B4-BE49-F238E27FC236}">
                <a16:creationId xmlns:a16="http://schemas.microsoft.com/office/drawing/2014/main" id="{1886BA15-F323-470B-8E58-8ACE1C6C794E}"/>
              </a:ext>
            </a:extLst>
          </p:cNvPr>
          <p:cNvSpPr>
            <a:spLocks xmlns:a="http://schemas.openxmlformats.org/drawingml/2006/main" noGrp="1"/>
          </p:cNvSpPr>
          <p:nvPr/>
        </p:nvSpPr>
        <p:spPr>
          <a:xfrm xmlns:a="http://schemas.openxmlformats.org/drawingml/2006/main">
            <a:off x="6543675" y="27527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CF3338"/>
                </a:solidFill>
                <a:latin typeface="Arial"/>
                <a:ea typeface="Arial"/>
                <a:cs typeface="Arial"/>
              </a:defRPr>
            </a:pPr>
            <a:r>
              <a:rPr sz="2625" b="1">
                <a:solidFill>
                  <a:srgbClr val="CF3338"/>
                </a:solidFill>
                <a:latin typeface="Arial"/>
                <a:ea typeface="Arial"/>
                <a:cs typeface="Arial"/>
              </a:rPr>
              <a:t>Excel Value</a:t>
            </a:r>
          </a:p>
        </p:txBody>
      </p:sp>
      <p:sp>
        <p:nvSpPr>
          <p:cNvPr id="7" name="">
            <a:extLst xmlns:a="http://schemas.openxmlformats.org/drawingml/2006/main">
              <a:ext uri="{FF2B5EF4-FFF2-40B4-BE49-F238E27FC236}">
                <a16:creationId xmlns:a16="http://schemas.microsoft.com/office/drawing/2014/main" id="{D89C6A92-5584-40B0-9199-E4FBBE447705}"/>
              </a:ext>
            </a:extLst>
          </p:cNvPr>
          <p:cNvSpPr>
            <a:spLocks xmlns:a="http://schemas.openxmlformats.org/drawingml/2006/main" noGrp="1"/>
          </p:cNvSpPr>
          <p:nvPr/>
        </p:nvSpPr>
        <p:spPr>
          <a:xfrm xmlns:a="http://schemas.openxmlformats.org/drawingml/2006/main">
            <a:off x="6543675" y="35337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Shows the rows in the grid.</a:t>
            </a:r>
          </a:p>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Useful when you want to inspect the answer.</a:t>
            </a:r>
          </a:p>
        </p:txBody>
      </p:sp>
      <p:sp>
        <p:nvSpPr>
          <p:cNvPr id="8" name="">
            <a:extLst xmlns:a="http://schemas.openxmlformats.org/drawingml/2006/main">
              <a:ext uri="{FF2B5EF4-FFF2-40B4-BE49-F238E27FC236}">
                <a16:creationId xmlns:a16="http://schemas.microsoft.com/office/drawing/2014/main" id="{0A4D44A1-30BC-43CD-AB9B-B15E7041035D}"/>
              </a:ext>
            </a:extLst>
          </p:cNvPr>
          <p:cNvSpPr>
            <a:spLocks xmlns:a="http://schemas.openxmlformats.org/drawingml/2006/main" noGrp="1"/>
          </p:cNvSpPr>
          <p:nvPr/>
        </p:nvSpPr>
        <p:spPr>
          <a:xfrm xmlns:a="http://schemas.openxmlformats.org/drawingml/2006/main">
            <a:off x="609600" y="5600700"/>
            <a:ext cx="10525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2120"/>
                </a:solidFill>
                <a:latin typeface="Arial"/>
                <a:ea typeface="Arial"/>
                <a:cs typeface="Arial"/>
              </a:defRPr>
            </a:pPr>
            <a:r>
              <a:rPr sz="2100" b="1">
                <a:solidFill>
                  <a:srgbClr val="1F2120"/>
                </a:solidFill>
                <a:latin typeface="Arial"/>
                <a:ea typeface="Arial"/>
                <a:cs typeface="Arial"/>
              </a:rPr>
              <a:t>Check: the first product in the preview is Desk.</a:t>
            </a:r>
          </a:p>
        </p:txBody>
      </p:sp>
    </p:spTree>
    <p:extLst>
      <p:ext uri="{BB962C8B-B14F-4D97-AF65-F5344CB8AC3E}">
        <p14:creationId xmlns:p14="http://schemas.microsoft.com/office/powerpoint/2010/main" val="188298659"/>
      </p:ext>
    </p:extLst>
  </p:cSld>
</p:sld>
</file>

<file path=ppt/slides/slide10.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96A20E-6559-473D-9442-6044629F60D0}"/>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quick check of the numbers</a:t>
            </a:r>
          </a:p>
        </p:txBody>
      </p:sp>
      <p:sp>
        <p:nvSpPr>
          <p:cNvPr id="2" name="">
            <a:extLst xmlns:a="http://schemas.openxmlformats.org/drawingml/2006/main">
              <a:ext uri="{FF2B5EF4-FFF2-40B4-BE49-F238E27FC236}">
                <a16:creationId xmlns:a16="http://schemas.microsoft.com/office/drawing/2014/main" id="{B980EF04-3EAF-436A-9FAD-FE4A16A8BA01}"/>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sales sheet, cell I10. Run the code and choose Excel Value.</a:t>
            </a:r>
          </a:p>
        </p:txBody>
      </p:sp>
      <p:sp>
        <p:nvSpPr>
          <p:cNvPr id="3" name="">
            <a:extLst xmlns:a="http://schemas.openxmlformats.org/drawingml/2006/main">
              <a:ext uri="{FF2B5EF4-FFF2-40B4-BE49-F238E27FC236}">
                <a16:creationId xmlns:a16="http://schemas.microsoft.com/office/drawing/2014/main" id="{D5108C0F-6012-4548-A48B-83F30FD8D67C}"/>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31C9E69-1B6C-43C0-B4FF-7D0ADABAAA9E}"/>
              </a:ext>
            </a:extLst>
          </p:cNvPr>
          <p:cNvSpPr>
            <a:spLocks xmlns:a="http://schemas.openxmlformats.org/drawingml/2006/main" noGrp="1"/>
          </p:cNvSpPr>
          <p:nvPr/>
        </p:nvSpPr>
        <p:spPr>
          <a:xfrm xmlns:a="http://schemas.openxmlformats.org/drawingml/2006/main">
            <a:off x="609600" y="2476500"/>
            <a:ext cx="10972800" cy="131445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527034-70A6-4E32-9FA6-F40C71520EAF}"/>
              </a:ext>
            </a:extLst>
          </p:cNvPr>
          <p:cNvSpPr>
            <a:spLocks xmlns:a="http://schemas.openxmlformats.org/drawingml/2006/main" noGrp="1"/>
          </p:cNvSpPr>
          <p:nvPr/>
        </p:nvSpPr>
        <p:spPr>
          <a:xfrm xmlns:a="http://schemas.openxmlformats.org/drawingml/2006/main">
            <a:off x="895350" y="2762250"/>
            <a:ext cx="10401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0">
                <a:solidFill>
                  <a:srgbClr val="FFFFFF"/>
                </a:solidFill>
                <a:latin typeface="Consolas"/>
                <a:ea typeface="Consolas"/>
                <a:cs typeface="Consolas"/>
              </a:defRPr>
            </a:pPr>
            <a:r>
              <a:rPr sz="2775" b="0">
                <a:solidFill>
                  <a:srgbClr val="FFFFFF"/>
                </a:solidFill>
                <a:latin typeface="Consolas"/>
                <a:ea typeface="Consolas"/>
                <a:cs typeface="Consolas"/>
              </a:rPr>
              <a:t>sales_df.describe()</a:t>
            </a:r>
          </a:p>
        </p:txBody>
      </p:sp>
      <p:sp>
        <p:nvSpPr>
          <p:cNvPr id="6" name="">
            <a:extLst xmlns:a="http://schemas.openxmlformats.org/drawingml/2006/main">
              <a:ext uri="{FF2B5EF4-FFF2-40B4-BE49-F238E27FC236}">
                <a16:creationId xmlns:a16="http://schemas.microsoft.com/office/drawing/2014/main" id="{99E0E084-F67F-42CE-BECF-E53885C97FFC}"/>
              </a:ext>
            </a:extLst>
          </p:cNvPr>
          <p:cNvSpPr>
            <a:spLocks xmlns:a="http://schemas.openxmlformats.org/drawingml/2006/main" noGrp="1"/>
          </p:cNvSpPr>
          <p:nvPr/>
        </p:nvSpPr>
        <p:spPr>
          <a:xfrm xmlns:a="http://schemas.openxmlformats.org/drawingml/2006/main">
            <a:off x="609600" y="43529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count</a:t>
            </a:r>
          </a:p>
        </p:txBody>
      </p:sp>
      <p:sp>
        <p:nvSpPr>
          <p:cNvPr id="7" name="">
            <a:extLst xmlns:a="http://schemas.openxmlformats.org/drawingml/2006/main">
              <a:ext uri="{FF2B5EF4-FFF2-40B4-BE49-F238E27FC236}">
                <a16:creationId xmlns:a16="http://schemas.microsoft.com/office/drawing/2014/main" id="{A367381D-81D7-4A41-BCE1-403749E57D3E}"/>
              </a:ext>
            </a:extLst>
          </p:cNvPr>
          <p:cNvSpPr>
            <a:spLocks xmlns:a="http://schemas.openxmlformats.org/drawingml/2006/main" noGrp="1"/>
          </p:cNvSpPr>
          <p:nvPr/>
        </p:nvSpPr>
        <p:spPr>
          <a:xfrm xmlns:a="http://schemas.openxmlformats.org/drawingml/2006/main">
            <a:off x="609600" y="4895850"/>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How many values?</a:t>
            </a:r>
          </a:p>
        </p:txBody>
      </p:sp>
      <p:sp>
        <p:nvSpPr>
          <p:cNvPr id="8" name="">
            <a:extLst xmlns:a="http://schemas.openxmlformats.org/drawingml/2006/main">
              <a:ext uri="{FF2B5EF4-FFF2-40B4-BE49-F238E27FC236}">
                <a16:creationId xmlns:a16="http://schemas.microsoft.com/office/drawing/2014/main" id="{F27B57D9-A02B-4928-A7CA-8CCACBA56ACC}"/>
              </a:ext>
            </a:extLst>
          </p:cNvPr>
          <p:cNvSpPr>
            <a:spLocks xmlns:a="http://schemas.openxmlformats.org/drawingml/2006/main" noGrp="1"/>
          </p:cNvSpPr>
          <p:nvPr/>
        </p:nvSpPr>
        <p:spPr>
          <a:xfrm xmlns:a="http://schemas.openxmlformats.org/drawingml/2006/main">
            <a:off x="4467225" y="43529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mean</a:t>
            </a:r>
          </a:p>
        </p:txBody>
      </p:sp>
      <p:sp>
        <p:nvSpPr>
          <p:cNvPr id="9" name="">
            <a:extLst xmlns:a="http://schemas.openxmlformats.org/drawingml/2006/main">
              <a:ext uri="{FF2B5EF4-FFF2-40B4-BE49-F238E27FC236}">
                <a16:creationId xmlns:a16="http://schemas.microsoft.com/office/drawing/2014/main" id="{B163CA73-7500-4BC8-BC57-D92EE24A2E4E}"/>
              </a:ext>
            </a:extLst>
          </p:cNvPr>
          <p:cNvSpPr>
            <a:spLocks xmlns:a="http://schemas.openxmlformats.org/drawingml/2006/main" noGrp="1"/>
          </p:cNvSpPr>
          <p:nvPr/>
        </p:nvSpPr>
        <p:spPr>
          <a:xfrm xmlns:a="http://schemas.openxmlformats.org/drawingml/2006/main">
            <a:off x="4467225" y="4895850"/>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The average</a:t>
            </a:r>
          </a:p>
        </p:txBody>
      </p:sp>
      <p:sp>
        <p:nvSpPr>
          <p:cNvPr id="10" name="">
            <a:extLst xmlns:a="http://schemas.openxmlformats.org/drawingml/2006/main">
              <a:ext uri="{FF2B5EF4-FFF2-40B4-BE49-F238E27FC236}">
                <a16:creationId xmlns:a16="http://schemas.microsoft.com/office/drawing/2014/main" id="{769F9BE4-591B-40FB-9CA5-715137CCD8C2}"/>
              </a:ext>
            </a:extLst>
          </p:cNvPr>
          <p:cNvSpPr>
            <a:spLocks xmlns:a="http://schemas.openxmlformats.org/drawingml/2006/main" noGrp="1"/>
          </p:cNvSpPr>
          <p:nvPr/>
        </p:nvSpPr>
        <p:spPr>
          <a:xfrm xmlns:a="http://schemas.openxmlformats.org/drawingml/2006/main">
            <a:off x="8277225" y="43529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max</a:t>
            </a:r>
          </a:p>
        </p:txBody>
      </p:sp>
      <p:sp>
        <p:nvSpPr>
          <p:cNvPr id="11" name="">
            <a:extLst xmlns:a="http://schemas.openxmlformats.org/drawingml/2006/main">
              <a:ext uri="{FF2B5EF4-FFF2-40B4-BE49-F238E27FC236}">
                <a16:creationId xmlns:a16="http://schemas.microsoft.com/office/drawing/2014/main" id="{79D8DD61-86B7-47AB-8591-750A5AD4405D}"/>
              </a:ext>
            </a:extLst>
          </p:cNvPr>
          <p:cNvSpPr>
            <a:spLocks xmlns:a="http://schemas.openxmlformats.org/drawingml/2006/main" noGrp="1"/>
          </p:cNvSpPr>
          <p:nvPr/>
        </p:nvSpPr>
        <p:spPr>
          <a:xfrm xmlns:a="http://schemas.openxmlformats.org/drawingml/2006/main">
            <a:off x="8277225" y="489585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The largest value</a:t>
            </a:r>
          </a:p>
        </p:txBody>
      </p:sp>
    </p:spTree>
    <p:extLst>
      <p:ext uri="{BB962C8B-B14F-4D97-AF65-F5344CB8AC3E}">
        <p14:creationId xmlns:p14="http://schemas.microsoft.com/office/powerpoint/2010/main" val="717579958"/>
      </p:ext>
    </p:extLst>
  </p:cSld>
</p:sld>
</file>

<file path=ppt/slides/slide1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9C6A45-09D6-4910-9E6E-3B512E662BD9}"/>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Average unit price by country</a:t>
            </a:r>
          </a:p>
        </p:txBody>
      </p:sp>
      <p:sp>
        <p:nvSpPr>
          <p:cNvPr id="2" name="">
            <a:extLst xmlns:a="http://schemas.openxmlformats.org/drawingml/2006/main">
              <a:ext uri="{FF2B5EF4-FFF2-40B4-BE49-F238E27FC236}">
                <a16:creationId xmlns:a16="http://schemas.microsoft.com/office/drawing/2014/main" id="{A261343F-9551-40B8-8CDF-A7E6699353C3}"/>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sales sheet, cell I22. A familiar PivotTable question.</a:t>
            </a:r>
          </a:p>
        </p:txBody>
      </p:sp>
      <p:sp>
        <p:nvSpPr>
          <p:cNvPr id="3" name="">
            <a:extLst xmlns:a="http://schemas.openxmlformats.org/drawingml/2006/main">
              <a:ext uri="{FF2B5EF4-FFF2-40B4-BE49-F238E27FC236}">
                <a16:creationId xmlns:a16="http://schemas.microsoft.com/office/drawing/2014/main" id="{AA4E117F-BCE6-4AD3-BAC3-55133553B3F4}"/>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88FA06F-126C-47C8-B215-D1DE294EB0B8}"/>
              </a:ext>
            </a:extLst>
          </p:cNvPr>
          <p:cNvSpPr>
            <a:spLocks xmlns:a="http://schemas.openxmlformats.org/drawingml/2006/main" noGrp="1"/>
          </p:cNvSpPr>
          <p:nvPr/>
        </p:nvSpPr>
        <p:spPr>
          <a:xfrm xmlns:a="http://schemas.openxmlformats.org/drawingml/2006/main">
            <a:off x="609600" y="2514600"/>
            <a:ext cx="10972800" cy="136207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32BC0F-69AB-47E2-8ED4-A5C08F06A073}"/>
              </a:ext>
            </a:extLst>
          </p:cNvPr>
          <p:cNvSpPr>
            <a:spLocks xmlns:a="http://schemas.openxmlformats.org/drawingml/2006/main" noGrp="1"/>
          </p:cNvSpPr>
          <p:nvPr/>
        </p:nvSpPr>
        <p:spPr>
          <a:xfrm xmlns:a="http://schemas.openxmlformats.org/drawingml/2006/main">
            <a:off x="895350" y="2800350"/>
            <a:ext cx="104013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sz="2250" b="0">
                <a:solidFill>
                  <a:srgbClr val="FFFFFF"/>
                </a:solidFill>
                <a:latin typeface="Consolas"/>
                <a:ea typeface="Consolas"/>
                <a:cs typeface="Consolas"/>
              </a:rPr>
              <a:t>sales_df.groupby('country')['unit_price'].mean()</a:t>
            </a:r>
          </a:p>
        </p:txBody>
      </p:sp>
      <p:sp>
        <p:nvSpPr>
          <p:cNvPr id="6" name="">
            <a:extLst xmlns:a="http://schemas.openxmlformats.org/drawingml/2006/main">
              <a:ext uri="{FF2B5EF4-FFF2-40B4-BE49-F238E27FC236}">
                <a16:creationId xmlns:a16="http://schemas.microsoft.com/office/drawing/2014/main" id="{07329484-ED0A-4C0A-842A-265C198C1BED}"/>
              </a:ext>
            </a:extLst>
          </p:cNvPr>
          <p:cNvSpPr>
            <a:spLocks xmlns:a="http://schemas.openxmlformats.org/drawingml/2006/main" noGrp="1"/>
          </p:cNvSpPr>
          <p:nvPr/>
        </p:nvSpPr>
        <p:spPr>
          <a:xfrm xmlns:a="http://schemas.openxmlformats.org/drawingml/2006/main">
            <a:off x="609600" y="440055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F3338"/>
                </a:solidFill>
                <a:latin typeface="Consolas"/>
                <a:ea typeface="Consolas"/>
                <a:cs typeface="Consolas"/>
              </a:defRPr>
            </a:pPr>
            <a:r>
              <a:rPr sz="2025" b="1">
                <a:solidFill>
                  <a:srgbClr val="CF3338"/>
                </a:solidFill>
                <a:latin typeface="Consolas"/>
                <a:ea typeface="Consolas"/>
                <a:cs typeface="Consolas"/>
              </a:rPr>
              <a:t>groupby('country')</a:t>
            </a:r>
          </a:p>
        </p:txBody>
      </p:sp>
      <p:sp>
        <p:nvSpPr>
          <p:cNvPr id="7" name="">
            <a:extLst xmlns:a="http://schemas.openxmlformats.org/drawingml/2006/main">
              <a:ext uri="{FF2B5EF4-FFF2-40B4-BE49-F238E27FC236}">
                <a16:creationId xmlns:a16="http://schemas.microsoft.com/office/drawing/2014/main" id="{A387871E-02C9-4967-B8D3-3DAD475BA471}"/>
              </a:ext>
            </a:extLst>
          </p:cNvPr>
          <p:cNvSpPr>
            <a:spLocks xmlns:a="http://schemas.openxmlformats.org/drawingml/2006/main" noGrp="1"/>
          </p:cNvSpPr>
          <p:nvPr/>
        </p:nvSpPr>
        <p:spPr>
          <a:xfrm xmlns:a="http://schemas.openxmlformats.org/drawingml/2006/main">
            <a:off x="609600" y="4981575"/>
            <a:ext cx="34575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Split by country</a:t>
            </a:r>
          </a:p>
        </p:txBody>
      </p:sp>
      <p:sp>
        <p:nvSpPr>
          <p:cNvPr id="8" name="">
            <a:extLst xmlns:a="http://schemas.openxmlformats.org/drawingml/2006/main">
              <a:ext uri="{FF2B5EF4-FFF2-40B4-BE49-F238E27FC236}">
                <a16:creationId xmlns:a16="http://schemas.microsoft.com/office/drawing/2014/main" id="{DCD24808-87CA-45E9-9BA5-20ACD4C2E025}"/>
              </a:ext>
            </a:extLst>
          </p:cNvPr>
          <p:cNvSpPr>
            <a:spLocks xmlns:a="http://schemas.openxmlformats.org/drawingml/2006/main" noGrp="1"/>
          </p:cNvSpPr>
          <p:nvPr/>
        </p:nvSpPr>
        <p:spPr>
          <a:xfrm xmlns:a="http://schemas.openxmlformats.org/drawingml/2006/main">
            <a:off x="4572000" y="4400550"/>
            <a:ext cx="3124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F3338"/>
                </a:solidFill>
                <a:latin typeface="Consolas"/>
                <a:ea typeface="Consolas"/>
                <a:cs typeface="Consolas"/>
              </a:defRPr>
            </a:pPr>
            <a:r>
              <a:rPr sz="2025" b="1">
                <a:solidFill>
                  <a:srgbClr val="CF3338"/>
                </a:solidFill>
                <a:latin typeface="Consolas"/>
                <a:ea typeface="Consolas"/>
                <a:cs typeface="Consolas"/>
              </a:rPr>
              <a:t>['unit_price']</a:t>
            </a:r>
          </a:p>
        </p:txBody>
      </p:sp>
      <p:sp>
        <p:nvSpPr>
          <p:cNvPr id="9" name="">
            <a:extLst xmlns:a="http://schemas.openxmlformats.org/drawingml/2006/main">
              <a:ext uri="{FF2B5EF4-FFF2-40B4-BE49-F238E27FC236}">
                <a16:creationId xmlns:a16="http://schemas.microsoft.com/office/drawing/2014/main" id="{DC6241EE-6403-45C1-B4D3-19367E87AF58}"/>
              </a:ext>
            </a:extLst>
          </p:cNvPr>
          <p:cNvSpPr>
            <a:spLocks xmlns:a="http://schemas.openxmlformats.org/drawingml/2006/main" noGrp="1"/>
          </p:cNvSpPr>
          <p:nvPr/>
        </p:nvSpPr>
        <p:spPr>
          <a:xfrm xmlns:a="http://schemas.openxmlformats.org/drawingml/2006/main">
            <a:off x="4572000" y="4981575"/>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Pick the column</a:t>
            </a:r>
          </a:p>
        </p:txBody>
      </p:sp>
      <p:sp>
        <p:nvSpPr>
          <p:cNvPr id="10" name="">
            <a:extLst xmlns:a="http://schemas.openxmlformats.org/drawingml/2006/main">
              <a:ext uri="{FF2B5EF4-FFF2-40B4-BE49-F238E27FC236}">
                <a16:creationId xmlns:a16="http://schemas.microsoft.com/office/drawing/2014/main" id="{A49EFD52-732E-44F1-ADB2-91F326004646}"/>
              </a:ext>
            </a:extLst>
          </p:cNvPr>
          <p:cNvSpPr>
            <a:spLocks xmlns:a="http://schemas.openxmlformats.org/drawingml/2006/main" noGrp="1"/>
          </p:cNvSpPr>
          <p:nvPr/>
        </p:nvSpPr>
        <p:spPr>
          <a:xfrm xmlns:a="http://schemas.openxmlformats.org/drawingml/2006/main">
            <a:off x="8524875" y="4400550"/>
            <a:ext cx="2638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CF3338"/>
                </a:solidFill>
                <a:latin typeface="Consolas"/>
                <a:ea typeface="Consolas"/>
                <a:cs typeface="Consolas"/>
              </a:defRPr>
            </a:pPr>
            <a:r>
              <a:rPr sz="2025" b="1">
                <a:solidFill>
                  <a:srgbClr val="CF3338"/>
                </a:solidFill>
                <a:latin typeface="Consolas"/>
                <a:ea typeface="Consolas"/>
                <a:cs typeface="Consolas"/>
              </a:rPr>
              <a:t>mean()</a:t>
            </a:r>
          </a:p>
        </p:txBody>
      </p:sp>
      <p:sp>
        <p:nvSpPr>
          <p:cNvPr id="11" name="">
            <a:extLst xmlns:a="http://schemas.openxmlformats.org/drawingml/2006/main">
              <a:ext uri="{FF2B5EF4-FFF2-40B4-BE49-F238E27FC236}">
                <a16:creationId xmlns:a16="http://schemas.microsoft.com/office/drawing/2014/main" id="{7762C58B-66BC-42AE-800D-8D49772AE951}"/>
              </a:ext>
            </a:extLst>
          </p:cNvPr>
          <p:cNvSpPr>
            <a:spLocks xmlns:a="http://schemas.openxmlformats.org/drawingml/2006/main" noGrp="1"/>
          </p:cNvSpPr>
          <p:nvPr/>
        </p:nvSpPr>
        <p:spPr>
          <a:xfrm xmlns:a="http://schemas.openxmlformats.org/drawingml/2006/main">
            <a:off x="8524875" y="498157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Take its average</a:t>
            </a:r>
          </a:p>
        </p:txBody>
      </p:sp>
    </p:spTree>
    <p:extLst>
      <p:ext uri="{BB962C8B-B14F-4D97-AF65-F5344CB8AC3E}">
        <p14:creationId xmlns:p14="http://schemas.microsoft.com/office/powerpoint/2010/main" val="1069785404"/>
      </p:ext>
    </p:extLst>
  </p:cSld>
</p:sld>
</file>

<file path=ppt/slides/slide12.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35A4C7-ADDA-4E2B-995F-F8AA242F2C2D}"/>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You answered a business question</a:t>
            </a:r>
          </a:p>
        </p:txBody>
      </p:sp>
      <p:sp>
        <p:nvSpPr>
          <p:cNvPr id="2" name="">
            <a:extLst xmlns:a="http://schemas.openxmlformats.org/drawingml/2006/main">
              <a:ext uri="{FF2B5EF4-FFF2-40B4-BE49-F238E27FC236}">
                <a16:creationId xmlns:a16="http://schemas.microsoft.com/office/drawing/2014/main" id="{3B600FC1-31DD-4A11-88C9-994E5BA140DE}"/>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0238811-0E16-4D5E-BDBA-1C89106788B9}"/>
              </a:ext>
            </a:extLst>
          </p:cNvPr>
          <p:cNvSpPr>
            <a:spLocks xmlns:a="http://schemas.openxmlformats.org/drawingml/2006/main" noGrp="1"/>
          </p:cNvSpPr>
          <p:nvPr/>
        </p:nvSpPr>
        <p:spPr>
          <a:xfrm xmlns:a="http://schemas.openxmlformats.org/drawingml/2006/main">
            <a:off x="609600" y="22098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United Kingdom</a:t>
            </a:r>
          </a:p>
        </p:txBody>
      </p:sp>
      <p:sp>
        <p:nvSpPr>
          <p:cNvPr id="4" name="">
            <a:extLst xmlns:a="http://schemas.openxmlformats.org/drawingml/2006/main">
              <a:ext uri="{FF2B5EF4-FFF2-40B4-BE49-F238E27FC236}">
                <a16:creationId xmlns:a16="http://schemas.microsoft.com/office/drawing/2014/main" id="{7C7C3B86-70F0-4F45-9DF2-39CDA3A4C4DF}"/>
              </a:ext>
            </a:extLst>
          </p:cNvPr>
          <p:cNvSpPr>
            <a:spLocks xmlns:a="http://schemas.openxmlformats.org/drawingml/2006/main" noGrp="1"/>
          </p:cNvSpPr>
          <p:nvPr/>
        </p:nvSpPr>
        <p:spPr>
          <a:xfrm xmlns:a="http://schemas.openxmlformats.org/drawingml/2006/main">
            <a:off x="609600" y="3105150"/>
            <a:ext cx="571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750" b="1">
                <a:solidFill>
                  <a:srgbClr val="FFFFFF"/>
                </a:solidFill>
                <a:latin typeface="Arial Black"/>
                <a:ea typeface="Arial Black"/>
                <a:cs typeface="Arial Black"/>
              </a:defRPr>
            </a:pPr>
            <a:r>
              <a:rPr sz="6750" b="1">
                <a:solidFill>
                  <a:srgbClr val="FFFFFF"/>
                </a:solidFill>
                <a:latin typeface="Arial Black"/>
                <a:ea typeface="Arial Black"/>
                <a:cs typeface="Arial Black"/>
              </a:rPr>
              <a:t>274.43</a:t>
            </a:r>
          </a:p>
        </p:txBody>
      </p:sp>
      <p:sp>
        <p:nvSpPr>
          <p:cNvPr id="5" name="">
            <a:extLst xmlns:a="http://schemas.openxmlformats.org/drawingml/2006/main">
              <a:ext uri="{FF2B5EF4-FFF2-40B4-BE49-F238E27FC236}">
                <a16:creationId xmlns:a16="http://schemas.microsoft.com/office/drawing/2014/main" id="{34A761AE-D151-424D-A69D-697AD2D37EF7}"/>
              </a:ext>
            </a:extLst>
          </p:cNvPr>
          <p:cNvSpPr>
            <a:spLocks xmlns:a="http://schemas.openxmlformats.org/drawingml/2006/main" noGrp="1"/>
          </p:cNvSpPr>
          <p:nvPr/>
        </p:nvSpPr>
        <p:spPr>
          <a:xfrm xmlns:a="http://schemas.openxmlformats.org/drawingml/2006/main">
            <a:off x="6505575" y="3257550"/>
            <a:ext cx="48672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EEECE1"/>
                </a:solidFill>
                <a:latin typeface="Arial"/>
                <a:ea typeface="Arial"/>
                <a:cs typeface="Arial"/>
              </a:defRPr>
            </a:pPr>
            <a:r>
              <a:rPr sz="2325" b="0">
                <a:solidFill>
                  <a:srgbClr val="EEECE1"/>
                </a:solidFill>
                <a:latin typeface="Arial"/>
                <a:ea typeface="Arial"/>
                <a:cs typeface="Arial"/>
              </a:rPr>
              <a:t>Highest average unit price</a:t>
            </a:r>
          </a:p>
          <a:p xmlns:a="http://schemas.openxmlformats.org/drawingml/2006/main">
            <a:pPr>
              <a:defRPr sz="2325" b="0">
                <a:solidFill>
                  <a:srgbClr val="EEECE1"/>
                </a:solidFill>
                <a:latin typeface="Arial"/>
                <a:ea typeface="Arial"/>
                <a:cs typeface="Arial"/>
              </a:defRPr>
            </a:pPr>
            <a:r>
              <a:rPr sz="2325" b="0">
                <a:solidFill>
                  <a:srgbClr val="EEECE1"/>
                </a:solidFill>
                <a:latin typeface="Arial"/>
                <a:ea typeface="Arial"/>
                <a:cs typeface="Arial"/>
              </a:rPr>
              <a:t>in this practice dataset</a:t>
            </a:r>
          </a:p>
        </p:txBody>
      </p:sp>
      <p:sp>
        <p:nvSpPr>
          <p:cNvPr id="6" name="">
            <a:extLst xmlns:a="http://schemas.openxmlformats.org/drawingml/2006/main">
              <a:ext uri="{FF2B5EF4-FFF2-40B4-BE49-F238E27FC236}">
                <a16:creationId xmlns:a16="http://schemas.microsoft.com/office/drawing/2014/main" id="{5E4AF76A-DFA3-4176-995E-A2DD3A9E50C1}"/>
              </a:ext>
            </a:extLst>
          </p:cNvPr>
          <p:cNvSpPr>
            <a:spLocks xmlns:a="http://schemas.openxmlformats.org/drawingml/2006/main" noGrp="1"/>
          </p:cNvSpPr>
          <p:nvPr/>
        </p:nvSpPr>
        <p:spPr>
          <a:xfrm xmlns:a="http://schemas.openxmlformats.org/drawingml/2006/main">
            <a:off x="609600" y="53721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EEECE1"/>
                </a:solidFill>
                <a:latin typeface="Arial"/>
                <a:ea typeface="Arial"/>
                <a:cs typeface="Arial"/>
              </a:defRPr>
            </a:pPr>
            <a:r>
              <a:rPr sz="2100" b="0">
                <a:solidFill>
                  <a:srgbClr val="EEECE1"/>
                </a:solidFill>
                <a:latin typeface="Arial"/>
                <a:ea typeface="Arial"/>
                <a:cs typeface="Arial"/>
              </a:rPr>
              <a:t>A useful check: average unit price does not tell us which country is most profitable.</a:t>
            </a:r>
          </a:p>
        </p:txBody>
      </p:sp>
    </p:spTree>
    <p:extLst>
      <p:ext uri="{BB962C8B-B14F-4D97-AF65-F5344CB8AC3E}">
        <p14:creationId xmlns:p14="http://schemas.microsoft.com/office/powerpoint/2010/main" val="1825135858"/>
      </p:ext>
    </p:extLst>
  </p:cSld>
</p:sld>
</file>

<file path=ppt/slides/slide1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D01F8B-F01D-4875-A74B-3DB76A242337}"/>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One chart per group</a:t>
            </a:r>
          </a:p>
        </p:txBody>
      </p:sp>
      <p:sp>
        <p:nvSpPr>
          <p:cNvPr id="2" name="">
            <a:extLst xmlns:a="http://schemas.openxmlformats.org/drawingml/2006/main">
              <a:ext uri="{FF2B5EF4-FFF2-40B4-BE49-F238E27FC236}">
                <a16:creationId xmlns:a16="http://schemas.microsoft.com/office/drawing/2014/main" id="{65671D41-6217-4A9C-A69A-FC53B45A4D62}"/>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the demo. Shared axes make the groups easier to compare.</a:t>
            </a:r>
          </a:p>
        </p:txBody>
      </p:sp>
      <p:sp>
        <p:nvSpPr>
          <p:cNvPr id="3" name="">
            <a:extLst xmlns:a="http://schemas.openxmlformats.org/drawingml/2006/main">
              <a:ext uri="{FF2B5EF4-FFF2-40B4-BE49-F238E27FC236}">
                <a16:creationId xmlns:a16="http://schemas.microsoft.com/office/drawing/2014/main" id="{52EE664E-A782-451C-BB42-53386486851F}"/>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13</a:t>
            </a:r>
          </a:p>
        </p:txBody>
      </p:sp>
      <p:graphicFrame>
        <p:nvGraphicFramePr>
          <p:cNvPr id="11" name="Chart"/>
          <p:cNvGraphicFramePr/>
          <p:nvPr/>
        </p:nvGraphicFramePr>
        <p:xfrm>
          <a:off xmlns:a="http://schemas.openxmlformats.org/drawingml/2006/main" x="514350" y="2533650"/>
          <a:ext xmlns:a="http://schemas.openxmlformats.org/drawingml/2006/main" cx="3762375" cy="2847975"/>
        </p:xfrm>
        <a:graphic xmlns:a="http://schemas.openxmlformats.org/drawingml/2006/main">
          <a:graphicData uri="http://schemas.openxmlformats.org/drawingml/2006/chart">
            <c:chart xmlns:r="http://schemas.openxmlformats.org/officeDocument/2006/relationships" xmlns:c="http://schemas.openxmlformats.org/drawingml/2006/chart" r:id="Rfeff9bc98b134074"/>
          </a:graphicData>
        </a:graphic>
      </p:graphicFrame>
      <p:graphicFrame>
        <p:nvGraphicFramePr>
          <p:cNvPr id="12" name="Chart"/>
          <p:cNvGraphicFramePr/>
          <p:nvPr/>
        </p:nvGraphicFramePr>
        <p:xfrm>
          <a:off xmlns:a="http://schemas.openxmlformats.org/drawingml/2006/main" x="4419600" y="2533650"/>
          <a:ext xmlns:a="http://schemas.openxmlformats.org/drawingml/2006/main" cx="3762375" cy="2847975"/>
        </p:xfrm>
        <a:graphic xmlns:a="http://schemas.openxmlformats.org/drawingml/2006/main">
          <a:graphicData uri="http://schemas.openxmlformats.org/drawingml/2006/chart">
            <c:chart xmlns:r="http://schemas.openxmlformats.org/officeDocument/2006/relationships" xmlns:c="http://schemas.openxmlformats.org/drawingml/2006/chart" r:id="Re1fba7296e6c44e3"/>
          </a:graphicData>
        </a:graphic>
      </p:graphicFrame>
      <p:graphicFrame>
        <p:nvGraphicFramePr>
          <p:cNvPr id="13" name="Chart"/>
          <p:cNvGraphicFramePr/>
          <p:nvPr/>
        </p:nvGraphicFramePr>
        <p:xfrm>
          <a:off xmlns:a="http://schemas.openxmlformats.org/drawingml/2006/main" x="8324850" y="2533650"/>
          <a:ext xmlns:a="http://schemas.openxmlformats.org/drawingml/2006/main" cx="3762375" cy="2847975"/>
        </p:xfrm>
        <a:graphic xmlns:a="http://schemas.openxmlformats.org/drawingml/2006/main">
          <a:graphicData uri="http://schemas.openxmlformats.org/drawingml/2006/chart">
            <c:chart xmlns:r="http://schemas.openxmlformats.org/officeDocument/2006/relationships" xmlns:c="http://schemas.openxmlformats.org/drawingml/2006/chart" r:id="R4478467b382f4e79"/>
          </a:graphicData>
        </a:graphic>
      </p:graphicFrame>
      <p:sp>
        <p:nvSpPr>
          <p:cNvPr id="7" name="">
            <a:extLst xmlns:a="http://schemas.openxmlformats.org/drawingml/2006/main">
              <a:ext uri="{FF2B5EF4-FFF2-40B4-BE49-F238E27FC236}">
                <a16:creationId xmlns:a16="http://schemas.microsoft.com/office/drawing/2014/main" id="{EAAE0DA9-E372-491B-854F-09E6513EEE5B}"/>
              </a:ext>
            </a:extLst>
          </p:cNvPr>
          <p:cNvSpPr>
            <a:spLocks xmlns:a="http://schemas.openxmlformats.org/drawingml/2006/main" noGrp="1"/>
          </p:cNvSpPr>
          <p:nvPr/>
        </p:nvSpPr>
        <p:spPr>
          <a:xfrm xmlns:a="http://schemas.openxmlformats.org/drawingml/2006/main">
            <a:off x="609600" y="5734050"/>
            <a:ext cx="10648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The USA values cluster toward the lower end of fuel economy in this sample.</a:t>
            </a:r>
          </a:p>
        </p:txBody>
      </p:sp>
    </p:spTree>
    <p:extLst>
      <p:ext uri="{BB962C8B-B14F-4D97-AF65-F5344CB8AC3E}">
        <p14:creationId xmlns:p14="http://schemas.microsoft.com/office/powerpoint/2010/main" val="395958408"/>
      </p:ext>
    </p:extLst>
  </p:cSld>
</p:sld>
</file>

<file path=ppt/slides/slide1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2543F-DDB1-42C7-8226-539261B5E776}"/>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10,000 possible profit outcomes</a:t>
            </a:r>
          </a:p>
        </p:txBody>
      </p:sp>
      <p:sp>
        <p:nvSpPr>
          <p:cNvPr id="2" name="">
            <a:extLst xmlns:a="http://schemas.openxmlformats.org/drawingml/2006/main">
              <a:ext uri="{FF2B5EF4-FFF2-40B4-BE49-F238E27FC236}">
                <a16:creationId xmlns:a16="http://schemas.microsoft.com/office/drawing/2014/main" id="{C885128F-6410-48B9-9949-D52C49D160E7}"/>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the demo. An illustrative inventory model, not a forecast.</a:t>
            </a:r>
          </a:p>
        </p:txBody>
      </p:sp>
      <p:sp>
        <p:nvSpPr>
          <p:cNvPr id="3" name="">
            <a:extLst xmlns:a="http://schemas.openxmlformats.org/drawingml/2006/main">
              <a:ext uri="{FF2B5EF4-FFF2-40B4-BE49-F238E27FC236}">
                <a16:creationId xmlns:a16="http://schemas.microsoft.com/office/drawing/2014/main" id="{0497523A-A6E2-4428-AF68-390B350AD3B9}"/>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14</a:t>
            </a:r>
          </a:p>
        </p:txBody>
      </p:sp>
      <p:graphicFrame>
        <p:nvGraphicFramePr>
          <p:cNvPr id="11" name="Chart"/>
          <p:cNvGraphicFramePr/>
          <p:nvPr/>
        </p:nvGraphicFramePr>
        <p:xfrm>
          <a:off xmlns:a="http://schemas.openxmlformats.org/drawingml/2006/main" x="609600" y="2333625"/>
          <a:ext xmlns:a="http://schemas.openxmlformats.org/drawingml/2006/main" cx="7219950" cy="3381375"/>
        </p:xfrm>
        <a:graphic xmlns:a="http://schemas.openxmlformats.org/drawingml/2006/main">
          <a:graphicData uri="http://schemas.openxmlformats.org/drawingml/2006/chart">
            <c:chart xmlns:r="http://schemas.openxmlformats.org/officeDocument/2006/relationships" xmlns:c="http://schemas.openxmlformats.org/drawingml/2006/chart" r:id="R06967809363d4936"/>
          </a:graphicData>
        </a:graphic>
      </p:graphicFrame>
      <p:sp>
        <p:nvSpPr>
          <p:cNvPr id="5" name="">
            <a:extLst xmlns:a="http://schemas.openxmlformats.org/drawingml/2006/main">
              <a:ext uri="{FF2B5EF4-FFF2-40B4-BE49-F238E27FC236}">
                <a16:creationId xmlns:a16="http://schemas.microsoft.com/office/drawing/2014/main" id="{02597387-1BBB-4CC4-892A-0505D946514B}"/>
              </a:ext>
            </a:extLst>
          </p:cNvPr>
          <p:cNvSpPr>
            <a:spLocks xmlns:a="http://schemas.openxmlformats.org/drawingml/2006/main" noGrp="1"/>
          </p:cNvSpPr>
          <p:nvPr/>
        </p:nvSpPr>
        <p:spPr>
          <a:xfrm xmlns:a="http://schemas.openxmlformats.org/drawingml/2006/main">
            <a:off x="8324850" y="2457450"/>
            <a:ext cx="31623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CF3338"/>
                </a:solidFill>
                <a:latin typeface="Arial"/>
                <a:ea typeface="Arial"/>
                <a:cs typeface="Arial"/>
              </a:defRPr>
            </a:pPr>
            <a:r>
              <a:rPr sz="2550" b="1">
                <a:solidFill>
                  <a:srgbClr val="CF3338"/>
                </a:solidFill>
                <a:latin typeface="Arial"/>
                <a:ea typeface="Arial"/>
                <a:cs typeface="Arial"/>
              </a:rPr>
              <a:t>Some outcomes</a:t>
            </a:r>
          </a:p>
          <a:p xmlns:a="http://schemas.openxmlformats.org/drawingml/2006/main">
            <a:pPr>
              <a:defRPr sz="2550" b="1">
                <a:solidFill>
                  <a:srgbClr val="CF3338"/>
                </a:solidFill>
                <a:latin typeface="Arial"/>
                <a:ea typeface="Arial"/>
                <a:cs typeface="Arial"/>
              </a:defRPr>
            </a:pPr>
            <a:r>
              <a:rPr sz="2550" b="1">
                <a:solidFill>
                  <a:srgbClr val="CF3338"/>
                </a:solidFill>
                <a:latin typeface="Arial"/>
                <a:ea typeface="Arial"/>
                <a:cs typeface="Arial"/>
              </a:rPr>
              <a:t>lose money</a:t>
            </a:r>
          </a:p>
        </p:txBody>
      </p:sp>
      <p:sp>
        <p:nvSpPr>
          <p:cNvPr id="6" name="">
            <a:extLst xmlns:a="http://schemas.openxmlformats.org/drawingml/2006/main">
              <a:ext uri="{FF2B5EF4-FFF2-40B4-BE49-F238E27FC236}">
                <a16:creationId xmlns:a16="http://schemas.microsoft.com/office/drawing/2014/main" id="{859C0D57-E416-442E-9E56-546BC833175A}"/>
              </a:ext>
            </a:extLst>
          </p:cNvPr>
          <p:cNvSpPr>
            <a:spLocks xmlns:a="http://schemas.openxmlformats.org/drawingml/2006/main" noGrp="1"/>
          </p:cNvSpPr>
          <p:nvPr/>
        </p:nvSpPr>
        <p:spPr>
          <a:xfrm xmlns:a="http://schemas.openxmlformats.org/drawingml/2006/main">
            <a:off x="8324850" y="3810000"/>
            <a:ext cx="31623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Stock: 1,100 units</a:t>
            </a:r>
          </a:p>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Sell: $50 per unit</a:t>
            </a:r>
          </a:p>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Cost: $30 per unit</a:t>
            </a:r>
          </a:p>
        </p:txBody>
      </p:sp>
      <p:sp>
        <p:nvSpPr>
          <p:cNvPr id="7" name="">
            <a:extLst xmlns:a="http://schemas.openxmlformats.org/drawingml/2006/main">
              <a:ext uri="{FF2B5EF4-FFF2-40B4-BE49-F238E27FC236}">
                <a16:creationId xmlns:a16="http://schemas.microsoft.com/office/drawing/2014/main" id="{01D13174-0987-4CE4-ABA7-EA4D8EF028F8}"/>
              </a:ext>
            </a:extLst>
          </p:cNvPr>
          <p:cNvSpPr>
            <a:spLocks xmlns:a="http://schemas.openxmlformats.org/drawingml/2006/main" noGrp="1"/>
          </p:cNvSpPr>
          <p:nvPr/>
        </p:nvSpPr>
        <p:spPr>
          <a:xfrm xmlns:a="http://schemas.openxmlformats.org/drawingml/2006/main">
            <a:off x="609600" y="5943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Results depend on the assumptions. Unsold stock still costs money.</a:t>
            </a:r>
          </a:p>
        </p:txBody>
      </p:sp>
    </p:spTree>
    <p:extLst>
      <p:ext uri="{BB962C8B-B14F-4D97-AF65-F5344CB8AC3E}">
        <p14:creationId xmlns:p14="http://schemas.microsoft.com/office/powerpoint/2010/main" val="1861028394"/>
      </p:ext>
    </p:extLst>
  </p:cSld>
</p:sld>
</file>

<file path=ppt/slides/slide1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EF7C58-50DD-477F-B6EE-DE99BB733B9E}"/>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few practical limits</a:t>
            </a:r>
          </a:p>
        </p:txBody>
      </p:sp>
      <p:sp>
        <p:nvSpPr>
          <p:cNvPr id="2" name="">
            <a:extLst xmlns:a="http://schemas.openxmlformats.org/drawingml/2006/main">
              <a:ext uri="{FF2B5EF4-FFF2-40B4-BE49-F238E27FC236}">
                <a16:creationId xmlns:a16="http://schemas.microsoft.com/office/drawing/2014/main" id="{EBFF59A6-7568-410B-B7EC-87B01CF65598}"/>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A useful addition to your existing Excel workflow.</a:t>
            </a:r>
          </a:p>
        </p:txBody>
      </p:sp>
      <p:sp>
        <p:nvSpPr>
          <p:cNvPr id="3" name="">
            <a:extLst xmlns:a="http://schemas.openxmlformats.org/drawingml/2006/main">
              <a:ext uri="{FF2B5EF4-FFF2-40B4-BE49-F238E27FC236}">
                <a16:creationId xmlns:a16="http://schemas.microsoft.com/office/drawing/2014/main" id="{9643485F-77DC-47AE-A60C-08B08D0ED440}"/>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A2FD95D-F647-46E9-B99E-92020BFCE753}"/>
              </a:ext>
            </a:extLst>
          </p:cNvPr>
          <p:cNvSpPr>
            <a:spLocks xmlns:a="http://schemas.openxmlformats.org/drawingml/2006/main" noGrp="1"/>
          </p:cNvSpPr>
          <p:nvPr/>
        </p:nvSpPr>
        <p:spPr>
          <a:xfrm xmlns:a="http://schemas.openxmlformats.org/drawingml/2006/main">
            <a:off x="609600" y="2657475"/>
            <a:ext cx="2124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Access</a:t>
            </a:r>
          </a:p>
        </p:txBody>
      </p:sp>
      <p:sp>
        <p:nvSpPr>
          <p:cNvPr id="5" name="">
            <a:extLst xmlns:a="http://schemas.openxmlformats.org/drawingml/2006/main">
              <a:ext uri="{FF2B5EF4-FFF2-40B4-BE49-F238E27FC236}">
                <a16:creationId xmlns:a16="http://schemas.microsoft.com/office/drawing/2014/main" id="{958A67B4-52E2-4B3D-A46C-2B26ABF5BF6D}"/>
              </a:ext>
            </a:extLst>
          </p:cNvPr>
          <p:cNvSpPr>
            <a:spLocks xmlns:a="http://schemas.openxmlformats.org/drawingml/2006/main" noGrp="1"/>
          </p:cNvSpPr>
          <p:nvPr/>
        </p:nvSpPr>
        <p:spPr>
          <a:xfrm xmlns:a="http://schemas.openxmlformats.org/drawingml/2006/main">
            <a:off x="3133725" y="2657475"/>
            <a:ext cx="8248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Python in Excel must be enabled in your Excel setup.</a:t>
            </a:r>
          </a:p>
        </p:txBody>
      </p:sp>
      <p:sp>
        <p:nvSpPr>
          <p:cNvPr id="6" name="">
            <a:extLst xmlns:a="http://schemas.openxmlformats.org/drawingml/2006/main">
              <a:ext uri="{FF2B5EF4-FFF2-40B4-BE49-F238E27FC236}">
                <a16:creationId xmlns:a16="http://schemas.microsoft.com/office/drawing/2014/main" id="{51349E8D-8A70-4D64-825B-BF5979CA6507}"/>
              </a:ext>
            </a:extLst>
          </p:cNvPr>
          <p:cNvSpPr>
            <a:spLocks xmlns:a="http://schemas.openxmlformats.org/drawingml/2006/main" noGrp="1"/>
          </p:cNvSpPr>
          <p:nvPr/>
        </p:nvSpPr>
        <p:spPr>
          <a:xfrm xmlns:a="http://schemas.openxmlformats.org/drawingml/2006/main">
            <a:off x="609600" y="3695700"/>
            <a:ext cx="2266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Connection</a:t>
            </a:r>
          </a:p>
        </p:txBody>
      </p:sp>
      <p:sp>
        <p:nvSpPr>
          <p:cNvPr id="7" name="">
            <a:extLst xmlns:a="http://schemas.openxmlformats.org/drawingml/2006/main">
              <a:ext uri="{FF2B5EF4-FFF2-40B4-BE49-F238E27FC236}">
                <a16:creationId xmlns:a16="http://schemas.microsoft.com/office/drawing/2014/main" id="{F1917ABF-2D2C-4D79-A08E-4D25E691181D}"/>
              </a:ext>
            </a:extLst>
          </p:cNvPr>
          <p:cNvSpPr>
            <a:spLocks xmlns:a="http://schemas.openxmlformats.org/drawingml/2006/main" noGrp="1"/>
          </p:cNvSpPr>
          <p:nvPr/>
        </p:nvSpPr>
        <p:spPr>
          <a:xfrm xmlns:a="http://schemas.openxmlformats.org/drawingml/2006/main">
            <a:off x="3133725" y="3695700"/>
            <a:ext cx="8248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The code runs in the cloud and needs internet access.</a:t>
            </a:r>
          </a:p>
        </p:txBody>
      </p:sp>
      <p:sp>
        <p:nvSpPr>
          <p:cNvPr id="8" name="">
            <a:extLst xmlns:a="http://schemas.openxmlformats.org/drawingml/2006/main">
              <a:ext uri="{FF2B5EF4-FFF2-40B4-BE49-F238E27FC236}">
                <a16:creationId xmlns:a16="http://schemas.microsoft.com/office/drawing/2014/main" id="{2FA29220-1A68-41F7-9B48-CF6B1F877FD2}"/>
              </a:ext>
            </a:extLst>
          </p:cNvPr>
          <p:cNvSpPr>
            <a:spLocks xmlns:a="http://schemas.openxmlformats.org/drawingml/2006/main" noGrp="1"/>
          </p:cNvSpPr>
          <p:nvPr/>
        </p:nvSpPr>
        <p:spPr>
          <a:xfrm xmlns:a="http://schemas.openxmlformats.org/drawingml/2006/main">
            <a:off x="609600" y="4743450"/>
            <a:ext cx="2419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Data and charts</a:t>
            </a:r>
          </a:p>
        </p:txBody>
      </p:sp>
      <p:sp>
        <p:nvSpPr>
          <p:cNvPr id="9" name="">
            <a:extLst xmlns:a="http://schemas.openxmlformats.org/drawingml/2006/main">
              <a:ext uri="{FF2B5EF4-FFF2-40B4-BE49-F238E27FC236}">
                <a16:creationId xmlns:a16="http://schemas.microsoft.com/office/drawing/2014/main" id="{7DFEED31-861F-4ED5-B427-09B9A35DFC24}"/>
              </a:ext>
            </a:extLst>
          </p:cNvPr>
          <p:cNvSpPr>
            <a:spLocks xmlns:a="http://schemas.openxmlformats.org/drawingml/2006/main" noGrp="1"/>
          </p:cNvSpPr>
          <p:nvPr/>
        </p:nvSpPr>
        <p:spPr>
          <a:xfrm xmlns:a="http://schemas.openxmlformats.org/drawingml/2006/main">
            <a:off x="3133725" y="4743450"/>
            <a:ext cx="8248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Use worksheet data or Power Query. Python charts appear as images.</a:t>
            </a:r>
          </a:p>
        </p:txBody>
      </p:sp>
    </p:spTree>
    <p:extLst>
      <p:ext uri="{BB962C8B-B14F-4D97-AF65-F5344CB8AC3E}">
        <p14:creationId xmlns:p14="http://schemas.microsoft.com/office/powerpoint/2010/main" val="979325061"/>
      </p:ext>
    </p:extLst>
  </p:cSld>
</p:sld>
</file>

<file path=ppt/slides/slide16.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092EB0-A2EE-46CB-81CB-CC0B88C42899}"/>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Your next question is already in a workbook</a:t>
            </a:r>
          </a:p>
        </p:txBody>
      </p:sp>
      <p:sp>
        <p:nvSpPr>
          <p:cNvPr id="2" name="">
            <a:extLst xmlns:a="http://schemas.openxmlformats.org/drawingml/2006/main">
              <a:ext uri="{FF2B5EF4-FFF2-40B4-BE49-F238E27FC236}">
                <a16:creationId xmlns:a16="http://schemas.microsoft.com/office/drawing/2014/main" id="{4B55FA59-90BA-40BD-A3B9-2E483283FE6C}"/>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E6C44887-9818-4C23-AFA0-540C20E8B992}"/>
              </a:ext>
            </a:extLst>
          </p:cNvPr>
          <p:cNvSpPr>
            <a:spLocks xmlns:a="http://schemas.openxmlformats.org/drawingml/2006/main" noGrp="1"/>
          </p:cNvSpPr>
          <p:nvPr/>
        </p:nvSpPr>
        <p:spPr>
          <a:xfrm xmlns:a="http://schemas.openxmlformats.org/drawingml/2006/main">
            <a:off x="609600" y="2371725"/>
            <a:ext cx="300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One task</a:t>
            </a:r>
          </a:p>
        </p:txBody>
      </p:sp>
      <p:sp>
        <p:nvSpPr>
          <p:cNvPr id="4" name="">
            <a:extLst xmlns:a="http://schemas.openxmlformats.org/drawingml/2006/main">
              <a:ext uri="{FF2B5EF4-FFF2-40B4-BE49-F238E27FC236}">
                <a16:creationId xmlns:a16="http://schemas.microsoft.com/office/drawing/2014/main" id="{1AC26670-31DB-4273-A066-A760436343E9}"/>
              </a:ext>
            </a:extLst>
          </p:cNvPr>
          <p:cNvSpPr>
            <a:spLocks xmlns:a="http://schemas.openxmlformats.org/drawingml/2006/main" noGrp="1"/>
          </p:cNvSpPr>
          <p:nvPr/>
        </p:nvSpPr>
        <p:spPr>
          <a:xfrm xmlns:a="http://schemas.openxmlformats.org/drawingml/2006/main">
            <a:off x="4267200" y="2371725"/>
            <a:ext cx="708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EEECE1"/>
                </a:solidFill>
                <a:latin typeface="Arial"/>
                <a:ea typeface="Arial"/>
                <a:cs typeface="Arial"/>
              </a:defRPr>
            </a:pPr>
            <a:r>
              <a:rPr sz="2400" b="0">
                <a:solidFill>
                  <a:srgbClr val="EEECE1"/>
                </a:solidFill>
                <a:latin typeface="Arial"/>
                <a:ea typeface="Arial"/>
                <a:cs typeface="Arial"/>
              </a:rPr>
              <a:t>A summary you recreate each month.</a:t>
            </a:r>
          </a:p>
        </p:txBody>
      </p:sp>
      <p:sp>
        <p:nvSpPr>
          <p:cNvPr id="5" name="">
            <a:extLst xmlns:a="http://schemas.openxmlformats.org/drawingml/2006/main">
              <a:ext uri="{FF2B5EF4-FFF2-40B4-BE49-F238E27FC236}">
                <a16:creationId xmlns:a16="http://schemas.microsoft.com/office/drawing/2014/main" id="{84BFC2AB-3CDF-4DD5-B54C-2F382D563E32}"/>
              </a:ext>
            </a:extLst>
          </p:cNvPr>
          <p:cNvSpPr>
            <a:spLocks xmlns:a="http://schemas.openxmlformats.org/drawingml/2006/main" noGrp="1"/>
          </p:cNvSpPr>
          <p:nvPr/>
        </p:nvSpPr>
        <p:spPr>
          <a:xfrm xmlns:a="http://schemas.openxmlformats.org/drawingml/2006/main">
            <a:off x="609600" y="3571875"/>
            <a:ext cx="335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One first result</a:t>
            </a:r>
          </a:p>
        </p:txBody>
      </p:sp>
      <p:sp>
        <p:nvSpPr>
          <p:cNvPr id="6" name="">
            <a:extLst xmlns:a="http://schemas.openxmlformats.org/drawingml/2006/main">
              <a:ext uri="{FF2B5EF4-FFF2-40B4-BE49-F238E27FC236}">
                <a16:creationId xmlns:a16="http://schemas.microsoft.com/office/drawing/2014/main" id="{2BA5FD98-B6E6-46EA-8193-C00000C903A6}"/>
              </a:ext>
            </a:extLst>
          </p:cNvPr>
          <p:cNvSpPr>
            <a:spLocks xmlns:a="http://schemas.openxmlformats.org/drawingml/2006/main" noGrp="1"/>
          </p:cNvSpPr>
          <p:nvPr/>
        </p:nvSpPr>
        <p:spPr>
          <a:xfrm xmlns:a="http://schemas.openxmlformats.org/drawingml/2006/main">
            <a:off x="4267200" y="3571875"/>
            <a:ext cx="708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EEECE1"/>
                </a:solidFill>
                <a:latin typeface="Arial"/>
                <a:ea typeface="Arial"/>
                <a:cs typeface="Arial"/>
              </a:defRPr>
            </a:pPr>
            <a:r>
              <a:rPr sz="2400" b="0">
                <a:solidFill>
                  <a:srgbClr val="EEECE1"/>
                </a:solidFill>
                <a:latin typeface="Arial"/>
                <a:ea typeface="Arial"/>
                <a:cs typeface="Arial"/>
              </a:rPr>
              <a:t>A table or chart you can check.</a:t>
            </a:r>
          </a:p>
        </p:txBody>
      </p:sp>
      <p:sp>
        <p:nvSpPr>
          <p:cNvPr id="7" name="">
            <a:extLst xmlns:a="http://schemas.openxmlformats.org/drawingml/2006/main">
              <a:ext uri="{FF2B5EF4-FFF2-40B4-BE49-F238E27FC236}">
                <a16:creationId xmlns:a16="http://schemas.microsoft.com/office/drawing/2014/main" id="{5E8569F1-18FF-4F10-8FFB-40DBA2073DDB}"/>
              </a:ext>
            </a:extLst>
          </p:cNvPr>
          <p:cNvSpPr>
            <a:spLocks xmlns:a="http://schemas.openxmlformats.org/drawingml/2006/main" noGrp="1"/>
          </p:cNvSpPr>
          <p:nvPr/>
        </p:nvSpPr>
        <p:spPr>
          <a:xfrm xmlns:a="http://schemas.openxmlformats.org/drawingml/2006/main">
            <a:off x="609600" y="55530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Write your next step on worksheet page 4.</a:t>
            </a:r>
          </a:p>
        </p:txBody>
      </p:sp>
    </p:spTree>
    <p:extLst>
      <p:ext uri="{BB962C8B-B14F-4D97-AF65-F5344CB8AC3E}">
        <p14:creationId xmlns:p14="http://schemas.microsoft.com/office/powerpoint/2010/main" val="478262654"/>
      </p:ext>
    </p:extLst>
  </p:cSld>
</p:sld>
</file>

<file path=ppt/slides/slide1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2E7722-6EDC-4578-A1A9-20D74E62FC08}"/>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book to help you keep going</a:t>
            </a:r>
          </a:p>
        </p:txBody>
      </p:sp>
      <p:sp>
        <p:nvSpPr>
          <p:cNvPr id="2" name="">
            <a:extLst xmlns:a="http://schemas.openxmlformats.org/drawingml/2006/main">
              <a:ext uri="{FF2B5EF4-FFF2-40B4-BE49-F238E27FC236}">
                <a16:creationId xmlns:a16="http://schemas.microsoft.com/office/drawing/2014/main" id="{1398E84A-3F85-4575-B491-73B6A3D6BF77}"/>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Python in Excel for Data Analytics  /  George Mount  /  Packt</a:t>
            </a:r>
          </a:p>
        </p:txBody>
      </p:sp>
      <p:sp>
        <p:nvSpPr>
          <p:cNvPr id="3" name="">
            <a:extLst xmlns:a="http://schemas.openxmlformats.org/drawingml/2006/main">
              <a:ext uri="{FF2B5EF4-FFF2-40B4-BE49-F238E27FC236}">
                <a16:creationId xmlns:a16="http://schemas.microsoft.com/office/drawing/2014/main" id="{89F40AA0-CF48-4DF1-8107-E7D9A21C265A}"/>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814b799b3f3407d"/>
          <a:stretch xmlns:a="http://schemas.openxmlformats.org/drawingml/2006/main"/>
        </p:blipFill>
        <p:spPr>
          <a:xfrm xmlns:a="http://schemas.openxmlformats.org/drawingml/2006/main">
            <a:off x="8118762" y="2266950"/>
            <a:ext cx="3288725"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9F51C3-D995-4E74-AD1D-62CB487ED765}"/>
              </a:ext>
            </a:extLst>
          </p:cNvPr>
          <p:cNvSpPr>
            <a:spLocks xmlns:a="http://schemas.openxmlformats.org/drawingml/2006/main" noGrp="1"/>
          </p:cNvSpPr>
          <p:nvPr/>
        </p:nvSpPr>
        <p:spPr>
          <a:xfrm xmlns:a="http://schemas.openxmlformats.org/drawingml/2006/main">
            <a:off x="609600" y="26574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Practice the steps</a:t>
            </a:r>
          </a:p>
        </p:txBody>
      </p:sp>
      <p:sp>
        <p:nvSpPr>
          <p:cNvPr id="6" name="">
            <a:extLst xmlns:a="http://schemas.openxmlformats.org/drawingml/2006/main">
              <a:ext uri="{FF2B5EF4-FFF2-40B4-BE49-F238E27FC236}">
                <a16:creationId xmlns:a16="http://schemas.microsoft.com/office/drawing/2014/main" id="{AEFF1E61-A1DE-4804-8A9E-3C36AE967273}"/>
              </a:ext>
            </a:extLst>
          </p:cNvPr>
          <p:cNvSpPr>
            <a:spLocks xmlns:a="http://schemas.openxmlformats.org/drawingml/2006/main" noGrp="1"/>
          </p:cNvSpPr>
          <p:nvPr/>
        </p:nvSpPr>
        <p:spPr>
          <a:xfrm xmlns:a="http://schemas.openxmlformats.org/drawingml/2006/main">
            <a:off x="609600" y="3200400"/>
            <a:ext cx="68484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Work through business examples with downloadable Excel workbooks.</a:t>
            </a:r>
          </a:p>
        </p:txBody>
      </p:sp>
      <p:sp>
        <p:nvSpPr>
          <p:cNvPr id="7" name="">
            <a:extLst xmlns:a="http://schemas.openxmlformats.org/drawingml/2006/main">
              <a:ext uri="{FF2B5EF4-FFF2-40B4-BE49-F238E27FC236}">
                <a16:creationId xmlns:a16="http://schemas.microsoft.com/office/drawing/2014/main" id="{190159E4-8591-4A01-8271-7A95C5B22E33}"/>
              </a:ext>
            </a:extLst>
          </p:cNvPr>
          <p:cNvSpPr>
            <a:spLocks xmlns:a="http://schemas.openxmlformats.org/drawingml/2006/main" noGrp="1"/>
          </p:cNvSpPr>
          <p:nvPr/>
        </p:nvSpPr>
        <p:spPr>
          <a:xfrm xmlns:a="http://schemas.openxmlformats.org/drawingml/2006/main">
            <a:off x="609600" y="45243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Build on today’s foundation</a:t>
            </a:r>
          </a:p>
        </p:txBody>
      </p:sp>
      <p:sp>
        <p:nvSpPr>
          <p:cNvPr id="8" name="">
            <a:extLst xmlns:a="http://schemas.openxmlformats.org/drawingml/2006/main">
              <a:ext uri="{FF2B5EF4-FFF2-40B4-BE49-F238E27FC236}">
                <a16:creationId xmlns:a16="http://schemas.microsoft.com/office/drawing/2014/main" id="{20A29B28-9D8D-4DC6-80E3-F4302ED207FA}"/>
              </a:ext>
            </a:extLst>
          </p:cNvPr>
          <p:cNvSpPr>
            <a:spLocks xmlns:a="http://schemas.openxmlformats.org/drawingml/2006/main" noGrp="1"/>
          </p:cNvSpPr>
          <p:nvPr/>
        </p:nvSpPr>
        <p:spPr>
          <a:xfrm xmlns:a="http://schemas.openxmlformats.org/drawingml/2006/main">
            <a:off x="609600" y="506730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Progress into forecasting, simulation and deeper analysis.</a:t>
            </a:r>
          </a:p>
        </p:txBody>
      </p:sp>
    </p:spTree>
    <p:extLst>
      <p:ext uri="{BB962C8B-B14F-4D97-AF65-F5344CB8AC3E}">
        <p14:creationId xmlns:p14="http://schemas.microsoft.com/office/powerpoint/2010/main" val="1338296617"/>
      </p:ext>
    </p:extLst>
  </p:cSld>
</p:sld>
</file>

<file path=ppt/slides/slide18.xml><?xml version="1.0" encoding="utf-8"?>
<p:sld xmlns:p="http://schemas.openxmlformats.org/presentationml/2006/main">
  <p:cSld>
    <p:bg>
      <p:bgPr>
        <a:solidFill xmlns:a="http://schemas.openxmlformats.org/drawingml/2006/main">
          <a:srgbClr val="CF33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A3ADB0-0FD2-4D78-B63E-49288AFAF6DB}"/>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Preorder your copy</a:t>
            </a:r>
          </a:p>
        </p:txBody>
      </p:sp>
      <p:sp>
        <p:nvSpPr>
          <p:cNvPr id="2" name="">
            <a:extLst xmlns:a="http://schemas.openxmlformats.org/drawingml/2006/main">
              <a:ext uri="{FF2B5EF4-FFF2-40B4-BE49-F238E27FC236}">
                <a16:creationId xmlns:a16="http://schemas.microsoft.com/office/drawing/2014/main" id="{60DAAB99-1F77-4DC9-ABF0-D7C7765C9968}"/>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37E65DFD-630F-4D74-9E14-88D23043E2C0}"/>
              </a:ext>
            </a:extLst>
          </p:cNvPr>
          <p:cNvSpPr>
            <a:spLocks xmlns:a="http://schemas.openxmlformats.org/drawingml/2006/main" noGrp="1"/>
          </p:cNvSpPr>
          <p:nvPr/>
        </p:nvSpPr>
        <p:spPr>
          <a:xfrm xmlns:a="http://schemas.openxmlformats.org/drawingml/2006/main">
            <a:off x="609600" y="2171700"/>
            <a:ext cx="714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Python in Excel</a:t>
            </a:r>
          </a:p>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for Data Analytics</a:t>
            </a:r>
          </a:p>
        </p:txBody>
      </p:sp>
      <p:sp>
        <p:nvSpPr>
          <p:cNvPr id="4" name="">
            <a:extLst xmlns:a="http://schemas.openxmlformats.org/drawingml/2006/main">
              <a:ext uri="{FF2B5EF4-FFF2-40B4-BE49-F238E27FC236}">
                <a16:creationId xmlns:a16="http://schemas.microsoft.com/office/drawing/2014/main" id="{E3ADBF4C-D793-4752-B4A4-8B011390AE0A}"/>
              </a:ext>
            </a:extLst>
          </p:cNvPr>
          <p:cNvSpPr>
            <a:spLocks xmlns:a="http://schemas.openxmlformats.org/drawingml/2006/main" noGrp="1"/>
          </p:cNvSpPr>
          <p:nvPr/>
        </p:nvSpPr>
        <p:spPr>
          <a:xfrm xmlns:a="http://schemas.openxmlformats.org/drawingml/2006/main">
            <a:off x="609600" y="4067175"/>
            <a:ext cx="68770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Open the book page.</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your bookseller.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Reserve the format you prefer.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6423998836b411b"/>
          <a:stretch xmlns:a="http://schemas.openxmlformats.org/drawingml/2006/main"/>
        </p:blipFill>
        <p:spPr>
          <a:xfrm xmlns:a="http://schemas.openxmlformats.org/drawingml/2006/main">
            <a:off x="8601075" y="2238375"/>
            <a:ext cx="2800350" cy="2800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B01516-3951-48F4-992E-2661AC30DD75}"/>
              </a:ext>
            </a:extLst>
          </p:cNvPr>
          <p:cNvSpPr>
            <a:spLocks xmlns:a="http://schemas.openxmlformats.org/drawingml/2006/main" noGrp="1"/>
          </p:cNvSpPr>
          <p:nvPr/>
        </p:nvSpPr>
        <p:spPr>
          <a:xfrm xmlns:a="http://schemas.openxmlformats.org/drawingml/2006/main">
            <a:off x="609600" y="5915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d74d4544fed7434f"/>
              </a:rPr>
              <a:t>stringfestanalytics.com/pyxlda</a:t>
            </a:r>
          </a:p>
        </p:txBody>
      </p:sp>
    </p:spTree>
    <p:extLst>
      <p:ext uri="{BB962C8B-B14F-4D97-AF65-F5344CB8AC3E}">
        <p14:creationId xmlns:p14="http://schemas.microsoft.com/office/powerpoint/2010/main" val="1548304157"/>
      </p:ext>
    </p:extLst>
  </p:cSld>
</p:sld>
</file>

<file path=ppt/slides/slide19.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9B7532-C306-427F-A0DD-CDCED91146C4}"/>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files and replay</a:t>
            </a:r>
          </a:p>
        </p:txBody>
      </p:sp>
      <p:sp>
        <p:nvSpPr>
          <p:cNvPr id="2" name="">
            <a:extLst xmlns:a="http://schemas.openxmlformats.org/drawingml/2006/main">
              <a:ext uri="{FF2B5EF4-FFF2-40B4-BE49-F238E27FC236}">
                <a16:creationId xmlns:a16="http://schemas.microsoft.com/office/drawing/2014/main" id="{029F1827-89BE-40E1-9D53-03C24D72D41E}"/>
              </a:ext>
            </a:extLst>
          </p:cNvPr>
          <p:cNvSpPr>
            <a:spLocks xmlns:a="http://schemas.openxmlformats.org/drawingml/2006/main" noGrp="1"/>
          </p:cNvSpPr>
          <p:nvPr/>
        </p:nvSpPr>
        <p:spPr>
          <a:xfrm xmlns:a="http://schemas.openxmlformats.org/drawingml/2006/main">
            <a:off x="609600" y="16002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Keep practicing with the same workbook and worksheet.</a:t>
            </a:r>
          </a:p>
        </p:txBody>
      </p:sp>
      <p:sp>
        <p:nvSpPr>
          <p:cNvPr id="3" name="">
            <a:extLst xmlns:a="http://schemas.openxmlformats.org/drawingml/2006/main">
              <a:ext uri="{FF2B5EF4-FFF2-40B4-BE49-F238E27FC236}">
                <a16:creationId xmlns:a16="http://schemas.microsoft.com/office/drawing/2014/main" id="{3C46C18D-4DFF-4B23-9F51-A543C07AFBC3}"/>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716FFF0F-A349-46DA-B849-2F742F4D723D}"/>
              </a:ext>
            </a:extLst>
          </p:cNvPr>
          <p:cNvSpPr>
            <a:spLocks xmlns:a="http://schemas.openxmlformats.org/drawingml/2006/main" noGrp="1"/>
          </p:cNvSpPr>
          <p:nvPr/>
        </p:nvSpPr>
        <p:spPr>
          <a:xfrm xmlns:a="http://schemas.openxmlformats.org/drawingml/2006/main">
            <a:off x="609600" y="27241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CF3338"/>
                </a:solidFill>
                <a:latin typeface="Arial"/>
                <a:ea typeface="Arial"/>
                <a:cs typeface="Arial"/>
              </a:defRPr>
            </a:pPr>
            <a:r>
              <a:rPr sz="2775" b="1">
                <a:solidFill>
                  <a:srgbClr val="CF3338"/>
                </a:solidFill>
                <a:latin typeface="Arial"/>
                <a:ea typeface="Arial"/>
                <a:cs typeface="Arial"/>
              </a:rPr>
              <a:t>Free session materials</a:t>
            </a:r>
          </a:p>
        </p:txBody>
      </p:sp>
      <p:sp>
        <p:nvSpPr>
          <p:cNvPr id="5" name="">
            <a:extLst xmlns:a="http://schemas.openxmlformats.org/drawingml/2006/main">
              <a:ext uri="{FF2B5EF4-FFF2-40B4-BE49-F238E27FC236}">
                <a16:creationId xmlns:a16="http://schemas.microsoft.com/office/drawing/2014/main" id="{024A7BE9-3682-4D79-939D-10DF95880470}"/>
              </a:ext>
            </a:extLst>
          </p:cNvPr>
          <p:cNvSpPr>
            <a:spLocks xmlns:a="http://schemas.openxmlformats.org/drawingml/2006/main" noGrp="1"/>
          </p:cNvSpPr>
          <p:nvPr/>
        </p:nvSpPr>
        <p:spPr>
          <a:xfrm xmlns:a="http://schemas.openxmlformats.org/drawingml/2006/main">
            <a:off x="609600" y="36195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CF3338"/>
                </a:solidFill>
                <a:latin typeface="Arial"/>
                <a:ea typeface="Arial"/>
                <a:cs typeface="Arial"/>
              </a:defRPr>
            </a:pPr>
            <a:r>
              <a:rPr>
                <a:hlinkClick xmlns:r="http://schemas.openxmlformats.org/officeDocument/2006/relationships" r:id="R7a725d58cd464747"/>
              </a:rPr>
              <a:t>stringfestdata.gumroad.com/l/pxlaf</a:t>
            </a:r>
          </a:p>
        </p:txBody>
      </p:sp>
      <p:sp>
        <p:nvSpPr>
          <p:cNvPr id="6" name="">
            <a:extLst xmlns:a="http://schemas.openxmlformats.org/drawingml/2006/main">
              <a:ext uri="{FF2B5EF4-FFF2-40B4-BE49-F238E27FC236}">
                <a16:creationId xmlns:a16="http://schemas.microsoft.com/office/drawing/2014/main" id="{6EE84579-AD90-44C9-8D58-44B4F98D10CD}"/>
              </a:ext>
            </a:extLst>
          </p:cNvPr>
          <p:cNvSpPr>
            <a:spLocks xmlns:a="http://schemas.openxmlformats.org/drawingml/2006/main" noGrp="1"/>
          </p:cNvSpPr>
          <p:nvPr/>
        </p:nvSpPr>
        <p:spPr>
          <a:xfrm xmlns:a="http://schemas.openxmlformats.org/drawingml/2006/main">
            <a:off x="609600" y="472440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Today’s recording will appear here after the live session.</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Use the worksheet to repeat the shorter route.</a:t>
            </a:r>
          </a:p>
        </p:txBody>
      </p:sp>
    </p:spTree>
    <p:extLst>
      <p:ext uri="{BB962C8B-B14F-4D97-AF65-F5344CB8AC3E}">
        <p14:creationId xmlns:p14="http://schemas.microsoft.com/office/powerpoint/2010/main" val="105817899"/>
      </p:ext>
    </p:extLst>
  </p:cSld>
</p:sld>
</file>

<file path=ppt/slides/slide20.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524EE3-2FAA-47A1-B950-CE86FD1B1422}"/>
              </a:ext>
            </a:extLst>
          </p:cNvPr>
          <p:cNvSpPr>
            <a:spLocks xmlns:a="http://schemas.openxmlformats.org/drawingml/2006/main" noGrp="1"/>
          </p:cNvSpPr>
          <p:nvPr/>
        </p:nvSpPr>
        <p:spPr>
          <a:xfrm xmlns:a="http://schemas.openxmlformats.org/drawingml/2006/main">
            <a:off x="609600" y="514350"/>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What would you try in your own workbook?</a:t>
            </a:r>
          </a:p>
        </p:txBody>
      </p:sp>
      <p:sp>
        <p:nvSpPr>
          <p:cNvPr id="2" name="">
            <a:extLst xmlns:a="http://schemas.openxmlformats.org/drawingml/2006/main">
              <a:ext uri="{FF2B5EF4-FFF2-40B4-BE49-F238E27FC236}">
                <a16:creationId xmlns:a16="http://schemas.microsoft.com/office/drawing/2014/main" id="{96FA97C8-4023-4789-83C2-719466C13326}"/>
              </a:ext>
            </a:extLst>
          </p:cNvPr>
          <p:cNvSpPr>
            <a:spLocks xmlns:a="http://schemas.openxmlformats.org/drawingml/2006/main" noGrp="1"/>
          </p:cNvSpPr>
          <p:nvPr/>
        </p:nvSpPr>
        <p:spPr>
          <a:xfrm xmlns:a="http://schemas.openxmlformats.org/drawingml/2006/main">
            <a:off x="11258550" y="641985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7394F7F5-396B-4DD1-91D1-CEA86BED8EF6}"/>
              </a:ext>
            </a:extLst>
          </p:cNvPr>
          <p:cNvSpPr>
            <a:spLocks xmlns:a="http://schemas.openxmlformats.org/drawingml/2006/main" noGrp="1"/>
          </p:cNvSpPr>
          <p:nvPr/>
        </p:nvSpPr>
        <p:spPr>
          <a:xfrm xmlns:a="http://schemas.openxmlformats.org/drawingml/2006/main">
            <a:off x="609600" y="24765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Questions and next steps</a:t>
            </a:r>
          </a:p>
        </p:txBody>
      </p:sp>
      <p:sp>
        <p:nvSpPr>
          <p:cNvPr id="4" name="">
            <a:extLst xmlns:a="http://schemas.openxmlformats.org/drawingml/2006/main">
              <a:ext uri="{FF2B5EF4-FFF2-40B4-BE49-F238E27FC236}">
                <a16:creationId xmlns:a16="http://schemas.microsoft.com/office/drawing/2014/main" id="{42290A2A-CCF7-4FEE-93B6-A6486081FC8F}"/>
              </a:ext>
            </a:extLst>
          </p:cNvPr>
          <p:cNvSpPr>
            <a:spLocks xmlns:a="http://schemas.openxmlformats.org/drawingml/2006/main" noGrp="1"/>
          </p:cNvSpPr>
          <p:nvPr/>
        </p:nvSpPr>
        <p:spPr>
          <a:xfrm xmlns:a="http://schemas.openxmlformats.org/drawingml/2006/main">
            <a:off x="609600" y="36861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EEECE1"/>
                </a:solidFill>
                <a:latin typeface="Arial"/>
                <a:ea typeface="Arial"/>
                <a:cs typeface="Arial"/>
              </a:defRPr>
            </a:pPr>
            <a:r>
              <a:rPr sz="2550" b="0">
                <a:solidFill>
                  <a:srgbClr val="EEECE1"/>
                </a:solidFill>
                <a:latin typeface="Arial"/>
                <a:ea typeface="Arial"/>
                <a:cs typeface="Arial"/>
              </a:rPr>
              <a:t>Keep building with</a:t>
            </a:r>
          </a:p>
          <a:p xmlns:a="http://schemas.openxmlformats.org/drawingml/2006/main">
            <a:pPr>
              <a:defRPr sz="2550" b="0">
                <a:solidFill>
                  <a:srgbClr val="EEECE1"/>
                </a:solidFill>
                <a:latin typeface="Arial"/>
                <a:ea typeface="Arial"/>
                <a:cs typeface="Arial"/>
              </a:defRPr>
            </a:pPr>
            <a:r>
              <a:rPr sz="2550" b="0">
                <a:solidFill>
                  <a:srgbClr val="EEECE1"/>
                </a:solidFill>
                <a:latin typeface="Arial"/>
                <a:ea typeface="Arial"/>
                <a:cs typeface="Arial"/>
              </a:rPr>
              <a:t>Python in Excel for Data Analytics</a:t>
            </a:r>
          </a:p>
        </p:txBody>
      </p:sp>
      <p:sp>
        <p:nvSpPr>
          <p:cNvPr id="5" name="">
            <a:extLst xmlns:a="http://schemas.openxmlformats.org/drawingml/2006/main">
              <a:ext uri="{FF2B5EF4-FFF2-40B4-BE49-F238E27FC236}">
                <a16:creationId xmlns:a16="http://schemas.microsoft.com/office/drawing/2014/main" id="{9832B48E-2B4F-47A3-8251-CBCBEE66144F}"/>
              </a:ext>
            </a:extLst>
          </p:cNvPr>
          <p:cNvSpPr>
            <a:spLocks xmlns:a="http://schemas.openxmlformats.org/drawingml/2006/main" noGrp="1"/>
          </p:cNvSpPr>
          <p:nvPr/>
        </p:nvSpPr>
        <p:spPr>
          <a:xfrm xmlns:a="http://schemas.openxmlformats.org/drawingml/2006/main">
            <a:off x="609600" y="5314950"/>
            <a:ext cx="1085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b4fb5c9f5e3549e3"/>
              </a:rPr>
              <a:t>Preorder: stringfestanalytics.com/pyxlda</a:t>
            </a:r>
          </a:p>
        </p:txBody>
      </p:sp>
    </p:spTree>
    <p:extLst>
      <p:ext uri="{BB962C8B-B14F-4D97-AF65-F5344CB8AC3E}">
        <p14:creationId xmlns:p14="http://schemas.microsoft.com/office/powerpoint/2010/main" val="1398619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2026-09-20T21:02:05.3740000Z</dcterms:created>
  <dcterms:modified xsi:type="dcterms:W3CDTF">2026-09-20T21:02:05.3740000Z</dcterms:modified>
</coreProperties>
</file>