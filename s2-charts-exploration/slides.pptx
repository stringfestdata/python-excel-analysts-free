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everybody, and welcome if this is your first one. I am George Mount from Stringfest Analytics, and this is session two of the free Python in Excel series: charts and exploration Excel cannot do alone. The kicker on the screen is the whole idea: charts Excel does not have, drawn inside a cell. Here is the promise for the next forty five minutes. You will make your first seaborn chart, learn the one workflow that gets a picture out of a cell and onto the sheet where people can see it, then make five charts Excel either does not have or makes you fight for. And in the last ten minutes we stop admiring charts and use them the way an analyst does: bin a column, group it, chart the groups, and let a chart raise a question. Excel open, mpg sheet ready. Let me share my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run of show. Three parts, one dataset the whole way through: the mpg table, three hundred and eighty eight cars from the seventies and eighties. Part one is ten minutes and it is mostly about one workflow: the cell says Image, you press a key, you click Create Reference, and you have a linked picture you can resize. Everything after that depends on it, so I go slow. Part two is the fun part: five charts, each one preceded by the Excel way so you feel the difference. Two histograms in one image, box plots, a coloured scatter, a heatmap, small multiples. Part three is a first pass at exploring a dataset: bin, group, chart, layer, and let a chart raise a question. Then the honest limits slide, the book, and session three. Chat is open the whole time and I will pause after each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housekeeping. This is recorded, and the recording plus the workbook go on the free sessions page on Gumroad; the link is on the slide and I am dropping it in chat now. The follow-along workbook has the mpg table already formatted as an Excel table, and the solution workbook has every cell finished, so if you fall behind you can open it and catch up. You need Microsoft 365 with Python in Excel; the only check is the Python group on the Formulas tab. If you do not have it, watch today and set it up afterward with the setup guide in the download. Chat is open, I read it after each part. And the routine you will do eleven times today: Ctrl+Enter to run the cell, Ctrl+Alt+Shift+M to spill it, and Create Reference to float the picture. Say it with me once. Good. Let's 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Excel charts are built by clicking; seaborn charts are built by typing one line, and that one difference is why you can repeat a chart across every column or every group without starting over. Two things happen in this part. First, we draw a bar chart in a cell and I show you why the cell just says the word Image, which confuses everybody the first time. Second, the key move of the whole session: getting that picture out of the cell as a resizable linked image, and then finishing it with a title and labels. Click over to the mpg sheet in the follow-along workbook. We are going to work down column K, well to the right of the table, leaving room for the pictures. I am on mine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mpg sheet, click K1 with me. Ctrl+Alt+Shift+P for a Python cell. First line: mpg_df equals, and instead of typing the rest, click and drag across the mpg table so the formula bar fills in xl, mpg hash All, headers True. Second line: sns dot countplot, x equals origin in quotes, data equals mpg_df. sns is seaborn, already imported for you. Ctrl+Enter, and the first run of the session takes a few seconds while the runtime spins up. Now look at the cell. It says Image. Not a picture, the word Image. This is the same thing that happened in session one when a cell said DataFrame: you are in Python Object view, and Excel is showing you the name of the object, not the contents. The chart is there. Nothing is wrong. Everything in the next slide is about getting it out. One warning: the column names are lowercase, so origin, not Origin, or you get a KeyError.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move. With K1 selected, press Ctrl+Alt+Shift+M. A tiny chart gets squeezed into the cell, and it is unreadable, and that is fine. Now click the cell and look just to its right: a small icon, a picture with a little link symbol. Hover, it says Create Reference. Click it. A big floating copy of the chart appears. Drag a corner to size it, and drag it to sit to the right of your code, around M1. That is a linked picture, the same idea as Excel's old Camera tool. Prove it to yourself: click back into K1, change origin to cylinders, Ctrl+Enter, and watch the floating picture redraw with five bars. Change it back. Two gotchas: the Create Reference icon only appears when the cell is selected and already in Excel Value view, and if you delete the source cell, the picture goes blank. It is a view, not a copy. Code left, picture right; that is how the rest of the session is laid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finishing lines. Click K20, Ctrl+Alt+Shift+P. Same countplot line as before, then three more: plt dot title, in quotes, Number of Vehicles by Region of Origin. plt dot xlabel, Region. plt dot ylabel, Count. plt is matplotlib dot pyplot, and it is already imported, just like sns and pd. The division of labour is simple: seaborn draws the chart, matplotlib finishes it. Ctrl+Enter, Ctrl+Alt+Shift+M, click the picture icon, Create Reference, drag it out to the right. Same bars, now with a title and proper labels. In Excel you would click Chart Elements, tick Chart Title, tick Axis Titles, and type into three boxes. Here it is three lines you can copy onto the next chart, and the next. One more you will see in part two: plt dot figure with figsize equals a width and a height, in rough inches, before the seaborn line, when a chart feels cramped. Questions on the workflow before we go on? This is the part worth pausing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five charts, one slide to set the mental model, because everything in part two follows from it. On the left, the Excel way you already know: Insert, pick a chart type, click through, then Chart Elements to tidy it up. It is fine for one chart. It gets painful the moment you need the same chart for every region, or a chart type that is not on the menu. On the right, the seaborn way. One line, with three arguments that repeat everywhere: x, y, and data. Two knobs that will do most of the work today: hue, which adds a colour per group, and col, which adds a panel per group. Formatting is plt dot something, a line at a time. And a handful of chart types Excel simply does not offer: annotated heatmaps, faceted grids, layered plots. Hold onto hue and col; you will see them again and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and this is the reason you came. Five charts. Each one is a single Python cell, each one is either not on Excel's chart menu or takes real fighting to build there, and for each one I will tell you the Excel way first, so you feel the difference. The routine is the same every time and I will call it out: Ctrl+Enter to run, Ctrl+Alt+Shift+M to spill, click the icon, Create Reference, drag it to the right of the code. Keep working down column K, about twenty rows apart, so the pictures do not pile up on each other. Type along for the first two or three; if you fall behind on the last ones, just watch, the code is in the solution workbook. mpg_df from K1 is live for every cell below it, because Python cells run in reading order. Here we go.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K40, Ctrl+Alt+Shift+P. Type sns dot histplot, x equals mpg, data equals mpg_df. Ctrl+Enter, then Ctrl+Alt+Shift+M and Create Reference. That is a histogram with sensible bins chosen for you; in Excel it is Insert, Statistic Chart, Histogram, then a fight with the bin width. Add bins equals 10 inside the parentheses and re-run: same data, coarser view. Bins equals 35: finer. That one argument is the whole story of a histogram, and it is the thing Excel makes hardest to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one, and it is a single line, so let's all type it. Excel does have a Box and Whisker chart, since 2016. What it will not do is take a category column and split for you: you end up building three ranges, one per origin, and pointing the chart at those. Click K60, Ctrl+Alt+Shift+P. sns dot boxplot, x origin, y mpg, data mpg_df. Ctrl+Enter, Ctrl+Alt+Shift+M, Create Reference. Three boxes. Reading a box: the box is the middle fifty percent of cars, the line inside is the median, the whiskers cover most of the rest, and any dots beyond the whiskers are candidate outliers. Japan's median is highest, around thirty four. The US is lowest and it has a few dots above its whisker, which I want you to remember for part three. Histograms show shape; box plots compare groups. sns dot violinplot and sns dot stripplot take exactly the same three arguments, so try them after.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one, also one line. Weight against fuel economy. The Excel XY Scatter can do this for one series easily, but the moment you want a colour per region you are splitting the table into three ranges and adding three series by hand. Click K80, Ctrl+Alt+Shift+P. sns dot scatterplot, x weight, y mpg, hue origin, data mpg_df. Ctrl+Enter, Ctrl+Alt+Shift+M, Create Reference. A downward cloud, heavier means thirstier everywhere, and now with a colour legend: Japan light and efficient down in the corner, US heavy and thirsty on the right, Europe in between. That one argument, hue, is your add-a-category knob, and it works on nearly every seaborn function: histplot, boxplot, lineplot, all of them. Try two things later. Delete hue and see the plain version. Then set hue to cylinders and watch the legend become a colour ramp, because cylinders is a number, not a category.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one, and this is a chart Excel does not have at all. A correlation heatmap. The Excel way is CORREL for every pair of columns, or the ToolPak Correlation dialog, and then a Conditional Formatting colour scale over the block, and it never updates. Click K100, Ctrl+Alt+Shift+P, into the Editor pane. sns dot heatmap, open paren, and inside it the data: mpg_df dot corr, numeric_only equals True, which skips the origin column, because correlating text is an error. Then annot equals True to print the numbers, fmt equals point two f for two decimals, cmap equals coolwarm so positive is red and negative is blue. Ctrl+Enter, Ctrl+Alt+Shift+M, Create Reference. A coloured square with a number in every cell. Weight and mpg strongly negative, about minus point eight. Displacement and cylinders strongly positive. The heatmap gives you one number per pair; the scatter gives you the shape. Spot a pair here, then draw the scatter. And on its own, mpg_df dot corr is a DataFrame that spills into the grid.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Fifth one: small multiples, the chart type Edward Tufte made famous, and the one Excel makes you fake by copying a chart per filter value and lining them up. Click K120, Ctrl+Alt+Shift+P, Editor pane. Two steps. Step one defines the split: g equals sns dot FacetGrid, mpg_df, col equals origin. One panel per origin. Step two maps a chart onto every panel: g dot map, plt dot scatter, then the two column names as plain strings, model_year, mpg. Note that g dot map takes the names in order, not x equals and y equals. Ctrl+Enter, wait a few seconds because facet grids are slower, Ctrl+Alt+Shift+M, Create Reference, drag it wide. Three scatter panels, same axes: every region improves over the years, Japan starts higher, the US is more spread. Now the trick: add row equals cylinders to the FacetGrid line and re-run. A tall grid, and the empty panels are information: there are no eight cylinder Japanese cars. Questions before part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is one cell, and it is my favourite. Small multiples: the same chart repeated once per group, with shared axes, so your eye compares instead of your hands rebuilding. In Excel you copy a chart, change the filter, line them up and hope the axes match. Here it is two lines. Click K120, and let's type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slide, because I would rather you hear the limits from me than hit them on Monday. First, every chart you saw today is a static picture. It is live, and it is linked, but there is no hover tooltip and no clicking a bar to drill in; for that you still want a PivotChart or Power BI. Second, there is no refresh button on the picture itself. You change the code or the data in the source cell and re-run, and the reference redraws; if a chart looks stale, check that you edited the cell and not clicked the picture. Third, the heavy ones are slow. Pair plots, lmplot, a row by column FacetGrid: a few seconds each on standard compute, and the cell shows BUSY while it works. Fourth, formatting is code. There is no Chart Elements pane; if you want a title, you type plt dot title. A feature with ten charts, a nuisance with one. And fifth, delete the source cell and the picture goes blank. It is a view, not a copy.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session on one slide. One workflow you will use for every chart from now on: Ctrl+Enter, Ctrl+Alt+Shift+M, Create Reference, drag it to size. Two knobs that did most of the work: hue, a colour per group, and col, a panel per group. Five charts Excel cannot draw on its own: a histogram with bins you control, box plots straight from a category column, a scatter coloured by group, an annotated correlation heatmap, and small multiples with FacetGrid. Seven Python cells on one dataset, and you typed every one. Chapters 3 and 4 of the book have the rest of the gallery and the exploration loop that uses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the book itself, here is the honest map. On the left is what you actually typed today. On the right is what is waiting in the book that we did not have time for. The most common question after a session like this is 'okay, but how do I do X on my data', and X is almost always on this list. Every technique on the right is a full chapter with a companion workbook, written for exactly the person in this room: comfortable in Excel, new to Python. The next slide has the link.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saw today comes straight out of my book, Python in Excel for Data Analysis, from Packt, and specifically Chapters 3 and 4. Chapter 3 is the seaborn chapter: the countplot, the Image workflow, histograms, box plots, scatter and hue, pair plots, the heatmap, regression lines and FacetGrid, all with the mpg data you used today. Chapter 4 is the exploration workflow: the data-quality table, drop versus fill for missing values, pd dot cut, calculated columns, cross-tabs, the grouped bar chart, the layered plot, and then the outlier question we left hanging today, answered with an IQR filter and a highlighted scatter. If today felt like the trailer, those two chapters are the movie, with the exercises and the explanations I skipped to fit forty-five minutes. The link is on the slide and in the chat: stringfestanalytics dot com slash pyxlda. If you buy one thing after this session, buy the book, work through Chapters 3 and 4 with the files, and you will be drawing these on your own data by next weekend.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session two of four free sessions. Session three is called From trendline to real forecast, and it takes the one thing everybody does in Excel, right-click a chart and add a trendline, and shows you what a real forecast looks like: a seasonal decomposition, exponential smoothing, and a forecast that keeps the trend and the yearly wave instead of drawing a straight line. Session four is simulation and building workbooks a manager can actually use. Everything is free, everything is recorded, and the follow-along workbooks are all in one place: stringfestdata dot gumroad dot com slash pxlaf. Grab that now if you have not; it has today's finished workbook with all eleven cells solved and every picture placed, plus the setup guide, and session one if you missed it. The repo link on the slide has the same files. Register for session three from the same page and I will see you there.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session. Thank you for typing along, and thank you for the questions in chat; I will stay on for a few minutes to take any I missed. Two asks before you go. Open the follow-along workbook this week, take one chart from today, and point it at a table of your own: change the x, the y and the hue, and see what your data looks like when it is not in a PivotChart. It will not be pretty the first time, and that is exactly the point. And if it clicked, pick up the book, read Chapters 3 and 4, and come to session three. I am George Mount, this was Stringfest Analytics, and the next time somebody says Excel does not have that chart, you know what to say. Thanks, everybody.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1737360"/>
            <a:ext cx="7223760" cy="3840480"/>
          </a:xfrm>
          <a:prstGeom prst="rect">
            <a:avLst/>
          </a:prstGeom>
          <a:noFill/>
        </p:spPr>
        <p:txBody>
          <a:bodyPr wrap="square" lIns="0" rIns="0" tIns="0" bIns="0">
            <a:spAutoFit/>
          </a:bodyPr>
          <a:lstStyle/>
          <a:p>
            <a:r>
              <a:rPr sz="1400" b="1" i="0">
                <a:solidFill>
                  <a:srgbClr val="CF3338"/>
                </a:solidFill>
                <a:latin typeface="Arial Black"/>
              </a:rPr>
              <a:t>FREE LIVE SESSION</a:t>
            </a:r>
          </a:p>
          <a:p>
            <a:r>
              <a:rPr sz="1500" b="0" i="1">
                <a:solidFill>
                  <a:srgbClr val="707070"/>
                </a:solidFill>
                <a:latin typeface="Arial"/>
              </a:rPr>
              <a:t>Charts Excel doesn't have, in a cell</a:t>
            </a:r>
          </a:p>
          <a:p>
            <a:pPr>
              <a:spcBef>
                <a:spcPts val="1000"/>
              </a:spcBef>
            </a:pPr>
            <a:r>
              <a:rPr sz="3000" b="1" i="0">
                <a:solidFill>
                  <a:srgbClr val="CF3338"/>
                </a:solidFill>
                <a:latin typeface="Arial Black"/>
              </a:rPr>
              <a:t>Python in Excel:</a:t>
            </a:r>
          </a:p>
          <a:p>
            <a:r>
              <a:rPr sz="3400" b="1" i="0">
                <a:solidFill>
                  <a:srgbClr val="1F2120"/>
                </a:solidFill>
                <a:latin typeface="Arial Black"/>
              </a:rPr>
              <a:t>Charts and exploration Excel can't do alone</a:t>
            </a:r>
          </a:p>
          <a:p>
            <a:pPr>
              <a:spcBef>
                <a:spcPts val="1400"/>
              </a:spcBef>
            </a:pPr>
            <a:r>
              <a:rPr sz="1800" b="0" i="0">
                <a:solidFill>
                  <a:srgbClr val="707070"/>
                </a:solidFill>
                <a:latin typeface="Arial"/>
              </a:rPr>
              <a:t>Get a Python chart out of the cell, then make five more Excel can't.</a:t>
            </a:r>
          </a:p>
        </p:txBody>
      </p:sp>
      <p:sp>
        <p:nvSpPr>
          <p:cNvPr id="3" name="TextBox 2"/>
          <p:cNvSpPr txBox="1"/>
          <p:nvPr/>
        </p:nvSpPr>
        <p:spPr>
          <a:xfrm>
            <a:off x="640080" y="6172200"/>
            <a:ext cx="7498079" cy="457200"/>
          </a:xfrm>
          <a:prstGeom prst="rect">
            <a:avLst/>
          </a:prstGeom>
          <a:noFill/>
        </p:spPr>
        <p:txBody>
          <a:bodyPr wrap="square" lIns="0" rIns="0" tIns="0" bIns="0">
            <a:spAutoFit/>
          </a:bodyPr>
          <a:lstStyle/>
          <a:p>
            <a:r>
              <a:rPr sz="1100" b="0" i="1">
                <a:solidFill>
                  <a:srgbClr val="707070"/>
                </a:solidFill>
                <a:latin typeface="Arial"/>
              </a:rPr>
              <a:t>45 minutes  ·  recorded and posted to the free sessions on Gumroad  ·  George Mount, Stringfest Analytics</a:t>
            </a:r>
          </a:p>
        </p:txBody>
      </p:sp>
      <p:pic>
        <p:nvPicPr>
          <p:cNvPr id="4" name="Picture 3" descr="book-cover.png"/>
          <p:cNvPicPr>
            <a:picLocks noChangeAspect="1"/>
          </p:cNvPicPr>
          <p:nvPr/>
        </p:nvPicPr>
        <p:blipFill>
          <a:blip r:embed="rId2"/>
          <a:stretch>
            <a:fillRect/>
          </a:stretch>
        </p:blipFill>
        <p:spPr>
          <a:xfrm>
            <a:off x="7458120" y="960120"/>
            <a:ext cx="4002054" cy="4937760"/>
          </a:xfrm>
          <a:prstGeom prst="rect">
            <a:avLst/>
          </a:prstGeom>
        </p:spPr>
      </p:pic>
      <p:sp>
        <p:nvSpPr>
          <p:cNvPr id="5" name="TextBox 4"/>
          <p:cNvSpPr txBox="1"/>
          <p:nvPr/>
        </p:nvSpPr>
        <p:spPr>
          <a:xfrm>
            <a:off x="7458120" y="5989320"/>
            <a:ext cx="4002054" cy="457200"/>
          </a:xfrm>
          <a:prstGeom prst="rect">
            <a:avLst/>
          </a:prstGeom>
          <a:noFill/>
        </p:spPr>
        <p:txBody>
          <a:bodyPr wrap="square" lIns="0" rIns="0" tIns="0" bIns="0">
            <a:spAutoFit/>
          </a:bodyPr>
          <a:lstStyle/>
          <a:p>
            <a:pPr algn="l"/>
            <a:r>
              <a:rPr sz="1100" b="0" i="1">
                <a:solidFill>
                  <a:srgbClr val="707070"/>
                </a:solidFill>
                <a:latin typeface="Arial"/>
              </a:rPr>
              <a:t>built around the 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we'll do today</a:t>
            </a:r>
          </a:p>
          <a:p>
            <a:pPr>
              <a:spcBef>
                <a:spcPts val="400"/>
              </a:spcBef>
            </a:pPr>
            <a:r>
              <a:rPr sz="1500" b="0" i="1">
                <a:solidFill>
                  <a:srgbClr val="CF3338"/>
                </a:solidFill>
                <a:latin typeface="Arial"/>
              </a:rPr>
              <a:t>One dataset, eleven cells, six charts Excel can't draw on its own</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Part 1: Your first seaborn chart, and getting it out of the cell (8 min, 2 short cells, we type them together)</a:t>
            </a:r>
          </a:p>
          <a:p>
            <a:pPr>
              <a:spcAft>
                <a:spcPts val="700"/>
              </a:spcAft>
            </a:pPr>
            <a:r>
              <a:rPr sz="1200" b="1" i="0">
                <a:solidFill>
                  <a:srgbClr val="CF3338"/>
                </a:solidFill>
                <a:latin typeface="Arial"/>
              </a:rPr>
              <a:t>▶  </a:t>
            </a:r>
            <a:r>
              <a:rPr sz="1600" b="0" i="0">
                <a:solidFill>
                  <a:srgbClr val="1F2120"/>
                </a:solidFill>
                <a:latin typeface="Arial"/>
              </a:rPr>
              <a:t>Part 2: Charts Excel doesn't have (13 min, 4 short cells, we type them together)</a:t>
            </a:r>
          </a:p>
          <a:p>
            <a:pPr>
              <a:spcAft>
                <a:spcPts val="700"/>
              </a:spcAft>
            </a:pPr>
            <a:r>
              <a:rPr sz="1200" b="1" i="0">
                <a:solidFill>
                  <a:srgbClr val="CF3338"/>
                </a:solidFill>
                <a:latin typeface="Arial"/>
              </a:rPr>
              <a:t>▶  </a:t>
            </a:r>
            <a:r>
              <a:rPr sz="1600" b="0" i="0">
                <a:solidFill>
                  <a:srgbClr val="1F2120"/>
                </a:solidFill>
                <a:latin typeface="Arial"/>
              </a:rPr>
              <a:t>Part 3: One grid of charts (6 min, 1 short cells, we type them together)</a:t>
            </a:r>
          </a:p>
          <a:p>
            <a:pPr>
              <a:spcAft>
                <a:spcPts val="700"/>
              </a:spcAft>
            </a:pPr>
            <a:r>
              <a:rPr sz="1200" b="1" i="0">
                <a:solidFill>
                  <a:srgbClr val="CF3338"/>
                </a:solidFill>
                <a:latin typeface="Arial"/>
              </a:rPr>
              <a:t>▶  </a:t>
            </a:r>
            <a:r>
              <a:rPr sz="1600" b="0" i="0">
                <a:solidFill>
                  <a:srgbClr val="1F2120"/>
                </a:solidFill>
                <a:latin typeface="Arial"/>
              </a:rPr>
              <a:t>Every cell is one idea and a few lines; the code is printed in your follow-along workbook if you fall behind</a:t>
            </a:r>
          </a:p>
          <a:p>
            <a:pPr>
              <a:spcAft>
                <a:spcPts val="700"/>
              </a:spcAft>
            </a:pPr>
            <a:r>
              <a:rPr sz="1200" b="1" i="0">
                <a:solidFill>
                  <a:srgbClr val="CF3338"/>
                </a:solidFill>
                <a:latin typeface="Arial"/>
              </a:rPr>
              <a:t>▶  </a:t>
            </a:r>
            <a:r>
              <a:rPr sz="1600" b="0" i="0">
                <a:solidFill>
                  <a:srgbClr val="1F2120"/>
                </a:solidFill>
                <a:latin typeface="Arial"/>
              </a:rPr>
              <a:t>What it can't do yet, what else is in the book, where to go next</a:t>
            </a:r>
          </a:p>
          <a:p>
            <a:pPr>
              <a:spcAft>
                <a:spcPts val="700"/>
              </a:spcAft>
            </a:pPr>
            <a:r>
              <a:rPr sz="1200" b="1" i="0">
                <a:solidFill>
                  <a:srgbClr val="CF3338"/>
                </a:solidFill>
                <a:latin typeface="Arial"/>
              </a:rPr>
              <a:t>▶  </a:t>
            </a:r>
            <a:r>
              <a:rPr sz="1600" b="0" i="0">
                <a:solidFill>
                  <a:srgbClr val="1F2120"/>
                </a:solidFill>
                <a:latin typeface="Arial"/>
              </a:rPr>
              <a:t>Questions any time in the chat; I pause after each 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Housekeeping</a:t>
            </a:r>
          </a:p>
        </p:txBody>
      </p:sp>
      <p:sp>
        <p:nvSpPr>
          <p:cNvPr id="3" name="TextBox 2"/>
          <p:cNvSpPr txBox="1"/>
          <p:nvPr/>
        </p:nvSpPr>
        <p:spPr>
          <a:xfrm>
            <a:off x="640080" y="15544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This session is recorded and posted to the free sessions page on Gumroad</a:t>
            </a:r>
          </a:p>
          <a:p>
            <a:pPr>
              <a:spcAft>
                <a:spcPts val="700"/>
              </a:spcAft>
            </a:pPr>
            <a:r>
              <a:rPr sz="1200" b="1" i="0">
                <a:solidFill>
                  <a:srgbClr val="CF3338"/>
                </a:solidFill>
                <a:latin typeface="Arial"/>
              </a:rPr>
              <a:t>▶  </a:t>
            </a:r>
            <a:r>
              <a:rPr sz="1600" b="0" i="0">
                <a:solidFill>
                  <a:srgbClr val="1F2120"/>
                </a:solidFill>
                <a:latin typeface="Arial"/>
              </a:rPr>
              <a:t>The follow-along workbook is at stringfestdata.gumroad.com/l/pxlaf (free; the mpg table is already in it)</a:t>
            </a:r>
          </a:p>
          <a:p>
            <a:pPr>
              <a:spcAft>
                <a:spcPts val="700"/>
              </a:spcAft>
            </a:pPr>
            <a:r>
              <a:rPr sz="1200" b="1" i="0">
                <a:solidFill>
                  <a:srgbClr val="CF3338"/>
                </a:solidFill>
                <a:latin typeface="Arial"/>
              </a:rPr>
              <a:t>▶  </a:t>
            </a:r>
            <a:r>
              <a:rPr sz="1600" b="0" i="0">
                <a:solidFill>
                  <a:srgbClr val="1F2120"/>
                </a:solidFill>
                <a:latin typeface="Arial"/>
              </a:rPr>
              <a:t>You need Microsoft 365 with Python in Excel: check for the Python group on the Formulas tab</a:t>
            </a:r>
          </a:p>
          <a:p>
            <a:pPr>
              <a:spcAft>
                <a:spcPts val="700"/>
              </a:spcAft>
            </a:pPr>
            <a:r>
              <a:rPr sz="1200" b="1" i="0">
                <a:solidFill>
                  <a:srgbClr val="CF3338"/>
                </a:solidFill>
                <a:latin typeface="Arial"/>
              </a:rPr>
              <a:t>▶  </a:t>
            </a:r>
            <a:r>
              <a:rPr sz="1600" b="0" i="0">
                <a:solidFill>
                  <a:srgbClr val="1F2120"/>
                </a:solidFill>
                <a:latin typeface="Arial"/>
              </a:rPr>
              <a:t>Ask questions in the chat any time; I will pause after each part</a:t>
            </a:r>
          </a:p>
          <a:p>
            <a:pPr>
              <a:spcAft>
                <a:spcPts val="700"/>
              </a:spcAft>
            </a:pPr>
            <a:r>
              <a:rPr sz="1200" b="1" i="0">
                <a:solidFill>
                  <a:srgbClr val="CF3338"/>
                </a:solidFill>
                <a:latin typeface="Arial"/>
              </a:rPr>
              <a:t>▶  </a:t>
            </a:r>
            <a:r>
              <a:rPr sz="1600" b="0" i="0">
                <a:solidFill>
                  <a:srgbClr val="1F2120"/>
                </a:solidFill>
                <a:latin typeface="Arial"/>
              </a:rPr>
              <a:t>Today's routine for every chart: Ctrl+Enter to run, Ctrl+Alt+Shift+M to spill, Create Reference to float the picture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1</a:t>
            </a:r>
          </a:p>
          <a:p>
            <a:pPr>
              <a:spcBef>
                <a:spcPts val="800"/>
              </a:spcBef>
            </a:pPr>
            <a:r>
              <a:rPr sz="3600" b="1" i="0">
                <a:solidFill>
                  <a:srgbClr val="FFFFFF"/>
                </a:solidFill>
                <a:latin typeface="Arial Black"/>
              </a:rPr>
              <a:t>Your first seaborn chart, and getting it out of the cell</a:t>
            </a:r>
          </a:p>
          <a:p>
            <a:pPr>
              <a:spcBef>
                <a:spcPts val="1400"/>
              </a:spcBef>
            </a:pPr>
            <a:r>
              <a:rPr sz="1800" b="0" i="0">
                <a:solidFill>
                  <a:srgbClr val="FFFFFF"/>
                </a:solidFill>
                <a:latin typeface="Arial"/>
              </a:rPr>
              <a:t>The cell says Image. Here is what to do about that.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Load the table and draw a bar chart</a:t>
            </a:r>
          </a:p>
          <a:p>
            <a:pPr>
              <a:spcBef>
                <a:spcPts val="300"/>
              </a:spcBef>
            </a:pPr>
            <a:r>
              <a:rPr sz="1450" b="0" i="1">
                <a:solidFill>
                  <a:srgbClr val="707070"/>
                </a:solidFill>
                <a:latin typeface="Arial"/>
              </a:rPr>
              <a:t>Type along:  On the mpg sheet, click K1, well to the right of the table. Press Ctrl+Alt+Shift+P, type mpg_df = and click-drag the mpg table so xl() autocompletes. On the second line, ask seaborn to count the rows per origin and draw the bars. Ctrl+Enter.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mpg_df = xl("mpg[#All]", headers=True)</a:t>
            </a:r>
          </a:p>
          <a:p>
            <a:pPr algn="l">
              <a:spcAft>
                <a:spcPts val="100"/>
              </a:spcAft>
            </a:pPr>
            <a:r>
              <a:rPr sz="1300" b="0" i="0">
                <a:solidFill>
                  <a:srgbClr val="F5F5F5"/>
                </a:solidFill>
                <a:latin typeface="Consolas"/>
              </a:rPr>
              <a:t>sns.countplot(x='origin', data=mpg_df)</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Image is the object name, like DataFrame was: the chart is there, Excel is showing you the box.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Getting the chart out of the cell</a:t>
            </a:r>
          </a:p>
          <a:p>
            <a:pPr>
              <a:spcBef>
                <a:spcPts val="400"/>
              </a:spcBef>
            </a:pPr>
            <a:r>
              <a:rPr sz="1500" b="0" i="1">
                <a:solidFill>
                  <a:srgbClr val="CF3338"/>
                </a:solidFill>
                <a:latin typeface="Arial"/>
              </a:rPr>
              <a:t>The move you will make for every chart today</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Ctrl+Alt+Shift+M (or Excel Value in the Python Output dropdown): a tiny chart is squeezed into the cell</a:t>
            </a:r>
          </a:p>
          <a:p>
            <a:pPr>
              <a:spcAft>
                <a:spcPts val="700"/>
              </a:spcAft>
            </a:pPr>
            <a:r>
              <a:rPr sz="1200" b="1" i="0">
                <a:solidFill>
                  <a:srgbClr val="CF3338"/>
                </a:solidFill>
                <a:latin typeface="Arial"/>
              </a:rPr>
              <a:t>▶  </a:t>
            </a:r>
            <a:r>
              <a:rPr sz="1600" b="0" i="0">
                <a:solidFill>
                  <a:srgbClr val="1F2120"/>
                </a:solidFill>
                <a:latin typeface="Arial"/>
              </a:rPr>
              <a:t>Click the cell, point at the small picture icon to its right, click Create Reference</a:t>
            </a:r>
          </a:p>
          <a:p>
            <a:pPr>
              <a:spcAft>
                <a:spcPts val="700"/>
              </a:spcAft>
            </a:pPr>
            <a:r>
              <a:rPr sz="1200" b="1" i="0">
                <a:solidFill>
                  <a:srgbClr val="CF3338"/>
                </a:solidFill>
                <a:latin typeface="Arial"/>
              </a:rPr>
              <a:t>▶  </a:t>
            </a:r>
            <a:r>
              <a:rPr sz="1600" b="0" i="0">
                <a:solidFill>
                  <a:srgbClr val="1F2120"/>
                </a:solidFill>
                <a:latin typeface="Arial"/>
              </a:rPr>
              <a:t>A large floating copy appears: drag a corner to resize, park it to the right of the code</a:t>
            </a:r>
          </a:p>
          <a:p>
            <a:pPr>
              <a:spcAft>
                <a:spcPts val="700"/>
              </a:spcAft>
            </a:pPr>
            <a:r>
              <a:rPr sz="1200" b="1" i="0">
                <a:solidFill>
                  <a:srgbClr val="CF3338"/>
                </a:solidFill>
                <a:latin typeface="Arial"/>
              </a:rPr>
              <a:t>▶  </a:t>
            </a:r>
            <a:r>
              <a:rPr sz="1600" b="0" i="0">
                <a:solidFill>
                  <a:srgbClr val="1F2120"/>
                </a:solidFill>
                <a:latin typeface="Arial"/>
              </a:rPr>
              <a:t>It is a linked picture: change the code or the data in the source cell and it redraws</a:t>
            </a:r>
          </a:p>
          <a:p>
            <a:pPr>
              <a:spcAft>
                <a:spcPts val="700"/>
              </a:spcAft>
            </a:pPr>
            <a:r>
              <a:rPr sz="1200" b="1" i="0">
                <a:solidFill>
                  <a:srgbClr val="CF3338"/>
                </a:solidFill>
                <a:latin typeface="Arial"/>
              </a:rPr>
              <a:t>▶  </a:t>
            </a:r>
            <a:r>
              <a:rPr sz="1600" b="0" i="0">
                <a:solidFill>
                  <a:srgbClr val="1F2120"/>
                </a:solidFill>
                <a:latin typeface="Arial"/>
              </a:rPr>
              <a:t>Prove it: edit K1 to x='cylinders', Ctrl+Enter, watch the picture change, then change it 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Title and axis labels</a:t>
            </a:r>
          </a:p>
          <a:p>
            <a:pPr>
              <a:spcBef>
                <a:spcPts val="300"/>
              </a:spcBef>
            </a:pPr>
            <a:r>
              <a:rPr sz="1450" b="0" i="1">
                <a:solidFill>
                  <a:srgbClr val="707070"/>
                </a:solidFill>
                <a:latin typeface="Arial"/>
              </a:rPr>
              <a:t>Type along:  Click K20. seaborn draws, matplotlib finishes: plt is matplotlib.pyplot, already imported. Type the chart line and then three finishing lines. Ctrl+Enter, Ctrl+Alt+Shift+M, then Create Reference and drag the corner to size it.</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sns.countplot(x='origin', data=mpg_df)</a:t>
            </a:r>
          </a:p>
          <a:p>
            <a:pPr algn="l">
              <a:spcAft>
                <a:spcPts val="100"/>
              </a:spcAft>
            </a:pPr>
            <a:r>
              <a:rPr sz="1300" b="0" i="0">
                <a:solidFill>
                  <a:srgbClr val="F5F5F5"/>
                </a:solidFill>
                <a:latin typeface="Consolas"/>
              </a:rPr>
              <a:t>plt.title('Number of Vehicles by Region of Origin')</a:t>
            </a:r>
          </a:p>
          <a:p>
            <a:pPr algn="l">
              <a:spcAft>
                <a:spcPts val="100"/>
              </a:spcAft>
            </a:pPr>
            <a:r>
              <a:rPr sz="1300" b="0" i="0">
                <a:solidFill>
                  <a:srgbClr val="F5F5F5"/>
                </a:solidFill>
                <a:latin typeface="Consolas"/>
              </a:rPr>
              <a:t>plt.xlabel('Region')</a:t>
            </a:r>
          </a:p>
          <a:p>
            <a:pPr algn="l">
              <a:spcAft>
                <a:spcPts val="100"/>
              </a:spcAft>
            </a:pPr>
            <a:r>
              <a:rPr sz="1300" b="0" i="0">
                <a:solidFill>
                  <a:srgbClr val="F5F5F5"/>
                </a:solidFill>
                <a:latin typeface="Consolas"/>
              </a:rPr>
              <a:t>plt.ylabel('Count')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seaborn draws, matplotlib finishes: title, xlabel, ylabel on almost every chart.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005840"/>
          </a:xfrm>
          <a:prstGeom prst="rect">
            <a:avLst/>
          </a:prstGeom>
          <a:noFill/>
        </p:spPr>
        <p:txBody>
          <a:bodyPr wrap="square" lIns="0" rIns="0" tIns="0" bIns="0">
            <a:spAutoFit/>
          </a:bodyPr>
          <a:lstStyle/>
          <a:p>
            <a:r>
              <a:rPr sz="3000" b="1" i="0">
                <a:solidFill>
                  <a:srgbClr val="1F2120"/>
                </a:solidFill>
                <a:latin typeface="Arial Black"/>
              </a:rPr>
              <a:t>Excel chart, seaborn chart</a:t>
            </a:r>
          </a:p>
        </p:txBody>
      </p:sp>
      <p:sp>
        <p:nvSpPr>
          <p:cNvPr id="3" name="Rounded Rectangle 2"/>
          <p:cNvSpPr/>
          <p:nvPr/>
        </p:nvSpPr>
        <p:spPr>
          <a:xfrm>
            <a:off x="64008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57400"/>
            <a:ext cx="4617720" cy="3931920"/>
          </a:xfrm>
          <a:prstGeom prst="rect">
            <a:avLst/>
          </a:prstGeom>
          <a:noFill/>
        </p:spPr>
        <p:txBody>
          <a:bodyPr wrap="square" lIns="0" rIns="0" tIns="0" bIns="0">
            <a:spAutoFit/>
          </a:bodyPr>
          <a:lstStyle/>
          <a:p>
            <a:r>
              <a:rPr sz="1800" b="1" i="0">
                <a:solidFill>
                  <a:srgbClr val="CF3338"/>
                </a:solidFill>
                <a:latin typeface="Arial Black"/>
              </a:rPr>
              <a:t>In Excel</a:t>
            </a:r>
          </a:p>
          <a:p>
            <a:pPr>
              <a:spcBef>
                <a:spcPts val="700"/>
              </a:spcBef>
            </a:pPr>
            <a:r>
              <a:rPr sz="1100" b="1" i="0">
                <a:solidFill>
                  <a:srgbClr val="CF3338"/>
                </a:solidFill>
                <a:latin typeface="Arial"/>
              </a:rPr>
              <a:t>▶  </a:t>
            </a:r>
            <a:r>
              <a:rPr sz="1400" b="0" i="0">
                <a:solidFill>
                  <a:srgbClr val="1F2120"/>
                </a:solidFill>
                <a:latin typeface="Arial"/>
              </a:rPr>
              <a:t>Insert, pick a chart type, click through the dialog</a:t>
            </a:r>
          </a:p>
          <a:p>
            <a:pPr>
              <a:spcBef>
                <a:spcPts val="700"/>
              </a:spcBef>
            </a:pPr>
            <a:r>
              <a:rPr sz="1100" b="1" i="0">
                <a:solidFill>
                  <a:srgbClr val="CF3338"/>
                </a:solidFill>
                <a:latin typeface="Arial"/>
              </a:rPr>
              <a:t>▶  </a:t>
            </a:r>
            <a:r>
              <a:rPr sz="1400" b="0" i="0">
                <a:solidFill>
                  <a:srgbClr val="1F2120"/>
                </a:solidFill>
                <a:latin typeface="Arial"/>
              </a:rPr>
              <a:t>One chart per click; repeat for every group by hand</a:t>
            </a:r>
          </a:p>
          <a:p>
            <a:pPr>
              <a:spcBef>
                <a:spcPts val="700"/>
              </a:spcBef>
            </a:pPr>
            <a:r>
              <a:rPr sz="1100" b="1" i="0">
                <a:solidFill>
                  <a:srgbClr val="CF3338"/>
                </a:solidFill>
                <a:latin typeface="Arial"/>
              </a:rPr>
              <a:t>▶  </a:t>
            </a:r>
            <a:r>
              <a:rPr sz="1400" b="0" i="0">
                <a:solidFill>
                  <a:srgbClr val="1F2120"/>
                </a:solidFill>
                <a:latin typeface="Arial"/>
              </a:rPr>
              <a:t>Format with Chart Elements and the Format pane</a:t>
            </a:r>
          </a:p>
          <a:p>
            <a:pPr>
              <a:spcBef>
                <a:spcPts val="700"/>
              </a:spcBef>
            </a:pPr>
            <a:r>
              <a:rPr sz="1100" b="1" i="0">
                <a:solidFill>
                  <a:srgbClr val="CF3338"/>
                </a:solidFill>
                <a:latin typeface="Arial"/>
              </a:rPr>
              <a:t>▶  </a:t>
            </a:r>
            <a:r>
              <a:rPr sz="1400" b="0" i="0">
                <a:solidFill>
                  <a:srgbClr val="1F2120"/>
                </a:solidFill>
                <a:latin typeface="Arial"/>
              </a:rPr>
              <a:t>Some chart types simply are not on the menu</a:t>
            </a:r>
          </a:p>
        </p:txBody>
      </p:sp>
      <p:sp>
        <p:nvSpPr>
          <p:cNvPr id="5" name="Rounded Rectangle 4"/>
          <p:cNvSpPr/>
          <p:nvPr/>
        </p:nvSpPr>
        <p:spPr>
          <a:xfrm>
            <a:off x="640080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057400"/>
            <a:ext cx="4617720" cy="3931920"/>
          </a:xfrm>
          <a:prstGeom prst="rect">
            <a:avLst/>
          </a:prstGeom>
          <a:noFill/>
        </p:spPr>
        <p:txBody>
          <a:bodyPr wrap="square" lIns="0" rIns="0" tIns="0" bIns="0">
            <a:spAutoFit/>
          </a:bodyPr>
          <a:lstStyle/>
          <a:p>
            <a:r>
              <a:rPr sz="1800" b="1" i="0">
                <a:solidFill>
                  <a:srgbClr val="CF3338"/>
                </a:solidFill>
                <a:latin typeface="Arial Black"/>
              </a:rPr>
              <a:t>In a Python cell</a:t>
            </a:r>
          </a:p>
          <a:p>
            <a:pPr>
              <a:spcBef>
                <a:spcPts val="700"/>
              </a:spcBef>
            </a:pPr>
            <a:r>
              <a:rPr sz="1100" b="1" i="0">
                <a:solidFill>
                  <a:srgbClr val="CF3338"/>
                </a:solidFill>
                <a:latin typeface="Arial"/>
              </a:rPr>
              <a:t>▶  </a:t>
            </a:r>
            <a:r>
              <a:rPr sz="1400" b="0" i="0">
                <a:solidFill>
                  <a:srgbClr val="1F2120"/>
                </a:solidFill>
                <a:latin typeface="Arial"/>
              </a:rPr>
              <a:t>One line: sns.something(x=, y=, data=)</a:t>
            </a:r>
          </a:p>
          <a:p>
            <a:pPr>
              <a:spcBef>
                <a:spcPts val="700"/>
              </a:spcBef>
            </a:pPr>
            <a:r>
              <a:rPr sz="1100" b="1" i="0">
                <a:solidFill>
                  <a:srgbClr val="CF3338"/>
                </a:solidFill>
                <a:latin typeface="Arial"/>
              </a:rPr>
              <a:t>▶  </a:t>
            </a:r>
            <a:r>
              <a:rPr sz="1400" b="0" i="0">
                <a:solidFill>
                  <a:srgbClr val="1F2120"/>
                </a:solidFill>
                <a:latin typeface="Arial"/>
              </a:rPr>
              <a:t>hue= adds a colour per group; col= adds a panel per group</a:t>
            </a:r>
          </a:p>
          <a:p>
            <a:pPr>
              <a:spcBef>
                <a:spcPts val="700"/>
              </a:spcBef>
            </a:pPr>
            <a:r>
              <a:rPr sz="1100" b="1" i="0">
                <a:solidFill>
                  <a:srgbClr val="CF3338"/>
                </a:solidFill>
                <a:latin typeface="Arial"/>
              </a:rPr>
              <a:t>▶  </a:t>
            </a:r>
            <a:r>
              <a:rPr sz="1400" b="0" i="0">
                <a:solidFill>
                  <a:srgbClr val="1F2120"/>
                </a:solidFill>
                <a:latin typeface="Arial"/>
              </a:rPr>
              <a:t>Format with plt.title(), plt.xlabel(), plt.figure(figsize=)</a:t>
            </a:r>
          </a:p>
          <a:p>
            <a:pPr>
              <a:spcBef>
                <a:spcPts val="700"/>
              </a:spcBef>
            </a:pPr>
            <a:r>
              <a:rPr sz="1100" b="1" i="0">
                <a:solidFill>
                  <a:srgbClr val="CF3338"/>
                </a:solidFill>
                <a:latin typeface="Arial"/>
              </a:rPr>
              <a:t>▶  </a:t>
            </a:r>
            <a:r>
              <a:rPr sz="1400" b="0" i="0">
                <a:solidFill>
                  <a:srgbClr val="1F2120"/>
                </a:solidFill>
                <a:latin typeface="Arial"/>
              </a:rPr>
              <a:t>Heatmaps, faceted grids, layered plots, all in the same cell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2</a:t>
            </a:r>
          </a:p>
          <a:p>
            <a:pPr>
              <a:spcBef>
                <a:spcPts val="800"/>
              </a:spcBef>
            </a:pPr>
            <a:r>
              <a:rPr sz="3600" b="1" i="0">
                <a:solidFill>
                  <a:srgbClr val="FFFFFF"/>
                </a:solidFill>
                <a:latin typeface="Arial Black"/>
              </a:rPr>
              <a:t>Charts Excel doesn't have</a:t>
            </a:r>
          </a:p>
          <a:p>
            <a:pPr>
              <a:spcBef>
                <a:spcPts val="1400"/>
              </a:spcBef>
            </a:pPr>
            <a:r>
              <a:rPr sz="1800" b="0" i="0">
                <a:solidFill>
                  <a:srgbClr val="FFFFFF"/>
                </a:solidFill>
                <a:latin typeface="Arial"/>
              </a:rPr>
              <a:t>Five charts, each one starts with 'the Excel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A histogram in one line</a:t>
            </a:r>
          </a:p>
          <a:p>
            <a:pPr>
              <a:spcBef>
                <a:spcPts val="300"/>
              </a:spcBef>
            </a:pPr>
            <a:r>
              <a:rPr sz="1450" b="0" i="1">
                <a:solidFill>
                  <a:srgbClr val="707070"/>
                </a:solidFill>
                <a:latin typeface="Arial"/>
              </a:rPr>
              <a:t>Type along:  Click K40. One column, one function. The Excel way is Insert, Statistic Chart, Histogram, then fiddle with bins.</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sns.histplot(x='mpg', data=mpg_df)</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Try bins=10 and bins=35 inside the parentheses to see the same data at two resolutions.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Box plots by group</a:t>
            </a:r>
          </a:p>
          <a:p>
            <a:pPr>
              <a:spcBef>
                <a:spcPts val="300"/>
              </a:spcBef>
            </a:pPr>
            <a:r>
              <a:rPr sz="1450" b="0" i="1">
                <a:solidFill>
                  <a:srgbClr val="707070"/>
                </a:solidFill>
                <a:latin typeface="Arial"/>
              </a:rPr>
              <a:t>Type along:  The Excel way: Box and Whisker exists, but it will not take a category column; you reshape first.</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sns.boxplot(x='origin', y='mpg', data=mpg_df)</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Histograms show shape; box plots compare groups.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Scatterplot with a colour for each group</a:t>
            </a:r>
          </a:p>
          <a:p>
            <a:pPr>
              <a:spcBef>
                <a:spcPts val="300"/>
              </a:spcBef>
            </a:pPr>
            <a:r>
              <a:rPr sz="1450" b="0" i="1">
                <a:solidFill>
                  <a:srgbClr val="707070"/>
                </a:solidFill>
                <a:latin typeface="Arial"/>
              </a:rPr>
              <a:t>Type along:  The Excel way: an XY Scatter with one series per origin, so you split the data into three ranges first.</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sns.scatterplot(x='weight', y='mpg', hue='origin', data=mpg_df)</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hue= is your add-a-category knob; it works on nearly every seaborn chart.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Correlation heatmap with the numbers on it</a:t>
            </a:r>
          </a:p>
          <a:p>
            <a:pPr>
              <a:spcBef>
                <a:spcPts val="300"/>
              </a:spcBef>
            </a:pPr>
            <a:r>
              <a:rPr sz="1450" b="0" i="1">
                <a:solidFill>
                  <a:srgbClr val="707070"/>
                </a:solidFill>
                <a:latin typeface="Arial"/>
              </a:rPr>
              <a:t>Type along:  The Excel way: CORREL for every pair or the ToolPak dialog, then a colour scale, and it's static.</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sns.heatmap(mpg_df.corr(numeric_only=True),</a:t>
            </a:r>
          </a:p>
          <a:p>
            <a:pPr algn="l">
              <a:spcAft>
                <a:spcPts val="100"/>
              </a:spcAft>
            </a:pPr>
            <a:r>
              <a:rPr sz="1300" b="0" i="0">
                <a:solidFill>
                  <a:srgbClr val="F5F5F5"/>
                </a:solidFill>
                <a:latin typeface="Consolas"/>
              </a:rPr>
              <a:t>            annot=True, fmt='.2f', cmap='coolwarm')</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Heatmap for one number per pair; go back to a scatter for the shape.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Small multiples with FacetGrid</a:t>
            </a:r>
          </a:p>
          <a:p>
            <a:pPr>
              <a:spcBef>
                <a:spcPts val="300"/>
              </a:spcBef>
            </a:pPr>
            <a:r>
              <a:rPr sz="1450" b="0" i="1">
                <a:solidFill>
                  <a:srgbClr val="707070"/>
                </a:solidFill>
                <a:latin typeface="Arial"/>
              </a:rPr>
              <a:t>Type along:  The Excel way: copy one chart per filter value, line them up, and hope the axes match.</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g = sns.FacetGrid(mpg_df, col='origin')</a:t>
            </a:r>
          </a:p>
          <a:p>
            <a:pPr algn="l">
              <a:spcAft>
                <a:spcPts val="100"/>
              </a:spcAft>
            </a:pPr>
            <a:r>
              <a:rPr sz="1300" b="0" i="0">
                <a:solidFill>
                  <a:srgbClr val="F5F5F5"/>
                </a:solidFill>
                <a:latin typeface="Consolas"/>
              </a:rPr>
              <a:t>g.map(plt.scatter, 'model_year', 'mpg')</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Define the split with col=, then map any chart onto every panel.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3</a:t>
            </a:r>
          </a:p>
          <a:p>
            <a:pPr>
              <a:spcBef>
                <a:spcPts val="800"/>
              </a:spcBef>
            </a:pPr>
            <a:r>
              <a:rPr sz="3600" b="1" i="0">
                <a:solidFill>
                  <a:srgbClr val="FFFFFF"/>
                </a:solidFill>
                <a:latin typeface="Arial Black"/>
              </a:rPr>
              <a:t>One grid of charts</a:t>
            </a:r>
          </a:p>
          <a:p>
            <a:pPr>
              <a:spcBef>
                <a:spcPts val="1400"/>
              </a:spcBef>
            </a:pPr>
            <a:r>
              <a:rPr sz="1800" b="0" i="0">
                <a:solidFill>
                  <a:srgbClr val="FFFFFF"/>
                </a:solidFill>
                <a:latin typeface="Arial"/>
              </a:rPr>
              <a:t>Small multiples: the chart Excel users build by hand, three times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it can't do (yet)</a:t>
            </a:r>
          </a:p>
          <a:p>
            <a:pPr>
              <a:spcBef>
                <a:spcPts val="400"/>
              </a:spcBef>
            </a:pPr>
            <a:r>
              <a:rPr sz="1500" b="0" i="1">
                <a:solidFill>
                  <a:srgbClr val="CF3338"/>
                </a:solidFill>
                <a:latin typeface="Arial"/>
              </a:rPr>
              <a:t>Honest limits, so nothing surprises you on Monday</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Charts are static pictures: no hover tooltips, no click to drill, but always live and linked to the source cell</a:t>
            </a:r>
          </a:p>
          <a:p>
            <a:pPr>
              <a:spcAft>
                <a:spcPts val="700"/>
              </a:spcAft>
            </a:pPr>
            <a:r>
              <a:rPr sz="1200" b="1" i="0">
                <a:solidFill>
                  <a:srgbClr val="CF3338"/>
                </a:solidFill>
                <a:latin typeface="Arial"/>
              </a:rPr>
              <a:t>▶  </a:t>
            </a:r>
            <a:r>
              <a:rPr sz="1600" b="0" i="0">
                <a:solidFill>
                  <a:srgbClr val="1F2120"/>
                </a:solidFill>
                <a:latin typeface="Arial"/>
              </a:rPr>
              <a:t>No refresh button on a picture: change the code or the data in the source cell and re-run; the reference image redraws</a:t>
            </a:r>
          </a:p>
          <a:p>
            <a:pPr>
              <a:spcAft>
                <a:spcPts val="700"/>
              </a:spcAft>
            </a:pPr>
            <a:r>
              <a:rPr sz="1200" b="1" i="0">
                <a:solidFill>
                  <a:srgbClr val="CF3338"/>
                </a:solidFill>
                <a:latin typeface="Arial"/>
              </a:rPr>
              <a:t>▶  </a:t>
            </a:r>
            <a:r>
              <a:rPr sz="1600" b="0" i="0">
                <a:solidFill>
                  <a:srgbClr val="1F2120"/>
                </a:solidFill>
                <a:latin typeface="Arial"/>
              </a:rPr>
              <a:t>Heavy charts (pairplot, lmplot, a row by column FacetGrid) take a few seconds on standard compute; the cell shows #BUSY! while it renders</a:t>
            </a:r>
          </a:p>
          <a:p>
            <a:pPr>
              <a:spcAft>
                <a:spcPts val="700"/>
              </a:spcAft>
            </a:pPr>
            <a:r>
              <a:rPr sz="1200" b="1" i="0">
                <a:solidFill>
                  <a:srgbClr val="CF3338"/>
                </a:solidFill>
                <a:latin typeface="Arial"/>
              </a:rPr>
              <a:t>▶  </a:t>
            </a:r>
            <a:r>
              <a:rPr sz="1600" b="0" i="0">
                <a:solidFill>
                  <a:srgbClr val="1F2120"/>
                </a:solidFill>
                <a:latin typeface="Arial"/>
              </a:rPr>
              <a:t>Formatting is code, not a GUI: no Chart Elements pane, no drag handles; titles, labels and size are lines you type</a:t>
            </a:r>
          </a:p>
          <a:p>
            <a:pPr>
              <a:spcAft>
                <a:spcPts val="700"/>
              </a:spcAft>
            </a:pPr>
            <a:r>
              <a:rPr sz="1200" b="1" i="0">
                <a:solidFill>
                  <a:srgbClr val="CF3338"/>
                </a:solidFill>
                <a:latin typeface="Arial"/>
              </a:rPr>
              <a:t>▶  </a:t>
            </a:r>
            <a:r>
              <a:rPr sz="1600" b="0" i="0">
                <a:solidFill>
                  <a:srgbClr val="1F2120"/>
                </a:solidFill>
                <a:latin typeface="Arial"/>
              </a:rPr>
              <a:t>Delete the source cell and the referenced picture goes blank: it is a view, not a copy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640080"/>
            <a:ext cx="10881360" cy="914400"/>
          </a:xfrm>
          <a:prstGeom prst="rect">
            <a:avLst/>
          </a:prstGeom>
          <a:noFill/>
        </p:spPr>
        <p:txBody>
          <a:bodyPr wrap="square" lIns="0" rIns="0" tIns="0" bIns="0">
            <a:spAutoFit/>
          </a:bodyPr>
          <a:lstStyle/>
          <a:p>
            <a:r>
              <a:rPr sz="2900" b="1" i="0">
                <a:solidFill>
                  <a:srgbClr val="1F2120"/>
                </a:solidFill>
                <a:latin typeface="Arial Black"/>
              </a:rPr>
              <a:t>What you just saw</a:t>
            </a:r>
          </a:p>
        </p:txBody>
      </p:sp>
      <p:sp>
        <p:nvSpPr>
          <p:cNvPr id="3" name="TextBox 2"/>
          <p:cNvSpPr txBox="1"/>
          <p:nvPr/>
        </p:nvSpPr>
        <p:spPr>
          <a:xfrm>
            <a:off x="640080" y="2468880"/>
            <a:ext cx="2446020" cy="2560320"/>
          </a:xfrm>
          <a:prstGeom prst="rect">
            <a:avLst/>
          </a:prstGeom>
          <a:noFill/>
        </p:spPr>
        <p:txBody>
          <a:bodyPr wrap="square" lIns="0" rIns="0" tIns="0" bIns="0">
            <a:spAutoFit/>
          </a:bodyPr>
          <a:lstStyle/>
          <a:p>
            <a:r>
              <a:rPr sz="5800" b="1" i="0">
                <a:solidFill>
                  <a:srgbClr val="CF3338"/>
                </a:solidFill>
                <a:latin typeface="Arial Black"/>
              </a:rPr>
              <a:t>1</a:t>
            </a:r>
          </a:p>
          <a:p>
            <a:pPr>
              <a:spcBef>
                <a:spcPts val="600"/>
              </a:spcBef>
            </a:pPr>
            <a:r>
              <a:rPr sz="1500" b="0" i="0">
                <a:solidFill>
                  <a:srgbClr val="707070"/>
                </a:solidFill>
                <a:latin typeface="Arial"/>
              </a:rPr>
              <a:t>workflow to get a chart out of a cell</a:t>
            </a:r>
          </a:p>
        </p:txBody>
      </p:sp>
      <p:sp>
        <p:nvSpPr>
          <p:cNvPr id="4" name="TextBox 3"/>
          <p:cNvSpPr txBox="1"/>
          <p:nvPr/>
        </p:nvSpPr>
        <p:spPr>
          <a:xfrm>
            <a:off x="3360420" y="2468880"/>
            <a:ext cx="2446020" cy="2560320"/>
          </a:xfrm>
          <a:prstGeom prst="rect">
            <a:avLst/>
          </a:prstGeom>
          <a:noFill/>
        </p:spPr>
        <p:txBody>
          <a:bodyPr wrap="square" lIns="0" rIns="0" tIns="0" bIns="0">
            <a:spAutoFit/>
          </a:bodyPr>
          <a:lstStyle/>
          <a:p>
            <a:r>
              <a:rPr sz="5800" b="1" i="0">
                <a:solidFill>
                  <a:srgbClr val="CF3338"/>
                </a:solidFill>
                <a:latin typeface="Arial Black"/>
              </a:rPr>
              <a:t>2</a:t>
            </a:r>
          </a:p>
          <a:p>
            <a:pPr>
              <a:spcBef>
                <a:spcPts val="600"/>
              </a:spcBef>
            </a:pPr>
            <a:r>
              <a:rPr sz="1500" b="0" i="0">
                <a:solidFill>
                  <a:srgbClr val="707070"/>
                </a:solidFill>
                <a:latin typeface="Arial"/>
              </a:rPr>
              <a:t>knobs: hue= and col=</a:t>
            </a:r>
          </a:p>
        </p:txBody>
      </p:sp>
      <p:sp>
        <p:nvSpPr>
          <p:cNvPr id="5" name="TextBox 4"/>
          <p:cNvSpPr txBox="1"/>
          <p:nvPr/>
        </p:nvSpPr>
        <p:spPr>
          <a:xfrm>
            <a:off x="6080760" y="2468880"/>
            <a:ext cx="2446020" cy="2560320"/>
          </a:xfrm>
          <a:prstGeom prst="rect">
            <a:avLst/>
          </a:prstGeom>
          <a:noFill/>
        </p:spPr>
        <p:txBody>
          <a:bodyPr wrap="square" lIns="0" rIns="0" tIns="0" bIns="0">
            <a:spAutoFit/>
          </a:bodyPr>
          <a:lstStyle/>
          <a:p>
            <a:r>
              <a:rPr sz="5800" b="1" i="0">
                <a:solidFill>
                  <a:srgbClr val="CF3338"/>
                </a:solidFill>
                <a:latin typeface="Arial Black"/>
              </a:rPr>
              <a:t>5</a:t>
            </a:r>
          </a:p>
          <a:p>
            <a:pPr>
              <a:spcBef>
                <a:spcPts val="600"/>
              </a:spcBef>
            </a:pPr>
            <a:r>
              <a:rPr sz="1500" b="0" i="0">
                <a:solidFill>
                  <a:srgbClr val="707070"/>
                </a:solidFill>
                <a:latin typeface="Arial"/>
              </a:rPr>
              <a:t>charts Excel can't draw alone</a:t>
            </a:r>
          </a:p>
        </p:txBody>
      </p:sp>
      <p:sp>
        <p:nvSpPr>
          <p:cNvPr id="6" name="TextBox 5"/>
          <p:cNvSpPr txBox="1"/>
          <p:nvPr/>
        </p:nvSpPr>
        <p:spPr>
          <a:xfrm>
            <a:off x="8801100" y="2468880"/>
            <a:ext cx="2446020" cy="2560320"/>
          </a:xfrm>
          <a:prstGeom prst="rect">
            <a:avLst/>
          </a:prstGeom>
          <a:noFill/>
        </p:spPr>
        <p:txBody>
          <a:bodyPr wrap="square" lIns="0" rIns="0" tIns="0" bIns="0">
            <a:spAutoFit/>
          </a:bodyPr>
          <a:lstStyle/>
          <a:p>
            <a:r>
              <a:rPr sz="5800" b="1" i="0">
                <a:solidFill>
                  <a:srgbClr val="CF3338"/>
                </a:solidFill>
                <a:latin typeface="Arial Black"/>
              </a:rPr>
              <a:t>7</a:t>
            </a:r>
          </a:p>
          <a:p>
            <a:pPr>
              <a:spcBef>
                <a:spcPts val="600"/>
              </a:spcBef>
            </a:pPr>
            <a:r>
              <a:rPr sz="1500" b="0" i="0">
                <a:solidFill>
                  <a:srgbClr val="707070"/>
                </a:solidFill>
                <a:latin typeface="Arial"/>
              </a:rPr>
              <a:t>Python cells, all typed by you</a:t>
            </a:r>
          </a:p>
        </p:txBody>
      </p:sp>
      <p:sp>
        <p:nvSpPr>
          <p:cNvPr id="7" name="TextBox 6"/>
          <p:cNvSpPr txBox="1"/>
          <p:nvPr/>
        </p:nvSpPr>
        <p:spPr>
          <a:xfrm>
            <a:off x="640080" y="5486400"/>
            <a:ext cx="10881360" cy="822960"/>
          </a:xfrm>
          <a:prstGeom prst="rect">
            <a:avLst/>
          </a:prstGeom>
          <a:noFill/>
        </p:spPr>
        <p:txBody>
          <a:bodyPr wrap="square" lIns="0" rIns="0" tIns="0" bIns="0">
            <a:spAutoFit/>
          </a:bodyPr>
          <a:lstStyle/>
          <a:p>
            <a:r>
              <a:rPr sz="1500" b="0" i="1">
                <a:solidFill>
                  <a:srgbClr val="1F2120"/>
                </a:solidFill>
                <a:latin typeface="Arial"/>
              </a:rPr>
              <a:t>Ctrl+Enter to run, Ctrl+Alt+Shift+M to spill, Create Reference to float the picture.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005840"/>
          </a:xfrm>
          <a:prstGeom prst="rect">
            <a:avLst/>
          </a:prstGeom>
          <a:noFill/>
        </p:spPr>
        <p:txBody>
          <a:bodyPr wrap="square" lIns="0" rIns="0" tIns="0" bIns="0">
            <a:spAutoFit/>
          </a:bodyPr>
          <a:lstStyle/>
          <a:p>
            <a:r>
              <a:rPr sz="3000" b="1" i="0">
                <a:solidFill>
                  <a:srgbClr val="1F2120"/>
                </a:solidFill>
                <a:latin typeface="Arial Black"/>
              </a:rPr>
              <a:t>What else is in the book</a:t>
            </a:r>
          </a:p>
          <a:p>
            <a:pPr>
              <a:spcBef>
                <a:spcPts val="300"/>
              </a:spcBef>
            </a:pPr>
            <a:r>
              <a:rPr sz="1500" b="0" i="1">
                <a:solidFill>
                  <a:srgbClr val="CF3338"/>
                </a:solidFill>
                <a:latin typeface="Arial"/>
              </a:rPr>
              <a:t>Every item on the right is a full chapter with a companion workbook</a:t>
            </a:r>
          </a:p>
        </p:txBody>
      </p:sp>
      <p:sp>
        <p:nvSpPr>
          <p:cNvPr id="3" name="Rounded Rectangle 2"/>
          <p:cNvSpPr/>
          <p:nvPr/>
        </p:nvSpPr>
        <p:spPr>
          <a:xfrm>
            <a:off x="64008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57400"/>
            <a:ext cx="4617720" cy="3931920"/>
          </a:xfrm>
          <a:prstGeom prst="rect">
            <a:avLst/>
          </a:prstGeom>
          <a:noFill/>
        </p:spPr>
        <p:txBody>
          <a:bodyPr wrap="square" lIns="0" rIns="0" tIns="0" bIns="0">
            <a:spAutoFit/>
          </a:bodyPr>
          <a:lstStyle/>
          <a:p>
            <a:r>
              <a:rPr sz="1800" b="1" i="0">
                <a:solidFill>
                  <a:srgbClr val="CF3338"/>
                </a:solidFill>
                <a:latin typeface="Arial Black"/>
              </a:rPr>
              <a:t>What you saw today</a:t>
            </a:r>
          </a:p>
          <a:p>
            <a:pPr>
              <a:spcBef>
                <a:spcPts val="700"/>
              </a:spcBef>
            </a:pPr>
            <a:r>
              <a:rPr sz="1100" b="1" i="0">
                <a:solidFill>
                  <a:srgbClr val="CF3338"/>
                </a:solidFill>
                <a:latin typeface="Arial"/>
              </a:rPr>
              <a:t>▶  </a:t>
            </a:r>
            <a:r>
              <a:rPr sz="1400" b="0" i="0">
                <a:solidFill>
                  <a:srgbClr val="1F2120"/>
                </a:solidFill>
                <a:latin typeface="Arial"/>
              </a:rPr>
              <a:t>A first seaborn chart, out of the cell and resized (Ch 3)</a:t>
            </a:r>
          </a:p>
          <a:p>
            <a:pPr>
              <a:spcBef>
                <a:spcPts val="700"/>
              </a:spcBef>
            </a:pPr>
            <a:r>
              <a:rPr sz="1100" b="1" i="0">
                <a:solidFill>
                  <a:srgbClr val="CF3338"/>
                </a:solidFill>
                <a:latin typeface="Arial"/>
              </a:rPr>
              <a:t>▶  </a:t>
            </a:r>
            <a:r>
              <a:rPr sz="1400" b="0" i="0">
                <a:solidFill>
                  <a:srgbClr val="1F2120"/>
                </a:solidFill>
                <a:latin typeface="Arial"/>
              </a:rPr>
              <a:t>Histogram, box plot, coloured scatter, annotated heatmap (Ch 3)</a:t>
            </a:r>
          </a:p>
          <a:p>
            <a:pPr>
              <a:spcBef>
                <a:spcPts val="700"/>
              </a:spcBef>
            </a:pPr>
            <a:r>
              <a:rPr sz="1100" b="1" i="0">
                <a:solidFill>
                  <a:srgbClr val="CF3338"/>
                </a:solidFill>
                <a:latin typeface="Arial"/>
              </a:rPr>
              <a:t>▶  </a:t>
            </a:r>
            <a:r>
              <a:rPr sz="1400" b="0" i="0">
                <a:solidFill>
                  <a:srgbClr val="1F2120"/>
                </a:solidFill>
                <a:latin typeface="Arial"/>
              </a:rPr>
              <a:t>Small multiples with FacetGrid (Ch 3)</a:t>
            </a:r>
          </a:p>
        </p:txBody>
      </p:sp>
      <p:sp>
        <p:nvSpPr>
          <p:cNvPr id="5" name="Rounded Rectangle 4"/>
          <p:cNvSpPr/>
          <p:nvPr/>
        </p:nvSpPr>
        <p:spPr>
          <a:xfrm>
            <a:off x="640080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057400"/>
            <a:ext cx="4617720" cy="3931920"/>
          </a:xfrm>
          <a:prstGeom prst="rect">
            <a:avLst/>
          </a:prstGeom>
          <a:noFill/>
        </p:spPr>
        <p:txBody>
          <a:bodyPr wrap="square" lIns="0" rIns="0" tIns="0" bIns="0">
            <a:spAutoFit/>
          </a:bodyPr>
          <a:lstStyle/>
          <a:p>
            <a:r>
              <a:rPr sz="1800" b="1" i="0">
                <a:solidFill>
                  <a:srgbClr val="CF3338"/>
                </a:solidFill>
                <a:latin typeface="Arial Black"/>
              </a:rPr>
              <a:t>What's waiting in the book</a:t>
            </a:r>
          </a:p>
          <a:p>
            <a:pPr>
              <a:spcBef>
                <a:spcPts val="700"/>
              </a:spcBef>
            </a:pPr>
            <a:r>
              <a:rPr sz="1100" b="1" i="0">
                <a:solidFill>
                  <a:srgbClr val="CF3338"/>
                </a:solidFill>
                <a:latin typeface="Arial"/>
              </a:rPr>
              <a:t>▶  </a:t>
            </a:r>
            <a:r>
              <a:rPr sz="1400" b="0" i="0">
                <a:solidFill>
                  <a:srgbClr val="1F2120"/>
                </a:solidFill>
                <a:latin typeface="Arial"/>
              </a:rPr>
              <a:t>Two histograms side by side, violin and strip plots, pair plots, regression plots (Ch 3)</a:t>
            </a:r>
          </a:p>
          <a:p>
            <a:pPr>
              <a:spcBef>
                <a:spcPts val="700"/>
              </a:spcBef>
            </a:pPr>
            <a:r>
              <a:rPr sz="1100" b="1" i="0">
                <a:solidFill>
                  <a:srgbClr val="CF3338"/>
                </a:solidFill>
                <a:latin typeface="Arial"/>
              </a:rPr>
              <a:t>▶  </a:t>
            </a:r>
            <a:r>
              <a:rPr sz="1400" b="0" i="0">
                <a:solidFill>
                  <a:srgbClr val="1F2120"/>
                </a:solidFill>
                <a:latin typeface="Arial"/>
              </a:rPr>
              <a:t>A structured data-quality summary and a missing-values decision (Ch 4)</a:t>
            </a:r>
          </a:p>
          <a:p>
            <a:pPr>
              <a:spcBef>
                <a:spcPts val="700"/>
              </a:spcBef>
            </a:pPr>
            <a:r>
              <a:rPr sz="1100" b="1" i="0">
                <a:solidFill>
                  <a:srgbClr val="CF3338"/>
                </a:solidFill>
                <a:latin typeface="Arial"/>
              </a:rPr>
              <a:t>▶  </a:t>
            </a:r>
            <a:r>
              <a:rPr sz="1400" b="0" i="0">
                <a:solidFill>
                  <a:srgbClr val="1F2120"/>
                </a:solidFill>
                <a:latin typeface="Arial"/>
              </a:rPr>
              <a:t>pd.cut binning, cross-tabs, grouped bar charts, layered plots (Ch 4)</a:t>
            </a:r>
          </a:p>
          <a:p>
            <a:pPr>
              <a:spcBef>
                <a:spcPts val="700"/>
              </a:spcBef>
            </a:pPr>
            <a:r>
              <a:rPr sz="1100" b="1" i="0">
                <a:solidFill>
                  <a:srgbClr val="CF3338"/>
                </a:solidFill>
                <a:latin typeface="Arial"/>
              </a:rPr>
              <a:t>▶  </a:t>
            </a:r>
            <a:r>
              <a:rPr sz="1400" b="0" i="0">
                <a:solidFill>
                  <a:srgbClr val="1F2120"/>
                </a:solidFill>
                <a:latin typeface="Arial"/>
              </a:rPr>
              <a:t>IQR outlier detection with a highlighted scatter (Ch 4)</a:t>
            </a:r>
          </a:p>
          <a:p>
            <a:pPr>
              <a:spcBef>
                <a:spcPts val="700"/>
              </a:spcBef>
            </a:pPr>
            <a:r>
              <a:rPr sz="1100" b="1" i="0">
                <a:solidFill>
                  <a:srgbClr val="CF3338"/>
                </a:solidFill>
                <a:latin typeface="Arial"/>
              </a:rPr>
              <a:t>▶  </a:t>
            </a:r>
            <a:r>
              <a:rPr sz="1400" b="0" i="0">
                <a:solidFill>
                  <a:srgbClr val="1F2120"/>
                </a:solidFill>
                <a:latin typeface="Arial"/>
              </a:rPr>
              <a:t>Then the analytical toolkit: tests, regression, forecasting, simulation (Ch 5 to 8)</a:t>
            </a:r>
          </a:p>
          <a:p>
            <a:pPr>
              <a:spcBef>
                <a:spcPts val="700"/>
              </a:spcBef>
            </a:pPr>
            <a:r>
              <a:rPr sz="1100" b="1" i="0">
                <a:solidFill>
                  <a:srgbClr val="CF3338"/>
                </a:solidFill>
                <a:latin typeface="Arial"/>
              </a:rPr>
              <a:t>▶  </a:t>
            </a:r>
            <a:r>
              <a:rPr sz="1400" b="0" i="0">
                <a:solidFill>
                  <a:srgbClr val="1F2120"/>
                </a:solidFill>
                <a:latin typeface="Arial"/>
              </a:rPr>
              <a:t>Charts driven by dropdowns and input cells (Ch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6949440" cy="1097280"/>
          </a:xfrm>
          <a:prstGeom prst="rect">
            <a:avLst/>
          </a:prstGeom>
          <a:noFill/>
        </p:spPr>
        <p:txBody>
          <a:bodyPr wrap="square" lIns="0" rIns="0" tIns="0" bIns="0">
            <a:spAutoFit/>
          </a:bodyPr>
          <a:lstStyle/>
          <a:p>
            <a:r>
              <a:rPr sz="1500" b="1" i="0">
                <a:solidFill>
                  <a:srgbClr val="CF3338"/>
                </a:solidFill>
                <a:latin typeface="Arial Black"/>
              </a:rPr>
              <a:t>THE BOOK</a:t>
            </a:r>
          </a:p>
          <a:p>
            <a:pPr>
              <a:spcBef>
                <a:spcPts val="600"/>
              </a:spcBef>
            </a:pPr>
            <a:r>
              <a:rPr sz="3000" b="1" i="0">
                <a:solidFill>
                  <a:srgbClr val="1F2120"/>
                </a:solidFill>
                <a:latin typeface="Arial Black"/>
              </a:rPr>
              <a:t>Python in Excel for Data Analytics</a:t>
            </a:r>
          </a:p>
        </p:txBody>
      </p:sp>
      <p:sp>
        <p:nvSpPr>
          <p:cNvPr id="3" name="TextBox 2"/>
          <p:cNvSpPr txBox="1"/>
          <p:nvPr/>
        </p:nvSpPr>
        <p:spPr>
          <a:xfrm>
            <a:off x="640080" y="1920240"/>
            <a:ext cx="6766560" cy="4023360"/>
          </a:xfrm>
          <a:prstGeom prst="rect">
            <a:avLst/>
          </a:prstGeom>
          <a:noFill/>
        </p:spPr>
        <p:txBody>
          <a:bodyPr wrap="square" lIns="0" rIns="0" tIns="0" bIns="0">
            <a:spAutoFit/>
          </a:bodyPr>
          <a:lstStyle/>
          <a:p>
            <a:pPr>
              <a:spcAft>
                <a:spcPts val="900"/>
              </a:spcAft>
            </a:pPr>
            <a:r>
              <a:rPr sz="1200" b="1" i="0">
                <a:solidFill>
                  <a:srgbClr val="CF3338"/>
                </a:solidFill>
                <a:latin typeface="Arial"/>
              </a:rPr>
              <a:t>▶  </a:t>
            </a:r>
            <a:r>
              <a:rPr sz="1600" b="0" i="0">
                <a:solidFill>
                  <a:srgbClr val="1F2120"/>
                </a:solidFill>
                <a:latin typeface="Arial"/>
              </a:rPr>
              <a:t>Everything you saw today, with the how and the why: Chapters 3 and 4.</a:t>
            </a:r>
          </a:p>
          <a:p>
            <a:pPr>
              <a:spcAft>
                <a:spcPts val="900"/>
              </a:spcAft>
            </a:pPr>
            <a:r>
              <a:rPr sz="1200" b="1" i="0">
                <a:solidFill>
                  <a:srgbClr val="CF3338"/>
                </a:solidFill>
                <a:latin typeface="Arial"/>
              </a:rPr>
              <a:t>▶  </a:t>
            </a:r>
            <a:r>
              <a:rPr sz="1600" b="0" i="0">
                <a:solidFill>
                  <a:srgbClr val="1F2120"/>
                </a:solidFill>
                <a:latin typeface="Arial"/>
              </a:rPr>
              <a:t>Twelve chapters from your first =PY() cell to forecasting, simulation, text analytics and AI-assisted analysis.</a:t>
            </a:r>
          </a:p>
          <a:p>
            <a:pPr>
              <a:spcAft>
                <a:spcPts val="900"/>
              </a:spcAft>
            </a:pPr>
            <a:r>
              <a:rPr sz="1200" b="1" i="0">
                <a:solidFill>
                  <a:srgbClr val="CF3338"/>
                </a:solidFill>
                <a:latin typeface="Arial"/>
              </a:rPr>
              <a:t>▶  </a:t>
            </a:r>
            <a:r>
              <a:rPr sz="1600" b="0" i="0">
                <a:solidFill>
                  <a:srgbClr val="1F2120"/>
                </a:solidFill>
                <a:latin typeface="Arial"/>
              </a:rPr>
              <a:t>Companion workbooks for every chapter.</a:t>
            </a:r>
          </a:p>
          <a:p>
            <a:pPr>
              <a:spcAft>
                <a:spcPts val="900"/>
              </a:spcAft>
            </a:pPr>
            <a:r>
              <a:rPr sz="1600" b="1" i="0">
                <a:solidFill>
                  <a:srgbClr val="CF3338"/>
                </a:solidFill>
                <a:latin typeface="Arial"/>
              </a:rPr>
              <a:t>https://stringfestanalytics.com/pyxlda/</a:t>
            </a:r>
          </a:p>
        </p:txBody>
      </p:sp>
      <p:pic>
        <p:nvPicPr>
          <p:cNvPr id="4" name="Picture 3" descr="book-cover.png"/>
          <p:cNvPicPr>
            <a:picLocks noChangeAspect="1"/>
          </p:cNvPicPr>
          <p:nvPr/>
        </p:nvPicPr>
        <p:blipFill>
          <a:blip r:embed="rId2"/>
          <a:stretch>
            <a:fillRect/>
          </a:stretch>
        </p:blipFill>
        <p:spPr>
          <a:xfrm>
            <a:off x="7528255" y="946976"/>
            <a:ext cx="4023360" cy="496404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7315200" cy="1188720"/>
          </a:xfrm>
          <a:prstGeom prst="rect">
            <a:avLst/>
          </a:prstGeom>
          <a:noFill/>
        </p:spPr>
        <p:txBody>
          <a:bodyPr wrap="square" lIns="0" rIns="0" tIns="0" bIns="0">
            <a:spAutoFit/>
          </a:bodyPr>
          <a:lstStyle/>
          <a:p>
            <a:r>
              <a:rPr sz="1500" b="1" i="0">
                <a:solidFill>
                  <a:srgbClr val="CF3338"/>
                </a:solidFill>
                <a:latin typeface="Arial Black"/>
              </a:rPr>
              <a:t>FILES, RECORDING, AND WHAT'S NEXT</a:t>
            </a:r>
          </a:p>
          <a:p>
            <a:pPr>
              <a:spcBef>
                <a:spcPts val="600"/>
              </a:spcBef>
            </a:pPr>
            <a:r>
              <a:rPr sz="2600" b="1" i="0">
                <a:solidFill>
                  <a:srgbClr val="1F2120"/>
                </a:solidFill>
                <a:latin typeface="Arial Black"/>
              </a:rPr>
              <a:t>Python in Excel for Analysts: The Free Sessions</a:t>
            </a:r>
          </a:p>
        </p:txBody>
      </p:sp>
      <p:sp>
        <p:nvSpPr>
          <p:cNvPr id="3" name="TextBox 2"/>
          <p:cNvSpPr txBox="1"/>
          <p:nvPr/>
        </p:nvSpPr>
        <p:spPr>
          <a:xfrm>
            <a:off x="640080" y="2011680"/>
            <a:ext cx="7315200" cy="4023360"/>
          </a:xfrm>
          <a:prstGeom prst="rect">
            <a:avLst/>
          </a:prstGeom>
          <a:noFill/>
        </p:spPr>
        <p:txBody>
          <a:bodyPr wrap="square" lIns="0" rIns="0" tIns="0" bIns="0">
            <a:spAutoFit/>
          </a:bodyPr>
          <a:lstStyle/>
          <a:p>
            <a:pPr>
              <a:spcAft>
                <a:spcPts val="1000"/>
              </a:spcAft>
            </a:pPr>
            <a:r>
              <a:rPr sz="1200" b="1" i="0">
                <a:solidFill>
                  <a:srgbClr val="CF3338"/>
                </a:solidFill>
                <a:latin typeface="Arial"/>
              </a:rPr>
              <a:t>▶  </a:t>
            </a:r>
            <a:r>
              <a:rPr sz="1600" b="0" i="0">
                <a:solidFill>
                  <a:srgbClr val="1F2120"/>
                </a:solidFill>
                <a:latin typeface="Arial"/>
              </a:rPr>
              <a:t>Today's recording, workbook and code land here within a few days: https://stringfestdata.gumroad.com/l/pxlaf</a:t>
            </a:r>
          </a:p>
          <a:p>
            <a:pPr>
              <a:spcAft>
                <a:spcPts val="1000"/>
              </a:spcAft>
            </a:pPr>
            <a:r>
              <a:rPr sz="1200" b="1" i="0">
                <a:solidFill>
                  <a:srgbClr val="CF3338"/>
                </a:solidFill>
                <a:latin typeface="Arial"/>
              </a:rPr>
              <a:t>▶  </a:t>
            </a:r>
            <a:r>
              <a:rPr sz="1600" b="0" i="0">
                <a:solidFill>
                  <a:srgbClr val="1F2120"/>
                </a:solidFill>
                <a:latin typeface="Arial"/>
              </a:rPr>
              <a:t>Grab it now (it's free) and Gumroad notifies you as each session posts.</a:t>
            </a:r>
          </a:p>
          <a:p>
            <a:pPr>
              <a:spcAft>
                <a:spcPts val="1000"/>
              </a:spcAft>
            </a:pPr>
            <a:r>
              <a:rPr sz="1200" b="1" i="0">
                <a:solidFill>
                  <a:srgbClr val="CF3338"/>
                </a:solidFill>
                <a:latin typeface="Arial"/>
              </a:rPr>
              <a:t>▶  </a:t>
            </a:r>
            <a:r>
              <a:rPr sz="1600" b="0" i="0">
                <a:solidFill>
                  <a:srgbClr val="1F2120"/>
                </a:solidFill>
                <a:latin typeface="Arial"/>
              </a:rPr>
              <a:t>All files are also on GitHub: https://github.com/stringfestdata/python-excel-analysts-free</a:t>
            </a:r>
          </a:p>
          <a:p>
            <a:pPr>
              <a:spcAft>
                <a:spcPts val="1000"/>
              </a:spcAft>
            </a:pPr>
            <a:r>
              <a:rPr sz="1200" b="1" i="0">
                <a:solidFill>
                  <a:srgbClr val="CF3338"/>
                </a:solidFill>
                <a:latin typeface="Arial"/>
              </a:rPr>
              <a:t>▶  </a:t>
            </a:r>
            <a:r>
              <a:rPr sz="1600" b="0" i="0">
                <a:solidFill>
                  <a:srgbClr val="1F2120"/>
                </a:solidFill>
                <a:latin typeface="Arial"/>
              </a:rPr>
              <a:t>Next: Session 3, From trendline to real forecast. Register at https://stringfestanalytics.com/events</a:t>
            </a:r>
          </a:p>
        </p:txBody>
      </p:sp>
      <p:pic>
        <p:nvPicPr>
          <p:cNvPr id="4" name="Picture 3" descr="free-sessions.png"/>
          <p:cNvPicPr>
            <a:picLocks noChangeAspect="1"/>
          </p:cNvPicPr>
          <p:nvPr/>
        </p:nvPicPr>
        <p:blipFill>
          <a:blip r:embed="rId2"/>
          <a:stretch>
            <a:fillRect/>
          </a:stretch>
        </p:blipFill>
        <p:spPr>
          <a:xfrm>
            <a:off x="7528255" y="2296828"/>
            <a:ext cx="4023360" cy="22643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THANK YOU</a:t>
            </a:r>
          </a:p>
          <a:p>
            <a:pPr>
              <a:spcBef>
                <a:spcPts val="800"/>
              </a:spcBef>
            </a:pPr>
            <a:r>
              <a:rPr sz="3600" b="1" i="0">
                <a:solidFill>
                  <a:srgbClr val="FFFFFF"/>
                </a:solidFill>
                <a:latin typeface="Arial Black"/>
              </a:rPr>
              <a:t>Questions?</a:t>
            </a:r>
          </a:p>
          <a:p>
            <a:pPr>
              <a:spcBef>
                <a:spcPts val="1400"/>
              </a:spcBef>
            </a:pPr>
            <a:r>
              <a:rPr sz="1800" b="0" i="0">
                <a:solidFill>
                  <a:srgbClr val="FFFFFF"/>
                </a:solidFill>
                <a:latin typeface="Arial"/>
              </a:rPr>
              <a:t>george@stringfestanalytics.com  ·  stringfestanalytics.com  ·  https://stringfestanalytics.com/pyxlda/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