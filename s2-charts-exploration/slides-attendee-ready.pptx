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99666948f6a43c2" /><Relationship Type="http://schemas.openxmlformats.org/officeDocument/2006/relationships/extended-properties" Target="/docProps/app.xml" Id="R25eaac54f5674a4f" /><Relationship Type="http://schemas.openxmlformats.org/officeDocument/2006/relationships/officeDocument" Target="/ppt/presentation.xml" Id="R52603b73f8f244b3" /></Relationships>
</file>

<file path=ppt/presentation.xml><?xml version="1.0" encoding="utf-8"?>
<p:presentation xmlns:p="http://schemas.openxmlformats.org/presentationml/2006/main">
  <p:sldMasterIdLst>
    <p:sldMasterId xmlns:r="http://schemas.openxmlformats.org/officeDocument/2006/relationships" id="2147483648" r:id="Ra7cfa73e66f74b58"/>
  </p:sldMasterIdLst>
  <p:notesMasterIdLst>
    <p:notesMasterId xmlns:r="http://schemas.openxmlformats.org/officeDocument/2006/relationships" r:id="R36291571f5c546fe"/>
  </p:notesMasterIdLst>
  <p:sldIdLst>
    <p:sldId xmlns:r="http://schemas.openxmlformats.org/officeDocument/2006/relationships" id="256" r:id="R2fff07f857814b5d"/>
    <p:sldId xmlns:r="http://schemas.openxmlformats.org/officeDocument/2006/relationships" id="257" r:id="R823f562c3bed47dd"/>
    <p:sldId xmlns:r="http://schemas.openxmlformats.org/officeDocument/2006/relationships" id="258" r:id="R1ce18347436c4b77"/>
    <p:sldId xmlns:r="http://schemas.openxmlformats.org/officeDocument/2006/relationships" id="259" r:id="R94f46af63eba4fc5"/>
    <p:sldId xmlns:r="http://schemas.openxmlformats.org/officeDocument/2006/relationships" id="260" r:id="R59af23c16b2745db"/>
    <p:sldId xmlns:r="http://schemas.openxmlformats.org/officeDocument/2006/relationships" id="261" r:id="R18d4e9b898fb4ec3"/>
    <p:sldId xmlns:r="http://schemas.openxmlformats.org/officeDocument/2006/relationships" id="262" r:id="R486b609e9448429c"/>
    <p:sldId xmlns:r="http://schemas.openxmlformats.org/officeDocument/2006/relationships" id="263" r:id="R9aec9270ad9e4140"/>
    <p:sldId xmlns:r="http://schemas.openxmlformats.org/officeDocument/2006/relationships" id="264" r:id="R1bdedbc17c444bbe"/>
    <p:sldId xmlns:r="http://schemas.openxmlformats.org/officeDocument/2006/relationships" id="265" r:id="Rc9095adc4f284b0b"/>
    <p:sldId xmlns:r="http://schemas.openxmlformats.org/officeDocument/2006/relationships" id="266" r:id="R182f7962df2f4c96"/>
    <p:sldId xmlns:r="http://schemas.openxmlformats.org/officeDocument/2006/relationships" id="267" r:id="R82c8192f59f64360"/>
    <p:sldId xmlns:r="http://schemas.openxmlformats.org/officeDocument/2006/relationships" id="268" r:id="Ra539813d9ddc42c4"/>
    <p:sldId xmlns:r="http://schemas.openxmlformats.org/officeDocument/2006/relationships" id="269" r:id="Rea898690d351436b"/>
    <p:sldId xmlns:r="http://schemas.openxmlformats.org/officeDocument/2006/relationships" id="270" r:id="Ra55827f7ed294904"/>
    <p:sldId xmlns:r="http://schemas.openxmlformats.org/officeDocument/2006/relationships" id="271" r:id="Rdc18df4ea5584cae"/>
    <p:sldId xmlns:r="http://schemas.openxmlformats.org/officeDocument/2006/relationships" id="272" r:id="Rc793c7e1054d4594"/>
    <p:sldId xmlns:r="http://schemas.openxmlformats.org/officeDocument/2006/relationships" id="273" r:id="Rb1a48200de074442"/>
    <p:sldId xmlns:r="http://schemas.openxmlformats.org/officeDocument/2006/relationships" id="274" r:id="Rc419f01f48f54da5"/>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0502faa4d240d8" /><Relationship Type="http://schemas.openxmlformats.org/officeDocument/2006/relationships/slideMaster" Target="/ppt/slideMasters/slideMaster1.xml" Id="Ra7cfa73e66f74b58" /><Relationship Type="http://schemas.openxmlformats.org/officeDocument/2006/relationships/notesMaster" Target="/ppt/notesMasters/notesMaster1.xml" Id="R36291571f5c546fe" /><Relationship Type="http://schemas.openxmlformats.org/officeDocument/2006/relationships/presProps" Target="/ppt/presProps.xml" Id="Rb017bf8a7b054a39" /><Relationship Type="http://schemas.openxmlformats.org/officeDocument/2006/relationships/tableStyles" Target="/ppt/tableStyles.xml" Id="Rfb010e6ec1654684" /><Relationship Type="http://schemas.openxmlformats.org/officeDocument/2006/relationships/slide" Target="/ppt/slides/slide1.xml" Id="R2fff07f857814b5d" /><Relationship Type="http://schemas.openxmlformats.org/officeDocument/2006/relationships/slide" Target="/ppt/slides/slide2.xml" Id="R823f562c3bed47dd" /><Relationship Type="http://schemas.openxmlformats.org/officeDocument/2006/relationships/slide" Target="/ppt/slides/slide3.xml" Id="R1ce18347436c4b77" /><Relationship Type="http://schemas.openxmlformats.org/officeDocument/2006/relationships/slide" Target="/ppt/slides/slide4.xml" Id="R94f46af63eba4fc5" /><Relationship Type="http://schemas.openxmlformats.org/officeDocument/2006/relationships/slide" Target="/ppt/slides/slide5.xml" Id="R59af23c16b2745db" /><Relationship Type="http://schemas.openxmlformats.org/officeDocument/2006/relationships/slide" Target="/ppt/slides/slide6.xml" Id="R18d4e9b898fb4ec3" /><Relationship Type="http://schemas.openxmlformats.org/officeDocument/2006/relationships/slide" Target="/ppt/slides/slide7.xml" Id="R486b609e9448429c" /><Relationship Type="http://schemas.openxmlformats.org/officeDocument/2006/relationships/slide" Target="/ppt/slides/slide8.xml" Id="R9aec9270ad9e4140" /><Relationship Type="http://schemas.openxmlformats.org/officeDocument/2006/relationships/slide" Target="/ppt/slides/slide9.xml" Id="R1bdedbc17c444bbe" /><Relationship Type="http://schemas.openxmlformats.org/officeDocument/2006/relationships/slide" Target="/ppt/slides/slide10.xml" Id="Rc9095adc4f284b0b" /><Relationship Type="http://schemas.openxmlformats.org/officeDocument/2006/relationships/slide" Target="/ppt/slides/slide11.xml" Id="R182f7962df2f4c96" /><Relationship Type="http://schemas.openxmlformats.org/officeDocument/2006/relationships/slide" Target="/ppt/slides/slide12.xml" Id="R82c8192f59f64360" /><Relationship Type="http://schemas.openxmlformats.org/officeDocument/2006/relationships/slide" Target="/ppt/slides/slide13.xml" Id="Ra539813d9ddc42c4" /><Relationship Type="http://schemas.openxmlformats.org/officeDocument/2006/relationships/slide" Target="/ppt/slides/slide14.xml" Id="Rea898690d351436b" /><Relationship Type="http://schemas.openxmlformats.org/officeDocument/2006/relationships/slide" Target="/ppt/slides/slide15.xml" Id="Ra55827f7ed294904" /><Relationship Type="http://schemas.openxmlformats.org/officeDocument/2006/relationships/slide" Target="/ppt/slides/slide16.xml" Id="Rdc18df4ea5584cae" /><Relationship Type="http://schemas.openxmlformats.org/officeDocument/2006/relationships/slide" Target="/ppt/slides/slide17.xml" Id="Rc793c7e1054d4594" /><Relationship Type="http://schemas.openxmlformats.org/officeDocument/2006/relationships/slide" Target="/ppt/slides/slide18.xml" Id="Rb1a48200de074442" /><Relationship Type="http://schemas.openxmlformats.org/officeDocument/2006/relationships/slide" Target="/ppt/slides/slide19.xml" Id="Rc419f01f48f54d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95451e574f4f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c146d374354f79" /><Relationship Type="http://schemas.openxmlformats.org/officeDocument/2006/relationships/notesMaster" Target="/ppt/notesMasters/notesMaster1.xml" Id="R26b9d76577de42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de4c2c1c05431c" /><Relationship Type="http://schemas.openxmlformats.org/officeDocument/2006/relationships/notesMaster" Target="/ppt/notesMasters/notesMaster1.xml" Id="Rdb8128d9af504a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b0bf6fe0ef4ed7" /><Relationship Type="http://schemas.openxmlformats.org/officeDocument/2006/relationships/notesMaster" Target="/ppt/notesMasters/notesMaster1.xml" Id="R86f0ecc7b8584a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fc5fd4791346e9" /><Relationship Type="http://schemas.openxmlformats.org/officeDocument/2006/relationships/notesMaster" Target="/ppt/notesMasters/notesMaster1.xml" Id="Rb9fdf411de204a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d77f509b504a02" /><Relationship Type="http://schemas.openxmlformats.org/officeDocument/2006/relationships/notesMaster" Target="/ppt/notesMasters/notesMaster1.xml" Id="R8f509b7014b14e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98a69be39d4c4f" /><Relationship Type="http://schemas.openxmlformats.org/officeDocument/2006/relationships/notesMaster" Target="/ppt/notesMasters/notesMaster1.xml" Id="Rae332bfade5f41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aa642bd12e4caf" /><Relationship Type="http://schemas.openxmlformats.org/officeDocument/2006/relationships/notesMaster" Target="/ppt/notesMasters/notesMaster1.xml" Id="R09b065f862d14941"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57af2f070c4c3c" /><Relationship Type="http://schemas.openxmlformats.org/officeDocument/2006/relationships/notesMaster" Target="/ppt/notesMasters/notesMaster1.xml" Id="R0c21231ea4de465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8f5404cd14411f" /><Relationship Type="http://schemas.openxmlformats.org/officeDocument/2006/relationships/notesMaster" Target="/ppt/notesMasters/notesMaster1.xml" Id="Rdecedce35a2342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2340e1eb514eee" /><Relationship Type="http://schemas.openxmlformats.org/officeDocument/2006/relationships/notesMaster" Target="/ppt/notesMasters/notesMaster1.xml" Id="R3ba03298988f4b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45898e13cbf4043" /><Relationship Type="http://schemas.openxmlformats.org/officeDocument/2006/relationships/notesMaster" Target="/ppt/notesMasters/notesMaster1.xml" Id="Rbf68002a584d459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027b49fd5e546ae" /><Relationship Type="http://schemas.openxmlformats.org/officeDocument/2006/relationships/notesMaster" Target="/ppt/notesMasters/notesMaster1.xml" Id="Re8add26b8c63435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4683beae5a14ca1" /><Relationship Type="http://schemas.openxmlformats.org/officeDocument/2006/relationships/notesMaster" Target="/ppt/notesMasters/notesMaster1.xml" Id="R2a3f030293f6450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4a5a8a09e44edc" /><Relationship Type="http://schemas.openxmlformats.org/officeDocument/2006/relationships/notesMaster" Target="/ppt/notesMasters/notesMaster1.xml" Id="R47cf00ebf0634d3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f0eb674b349420d" /><Relationship Type="http://schemas.openxmlformats.org/officeDocument/2006/relationships/notesMaster" Target="/ppt/notesMasters/notesMaster1.xml" Id="R55f849b52cba439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9b58a4e2e18402d" /><Relationship Type="http://schemas.openxmlformats.org/officeDocument/2006/relationships/notesMaster" Target="/ppt/notesMasters/notesMaster1.xml" Id="Rf5024892ee1f490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04aa8773aae427d" /><Relationship Type="http://schemas.openxmlformats.org/officeDocument/2006/relationships/notesMaster" Target="/ppt/notesMasters/notesMaster1.xml" Id="R6182943910a945c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5143644e3a448cc" /><Relationship Type="http://schemas.openxmlformats.org/officeDocument/2006/relationships/notesMaster" Target="/ppt/notesMasters/notesMaster1.xml" Id="R59a4ca48e41347c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88246360190406d" /><Relationship Type="http://schemas.openxmlformats.org/officeDocument/2006/relationships/notesMaster" Target="/ppt/notesMasters/notesMaster1.xml" Id="R9173370aac0143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00:00-01:00. Welcome back. You bring the Excel experience and the business question. Today we will choose a useful chart and explain what it shows. You can type the marked steps or watch and complete the worksheet checkpoints. I am George Mount, founder of Stringfest Analytics, Microsoft Excel MVP and author of Python in Excel for Data Analytics. This session connects to the book's step-by-step learning path. Author and book source: https://stringfestanalytics.com/pyxlda/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01:00-02:00. Think about a chart you rebuild each month. The goal is to make the answer easier to see. Ask attendees to write a question from their work on worksheet page 1. Today we will use one car dataset so we can focus on chart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02:00-04:00. We will type three core charts. For the other three, watch first and use the worksheet code later. Each chart answers a different question. Keep attention on the result rather than memorizing syntax.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04:00-06:00. Worksheet page 1. The mpg table has 388 cars in this session. Data differs from the later session workbooks. The chart code uses sns and plt, available by default. Windows instructions. Python calculates across each row, then down, and follows sheet order. Code names must be defined before later cells use them. The supplied workbook's opening tab contains a longer route. Use this worksheet's locations today. If Insert Python is unavailable, watch and answer the checkpoints. Sources: https://support.microsoft.com/en-us/excel/python/get-started-with-python-in-excel; https://support.microsoft.com/en-us/excel/python/open-source-libraries-and-python-in-excel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06:00-10:00. Worksheet page 1. In mpg K1 insert Python and type this block. xl reads the Excel table. mpg_df names that table in Python. countplot counts rows in each origin. plt.figure starts a fresh picture. Run with Ctrl+Enter. Pause until attendees see an Image object. Right-click the image cell and choose Display Plot over Cells for a larger view. Source: https://support.microsoft.com/en-us/excel/python/create-plots-and-charts-with-python-in-excel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10:00-12:00. Ask which group is largest. USA has 207 cars, Japan 100 and Europe 81. These add to 388. This counts records in our practice sample. It is not market share or a claim about all cars. Workbook: s2 follow-along.xlsx, mpg table. Native slide chart uses these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12:00-14:00. Stay in K1. Add these three lines below the countplot line, then rerun the whole cell. Do not put them in a separate cell. title labels the picture, xlabel the horizontal axis and ylabel the vertical axis. Right-click the image result and choose Display Plot over Cells to resize the displayed reference. Python charts are images, not native Excel chart objects. Source: https://support.microsoft.com/en-us/excel/python/create-plots-and-charts-with-python-in-excel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14:00-17:00. Worksheet page 2. In K20 insert Python and run this block. MPG means miles per gallon. Higher MPG means better fuel economy. A histogram counts numeric values inside ranges. bins=10 makes ten ranges. Point out the difference from categories on the count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17:00-19:00. Read one bar together, then ask whether fuel economy concentrates at one exact value. It spans a range. The native slide chart uses the same ten equal-width bins as the code. Labels show bin starts; final bin includes its right edge. Source: supplied session 2 mpg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19:00-22:00. Worksheet page 2. In K40 insert Python and run the block. Each dot is a car. Weight goes left to right and MPG goes bottom to top. hue separates origin by color. You do not need to memorize the palette 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22:00-24:00. Look at the overall downward pattern. Ask attendees to write one observation on worksheet page 2. A relationship is visible in this sample, but the chart alone cannot show that weight causes a change in MPG. Origin, engine design and other factors can matter. Source: session 2 mpg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24:00-27:00. Worksheet page 3. Watch mpg K60. Run the boxplot code from the worksheet. The line in each box is the median, and the box contains the middle half of values. The usual seaborn whiskers extend to data within 1.5 times the box height from each edge. Points beyond are potential unusual values, not automatic errors. In this sample the medians are 22.0 USA, 31.7 Europe and 34.65 Japan. Do not call whiskers all remaining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27:00-29:00. Worksheet page 3. Watch mpg K80 using the provided code. Correlation is between -1 and +1. A negative number means higher values of one variable tend to go with lower values of the other. Near zero means little straight-line association. Here weight and MPG are -0.76. Correlation cannot establish cause. The native table uses the actual correlation values rounded to two decimals.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29:00-32:00. Worksheet page 3. Watch mpg K100. relplot with col=origin gives each origin its own chart with common axes. These plots compare model year and MPG. model_year stores 70 for 1970 and so on. The mini charts on this slide use the same data, with all points and matching scales. Ask attendees to describe a pattern they can inspect in one group.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32:00-34:00. Use the chart guide on this slide. Ask attendees to choose a chart for the question they wrote first. Counts are for categories, a histogram is for the spread of one number, a scatterplot for two numeric measures. A boxplot compares spread across groups. A heatmap summarizes correlations. Facets repeat the same chart for each group.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34:00-36:00. Ask attendees to fill the sentence on worksheet page 2 or their final practice plan. Give them thirty seconds, then invite two replies. The finding should name the sample and avoid unsupported causes. Today they read a table, made three charts and saw a route to repeat them. The book builds the skills for adapting these patterns to their own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36:00-38:00. You have a useful example you can repeat. The next step is learning how to adapt it to a question from your own work. Python in Excel for Data Analytics introduces the code gradually for people comfortable in Excel. Chapters 3 and 4 develop visualization and data exploration.. It includes practical business examples and downloadable Excel workbooks. Practice with Excel workbooks, then adapt the examples to your own questions. Preordering reserves the book; do not promise immediate workbook access or unannounced bonuses. Source: https://stringfestanalytics.com/pyxlda/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38:00-39:00. Make the ask directly. If you want to keep building on today's work, preorder Python in Excel for Data Analytics. Open the book page, choose a bookseller and reserve your preferred format. Pause for twenty seconds for scanning. The author page carries current ordering details. Source checked September 20, 2026: https://stringfestanalytics.com/pyxlda/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39:00-45:00. Ask attendees to record one small practice task and when they will do it on the final worksheet page. Take questions with the book link visible. Return to the task they wrote at the beginning. If asked where to practice, the free sessions page has files and replay when posted: https://stringfestdata.gumroad.com/l/pxlaf. If asked what comes next, point to chapters 3 and 4 develop visualization and data exploration.. Close with a direct invitation: for the step-by-step path, preorder the book. Thank everyone for joining. Source: https://stringfestanalytics.com/pyxlda/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bfda93818d45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addfc5095e47dc" /><Relationship Type="http://schemas.openxmlformats.org/officeDocument/2006/relationships/slideLayout" Target="/ppt/slideLayouts/slideLayout1.xml" Id="R069f352b469c49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9f352b469c49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01ae31d062b4267" /><Relationship Type="http://schemas.openxmlformats.org/officeDocument/2006/relationships/image" Target="/ppt/media/image.png" Id="Rad21784dcf204ec3" /><Relationship Type="http://schemas.openxmlformats.org/officeDocument/2006/relationships/notesSlide" Target="/ppt/notesSlides/notesSlide1.xml" Id="R18c7f5ff82a245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5db9af849d430b" /><Relationship Type="http://schemas.openxmlformats.org/officeDocument/2006/relationships/notesSlide" Target="/ppt/notesSlides/notesSlide2.xml" Id="Re548f8c613504e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01bf113fa874c05" /><Relationship Type="http://schemas.openxmlformats.org/officeDocument/2006/relationships/notesSlide" Target="/ppt/notesSlides/notesSlide3.xml" Id="R21ac06b7546542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2c968b493d14540" /><Relationship Type="http://schemas.openxmlformats.org/officeDocument/2006/relationships/notesSlide" Target="/ppt/notesSlides/notesSlide4.xml" Id="R7c6f69696b3c4e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49da2e2bf2c4edc" /><Relationship Type="http://schemas.openxmlformats.org/officeDocument/2006/relationships/notesSlide" Target="/ppt/notesSlides/notesSlide5.xml" Id="Rd79a25ca46724e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746b96d830a4a65" /><Relationship Type="http://schemas.openxmlformats.org/officeDocument/2006/relationships/chart" Target="/ppt/slides/charts/chart1.xml" Id="Rd108d1b4b7c9457c" /><Relationship Type="http://schemas.openxmlformats.org/officeDocument/2006/relationships/notesSlide" Target="/ppt/notesSlides/notesSlide6.xml" Id="R260cf7c9b6d745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ab12f92edd4830" /><Relationship Type="http://schemas.openxmlformats.org/officeDocument/2006/relationships/notesSlide" Target="/ppt/notesSlides/notesSlide7.xml" Id="R2305358538f341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555e179f0764c44" /><Relationship Type="http://schemas.openxmlformats.org/officeDocument/2006/relationships/notesSlide" Target="/ppt/notesSlides/notesSlide8.xml" Id="R14453a3d02b646a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19653b5b5ac485a" /><Relationship Type="http://schemas.openxmlformats.org/officeDocument/2006/relationships/chart" Target="/ppt/slides/charts/chart2.xml" Id="R1bf982f2c8c94755" /><Relationship Type="http://schemas.openxmlformats.org/officeDocument/2006/relationships/notesSlide" Target="/ppt/notesSlides/notesSlide9.xml" Id="Rf9f1e7a2a35f4fc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34db10fb0554d99" /><Relationship Type="http://schemas.openxmlformats.org/officeDocument/2006/relationships/notesSlide" Target="/ppt/notesSlides/notesSlide10.xml" Id="R0d3b4133f52f497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623fff2447b4779" /><Relationship Type="http://schemas.openxmlformats.org/officeDocument/2006/relationships/chart" Target="/ppt/slides/charts/chart3.xml" Id="R170588fd1f7a4241" /><Relationship Type="http://schemas.openxmlformats.org/officeDocument/2006/relationships/notesSlide" Target="/ppt/notesSlides/notesSlide11.xml" Id="R3394cc2478d94f9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7391a3e277143a0" /><Relationship Type="http://schemas.openxmlformats.org/officeDocument/2006/relationships/notesSlide" Target="/ppt/notesSlides/notesSlide12.xml" Id="R44db0dff15ec46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ab774ff48a6493d" /><Relationship Type="http://schemas.openxmlformats.org/officeDocument/2006/relationships/notesSlide" Target="/ppt/notesSlides/notesSlide13.xml" Id="Re0cc68d7f3c84cd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421b5f0b8934969" /><Relationship Type="http://schemas.openxmlformats.org/officeDocument/2006/relationships/chart" Target="/ppt/slides/charts/chart4.xml" Id="R2f8de7fc0e944887" /><Relationship Type="http://schemas.openxmlformats.org/officeDocument/2006/relationships/chart" Target="/ppt/slides/charts/chart5.xml" Id="Rdfea0aa6db89447a" /><Relationship Type="http://schemas.openxmlformats.org/officeDocument/2006/relationships/chart" Target="/ppt/slides/charts/chart6.xml" Id="R127b0a18ff0f45ab" /><Relationship Type="http://schemas.openxmlformats.org/officeDocument/2006/relationships/notesSlide" Target="/ppt/notesSlides/notesSlide14.xml" Id="Rf4ba834ba2154d3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38df7341c974839" /><Relationship Type="http://schemas.openxmlformats.org/officeDocument/2006/relationships/notesSlide" Target="/ppt/notesSlides/notesSlide15.xml" Id="R4e3edb32f72b4a8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c82d2f4741c4474" /><Relationship Type="http://schemas.openxmlformats.org/officeDocument/2006/relationships/notesSlide" Target="/ppt/notesSlides/notesSlide16.xml" Id="R24e4a877f0bb48a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bde3be3799d42a3" /><Relationship Type="http://schemas.openxmlformats.org/officeDocument/2006/relationships/image" Target="/ppt/media/image2.png" Id="Ra9bcb0101d2f4feb" /><Relationship Type="http://schemas.openxmlformats.org/officeDocument/2006/relationships/notesSlide" Target="/ppt/notesSlides/notesSlide17.xml" Id="Rb641f30d72de4a8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3bfaf9da4714324" /><Relationship Type="http://schemas.openxmlformats.org/officeDocument/2006/relationships/image" Target="/ppt/media/image3.png" Id="R107b349fe1e248fb" /><Relationship Type="http://schemas.openxmlformats.org/officeDocument/2006/relationships/hyperlink" Target="https://stringfestanalytics.com/pyxlda/" TargetMode="External" Id="Rf169433fadfa432b" /><Relationship Type="http://schemas.openxmlformats.org/officeDocument/2006/relationships/notesSlide" Target="/ppt/notesSlides/notesSlide18.xml" Id="R22dc65506280416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a7e946ade424be1" /><Relationship Type="http://schemas.openxmlformats.org/officeDocument/2006/relationships/hyperlink" Target="https://stringfestanalytics.com/pyxlda/" TargetMode="External" Id="R13b56506b3924c39" /><Relationship Type="http://schemas.openxmlformats.org/officeDocument/2006/relationships/hyperlink" Target="https://stringfestdata.gumroad.com/l/pxlaf" TargetMode="External" Id="R7eed3189974d43d4" /><Relationship Type="http://schemas.openxmlformats.org/officeDocument/2006/relationships/notesSlide" Target="/ppt/notesSlides/notesSlide19.xml" Id="R6b16e961d439494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Cars</c:v>
          </c:tx>
          <c:spPr>
            <a:solidFill xmlns:a="http://schemas.openxmlformats.org/drawingml/2006/main">
              <a:srgbClr val="CF3338"/>
            </a:solidFill>
          </c:spPr>
          <c:cat>
            <c:strRef>
              <c:f>'Chart Data'!$A$2:$A$4</c:f>
              <c:strCache>
                <c:ptCount val="3"/>
                <c:pt idx="0">
                  <c:v>USA</c:v>
                </c:pt>
                <c:pt idx="1">
                  <c:v>Japan</c:v>
                </c:pt>
                <c:pt idx="2">
                  <c:v>Europe</c:v>
                </c:pt>
              </c:strCache>
            </c:strRef>
          </c:cat>
          <c:val>
            <c:numRef>
              <c:f>'Chart Data'!$B$2:$B$4</c:f>
              <c:numCache>
                <c:formatCode>General</c:formatCode>
                <c:ptCount val="3"/>
                <c:pt idx="0">
                  <c:v>207</c:v>
                </c:pt>
                <c:pt idx="1">
                  <c:v>100</c:v>
                </c:pt>
                <c:pt idx="2">
                  <c:v>81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Origin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250"/>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Number of cars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majorUnit val="50"/>
      </c:valAx>
      <c:spPr>
        <a:solidFill xmlns:a="http://schemas.openxmlformats.org/drawingml/2006/main">
          <a:srgbClr val="EEECE1"/>
        </a:solidFill>
      </c:spPr>
    </c:plotArea>
    <c:plotVisOnly val="1"/>
  </c:chart>
  <c:spPr>
    <a:solidFill xmlns:a="http://schemas.openxmlformats.org/drawingml/2006/main">
      <a:srgbClr val="EEECE1"/>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Cars</c:v>
          </c:tx>
          <c:spPr>
            <a:solidFill xmlns:a="http://schemas.openxmlformats.org/drawingml/2006/main">
              <a:srgbClr val="CF3338"/>
            </a:solidFill>
          </c:spPr>
          <c:cat>
            <c:numRef>
              <c:f>'Chart Data'!$A$2:$A$11</c:f>
              <c:numCache>
                <c:formatCode>General</c:formatCode>
                <c:ptCount val="10"/>
                <c:pt idx="0">
                  <c:v>10.2</c:v>
                </c:pt>
                <c:pt idx="1">
                  <c:v>13.8</c:v>
                </c:pt>
                <c:pt idx="2">
                  <c:v>17.3</c:v>
                </c:pt>
                <c:pt idx="3">
                  <c:v>20.9</c:v>
                </c:pt>
                <c:pt idx="4">
                  <c:v>24.4</c:v>
                </c:pt>
                <c:pt idx="5">
                  <c:v>28.0</c:v>
                </c:pt>
                <c:pt idx="6">
                  <c:v>31.6</c:v>
                </c:pt>
                <c:pt idx="7">
                  <c:v>35.1</c:v>
                </c:pt>
                <c:pt idx="8">
                  <c:v>38.7</c:v>
                </c:pt>
                <c:pt idx="9">
                  <c:v>42.2</c:v>
                </c:pt>
              </c:numCache>
            </c:numRef>
          </c:cat>
          <c:val>
            <c:numRef>
              <c:f>'Chart Data'!$B$2:$B$11</c:f>
              <c:numCache>
                <c:formatCode>General</c:formatCode>
                <c:ptCount val="10"/>
                <c:pt idx="0">
                  <c:v>15</c:v>
                </c:pt>
                <c:pt idx="1">
                  <c:v>28</c:v>
                </c:pt>
                <c:pt idx="2">
                  <c:v>48</c:v>
                </c:pt>
                <c:pt idx="3">
                  <c:v>60</c:v>
                </c:pt>
                <c:pt idx="4">
                  <c:v>59</c:v>
                </c:pt>
                <c:pt idx="5">
                  <c:v>45</c:v>
                </c:pt>
                <c:pt idx="6">
                  <c:v>53</c:v>
                </c:pt>
                <c:pt idx="7">
                  <c:v>32</c:v>
                </c:pt>
                <c:pt idx="8">
                  <c:v>32</c:v>
                </c:pt>
                <c:pt idx="9">
                  <c:v>16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4"/>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MPG range starts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Number of cars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EEECE1"/>
        </a:solidFill>
      </c:spPr>
    </c:plotArea>
    <c:plotVisOnly val="1"/>
  </c:chart>
  <c:spPr>
    <a:solidFill xmlns:a="http://schemas.openxmlformats.org/drawingml/2006/main">
      <a:srgbClr val="EEECE1"/>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marker"/>
        <c:ser>
          <c:idx val="0"/>
          <c:order val="0"/>
          <c:tx>
            <c:v>europe</c:v>
          </c:tx>
          <c:spPr>
            <a:solidFill xmlns:a="http://schemas.openxmlformats.org/drawingml/2006/main">
              <a:srgbClr val="707070"/>
            </a:solidFill>
            <a:ln xmlns:a="http://schemas.openxmlformats.org/drawingml/2006/main" w="0">
              <a:noFill/>
            </a:ln>
          </c:spPr>
          <c:marker>
            <c:symbol val="circle"/>
            <c:size val="4"/>
            <c:spPr>
              <a:noFill xmlns:a="http://schemas.openxmlformats.org/drawingml/2006/main"/>
            </c:spPr>
          </c:marker>
          <c:xVal>
            <c:numRef>
              <c:f>'Chart Data'!$A$2:$A$82</c:f>
              <c:numCache>
                <c:formatCode>General</c:formatCode>
                <c:ptCount val="81"/>
                <c:pt idx="0">
                  <c:v>1845</c:v>
                </c:pt>
                <c:pt idx="1">
                  <c:v>2777</c:v>
                </c:pt>
                <c:pt idx="2">
                  <c:v>1890</c:v>
                </c:pt>
                <c:pt idx="3">
                  <c:v>2130</c:v>
                </c:pt>
                <c:pt idx="4">
                  <c:v>2454</c:v>
                </c:pt>
                <c:pt idx="5">
                  <c:v>2484</c:v>
                </c:pt>
                <c:pt idx="6">
                  <c:v>2735</c:v>
                </c:pt>
                <c:pt idx="7">
                  <c:v>2592</c:v>
                </c:pt>
                <c:pt idx="8">
                  <c:v>2832</c:v>
                </c:pt>
                <c:pt idx="9">
                  <c:v>1813</c:v>
                </c:pt>
                <c:pt idx="10">
                  <c:v>2749</c:v>
                </c:pt>
                <c:pt idx="11">
                  <c:v>2340</c:v>
                </c:pt>
                <c:pt idx="12">
                  <c:v>3169</c:v>
                </c:pt>
                <c:pt idx="13">
                  <c:v>2196</c:v>
                </c:pt>
                <c:pt idx="14">
                  <c:v>3199</c:v>
                </c:pt>
                <c:pt idx="15">
                  <c:v>1924</c:v>
                </c:pt>
                <c:pt idx="16">
                  <c:v>2647</c:v>
                </c:pt>
                <c:pt idx="17">
                  <c:v>2557</c:v>
                </c:pt>
                <c:pt idx="18">
                  <c:v>1899</c:v>
                </c:pt>
                <c:pt idx="19">
                  <c:v>2432</c:v>
                </c:pt>
                <c:pt idx="20">
                  <c:v>2581</c:v>
                </c:pt>
                <c:pt idx="21">
                  <c:v>2122</c:v>
                </c:pt>
                <c:pt idx="22">
                  <c:v>2073</c:v>
                </c:pt>
                <c:pt idx="23">
                  <c:v>2507</c:v>
                </c:pt>
                <c:pt idx="24">
                  <c:v>2729</c:v>
                </c:pt>
                <c:pt idx="25">
                  <c:v>3155</c:v>
                </c:pt>
                <c:pt idx="26">
                  <c:v>2790</c:v>
                </c:pt>
                <c:pt idx="27">
                  <c:v>2636</c:v>
                </c:pt>
                <c:pt idx="28">
                  <c:v>1996</c:v>
                </c:pt>
                <c:pt idx="29">
                  <c:v>1965</c:v>
                </c:pt>
                <c:pt idx="30">
                  <c:v>2272</c:v>
                </c:pt>
                <c:pt idx="31">
                  <c:v>2712</c:v>
                </c:pt>
                <c:pt idx="32">
                  <c:v>2463</c:v>
                </c:pt>
                <c:pt idx="33">
                  <c:v>3193</c:v>
                </c:pt>
                <c:pt idx="34">
                  <c:v>2402</c:v>
                </c:pt>
                <c:pt idx="35">
                  <c:v>2175</c:v>
                </c:pt>
                <c:pt idx="36">
                  <c:v>1850</c:v>
                </c:pt>
                <c:pt idx="37">
                  <c:v>2466</c:v>
                </c:pt>
                <c:pt idx="38">
                  <c:v>2326</c:v>
                </c:pt>
                <c:pt idx="39">
                  <c:v>3219</c:v>
                </c:pt>
                <c:pt idx="40">
                  <c:v>1872</c:v>
                </c:pt>
                <c:pt idx="41">
                  <c:v>1988</c:v>
                </c:pt>
                <c:pt idx="42">
                  <c:v>2259</c:v>
                </c:pt>
                <c:pt idx="43">
                  <c:v>2248</c:v>
                </c:pt>
                <c:pt idx="44">
                  <c:v>2716</c:v>
                </c:pt>
                <c:pt idx="45">
                  <c:v>2792</c:v>
                </c:pt>
                <c:pt idx="46">
                  <c:v>2632</c:v>
                </c:pt>
                <c:pt idx="47">
                  <c:v>2799</c:v>
                </c:pt>
                <c:pt idx="48">
                  <c:v>2146</c:v>
                </c:pt>
                <c:pt idx="49">
                  <c:v>3155</c:v>
                </c:pt>
                <c:pt idx="50">
                  <c:v>2455</c:v>
                </c:pt>
                <c:pt idx="51">
                  <c:v>2518</c:v>
                </c:pt>
                <c:pt idx="52">
                  <c:v>2969</c:v>
                </c:pt>
                <c:pt idx="53">
                  <c:v>2349</c:v>
                </c:pt>
                <c:pt idx="54">
                  <c:v>2722</c:v>
                </c:pt>
                <c:pt idx="55">
                  <c:v>1854</c:v>
                </c:pt>
                <c:pt idx="56">
                  <c:v>2454</c:v>
                </c:pt>
                <c:pt idx="57">
                  <c:v>1980</c:v>
                </c:pt>
                <c:pt idx="58">
                  <c:v>2031</c:v>
                </c:pt>
                <c:pt idx="59">
                  <c:v>1857</c:v>
                </c:pt>
                <c:pt idx="60">
                  <c:v>2282</c:v>
                </c:pt>
                <c:pt idx="61">
                  <c:v>2361</c:v>
                </c:pt>
                <c:pt idx="62">
                  <c:v>2025</c:v>
                </c:pt>
                <c:pt idx="63">
                  <c:v>2550</c:v>
                </c:pt>
                <c:pt idx="64">
                  <c:v>2697</c:v>
                </c:pt>
                <c:pt idx="65">
                  <c:v>2351</c:v>
                </c:pt>
                <c:pt idx="66">
                  <c:v>2024</c:v>
                </c:pt>
                <c:pt idx="67">
                  <c:v>1941</c:v>
                </c:pt>
                <c:pt idx="68">
                  <c:v>3171</c:v>
                </c:pt>
                <c:pt idx="69">
                  <c:v>1809</c:v>
                </c:pt>
                <c:pt idx="70">
                  <c:v>2638</c:v>
                </c:pt>
                <c:pt idx="71">
                  <c:v>2149</c:v>
                </c:pt>
                <c:pt idx="72">
                  <c:v>2611</c:v>
                </c:pt>
                <c:pt idx="73">
                  <c:v>1850</c:v>
                </c:pt>
                <c:pt idx="74">
                  <c:v>1941</c:v>
                </c:pt>
                <c:pt idx="75">
                  <c:v>2479</c:v>
                </c:pt>
                <c:pt idx="76">
                  <c:v>2225</c:v>
                </c:pt>
                <c:pt idx="77">
                  <c:v>2394</c:v>
                </c:pt>
                <c:pt idx="78">
                  <c:v>1883</c:v>
                </c:pt>
                <c:pt idx="79">
                  <c:v>1853</c:v>
                </c:pt>
                <c:pt idx="80">
                  <c:v>2253</c:v>
                </c:pt>
              </c:numCache>
            </c:numRef>
          </c:xVal>
          <c:yVal>
            <c:numRef>
              <c:f>'Chart Data'!$B$2:$B$82</c:f>
              <c:numCache>
                <c:formatCode>General</c:formatCode>
                <c:ptCount val="81"/>
                <c:pt idx="0">
                  <c:v>41.9</c:v>
                </c:pt>
                <c:pt idx="1">
                  <c:v>24.4</c:v>
                </c:pt>
                <c:pt idx="2">
                  <c:v>26</c:v>
                </c:pt>
                <c:pt idx="3">
                  <c:v>25.3</c:v>
                </c:pt>
                <c:pt idx="4">
                  <c:v>37.5</c:v>
                </c:pt>
                <c:pt idx="5">
                  <c:v>25.2</c:v>
                </c:pt>
                <c:pt idx="6">
                  <c:v>37.6</c:v>
                </c:pt>
                <c:pt idx="7">
                  <c:v>32.3</c:v>
                </c:pt>
                <c:pt idx="8">
                  <c:v>20.2</c:v>
                </c:pt>
                <c:pt idx="9">
                  <c:v>41.9</c:v>
                </c:pt>
                <c:pt idx="10">
                  <c:v>24.8</c:v>
                </c:pt>
                <c:pt idx="11">
                  <c:v>33</c:v>
                </c:pt>
                <c:pt idx="12">
                  <c:v>20.8</c:v>
                </c:pt>
                <c:pt idx="13">
                  <c:v>35.8</c:v>
                </c:pt>
                <c:pt idx="14">
                  <c:v>23.4</c:v>
                </c:pt>
                <c:pt idx="15">
                  <c:v>26.5</c:v>
                </c:pt>
                <c:pt idx="16">
                  <c:v>32.2</c:v>
                </c:pt>
                <c:pt idx="17">
                  <c:v>29.3</c:v>
                </c:pt>
                <c:pt idx="18">
                  <c:v>27.6</c:v>
                </c:pt>
                <c:pt idx="19">
                  <c:v>35.9</c:v>
                </c:pt>
                <c:pt idx="20">
                  <c:v>41.6</c:v>
                </c:pt>
                <c:pt idx="21">
                  <c:v>39.8</c:v>
                </c:pt>
                <c:pt idx="22">
                  <c:v>38.1</c:v>
                </c:pt>
                <c:pt idx="23">
                  <c:v>28.2</c:v>
                </c:pt>
                <c:pt idx="24">
                  <c:v>38</c:v>
                </c:pt>
                <c:pt idx="25">
                  <c:v>22.1</c:v>
                </c:pt>
                <c:pt idx="26">
                  <c:v>30.2</c:v>
                </c:pt>
                <c:pt idx="27">
                  <c:v>26.9</c:v>
                </c:pt>
                <c:pt idx="28">
                  <c:v>37.5</c:v>
                </c:pt>
                <c:pt idx="29">
                  <c:v>26.9</c:v>
                </c:pt>
                <c:pt idx="30">
                  <c:v>24.7</c:v>
                </c:pt>
                <c:pt idx="31">
                  <c:v>34.9</c:v>
                </c:pt>
                <c:pt idx="32">
                  <c:v>30.7</c:v>
                </c:pt>
                <c:pt idx="33">
                  <c:v>22.6</c:v>
                </c:pt>
                <c:pt idx="34">
                  <c:v>28.4</c:v>
                </c:pt>
                <c:pt idx="35">
                  <c:v>40.4</c:v>
                </c:pt>
                <c:pt idx="36">
                  <c:v>35.6</c:v>
                </c:pt>
                <c:pt idx="37">
                  <c:v>35.6</c:v>
                </c:pt>
                <c:pt idx="38">
                  <c:v>28.7</c:v>
                </c:pt>
                <c:pt idx="39">
                  <c:v>24.2</c:v>
                </c:pt>
                <c:pt idx="40">
                  <c:v>29.3</c:v>
                </c:pt>
                <c:pt idx="41">
                  <c:v>33.2</c:v>
                </c:pt>
                <c:pt idx="42">
                  <c:v>38.8</c:v>
                </c:pt>
                <c:pt idx="43">
                  <c:v>33.1</c:v>
                </c:pt>
                <c:pt idx="44">
                  <c:v>29.4</c:v>
                </c:pt>
                <c:pt idx="45">
                  <c:v>24</c:v>
                </c:pt>
                <c:pt idx="46">
                  <c:v>27.5</c:v>
                </c:pt>
                <c:pt idx="47">
                  <c:v>40.1</c:v>
                </c:pt>
                <c:pt idx="48">
                  <c:v>40.6</c:v>
                </c:pt>
                <c:pt idx="49">
                  <c:v>19.4</c:v>
                </c:pt>
                <c:pt idx="50">
                  <c:v>39.7</c:v>
                </c:pt>
                <c:pt idx="51">
                  <c:v>40.3</c:v>
                </c:pt>
                <c:pt idx="52">
                  <c:v>24.4</c:v>
                </c:pt>
                <c:pt idx="53">
                  <c:v>39.2</c:v>
                </c:pt>
                <c:pt idx="54">
                  <c:v>37.7</c:v>
                </c:pt>
                <c:pt idx="55">
                  <c:v>26.2</c:v>
                </c:pt>
                <c:pt idx="56">
                  <c:v>35.6</c:v>
                </c:pt>
                <c:pt idx="57">
                  <c:v>31.4</c:v>
                </c:pt>
                <c:pt idx="58">
                  <c:v>28.9</c:v>
                </c:pt>
                <c:pt idx="59">
                  <c:v>36.6</c:v>
                </c:pt>
                <c:pt idx="60">
                  <c:v>25.8</c:v>
                </c:pt>
                <c:pt idx="61">
                  <c:v>39.3</c:v>
                </c:pt>
                <c:pt idx="62">
                  <c:v>39.9</c:v>
                </c:pt>
                <c:pt idx="63">
                  <c:v>38</c:v>
                </c:pt>
                <c:pt idx="64">
                  <c:v>35.9</c:v>
                </c:pt>
                <c:pt idx="65">
                  <c:v>40.8</c:v>
                </c:pt>
                <c:pt idx="66">
                  <c:v>30.7</c:v>
                </c:pt>
                <c:pt idx="67">
                  <c:v>25.1</c:v>
                </c:pt>
                <c:pt idx="68">
                  <c:v>23.1</c:v>
                </c:pt>
                <c:pt idx="69">
                  <c:v>31.7</c:v>
                </c:pt>
                <c:pt idx="70">
                  <c:v>25.7</c:v>
                </c:pt>
                <c:pt idx="71">
                  <c:v>30.8</c:v>
                </c:pt>
                <c:pt idx="72">
                  <c:v>29.6</c:v>
                </c:pt>
                <c:pt idx="73">
                  <c:v>36.3</c:v>
                </c:pt>
                <c:pt idx="74">
                  <c:v>33.4</c:v>
                </c:pt>
                <c:pt idx="75">
                  <c:v>33.8</c:v>
                </c:pt>
                <c:pt idx="76">
                  <c:v>39.8</c:v>
                </c:pt>
                <c:pt idx="77">
                  <c:v>36.3</c:v>
                </c:pt>
                <c:pt idx="78">
                  <c:v>25.2</c:v>
                </c:pt>
                <c:pt idx="79">
                  <c:v>41.9</c:v>
                </c:pt>
                <c:pt idx="80">
                  <c:v>24.3</c:v>
                </c:pt>
              </c:numCache>
            </c:numRef>
          </c:yVal>
        </c:ser>
        <c:ser>
          <c:idx val="1"/>
          <c:order val="1"/>
          <c:tx>
            <c:v>japan</c:v>
          </c:tx>
          <c:spPr>
            <a:solidFill xmlns:a="http://schemas.openxmlformats.org/drawingml/2006/main">
              <a:srgbClr val="1F2120"/>
            </a:solidFill>
            <a:ln xmlns:a="http://schemas.openxmlformats.org/drawingml/2006/main" w="0">
              <a:noFill/>
            </a:ln>
          </c:spPr>
          <c:marker>
            <c:symbol val="circle"/>
            <c:size val="4"/>
            <c:spPr>
              <a:noFill xmlns:a="http://schemas.openxmlformats.org/drawingml/2006/main"/>
            </c:spPr>
          </c:marker>
          <c:xVal>
            <c:numRef>
              <c:f>'Chart Data'!$C$2:$C$101</c:f>
              <c:numCache>
                <c:formatCode>General</c:formatCode>
                <c:ptCount val="100"/>
                <c:pt idx="0">
                  <c:v>1722</c:v>
                </c:pt>
                <c:pt idx="1">
                  <c:v>2284</c:v>
                </c:pt>
                <c:pt idx="2">
                  <c:v>2284</c:v>
                </c:pt>
                <c:pt idx="3">
                  <c:v>2492</c:v>
                </c:pt>
                <c:pt idx="4">
                  <c:v>1977</c:v>
                </c:pt>
                <c:pt idx="5">
                  <c:v>1808</c:v>
                </c:pt>
                <c:pt idx="6">
                  <c:v>1801</c:v>
                </c:pt>
                <c:pt idx="7">
                  <c:v>1669</c:v>
                </c:pt>
                <c:pt idx="8">
                  <c:v>2183</c:v>
                </c:pt>
                <c:pt idx="9">
                  <c:v>1799</c:v>
                </c:pt>
                <c:pt idx="10">
                  <c:v>2013</c:v>
                </c:pt>
                <c:pt idx="11">
                  <c:v>1852</c:v>
                </c:pt>
                <c:pt idx="12">
                  <c:v>1889</c:v>
                </c:pt>
                <c:pt idx="13">
                  <c:v>1756</c:v>
                </c:pt>
                <c:pt idx="14">
                  <c:v>2173</c:v>
                </c:pt>
                <c:pt idx="15">
                  <c:v>2020</c:v>
                </c:pt>
                <c:pt idx="16">
                  <c:v>2147</c:v>
                </c:pt>
                <c:pt idx="17">
                  <c:v>2273</c:v>
                </c:pt>
                <c:pt idx="18">
                  <c:v>2385</c:v>
                </c:pt>
                <c:pt idx="19">
                  <c:v>2290</c:v>
                </c:pt>
                <c:pt idx="20">
                  <c:v>1771</c:v>
                </c:pt>
                <c:pt idx="21">
                  <c:v>1855</c:v>
                </c:pt>
                <c:pt idx="22">
                  <c:v>1605</c:v>
                </c:pt>
                <c:pt idx="23">
                  <c:v>1830</c:v>
                </c:pt>
                <c:pt idx="24">
                  <c:v>2253</c:v>
                </c:pt>
                <c:pt idx="25">
                  <c:v>1614</c:v>
                </c:pt>
                <c:pt idx="26">
                  <c:v>2355</c:v>
                </c:pt>
                <c:pt idx="27">
                  <c:v>2215</c:v>
                </c:pt>
                <c:pt idx="28">
                  <c:v>2409</c:v>
                </c:pt>
                <c:pt idx="29">
                  <c:v>1802</c:v>
                </c:pt>
                <c:pt idx="30">
                  <c:v>1909</c:v>
                </c:pt>
                <c:pt idx="31">
                  <c:v>2284</c:v>
                </c:pt>
                <c:pt idx="32">
                  <c:v>2335</c:v>
                </c:pt>
                <c:pt idx="33">
                  <c:v>1841</c:v>
                </c:pt>
                <c:pt idx="34">
                  <c:v>1692</c:v>
                </c:pt>
                <c:pt idx="35">
                  <c:v>2116</c:v>
                </c:pt>
                <c:pt idx="36">
                  <c:v>2206</c:v>
                </c:pt>
                <c:pt idx="37">
                  <c:v>1852</c:v>
                </c:pt>
                <c:pt idx="38">
                  <c:v>2175</c:v>
                </c:pt>
                <c:pt idx="39">
                  <c:v>2309</c:v>
                </c:pt>
                <c:pt idx="40">
                  <c:v>2341</c:v>
                </c:pt>
                <c:pt idx="41">
                  <c:v>2395</c:v>
                </c:pt>
                <c:pt idx="42">
                  <c:v>2311</c:v>
                </c:pt>
                <c:pt idx="43">
                  <c:v>2262</c:v>
                </c:pt>
                <c:pt idx="44">
                  <c:v>1637</c:v>
                </c:pt>
                <c:pt idx="45">
                  <c:v>2353</c:v>
                </c:pt>
                <c:pt idx="46">
                  <c:v>2147</c:v>
                </c:pt>
                <c:pt idx="47">
                  <c:v>2090</c:v>
                </c:pt>
                <c:pt idx="48">
                  <c:v>2098</c:v>
                </c:pt>
                <c:pt idx="49">
                  <c:v>2250</c:v>
                </c:pt>
                <c:pt idx="50">
                  <c:v>1786</c:v>
                </c:pt>
                <c:pt idx="51">
                  <c:v>2368</c:v>
                </c:pt>
                <c:pt idx="52">
                  <c:v>2382</c:v>
                </c:pt>
                <c:pt idx="53">
                  <c:v>2474</c:v>
                </c:pt>
                <c:pt idx="54">
                  <c:v>2145</c:v>
                </c:pt>
                <c:pt idx="55">
                  <c:v>2105</c:v>
                </c:pt>
                <c:pt idx="56">
                  <c:v>2280</c:v>
                </c:pt>
                <c:pt idx="57">
                  <c:v>2269</c:v>
                </c:pt>
                <c:pt idx="58">
                  <c:v>1844</c:v>
                </c:pt>
                <c:pt idx="59">
                  <c:v>1604</c:v>
                </c:pt>
                <c:pt idx="60">
                  <c:v>1637</c:v>
                </c:pt>
                <c:pt idx="61">
                  <c:v>2428</c:v>
                </c:pt>
                <c:pt idx="62">
                  <c:v>1798</c:v>
                </c:pt>
                <c:pt idx="63">
                  <c:v>2192</c:v>
                </c:pt>
                <c:pt idx="64">
                  <c:v>2033</c:v>
                </c:pt>
                <c:pt idx="65">
                  <c:v>1950</c:v>
                </c:pt>
                <c:pt idx="66">
                  <c:v>2455</c:v>
                </c:pt>
                <c:pt idx="67">
                  <c:v>1898</c:v>
                </c:pt>
                <c:pt idx="68">
                  <c:v>1906</c:v>
                </c:pt>
                <c:pt idx="69">
                  <c:v>2180</c:v>
                </c:pt>
                <c:pt idx="70">
                  <c:v>1624</c:v>
                </c:pt>
                <c:pt idx="71">
                  <c:v>1749</c:v>
                </c:pt>
                <c:pt idx="72">
                  <c:v>2351</c:v>
                </c:pt>
                <c:pt idx="73">
                  <c:v>1978</c:v>
                </c:pt>
                <c:pt idx="74">
                  <c:v>2354</c:v>
                </c:pt>
                <c:pt idx="75">
                  <c:v>1796</c:v>
                </c:pt>
                <c:pt idx="76">
                  <c:v>2285</c:v>
                </c:pt>
                <c:pt idx="77">
                  <c:v>2408</c:v>
                </c:pt>
                <c:pt idx="78">
                  <c:v>1696</c:v>
                </c:pt>
                <c:pt idx="79">
                  <c:v>2397</c:v>
                </c:pt>
                <c:pt idx="80">
                  <c:v>1737</c:v>
                </c:pt>
                <c:pt idx="81">
                  <c:v>2265</c:v>
                </c:pt>
                <c:pt idx="82">
                  <c:v>2235</c:v>
                </c:pt>
                <c:pt idx="83">
                  <c:v>1651</c:v>
                </c:pt>
                <c:pt idx="84">
                  <c:v>1899</c:v>
                </c:pt>
                <c:pt idx="85">
                  <c:v>2059</c:v>
                </c:pt>
                <c:pt idx="86">
                  <c:v>2365</c:v>
                </c:pt>
                <c:pt idx="87">
                  <c:v>2107</c:v>
                </c:pt>
                <c:pt idx="88">
                  <c:v>2375</c:v>
                </c:pt>
                <c:pt idx="89">
                  <c:v>2292</c:v>
                </c:pt>
                <c:pt idx="90">
                  <c:v>2116</c:v>
                </c:pt>
                <c:pt idx="91">
                  <c:v>2291</c:v>
                </c:pt>
                <c:pt idx="92">
                  <c:v>1692</c:v>
                </c:pt>
                <c:pt idx="93">
                  <c:v>1842</c:v>
                </c:pt>
                <c:pt idx="94">
                  <c:v>2472</c:v>
                </c:pt>
                <c:pt idx="95">
                  <c:v>1614</c:v>
                </c:pt>
                <c:pt idx="96">
                  <c:v>1997</c:v>
                </c:pt>
                <c:pt idx="97">
                  <c:v>1718</c:v>
                </c:pt>
                <c:pt idx="98">
                  <c:v>2076</c:v>
                </c:pt>
                <c:pt idx="99">
                  <c:v>2317</c:v>
                </c:pt>
              </c:numCache>
            </c:numRef>
          </c:xVal>
          <c:yVal>
            <c:numRef>
              <c:f>'Chart Data'!$D$2:$D$101</c:f>
              <c:numCache>
                <c:formatCode>General</c:formatCode>
                <c:ptCount val="100"/>
                <c:pt idx="0">
                  <c:v>33.4</c:v>
                </c:pt>
                <c:pt idx="1">
                  <c:v>33.7</c:v>
                </c:pt>
                <c:pt idx="2">
                  <c:v>43.4</c:v>
                </c:pt>
                <c:pt idx="3">
                  <c:v>41.8</c:v>
                </c:pt>
                <c:pt idx="4">
                  <c:v>28.7</c:v>
                </c:pt>
                <c:pt idx="5">
                  <c:v>32.8</c:v>
                </c:pt>
                <c:pt idx="6">
                  <c:v>34</c:v>
                </c:pt>
                <c:pt idx="7">
                  <c:v>36.9</c:v>
                </c:pt>
                <c:pt idx="8">
                  <c:v>34.1</c:v>
                </c:pt>
                <c:pt idx="9">
                  <c:v>34.7</c:v>
                </c:pt>
                <c:pt idx="10">
                  <c:v>45.4</c:v>
                </c:pt>
                <c:pt idx="11">
                  <c:v>34.2</c:v>
                </c:pt>
                <c:pt idx="12">
                  <c:v>40</c:v>
                </c:pt>
                <c:pt idx="13">
                  <c:v>30.2</c:v>
                </c:pt>
                <c:pt idx="14">
                  <c:v>30.4</c:v>
                </c:pt>
                <c:pt idx="15">
                  <c:v>27.1</c:v>
                </c:pt>
                <c:pt idx="16">
                  <c:v>36.4</c:v>
                </c:pt>
                <c:pt idx="17">
                  <c:v>31.7</c:v>
                </c:pt>
                <c:pt idx="18">
                  <c:v>26.1</c:v>
                </c:pt>
                <c:pt idx="19">
                  <c:v>42.4</c:v>
                </c:pt>
                <c:pt idx="20">
                  <c:v>44.7</c:v>
                </c:pt>
                <c:pt idx="21">
                  <c:v>40.9</c:v>
                </c:pt>
                <c:pt idx="22">
                  <c:v>29.7</c:v>
                </c:pt>
                <c:pt idx="23">
                  <c:v>33</c:v>
                </c:pt>
                <c:pt idx="24">
                  <c:v>43</c:v>
                </c:pt>
                <c:pt idx="25">
                  <c:v>39.9</c:v>
                </c:pt>
                <c:pt idx="26">
                  <c:v>29.4</c:v>
                </c:pt>
                <c:pt idx="27">
                  <c:v>38.3</c:v>
                </c:pt>
                <c:pt idx="28">
                  <c:v>28.9</c:v>
                </c:pt>
                <c:pt idx="29">
                  <c:v>45.8</c:v>
                </c:pt>
                <c:pt idx="30">
                  <c:v>30.6</c:v>
                </c:pt>
                <c:pt idx="31">
                  <c:v>26.3</c:v>
                </c:pt>
                <c:pt idx="32">
                  <c:v>38.8</c:v>
                </c:pt>
                <c:pt idx="33">
                  <c:v>41.8</c:v>
                </c:pt>
                <c:pt idx="34">
                  <c:v>30.1</c:v>
                </c:pt>
                <c:pt idx="35">
                  <c:v>45.5</c:v>
                </c:pt>
                <c:pt idx="36">
                  <c:v>44.4</c:v>
                </c:pt>
                <c:pt idx="37">
                  <c:v>44</c:v>
                </c:pt>
                <c:pt idx="38">
                  <c:v>32.8</c:v>
                </c:pt>
                <c:pt idx="39">
                  <c:v>36.8</c:v>
                </c:pt>
                <c:pt idx="40">
                  <c:v>34.5</c:v>
                </c:pt>
                <c:pt idx="41">
                  <c:v>26.7</c:v>
                </c:pt>
                <c:pt idx="42">
                  <c:v>28.2</c:v>
                </c:pt>
                <c:pt idx="43">
                  <c:v>29.3</c:v>
                </c:pt>
                <c:pt idx="44">
                  <c:v>30.8</c:v>
                </c:pt>
                <c:pt idx="45">
                  <c:v>35.5</c:v>
                </c:pt>
                <c:pt idx="46">
                  <c:v>29.6</c:v>
                </c:pt>
                <c:pt idx="47">
                  <c:v>27.2</c:v>
                </c:pt>
                <c:pt idx="48">
                  <c:v>36.2</c:v>
                </c:pt>
                <c:pt idx="49">
                  <c:v>45.6</c:v>
                </c:pt>
                <c:pt idx="50">
                  <c:v>32.9</c:v>
                </c:pt>
                <c:pt idx="51">
                  <c:v>39.2</c:v>
                </c:pt>
                <c:pt idx="52">
                  <c:v>30.5</c:v>
                </c:pt>
                <c:pt idx="53">
                  <c:v>34.5</c:v>
                </c:pt>
                <c:pt idx="54">
                  <c:v>38.9</c:v>
                </c:pt>
                <c:pt idx="55">
                  <c:v>27.4</c:v>
                </c:pt>
                <c:pt idx="56">
                  <c:v>38.6</c:v>
                </c:pt>
                <c:pt idx="57">
                  <c:v>27.5</c:v>
                </c:pt>
                <c:pt idx="58">
                  <c:v>34.8</c:v>
                </c:pt>
                <c:pt idx="59">
                  <c:v>36.5</c:v>
                </c:pt>
                <c:pt idx="60">
                  <c:v>45.8</c:v>
                </c:pt>
                <c:pt idx="61">
                  <c:v>33.6</c:v>
                </c:pt>
                <c:pt idx="62">
                  <c:v>31.8</c:v>
                </c:pt>
                <c:pt idx="63">
                  <c:v>44.4</c:v>
                </c:pt>
                <c:pt idx="64">
                  <c:v>35.3</c:v>
                </c:pt>
                <c:pt idx="65">
                  <c:v>39.4</c:v>
                </c:pt>
                <c:pt idx="66">
                  <c:v>29.4</c:v>
                </c:pt>
                <c:pt idx="67">
                  <c:v>34.7</c:v>
                </c:pt>
                <c:pt idx="68">
                  <c:v>34.8</c:v>
                </c:pt>
                <c:pt idx="69">
                  <c:v>36.6</c:v>
                </c:pt>
                <c:pt idx="70">
                  <c:v>27.4</c:v>
                </c:pt>
                <c:pt idx="71">
                  <c:v>32.2</c:v>
                </c:pt>
                <c:pt idx="72">
                  <c:v>27.1</c:v>
                </c:pt>
                <c:pt idx="73">
                  <c:v>35.2</c:v>
                </c:pt>
                <c:pt idx="74">
                  <c:v>27.5</c:v>
                </c:pt>
                <c:pt idx="75">
                  <c:v>41</c:v>
                </c:pt>
                <c:pt idx="76">
                  <c:v>35.9</c:v>
                </c:pt>
                <c:pt idx="77">
                  <c:v>42.1</c:v>
                </c:pt>
                <c:pt idx="78">
                  <c:v>45.6</c:v>
                </c:pt>
                <c:pt idx="79">
                  <c:v>35.5</c:v>
                </c:pt>
                <c:pt idx="80">
                  <c:v>34.6</c:v>
                </c:pt>
                <c:pt idx="81">
                  <c:v>40.4</c:v>
                </c:pt>
                <c:pt idx="82">
                  <c:v>30.5</c:v>
                </c:pt>
                <c:pt idx="83">
                  <c:v>43.6</c:v>
                </c:pt>
                <c:pt idx="84">
                  <c:v>40</c:v>
                </c:pt>
                <c:pt idx="85">
                  <c:v>31.3</c:v>
                </c:pt>
                <c:pt idx="86">
                  <c:v>44.2</c:v>
                </c:pt>
                <c:pt idx="87">
                  <c:v>34.8</c:v>
                </c:pt>
                <c:pt idx="88">
                  <c:v>34</c:v>
                </c:pt>
                <c:pt idx="89">
                  <c:v>33</c:v>
                </c:pt>
                <c:pt idx="90">
                  <c:v>34.4</c:v>
                </c:pt>
                <c:pt idx="91">
                  <c:v>29</c:v>
                </c:pt>
                <c:pt idx="92">
                  <c:v>26.3</c:v>
                </c:pt>
                <c:pt idx="93">
                  <c:v>42.7</c:v>
                </c:pt>
                <c:pt idx="94">
                  <c:v>41.8</c:v>
                </c:pt>
                <c:pt idx="95">
                  <c:v>26.3</c:v>
                </c:pt>
                <c:pt idx="96">
                  <c:v>34</c:v>
                </c:pt>
                <c:pt idx="97">
                  <c:v>40.2</c:v>
                </c:pt>
                <c:pt idx="98">
                  <c:v>30.8</c:v>
                </c:pt>
                <c:pt idx="99">
                  <c:v>40</c:v>
                </c:pt>
              </c:numCache>
            </c:numRef>
          </c:yVal>
        </c:ser>
        <c:ser>
          <c:idx val="2"/>
          <c:order val="2"/>
          <c:tx>
            <c:v>usa</c:v>
          </c:tx>
          <c:spPr>
            <a:solidFill xmlns:a="http://schemas.openxmlformats.org/drawingml/2006/main">
              <a:srgbClr val="CF3338"/>
            </a:solidFill>
            <a:ln xmlns:a="http://schemas.openxmlformats.org/drawingml/2006/main" w="0">
              <a:noFill/>
            </a:ln>
          </c:spPr>
          <c:marker>
            <c:symbol val="circle"/>
            <c:size val="4"/>
            <c:spPr>
              <a:noFill xmlns:a="http://schemas.openxmlformats.org/drawingml/2006/main"/>
            </c:spPr>
          </c:marker>
          <c:xVal>
            <c:numRef>
              <c:f>'Chart Data'!$E$2:$E$208</c:f>
              <c:numCache>
                <c:formatCode>General</c:formatCode>
                <c:ptCount val="207"/>
                <c:pt idx="0">
                  <c:v>1939</c:v>
                </c:pt>
                <c:pt idx="1">
                  <c:v>3174</c:v>
                </c:pt>
                <c:pt idx="2">
                  <c:v>2511</c:v>
                </c:pt>
                <c:pt idx="3">
                  <c:v>3283</c:v>
                </c:pt>
                <c:pt idx="4">
                  <c:v>3457</c:v>
                </c:pt>
                <c:pt idx="5">
                  <c:v>3254</c:v>
                </c:pt>
                <c:pt idx="6">
                  <c:v>2451</c:v>
                </c:pt>
                <c:pt idx="7">
                  <c:v>3571</c:v>
                </c:pt>
                <c:pt idx="8">
                  <c:v>3000</c:v>
                </c:pt>
                <c:pt idx="9">
                  <c:v>3380</c:v>
                </c:pt>
                <c:pt idx="10">
                  <c:v>2413</c:v>
                </c:pt>
                <c:pt idx="11">
                  <c:v>4675</c:v>
                </c:pt>
                <c:pt idx="12">
                  <c:v>2949</c:v>
                </c:pt>
                <c:pt idx="13">
                  <c:v>3395</c:v>
                </c:pt>
                <c:pt idx="14">
                  <c:v>3458</c:v>
                </c:pt>
                <c:pt idx="15">
                  <c:v>3450</c:v>
                </c:pt>
                <c:pt idx="16">
                  <c:v>2967</c:v>
                </c:pt>
                <c:pt idx="17">
                  <c:v>3983</c:v>
                </c:pt>
                <c:pt idx="18">
                  <c:v>3476</c:v>
                </c:pt>
                <c:pt idx="19">
                  <c:v>2519</c:v>
                </c:pt>
                <c:pt idx="20">
                  <c:v>3383</c:v>
                </c:pt>
                <c:pt idx="21">
                  <c:v>2485</c:v>
                </c:pt>
                <c:pt idx="22">
                  <c:v>4076</c:v>
                </c:pt>
                <c:pt idx="23">
                  <c:v>3867</c:v>
                </c:pt>
                <c:pt idx="24">
                  <c:v>2709</c:v>
                </c:pt>
                <c:pt idx="25">
                  <c:v>3791</c:v>
                </c:pt>
                <c:pt idx="26">
                  <c:v>3207</c:v>
                </c:pt>
                <c:pt idx="27">
                  <c:v>4173</c:v>
                </c:pt>
                <c:pt idx="28">
                  <c:v>2049</c:v>
                </c:pt>
                <c:pt idx="29">
                  <c:v>4144</c:v>
                </c:pt>
                <c:pt idx="30">
                  <c:v>3436</c:v>
                </c:pt>
                <c:pt idx="31">
                  <c:v>3870</c:v>
                </c:pt>
                <c:pt idx="32">
                  <c:v>2155</c:v>
                </c:pt>
                <c:pt idx="33">
                  <c:v>3480</c:v>
                </c:pt>
                <c:pt idx="34">
                  <c:v>2979</c:v>
                </c:pt>
                <c:pt idx="35">
                  <c:v>3206</c:v>
                </c:pt>
                <c:pt idx="36">
                  <c:v>2524</c:v>
                </c:pt>
                <c:pt idx="37">
                  <c:v>3027</c:v>
                </c:pt>
                <c:pt idx="38">
                  <c:v>2299</c:v>
                </c:pt>
                <c:pt idx="39">
                  <c:v>1954</c:v>
                </c:pt>
                <c:pt idx="40">
                  <c:v>4555</c:v>
                </c:pt>
                <c:pt idx="41">
                  <c:v>4074</c:v>
                </c:pt>
                <c:pt idx="42">
                  <c:v>2774</c:v>
                </c:pt>
                <c:pt idx="43">
                  <c:v>2094</c:v>
                </c:pt>
                <c:pt idx="44">
                  <c:v>4099</c:v>
                </c:pt>
                <c:pt idx="45">
                  <c:v>3475</c:v>
                </c:pt>
                <c:pt idx="46">
                  <c:v>4167</c:v>
                </c:pt>
                <c:pt idx="47">
                  <c:v>2596</c:v>
                </c:pt>
                <c:pt idx="48">
                  <c:v>2577</c:v>
                </c:pt>
                <c:pt idx="49">
                  <c:v>3146</c:v>
                </c:pt>
                <c:pt idx="50">
                  <c:v>2518</c:v>
                </c:pt>
                <c:pt idx="51">
                  <c:v>3289</c:v>
                </c:pt>
                <c:pt idx="52">
                  <c:v>4119</c:v>
                </c:pt>
                <c:pt idx="53">
                  <c:v>3456</c:v>
                </c:pt>
                <c:pt idx="54">
                  <c:v>2720</c:v>
                </c:pt>
                <c:pt idx="55">
                  <c:v>2411</c:v>
                </c:pt>
                <c:pt idx="56">
                  <c:v>2400</c:v>
                </c:pt>
                <c:pt idx="57">
                  <c:v>2691</c:v>
                </c:pt>
                <c:pt idx="58">
                  <c:v>2560</c:v>
                </c:pt>
                <c:pt idx="59">
                  <c:v>3392</c:v>
                </c:pt>
                <c:pt idx="60">
                  <c:v>2957</c:v>
                </c:pt>
                <c:pt idx="61">
                  <c:v>3445</c:v>
                </c:pt>
                <c:pt idx="62">
                  <c:v>2969</c:v>
                </c:pt>
                <c:pt idx="63">
                  <c:v>4634</c:v>
                </c:pt>
                <c:pt idx="64">
                  <c:v>2238</c:v>
                </c:pt>
                <c:pt idx="65">
                  <c:v>3800</c:v>
                </c:pt>
                <c:pt idx="66">
                  <c:v>3859</c:v>
                </c:pt>
                <c:pt idx="67">
                  <c:v>2421</c:v>
                </c:pt>
                <c:pt idx="68">
                  <c:v>2242</c:v>
                </c:pt>
                <c:pt idx="69">
                  <c:v>3963</c:v>
                </c:pt>
                <c:pt idx="70">
                  <c:v>2439</c:v>
                </c:pt>
                <c:pt idx="71">
                  <c:v>3993</c:v>
                </c:pt>
                <c:pt idx="72">
                  <c:v>2047</c:v>
                </c:pt>
                <c:pt idx="73">
                  <c:v>2164</c:v>
                </c:pt>
                <c:pt idx="74">
                  <c:v>3323</c:v>
                </c:pt>
                <c:pt idx="75">
                  <c:v>2952</c:v>
                </c:pt>
                <c:pt idx="76">
                  <c:v>1955</c:v>
                </c:pt>
                <c:pt idx="77">
                  <c:v>2569</c:v>
                </c:pt>
                <c:pt idx="78">
                  <c:v>2385</c:v>
                </c:pt>
                <c:pt idx="79">
                  <c:v>3476</c:v>
                </c:pt>
                <c:pt idx="80">
                  <c:v>4054</c:v>
                </c:pt>
                <c:pt idx="81">
                  <c:v>4773</c:v>
                </c:pt>
                <c:pt idx="82">
                  <c:v>4473</c:v>
                </c:pt>
                <c:pt idx="83">
                  <c:v>1967</c:v>
                </c:pt>
                <c:pt idx="84">
                  <c:v>3592</c:v>
                </c:pt>
                <c:pt idx="85">
                  <c:v>3279</c:v>
                </c:pt>
                <c:pt idx="86">
                  <c:v>3438</c:v>
                </c:pt>
                <c:pt idx="87">
                  <c:v>2973</c:v>
                </c:pt>
                <c:pt idx="88">
                  <c:v>2259</c:v>
                </c:pt>
                <c:pt idx="89">
                  <c:v>2469</c:v>
                </c:pt>
                <c:pt idx="90">
                  <c:v>2539</c:v>
                </c:pt>
                <c:pt idx="91">
                  <c:v>2018</c:v>
                </c:pt>
                <c:pt idx="92">
                  <c:v>1980</c:v>
                </c:pt>
                <c:pt idx="93">
                  <c:v>3480</c:v>
                </c:pt>
                <c:pt idx="94">
                  <c:v>3456</c:v>
                </c:pt>
                <c:pt idx="95">
                  <c:v>4705</c:v>
                </c:pt>
                <c:pt idx="96">
                  <c:v>3512</c:v>
                </c:pt>
                <c:pt idx="97">
                  <c:v>4115</c:v>
                </c:pt>
                <c:pt idx="98">
                  <c:v>3346</c:v>
                </c:pt>
                <c:pt idx="99">
                  <c:v>4472</c:v>
                </c:pt>
                <c:pt idx="100">
                  <c:v>3189</c:v>
                </c:pt>
                <c:pt idx="101">
                  <c:v>2673</c:v>
                </c:pt>
                <c:pt idx="102">
                  <c:v>2449</c:v>
                </c:pt>
                <c:pt idx="103">
                  <c:v>4324</c:v>
                </c:pt>
                <c:pt idx="104">
                  <c:v>2338</c:v>
                </c:pt>
                <c:pt idx="105">
                  <c:v>3374</c:v>
                </c:pt>
                <c:pt idx="106">
                  <c:v>2680</c:v>
                </c:pt>
                <c:pt idx="107">
                  <c:v>4217</c:v>
                </c:pt>
                <c:pt idx="108">
                  <c:v>3387</c:v>
                </c:pt>
                <c:pt idx="109">
                  <c:v>4678</c:v>
                </c:pt>
                <c:pt idx="110">
                  <c:v>3471</c:v>
                </c:pt>
                <c:pt idx="111">
                  <c:v>4329</c:v>
                </c:pt>
                <c:pt idx="112">
                  <c:v>2556</c:v>
                </c:pt>
                <c:pt idx="113">
                  <c:v>2592</c:v>
                </c:pt>
                <c:pt idx="114">
                  <c:v>1914</c:v>
                </c:pt>
                <c:pt idx="115">
                  <c:v>3912</c:v>
                </c:pt>
                <c:pt idx="116">
                  <c:v>3389</c:v>
                </c:pt>
                <c:pt idx="117">
                  <c:v>3454</c:v>
                </c:pt>
                <c:pt idx="118">
                  <c:v>3834</c:v>
                </c:pt>
                <c:pt idx="119">
                  <c:v>2462</c:v>
                </c:pt>
                <c:pt idx="120">
                  <c:v>2966</c:v>
                </c:pt>
                <c:pt idx="121">
                  <c:v>2420</c:v>
                </c:pt>
                <c:pt idx="122">
                  <c:v>4050</c:v>
                </c:pt>
                <c:pt idx="123">
                  <c:v>3684</c:v>
                </c:pt>
                <c:pt idx="124">
                  <c:v>3148</c:v>
                </c:pt>
                <c:pt idx="125">
                  <c:v>4744</c:v>
                </c:pt>
                <c:pt idx="126">
                  <c:v>2770</c:v>
                </c:pt>
                <c:pt idx="127">
                  <c:v>2903</c:v>
                </c:pt>
                <c:pt idx="128">
                  <c:v>3388</c:v>
                </c:pt>
                <c:pt idx="129">
                  <c:v>2807</c:v>
                </c:pt>
                <c:pt idx="130">
                  <c:v>2290</c:v>
                </c:pt>
                <c:pt idx="131">
                  <c:v>4358</c:v>
                </c:pt>
                <c:pt idx="132">
                  <c:v>3338</c:v>
                </c:pt>
                <c:pt idx="133">
                  <c:v>4243</c:v>
                </c:pt>
                <c:pt idx="134">
                  <c:v>2143</c:v>
                </c:pt>
                <c:pt idx="135">
                  <c:v>2337</c:v>
                </c:pt>
                <c:pt idx="136">
                  <c:v>2647</c:v>
                </c:pt>
                <c:pt idx="137">
                  <c:v>2737</c:v>
                </c:pt>
                <c:pt idx="138">
                  <c:v>2443</c:v>
                </c:pt>
                <c:pt idx="139">
                  <c:v>2558</c:v>
                </c:pt>
                <c:pt idx="140">
                  <c:v>3366</c:v>
                </c:pt>
                <c:pt idx="141">
                  <c:v>2075</c:v>
                </c:pt>
                <c:pt idx="142">
                  <c:v>2675</c:v>
                </c:pt>
                <c:pt idx="143">
                  <c:v>2290</c:v>
                </c:pt>
                <c:pt idx="144">
                  <c:v>3119</c:v>
                </c:pt>
                <c:pt idx="145">
                  <c:v>4426</c:v>
                </c:pt>
                <c:pt idx="146">
                  <c:v>2866</c:v>
                </c:pt>
                <c:pt idx="147">
                  <c:v>3488</c:v>
                </c:pt>
                <c:pt idx="148">
                  <c:v>4061</c:v>
                </c:pt>
                <c:pt idx="149">
                  <c:v>3942</c:v>
                </c:pt>
                <c:pt idx="150">
                  <c:v>3134</c:v>
                </c:pt>
                <c:pt idx="151">
                  <c:v>3353</c:v>
                </c:pt>
                <c:pt idx="152">
                  <c:v>1983</c:v>
                </c:pt>
                <c:pt idx="153">
                  <c:v>2886</c:v>
                </c:pt>
                <c:pt idx="154">
                  <c:v>2962</c:v>
                </c:pt>
                <c:pt idx="155">
                  <c:v>4554</c:v>
                </c:pt>
                <c:pt idx="156">
                  <c:v>2386</c:v>
                </c:pt>
                <c:pt idx="157">
                  <c:v>2543</c:v>
                </c:pt>
                <c:pt idx="158">
                  <c:v>3434</c:v>
                </c:pt>
                <c:pt idx="159">
                  <c:v>2284</c:v>
                </c:pt>
                <c:pt idx="160">
                  <c:v>4399</c:v>
                </c:pt>
                <c:pt idx="161">
                  <c:v>2941</c:v>
                </c:pt>
                <c:pt idx="162">
                  <c:v>2765</c:v>
                </c:pt>
                <c:pt idx="163">
                  <c:v>3205</c:v>
                </c:pt>
                <c:pt idx="164">
                  <c:v>3491</c:v>
                </c:pt>
                <c:pt idx="165">
                  <c:v>3187</c:v>
                </c:pt>
                <c:pt idx="166">
                  <c:v>2135</c:v>
                </c:pt>
                <c:pt idx="167">
                  <c:v>4305</c:v>
                </c:pt>
                <c:pt idx="168">
                  <c:v>2236</c:v>
                </c:pt>
                <c:pt idx="169">
                  <c:v>2408</c:v>
                </c:pt>
                <c:pt idx="170">
                  <c:v>2443</c:v>
                </c:pt>
                <c:pt idx="171">
                  <c:v>2385</c:v>
                </c:pt>
                <c:pt idx="172">
                  <c:v>4593</c:v>
                </c:pt>
                <c:pt idx="173">
                  <c:v>3811</c:v>
                </c:pt>
                <c:pt idx="174">
                  <c:v>3422</c:v>
                </c:pt>
                <c:pt idx="175">
                  <c:v>3447</c:v>
                </c:pt>
                <c:pt idx="176">
                  <c:v>4384</c:v>
                </c:pt>
                <c:pt idx="177">
                  <c:v>3330</c:v>
                </c:pt>
                <c:pt idx="178">
                  <c:v>2759</c:v>
                </c:pt>
                <c:pt idx="179">
                  <c:v>4372</c:v>
                </c:pt>
                <c:pt idx="180">
                  <c:v>2034</c:v>
                </c:pt>
                <c:pt idx="181">
                  <c:v>4713</c:v>
                </c:pt>
                <c:pt idx="182">
                  <c:v>2306</c:v>
                </c:pt>
                <c:pt idx="183">
                  <c:v>3013</c:v>
                </c:pt>
                <c:pt idx="184">
                  <c:v>2384</c:v>
                </c:pt>
                <c:pt idx="185">
                  <c:v>2843</c:v>
                </c:pt>
                <c:pt idx="186">
                  <c:v>1983</c:v>
                </c:pt>
                <c:pt idx="187">
                  <c:v>3596</c:v>
                </c:pt>
                <c:pt idx="188">
                  <c:v>4691</c:v>
                </c:pt>
                <c:pt idx="189">
                  <c:v>3168</c:v>
                </c:pt>
                <c:pt idx="190">
                  <c:v>3967</c:v>
                </c:pt>
                <c:pt idx="191">
                  <c:v>4140</c:v>
                </c:pt>
                <c:pt idx="192">
                  <c:v>2663</c:v>
                </c:pt>
                <c:pt idx="193">
                  <c:v>2320</c:v>
                </c:pt>
                <c:pt idx="194">
                  <c:v>2140</c:v>
                </c:pt>
                <c:pt idx="195">
                  <c:v>2633</c:v>
                </c:pt>
                <c:pt idx="196">
                  <c:v>3435</c:v>
                </c:pt>
                <c:pt idx="197">
                  <c:v>3022</c:v>
                </c:pt>
                <c:pt idx="198">
                  <c:v>2407</c:v>
                </c:pt>
                <c:pt idx="199">
                  <c:v>2333</c:v>
                </c:pt>
                <c:pt idx="200">
                  <c:v>3231</c:v>
                </c:pt>
                <c:pt idx="201">
                  <c:v>3345</c:v>
                </c:pt>
                <c:pt idx="202">
                  <c:v>2914</c:v>
                </c:pt>
                <c:pt idx="203">
                  <c:v>2800</c:v>
                </c:pt>
                <c:pt idx="204">
                  <c:v>2291</c:v>
                </c:pt>
                <c:pt idx="205">
                  <c:v>4782</c:v>
                </c:pt>
                <c:pt idx="206">
                  <c:v>2123</c:v>
                </c:pt>
              </c:numCache>
            </c:numRef>
          </c:xVal>
          <c:yVal>
            <c:numRef>
              <c:f>'Chart Data'!$F$2:$F$208</c:f>
              <c:numCache>
                <c:formatCode>General</c:formatCode>
                <c:ptCount val="207"/>
                <c:pt idx="0">
                  <c:v>32.8</c:v>
                </c:pt>
                <c:pt idx="1">
                  <c:v>20.1</c:v>
                </c:pt>
                <c:pt idx="2">
                  <c:v>22</c:v>
                </c:pt>
                <c:pt idx="3">
                  <c:v>24.8</c:v>
                </c:pt>
                <c:pt idx="4">
                  <c:v>26.9</c:v>
                </c:pt>
                <c:pt idx="5">
                  <c:v>22.3</c:v>
                </c:pt>
                <c:pt idx="6">
                  <c:v>27.6</c:v>
                </c:pt>
                <c:pt idx="7">
                  <c:v>14.5</c:v>
                </c:pt>
                <c:pt idx="8">
                  <c:v>23.9</c:v>
                </c:pt>
                <c:pt idx="9">
                  <c:v>16.9</c:v>
                </c:pt>
                <c:pt idx="10">
                  <c:v>34.5</c:v>
                </c:pt>
                <c:pt idx="11">
                  <c:v>13.5</c:v>
                </c:pt>
                <c:pt idx="12">
                  <c:v>22.8</c:v>
                </c:pt>
                <c:pt idx="13">
                  <c:v>25.4</c:v>
                </c:pt>
                <c:pt idx="14">
                  <c:v>14.7</c:v>
                </c:pt>
                <c:pt idx="15">
                  <c:v>17.3</c:v>
                </c:pt>
                <c:pt idx="16">
                  <c:v>20.3</c:v>
                </c:pt>
                <c:pt idx="17">
                  <c:v>19.7</c:v>
                </c:pt>
                <c:pt idx="18">
                  <c:v>20.5</c:v>
                </c:pt>
                <c:pt idx="19">
                  <c:v>34.9</c:v>
                </c:pt>
                <c:pt idx="20">
                  <c:v>23</c:v>
                </c:pt>
                <c:pt idx="21">
                  <c:v>31.1</c:v>
                </c:pt>
                <c:pt idx="22">
                  <c:v>14</c:v>
                </c:pt>
                <c:pt idx="23">
                  <c:v>16.4</c:v>
                </c:pt>
                <c:pt idx="24">
                  <c:v>19.4</c:v>
                </c:pt>
                <c:pt idx="25">
                  <c:v>16.6</c:v>
                </c:pt>
                <c:pt idx="26">
                  <c:v>17.3</c:v>
                </c:pt>
                <c:pt idx="27">
                  <c:v>12.5</c:v>
                </c:pt>
                <c:pt idx="28">
                  <c:v>33</c:v>
                </c:pt>
                <c:pt idx="29">
                  <c:v>17.9</c:v>
                </c:pt>
                <c:pt idx="30">
                  <c:v>20.3</c:v>
                </c:pt>
                <c:pt idx="31">
                  <c:v>18.1</c:v>
                </c:pt>
                <c:pt idx="32">
                  <c:v>33.4</c:v>
                </c:pt>
                <c:pt idx="33">
                  <c:v>25.4</c:v>
                </c:pt>
                <c:pt idx="34">
                  <c:v>27</c:v>
                </c:pt>
                <c:pt idx="35">
                  <c:v>17.2</c:v>
                </c:pt>
                <c:pt idx="36">
                  <c:v>31.1</c:v>
                </c:pt>
                <c:pt idx="37">
                  <c:v>21</c:v>
                </c:pt>
                <c:pt idx="38">
                  <c:v>29.5</c:v>
                </c:pt>
                <c:pt idx="39">
                  <c:v>23.7</c:v>
                </c:pt>
                <c:pt idx="40">
                  <c:v>12.3</c:v>
                </c:pt>
                <c:pt idx="41">
                  <c:v>11.7</c:v>
                </c:pt>
                <c:pt idx="42">
                  <c:v>16.8</c:v>
                </c:pt>
                <c:pt idx="43">
                  <c:v>34.6</c:v>
                </c:pt>
                <c:pt idx="44">
                  <c:v>10.9</c:v>
                </c:pt>
                <c:pt idx="45">
                  <c:v>24.4</c:v>
                </c:pt>
                <c:pt idx="46">
                  <c:v>10.6</c:v>
                </c:pt>
                <c:pt idx="47">
                  <c:v>31</c:v>
                </c:pt>
                <c:pt idx="48">
                  <c:v>24.1</c:v>
                </c:pt>
                <c:pt idx="49">
                  <c:v>24.5</c:v>
                </c:pt>
                <c:pt idx="50">
                  <c:v>35.9</c:v>
                </c:pt>
                <c:pt idx="51">
                  <c:v>25.3</c:v>
                </c:pt>
                <c:pt idx="52">
                  <c:v>18</c:v>
                </c:pt>
                <c:pt idx="53">
                  <c:v>17.7</c:v>
                </c:pt>
                <c:pt idx="54">
                  <c:v>24.1</c:v>
                </c:pt>
                <c:pt idx="55">
                  <c:v>30.4</c:v>
                </c:pt>
                <c:pt idx="56">
                  <c:v>26.9</c:v>
                </c:pt>
                <c:pt idx="57">
                  <c:v>22.1</c:v>
                </c:pt>
                <c:pt idx="58">
                  <c:v>24.7</c:v>
                </c:pt>
                <c:pt idx="59">
                  <c:v>21.4</c:v>
                </c:pt>
                <c:pt idx="60">
                  <c:v>20.5</c:v>
                </c:pt>
                <c:pt idx="61">
                  <c:v>16.3</c:v>
                </c:pt>
                <c:pt idx="62">
                  <c:v>24.4</c:v>
                </c:pt>
                <c:pt idx="63">
                  <c:v>15.7</c:v>
                </c:pt>
                <c:pt idx="64">
                  <c:v>34.7</c:v>
                </c:pt>
                <c:pt idx="65">
                  <c:v>19.7</c:v>
                </c:pt>
                <c:pt idx="66">
                  <c:v>21.8</c:v>
                </c:pt>
                <c:pt idx="67">
                  <c:v>25.3</c:v>
                </c:pt>
                <c:pt idx="68">
                  <c:v>32.6</c:v>
                </c:pt>
                <c:pt idx="69">
                  <c:v>11.4</c:v>
                </c:pt>
                <c:pt idx="70">
                  <c:v>35.4</c:v>
                </c:pt>
                <c:pt idx="71">
                  <c:v>18.6</c:v>
                </c:pt>
                <c:pt idx="72">
                  <c:v>31.1</c:v>
                </c:pt>
                <c:pt idx="73">
                  <c:v>32.3</c:v>
                </c:pt>
                <c:pt idx="74">
                  <c:v>22.4</c:v>
                </c:pt>
                <c:pt idx="75">
                  <c:v>24.1</c:v>
                </c:pt>
                <c:pt idx="76">
                  <c:v>31.1</c:v>
                </c:pt>
                <c:pt idx="77">
                  <c:v>33.2</c:v>
                </c:pt>
                <c:pt idx="78">
                  <c:v>24.4</c:v>
                </c:pt>
                <c:pt idx="79">
                  <c:v>21.7</c:v>
                </c:pt>
                <c:pt idx="80">
                  <c:v>20.7</c:v>
                </c:pt>
                <c:pt idx="81">
                  <c:v>17.4</c:v>
                </c:pt>
                <c:pt idx="82">
                  <c:v>15.9</c:v>
                </c:pt>
                <c:pt idx="83">
                  <c:v>35.3</c:v>
                </c:pt>
                <c:pt idx="84">
                  <c:v>15.8</c:v>
                </c:pt>
                <c:pt idx="85">
                  <c:v>22.2</c:v>
                </c:pt>
                <c:pt idx="86">
                  <c:v>19.4</c:v>
                </c:pt>
                <c:pt idx="87">
                  <c:v>17.8</c:v>
                </c:pt>
                <c:pt idx="88">
                  <c:v>27.9</c:v>
                </c:pt>
                <c:pt idx="89">
                  <c:v>34.8</c:v>
                </c:pt>
                <c:pt idx="90">
                  <c:v>24.3</c:v>
                </c:pt>
                <c:pt idx="91">
                  <c:v>22.1</c:v>
                </c:pt>
                <c:pt idx="92">
                  <c:v>33.3</c:v>
                </c:pt>
                <c:pt idx="93">
                  <c:v>18.9</c:v>
                </c:pt>
                <c:pt idx="94">
                  <c:v>21.8</c:v>
                </c:pt>
                <c:pt idx="95">
                  <c:v>12.4</c:v>
                </c:pt>
                <c:pt idx="96">
                  <c:v>18</c:v>
                </c:pt>
                <c:pt idx="97">
                  <c:v>20.3</c:v>
                </c:pt>
                <c:pt idx="98">
                  <c:v>26.2</c:v>
                </c:pt>
                <c:pt idx="99">
                  <c:v>11.5</c:v>
                </c:pt>
                <c:pt idx="100">
                  <c:v>26.6</c:v>
                </c:pt>
                <c:pt idx="101">
                  <c:v>25.3</c:v>
                </c:pt>
                <c:pt idx="102">
                  <c:v>27.5</c:v>
                </c:pt>
                <c:pt idx="103">
                  <c:v>21.4</c:v>
                </c:pt>
                <c:pt idx="104">
                  <c:v>28.1</c:v>
                </c:pt>
                <c:pt idx="105">
                  <c:v>20.3</c:v>
                </c:pt>
                <c:pt idx="106">
                  <c:v>17.6</c:v>
                </c:pt>
                <c:pt idx="107">
                  <c:v>10.2</c:v>
                </c:pt>
                <c:pt idx="108">
                  <c:v>24.6</c:v>
                </c:pt>
                <c:pt idx="109">
                  <c:v>20.6</c:v>
                </c:pt>
                <c:pt idx="110">
                  <c:v>27.5</c:v>
                </c:pt>
                <c:pt idx="111">
                  <c:v>12.7</c:v>
                </c:pt>
                <c:pt idx="112">
                  <c:v>31.2</c:v>
                </c:pt>
                <c:pt idx="113">
                  <c:v>24.4</c:v>
                </c:pt>
                <c:pt idx="114">
                  <c:v>26.4</c:v>
                </c:pt>
                <c:pt idx="115">
                  <c:v>21.7</c:v>
                </c:pt>
                <c:pt idx="116">
                  <c:v>14.7</c:v>
                </c:pt>
                <c:pt idx="117">
                  <c:v>18.5</c:v>
                </c:pt>
                <c:pt idx="118">
                  <c:v>17.3</c:v>
                </c:pt>
                <c:pt idx="119">
                  <c:v>26.3</c:v>
                </c:pt>
                <c:pt idx="120">
                  <c:v>20.7</c:v>
                </c:pt>
                <c:pt idx="121">
                  <c:v>29.6</c:v>
                </c:pt>
                <c:pt idx="122">
                  <c:v>11.5</c:v>
                </c:pt>
                <c:pt idx="123">
                  <c:v>14.1</c:v>
                </c:pt>
                <c:pt idx="124">
                  <c:v>23.3</c:v>
                </c:pt>
                <c:pt idx="125">
                  <c:v>17.4</c:v>
                </c:pt>
                <c:pt idx="126">
                  <c:v>21.5</c:v>
                </c:pt>
                <c:pt idx="127">
                  <c:v>18.5</c:v>
                </c:pt>
                <c:pt idx="128">
                  <c:v>19.4</c:v>
                </c:pt>
                <c:pt idx="129">
                  <c:v>17.3</c:v>
                </c:pt>
                <c:pt idx="130">
                  <c:v>27</c:v>
                </c:pt>
                <c:pt idx="131">
                  <c:v>16.5</c:v>
                </c:pt>
                <c:pt idx="132">
                  <c:v>26.8</c:v>
                </c:pt>
                <c:pt idx="133">
                  <c:v>13.7</c:v>
                </c:pt>
                <c:pt idx="134">
                  <c:v>26.7</c:v>
                </c:pt>
                <c:pt idx="135">
                  <c:v>31.9</c:v>
                </c:pt>
                <c:pt idx="136">
                  <c:v>21.4</c:v>
                </c:pt>
                <c:pt idx="137">
                  <c:v>19.9</c:v>
                </c:pt>
                <c:pt idx="138">
                  <c:v>25.6</c:v>
                </c:pt>
                <c:pt idx="139">
                  <c:v>24.4</c:v>
                </c:pt>
                <c:pt idx="140">
                  <c:v>18.7</c:v>
                </c:pt>
                <c:pt idx="141">
                  <c:v>22.2</c:v>
                </c:pt>
                <c:pt idx="142">
                  <c:v>23.4</c:v>
                </c:pt>
                <c:pt idx="143">
                  <c:v>31.9</c:v>
                </c:pt>
                <c:pt idx="144">
                  <c:v>23.3</c:v>
                </c:pt>
                <c:pt idx="145">
                  <c:v>15.8</c:v>
                </c:pt>
                <c:pt idx="146">
                  <c:v>24.8</c:v>
                </c:pt>
                <c:pt idx="147">
                  <c:v>20.9</c:v>
                </c:pt>
                <c:pt idx="148">
                  <c:v>17.6</c:v>
                </c:pt>
                <c:pt idx="149">
                  <c:v>18.5</c:v>
                </c:pt>
                <c:pt idx="150">
                  <c:v>26.6</c:v>
                </c:pt>
                <c:pt idx="151">
                  <c:v>25</c:v>
                </c:pt>
                <c:pt idx="152">
                  <c:v>32.9</c:v>
                </c:pt>
                <c:pt idx="153">
                  <c:v>23.4</c:v>
                </c:pt>
                <c:pt idx="154">
                  <c:v>19.1</c:v>
                </c:pt>
                <c:pt idx="155">
                  <c:v>20.4</c:v>
                </c:pt>
                <c:pt idx="156">
                  <c:v>31.2</c:v>
                </c:pt>
                <c:pt idx="157">
                  <c:v>34.2</c:v>
                </c:pt>
                <c:pt idx="158">
                  <c:v>21.9</c:v>
                </c:pt>
                <c:pt idx="159">
                  <c:v>23.1</c:v>
                </c:pt>
                <c:pt idx="160">
                  <c:v>15.2</c:v>
                </c:pt>
                <c:pt idx="161">
                  <c:v>21.5</c:v>
                </c:pt>
                <c:pt idx="162">
                  <c:v>28</c:v>
                </c:pt>
                <c:pt idx="163">
                  <c:v>17.7</c:v>
                </c:pt>
                <c:pt idx="164">
                  <c:v>22</c:v>
                </c:pt>
                <c:pt idx="165">
                  <c:v>19.2</c:v>
                </c:pt>
                <c:pt idx="166">
                  <c:v>22.7</c:v>
                </c:pt>
                <c:pt idx="167">
                  <c:v>20.1</c:v>
                </c:pt>
                <c:pt idx="168">
                  <c:v>31.3</c:v>
                </c:pt>
                <c:pt idx="169">
                  <c:v>27.8</c:v>
                </c:pt>
                <c:pt idx="170">
                  <c:v>24</c:v>
                </c:pt>
                <c:pt idx="171">
                  <c:v>31</c:v>
                </c:pt>
                <c:pt idx="172">
                  <c:v>17.7</c:v>
                </c:pt>
                <c:pt idx="173">
                  <c:v>14.2</c:v>
                </c:pt>
                <c:pt idx="174">
                  <c:v>20.9</c:v>
                </c:pt>
                <c:pt idx="175">
                  <c:v>19.2</c:v>
                </c:pt>
                <c:pt idx="176">
                  <c:v>11.2</c:v>
                </c:pt>
                <c:pt idx="177">
                  <c:v>25.5</c:v>
                </c:pt>
                <c:pt idx="178">
                  <c:v>25</c:v>
                </c:pt>
                <c:pt idx="179">
                  <c:v>17.1</c:v>
                </c:pt>
                <c:pt idx="180">
                  <c:v>34.5</c:v>
                </c:pt>
                <c:pt idx="181">
                  <c:v>18</c:v>
                </c:pt>
                <c:pt idx="182">
                  <c:v>23.3</c:v>
                </c:pt>
                <c:pt idx="183">
                  <c:v>16.2</c:v>
                </c:pt>
                <c:pt idx="184">
                  <c:v>25.4</c:v>
                </c:pt>
                <c:pt idx="185">
                  <c:v>18.5</c:v>
                </c:pt>
                <c:pt idx="186">
                  <c:v>22.3</c:v>
                </c:pt>
                <c:pt idx="187">
                  <c:v>16</c:v>
                </c:pt>
                <c:pt idx="188">
                  <c:v>10.6</c:v>
                </c:pt>
                <c:pt idx="189">
                  <c:v>20.6</c:v>
                </c:pt>
                <c:pt idx="190">
                  <c:v>21.1</c:v>
                </c:pt>
                <c:pt idx="191">
                  <c:v>15.9</c:v>
                </c:pt>
                <c:pt idx="192">
                  <c:v>22.2</c:v>
                </c:pt>
                <c:pt idx="193">
                  <c:v>22.7</c:v>
                </c:pt>
                <c:pt idx="194">
                  <c:v>32.5</c:v>
                </c:pt>
                <c:pt idx="195">
                  <c:v>22.8</c:v>
                </c:pt>
                <c:pt idx="196">
                  <c:v>23.8</c:v>
                </c:pt>
                <c:pt idx="197">
                  <c:v>17.4</c:v>
                </c:pt>
                <c:pt idx="198">
                  <c:v>22.6</c:v>
                </c:pt>
                <c:pt idx="199">
                  <c:v>25.9</c:v>
                </c:pt>
                <c:pt idx="200">
                  <c:v>19.2</c:v>
                </c:pt>
                <c:pt idx="201">
                  <c:v>23.1</c:v>
                </c:pt>
                <c:pt idx="202">
                  <c:v>16.3</c:v>
                </c:pt>
                <c:pt idx="203">
                  <c:v>17.2</c:v>
                </c:pt>
                <c:pt idx="204">
                  <c:v>34.2</c:v>
                </c:pt>
                <c:pt idx="205">
                  <c:v>19.2</c:v>
                </c:pt>
                <c:pt idx="206">
                  <c:v>23.8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0"/>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MPG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majorUnit val="20"/>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Weight (lb)</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valAx>
      <c:spPr>
        <a:solidFill xmlns:a="http://schemas.openxmlformats.org/drawingml/2006/main">
          <a:srgbClr val="EEECE1"/>
        </a:solidFill>
      </c:spPr>
    </c:plotArea>
    <c:plotVisOnly val="1"/>
  </c:chart>
  <c:spPr>
    <a:solidFill xmlns:a="http://schemas.openxmlformats.org/drawingml/2006/main">
      <a:srgbClr val="EEECE1"/>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marker"/>
        <c:ser>
          <c:idx val="0"/>
          <c:order val="0"/>
          <c:tx>
            <c:v>europe</c:v>
          </c:tx>
          <c:spPr>
            <a:solidFill xmlns:a="http://schemas.openxmlformats.org/drawingml/2006/main">
              <a:srgbClr val="CF3338"/>
            </a:solidFill>
            <a:ln xmlns:a="http://schemas.openxmlformats.org/drawingml/2006/main" w="0">
              <a:noFill/>
            </a:ln>
          </c:spPr>
          <c:marker>
            <c:symbol val="circle"/>
            <c:size val="4"/>
            <c:spPr>
              <a:noFill xmlns:a="http://schemas.openxmlformats.org/drawingml/2006/main"/>
            </c:spPr>
          </c:marker>
          <c:xVal>
            <c:numRef>
              <c:f>'Chart Data'!$A$2:$A$82</c:f>
              <c:numCache>
                <c:formatCode>General</c:formatCode>
                <c:ptCount val="81"/>
                <c:pt idx="0">
                  <c:v>70</c:v>
                </c:pt>
                <c:pt idx="1">
                  <c:v>70</c:v>
                </c:pt>
                <c:pt idx="2">
                  <c:v>70</c:v>
                </c:pt>
                <c:pt idx="3">
                  <c:v>70</c:v>
                </c:pt>
                <c:pt idx="4">
                  <c:v>70</c:v>
                </c:pt>
                <c:pt idx="5">
                  <c:v>70</c:v>
                </c:pt>
                <c:pt idx="6">
                  <c:v>70</c:v>
                </c:pt>
                <c:pt idx="7">
                  <c:v>71</c:v>
                </c:pt>
                <c:pt idx="8">
                  <c:v>71</c:v>
                </c:pt>
                <c:pt idx="9">
                  <c:v>71</c:v>
                </c:pt>
                <c:pt idx="10">
                  <c:v>71</c:v>
                </c:pt>
                <c:pt idx="11">
                  <c:v>71</c:v>
                </c:pt>
                <c:pt idx="12">
                  <c:v>72</c:v>
                </c:pt>
                <c:pt idx="13">
                  <c:v>72</c:v>
                </c:pt>
                <c:pt idx="14">
                  <c:v>72</c:v>
                </c:pt>
                <c:pt idx="15">
                  <c:v>72</c:v>
                </c:pt>
                <c:pt idx="16">
                  <c:v>73</c:v>
                </c:pt>
                <c:pt idx="17">
                  <c:v>73</c:v>
                </c:pt>
                <c:pt idx="18">
                  <c:v>73</c:v>
                </c:pt>
                <c:pt idx="19">
                  <c:v>73</c:v>
                </c:pt>
                <c:pt idx="20">
                  <c:v>73</c:v>
                </c:pt>
                <c:pt idx="21">
                  <c:v>73</c:v>
                </c:pt>
                <c:pt idx="22">
                  <c:v>73</c:v>
                </c:pt>
                <c:pt idx="23">
                  <c:v>73</c:v>
                </c:pt>
                <c:pt idx="24">
                  <c:v>74</c:v>
                </c:pt>
                <c:pt idx="25">
                  <c:v>74</c:v>
                </c:pt>
                <c:pt idx="26">
                  <c:v>74</c:v>
                </c:pt>
                <c:pt idx="27">
                  <c:v>74</c:v>
                </c:pt>
                <c:pt idx="28">
                  <c:v>74</c:v>
                </c:pt>
                <c:pt idx="29">
                  <c:v>74</c:v>
                </c:pt>
                <c:pt idx="30">
                  <c:v>74</c:v>
                </c:pt>
                <c:pt idx="31">
                  <c:v>74</c:v>
                </c:pt>
                <c:pt idx="32">
                  <c:v>75</c:v>
                </c:pt>
                <c:pt idx="33">
                  <c:v>75</c:v>
                </c:pt>
                <c:pt idx="34">
                  <c:v>75</c:v>
                </c:pt>
                <c:pt idx="35">
                  <c:v>75</c:v>
                </c:pt>
                <c:pt idx="36">
                  <c:v>75</c:v>
                </c:pt>
                <c:pt idx="37">
                  <c:v>75</c:v>
                </c:pt>
                <c:pt idx="38">
                  <c:v>75</c:v>
                </c:pt>
                <c:pt idx="39">
                  <c:v>76</c:v>
                </c:pt>
                <c:pt idx="40">
                  <c:v>76</c:v>
                </c:pt>
                <c:pt idx="41">
                  <c:v>76</c:v>
                </c:pt>
                <c:pt idx="42">
                  <c:v>76</c:v>
                </c:pt>
                <c:pt idx="43">
                  <c:v>76</c:v>
                </c:pt>
                <c:pt idx="44">
                  <c:v>76</c:v>
                </c:pt>
                <c:pt idx="45">
                  <c:v>76</c:v>
                </c:pt>
                <c:pt idx="46">
                  <c:v>76</c:v>
                </c:pt>
                <c:pt idx="47">
                  <c:v>77</c:v>
                </c:pt>
                <c:pt idx="48">
                  <c:v>77</c:v>
                </c:pt>
                <c:pt idx="49">
                  <c:v>77</c:v>
                </c:pt>
                <c:pt idx="50">
                  <c:v>77</c:v>
                </c:pt>
                <c:pt idx="51">
                  <c:v>77</c:v>
                </c:pt>
                <c:pt idx="52">
                  <c:v>78</c:v>
                </c:pt>
                <c:pt idx="53">
                  <c:v>78</c:v>
                </c:pt>
                <c:pt idx="54">
                  <c:v>78</c:v>
                </c:pt>
                <c:pt idx="55">
                  <c:v>78</c:v>
                </c:pt>
                <c:pt idx="56">
                  <c:v>79</c:v>
                </c:pt>
                <c:pt idx="57">
                  <c:v>79</c:v>
                </c:pt>
                <c:pt idx="58">
                  <c:v>79</c:v>
                </c:pt>
                <c:pt idx="59">
                  <c:v>79</c:v>
                </c:pt>
                <c:pt idx="60">
                  <c:v>79</c:v>
                </c:pt>
                <c:pt idx="61">
                  <c:v>79</c:v>
                </c:pt>
                <c:pt idx="62">
                  <c:v>79</c:v>
                </c:pt>
                <c:pt idx="63">
                  <c:v>80</c:v>
                </c:pt>
                <c:pt idx="64">
                  <c:v>80</c:v>
                </c:pt>
                <c:pt idx="65">
                  <c:v>80</c:v>
                </c:pt>
                <c:pt idx="66">
                  <c:v>80</c:v>
                </c:pt>
                <c:pt idx="67">
                  <c:v>80</c:v>
                </c:pt>
                <c:pt idx="68">
                  <c:v>80</c:v>
                </c:pt>
                <c:pt idx="69">
                  <c:v>80</c:v>
                </c:pt>
                <c:pt idx="70">
                  <c:v>80</c:v>
                </c:pt>
                <c:pt idx="71">
                  <c:v>81</c:v>
                </c:pt>
                <c:pt idx="72">
                  <c:v>81</c:v>
                </c:pt>
                <c:pt idx="73">
                  <c:v>81</c:v>
                </c:pt>
                <c:pt idx="74">
                  <c:v>81</c:v>
                </c:pt>
                <c:pt idx="75">
                  <c:v>82</c:v>
                </c:pt>
                <c:pt idx="76">
                  <c:v>82</c:v>
                </c:pt>
                <c:pt idx="77">
                  <c:v>82</c:v>
                </c:pt>
                <c:pt idx="78">
                  <c:v>82</c:v>
                </c:pt>
                <c:pt idx="79">
                  <c:v>82</c:v>
                </c:pt>
                <c:pt idx="80">
                  <c:v>82</c:v>
                </c:pt>
              </c:numCache>
            </c:numRef>
          </c:xVal>
          <c:yVal>
            <c:numRef>
              <c:f>'Chart Data'!$B$2:$B$82</c:f>
              <c:numCache>
                <c:formatCode>General</c:formatCode>
                <c:ptCount val="81"/>
                <c:pt idx="0">
                  <c:v>41.9</c:v>
                </c:pt>
                <c:pt idx="1">
                  <c:v>24.4</c:v>
                </c:pt>
                <c:pt idx="2">
                  <c:v>26</c:v>
                </c:pt>
                <c:pt idx="3">
                  <c:v>25.3</c:v>
                </c:pt>
                <c:pt idx="4">
                  <c:v>37.5</c:v>
                </c:pt>
                <c:pt idx="5">
                  <c:v>25.2</c:v>
                </c:pt>
                <c:pt idx="6">
                  <c:v>37.6</c:v>
                </c:pt>
                <c:pt idx="7">
                  <c:v>32.3</c:v>
                </c:pt>
                <c:pt idx="8">
                  <c:v>20.2</c:v>
                </c:pt>
                <c:pt idx="9">
                  <c:v>41.9</c:v>
                </c:pt>
                <c:pt idx="10">
                  <c:v>24.8</c:v>
                </c:pt>
                <c:pt idx="11">
                  <c:v>33</c:v>
                </c:pt>
                <c:pt idx="12">
                  <c:v>20.8</c:v>
                </c:pt>
                <c:pt idx="13">
                  <c:v>35.8</c:v>
                </c:pt>
                <c:pt idx="14">
                  <c:v>23.4</c:v>
                </c:pt>
                <c:pt idx="15">
                  <c:v>26.5</c:v>
                </c:pt>
                <c:pt idx="16">
                  <c:v>32.2</c:v>
                </c:pt>
                <c:pt idx="17">
                  <c:v>29.3</c:v>
                </c:pt>
                <c:pt idx="18">
                  <c:v>27.6</c:v>
                </c:pt>
                <c:pt idx="19">
                  <c:v>35.9</c:v>
                </c:pt>
                <c:pt idx="20">
                  <c:v>41.6</c:v>
                </c:pt>
                <c:pt idx="21">
                  <c:v>39.8</c:v>
                </c:pt>
                <c:pt idx="22">
                  <c:v>38.1</c:v>
                </c:pt>
                <c:pt idx="23">
                  <c:v>28.2</c:v>
                </c:pt>
                <c:pt idx="24">
                  <c:v>38</c:v>
                </c:pt>
                <c:pt idx="25">
                  <c:v>22.1</c:v>
                </c:pt>
                <c:pt idx="26">
                  <c:v>30.2</c:v>
                </c:pt>
                <c:pt idx="27">
                  <c:v>26.9</c:v>
                </c:pt>
                <c:pt idx="28">
                  <c:v>37.5</c:v>
                </c:pt>
                <c:pt idx="29">
                  <c:v>26.9</c:v>
                </c:pt>
                <c:pt idx="30">
                  <c:v>24.7</c:v>
                </c:pt>
                <c:pt idx="31">
                  <c:v>34.9</c:v>
                </c:pt>
                <c:pt idx="32">
                  <c:v>30.7</c:v>
                </c:pt>
                <c:pt idx="33">
                  <c:v>22.6</c:v>
                </c:pt>
                <c:pt idx="34">
                  <c:v>28.4</c:v>
                </c:pt>
                <c:pt idx="35">
                  <c:v>40.4</c:v>
                </c:pt>
                <c:pt idx="36">
                  <c:v>35.6</c:v>
                </c:pt>
                <c:pt idx="37">
                  <c:v>35.6</c:v>
                </c:pt>
                <c:pt idx="38">
                  <c:v>28.7</c:v>
                </c:pt>
                <c:pt idx="39">
                  <c:v>24.2</c:v>
                </c:pt>
                <c:pt idx="40">
                  <c:v>29.3</c:v>
                </c:pt>
                <c:pt idx="41">
                  <c:v>33.2</c:v>
                </c:pt>
                <c:pt idx="42">
                  <c:v>38.8</c:v>
                </c:pt>
                <c:pt idx="43">
                  <c:v>33.1</c:v>
                </c:pt>
                <c:pt idx="44">
                  <c:v>29.4</c:v>
                </c:pt>
                <c:pt idx="45">
                  <c:v>24</c:v>
                </c:pt>
                <c:pt idx="46">
                  <c:v>27.5</c:v>
                </c:pt>
                <c:pt idx="47">
                  <c:v>40.1</c:v>
                </c:pt>
                <c:pt idx="48">
                  <c:v>40.6</c:v>
                </c:pt>
                <c:pt idx="49">
                  <c:v>19.4</c:v>
                </c:pt>
                <c:pt idx="50">
                  <c:v>39.7</c:v>
                </c:pt>
                <c:pt idx="51">
                  <c:v>40.3</c:v>
                </c:pt>
                <c:pt idx="52">
                  <c:v>24.4</c:v>
                </c:pt>
                <c:pt idx="53">
                  <c:v>39.2</c:v>
                </c:pt>
                <c:pt idx="54">
                  <c:v>37.7</c:v>
                </c:pt>
                <c:pt idx="55">
                  <c:v>26.2</c:v>
                </c:pt>
                <c:pt idx="56">
                  <c:v>35.6</c:v>
                </c:pt>
                <c:pt idx="57">
                  <c:v>31.4</c:v>
                </c:pt>
                <c:pt idx="58">
                  <c:v>28.9</c:v>
                </c:pt>
                <c:pt idx="59">
                  <c:v>36.6</c:v>
                </c:pt>
                <c:pt idx="60">
                  <c:v>25.8</c:v>
                </c:pt>
                <c:pt idx="61">
                  <c:v>39.3</c:v>
                </c:pt>
                <c:pt idx="62">
                  <c:v>39.9</c:v>
                </c:pt>
                <c:pt idx="63">
                  <c:v>38</c:v>
                </c:pt>
                <c:pt idx="64">
                  <c:v>35.9</c:v>
                </c:pt>
                <c:pt idx="65">
                  <c:v>40.8</c:v>
                </c:pt>
                <c:pt idx="66">
                  <c:v>30.7</c:v>
                </c:pt>
                <c:pt idx="67">
                  <c:v>25.1</c:v>
                </c:pt>
                <c:pt idx="68">
                  <c:v>23.1</c:v>
                </c:pt>
                <c:pt idx="69">
                  <c:v>31.7</c:v>
                </c:pt>
                <c:pt idx="70">
                  <c:v>25.7</c:v>
                </c:pt>
                <c:pt idx="71">
                  <c:v>30.8</c:v>
                </c:pt>
                <c:pt idx="72">
                  <c:v>29.6</c:v>
                </c:pt>
                <c:pt idx="73">
                  <c:v>36.3</c:v>
                </c:pt>
                <c:pt idx="74">
                  <c:v>33.4</c:v>
                </c:pt>
                <c:pt idx="75">
                  <c:v>33.8</c:v>
                </c:pt>
                <c:pt idx="76">
                  <c:v>39.8</c:v>
                </c:pt>
                <c:pt idx="77">
                  <c:v>36.3</c:v>
                </c:pt>
                <c:pt idx="78">
                  <c:v>25.2</c:v>
                </c:pt>
                <c:pt idx="79">
                  <c:v>41.9</c:v>
                </c:pt>
                <c:pt idx="80">
                  <c:v>24.3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0"/>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MPG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majorUnit val="20"/>
      </c:valAx>
      <c:valAx>
        <c:axId val="48650112"/>
        <c:scaling>
          <c:orientation val="minMax"/>
          <c:max val="82"/>
          <c:min val="7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Model year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6"/>
      </c:valAx>
      <c:spPr>
        <a:solidFill xmlns:a="http://schemas.openxmlformats.org/drawingml/2006/main">
          <a:srgbClr val="EEECE1"/>
        </a:solidFill>
      </c:spPr>
    </c:plotArea>
    <c:plotVisOnly val="1"/>
  </c:chart>
  <c:spPr>
    <a:solidFill xmlns:a="http://schemas.openxmlformats.org/drawingml/2006/main">
      <a:srgbClr val="EEECE1"/>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marker"/>
        <c:ser>
          <c:idx val="0"/>
          <c:order val="0"/>
          <c:tx>
            <c:v>japan</c:v>
          </c:tx>
          <c:spPr>
            <a:solidFill xmlns:a="http://schemas.openxmlformats.org/drawingml/2006/main">
              <a:srgbClr val="CF3338"/>
            </a:solidFill>
            <a:ln xmlns:a="http://schemas.openxmlformats.org/drawingml/2006/main" w="0">
              <a:noFill/>
            </a:ln>
          </c:spPr>
          <c:marker>
            <c:symbol val="circle"/>
            <c:size val="4"/>
            <c:spPr>
              <a:noFill xmlns:a="http://schemas.openxmlformats.org/drawingml/2006/main"/>
            </c:spPr>
          </c:marker>
          <c:xVal>
            <c:numRef>
              <c:f>'Chart Data'!$A$2:$A$101</c:f>
              <c:numCache>
                <c:formatCode>General</c:formatCode>
                <c:ptCount val="100"/>
                <c:pt idx="0">
                  <c:v>70</c:v>
                </c:pt>
                <c:pt idx="1">
                  <c:v>70</c:v>
                </c:pt>
                <c:pt idx="2">
                  <c:v>70</c:v>
                </c:pt>
                <c:pt idx="3">
                  <c:v>70</c:v>
                </c:pt>
                <c:pt idx="4">
                  <c:v>70</c:v>
                </c:pt>
                <c:pt idx="5">
                  <c:v>70</c:v>
                </c:pt>
                <c:pt idx="6">
                  <c:v>70</c:v>
                </c:pt>
                <c:pt idx="7">
                  <c:v>71</c:v>
                </c:pt>
                <c:pt idx="8">
                  <c:v>71</c:v>
                </c:pt>
                <c:pt idx="9">
                  <c:v>71</c:v>
                </c:pt>
                <c:pt idx="10">
                  <c:v>71</c:v>
                </c:pt>
                <c:pt idx="11">
                  <c:v>71</c:v>
                </c:pt>
                <c:pt idx="12">
                  <c:v>71</c:v>
                </c:pt>
                <c:pt idx="13">
                  <c:v>71</c:v>
                </c:pt>
                <c:pt idx="14">
                  <c:v>71</c:v>
                </c:pt>
                <c:pt idx="15">
                  <c:v>72</c:v>
                </c:pt>
                <c:pt idx="16">
                  <c:v>72</c:v>
                </c:pt>
                <c:pt idx="17">
                  <c:v>72</c:v>
                </c:pt>
                <c:pt idx="18">
                  <c:v>72</c:v>
                </c:pt>
                <c:pt idx="19">
                  <c:v>72</c:v>
                </c:pt>
                <c:pt idx="20">
                  <c:v>73</c:v>
                </c:pt>
                <c:pt idx="21">
                  <c:v>73</c:v>
                </c:pt>
                <c:pt idx="22">
                  <c:v>73</c:v>
                </c:pt>
                <c:pt idx="23">
                  <c:v>73</c:v>
                </c:pt>
                <c:pt idx="24">
                  <c:v>73</c:v>
                </c:pt>
                <c:pt idx="25">
                  <c:v>73</c:v>
                </c:pt>
                <c:pt idx="26">
                  <c:v>74</c:v>
                </c:pt>
                <c:pt idx="27">
                  <c:v>74</c:v>
                </c:pt>
                <c:pt idx="28">
                  <c:v>74</c:v>
                </c:pt>
                <c:pt idx="29">
                  <c:v>74</c:v>
                </c:pt>
                <c:pt idx="30">
                  <c:v>74</c:v>
                </c:pt>
                <c:pt idx="31">
                  <c:v>74</c:v>
                </c:pt>
                <c:pt idx="32">
                  <c:v>74</c:v>
                </c:pt>
                <c:pt idx="33">
                  <c:v>74</c:v>
                </c:pt>
                <c:pt idx="34">
                  <c:v>74</c:v>
                </c:pt>
                <c:pt idx="35">
                  <c:v>74</c:v>
                </c:pt>
                <c:pt idx="36">
                  <c:v>75</c:v>
                </c:pt>
                <c:pt idx="37">
                  <c:v>75</c:v>
                </c:pt>
                <c:pt idx="38">
                  <c:v>75</c:v>
                </c:pt>
                <c:pt idx="39">
                  <c:v>75</c:v>
                </c:pt>
                <c:pt idx="40">
                  <c:v>75</c:v>
                </c:pt>
                <c:pt idx="41">
                  <c:v>75</c:v>
                </c:pt>
                <c:pt idx="42">
                  <c:v>75</c:v>
                </c:pt>
                <c:pt idx="43">
                  <c:v>75</c:v>
                </c:pt>
                <c:pt idx="44">
                  <c:v>75</c:v>
                </c:pt>
                <c:pt idx="45">
                  <c:v>75</c:v>
                </c:pt>
                <c:pt idx="46">
                  <c:v>76</c:v>
                </c:pt>
                <c:pt idx="47">
                  <c:v>76</c:v>
                </c:pt>
                <c:pt idx="48">
                  <c:v>76</c:v>
                </c:pt>
                <c:pt idx="49">
                  <c:v>76</c:v>
                </c:pt>
                <c:pt idx="50">
                  <c:v>76</c:v>
                </c:pt>
                <c:pt idx="51">
                  <c:v>77</c:v>
                </c:pt>
                <c:pt idx="52">
                  <c:v>77</c:v>
                </c:pt>
                <c:pt idx="53">
                  <c:v>77</c:v>
                </c:pt>
                <c:pt idx="54">
                  <c:v>77</c:v>
                </c:pt>
                <c:pt idx="55">
                  <c:v>77</c:v>
                </c:pt>
                <c:pt idx="56">
                  <c:v>77</c:v>
                </c:pt>
                <c:pt idx="57">
                  <c:v>77</c:v>
                </c:pt>
                <c:pt idx="58">
                  <c:v>77</c:v>
                </c:pt>
                <c:pt idx="59">
                  <c:v>77</c:v>
                </c:pt>
                <c:pt idx="60">
                  <c:v>77</c:v>
                </c:pt>
                <c:pt idx="61">
                  <c:v>78</c:v>
                </c:pt>
                <c:pt idx="62">
                  <c:v>78</c:v>
                </c:pt>
                <c:pt idx="63">
                  <c:v>78</c:v>
                </c:pt>
                <c:pt idx="64">
                  <c:v>78</c:v>
                </c:pt>
                <c:pt idx="65">
                  <c:v>78</c:v>
                </c:pt>
                <c:pt idx="66">
                  <c:v>78</c:v>
                </c:pt>
                <c:pt idx="67">
                  <c:v>79</c:v>
                </c:pt>
                <c:pt idx="68">
                  <c:v>79</c:v>
                </c:pt>
                <c:pt idx="69">
                  <c:v>79</c:v>
                </c:pt>
                <c:pt idx="70">
                  <c:v>79</c:v>
                </c:pt>
                <c:pt idx="71">
                  <c:v>79</c:v>
                </c:pt>
                <c:pt idx="72">
                  <c:v>79</c:v>
                </c:pt>
                <c:pt idx="73">
                  <c:v>79</c:v>
                </c:pt>
                <c:pt idx="74">
                  <c:v>79</c:v>
                </c:pt>
                <c:pt idx="75">
                  <c:v>79</c:v>
                </c:pt>
                <c:pt idx="76">
                  <c:v>79</c:v>
                </c:pt>
                <c:pt idx="77">
                  <c:v>80</c:v>
                </c:pt>
                <c:pt idx="78">
                  <c:v>80</c:v>
                </c:pt>
                <c:pt idx="79">
                  <c:v>80</c:v>
                </c:pt>
                <c:pt idx="80">
                  <c:v>80</c:v>
                </c:pt>
                <c:pt idx="81">
                  <c:v>80</c:v>
                </c:pt>
                <c:pt idx="82">
                  <c:v>80</c:v>
                </c:pt>
                <c:pt idx="83">
                  <c:v>80</c:v>
                </c:pt>
                <c:pt idx="84">
                  <c:v>80</c:v>
                </c:pt>
                <c:pt idx="85">
                  <c:v>80</c:v>
                </c:pt>
                <c:pt idx="86">
                  <c:v>81</c:v>
                </c:pt>
                <c:pt idx="87">
                  <c:v>81</c:v>
                </c:pt>
                <c:pt idx="88">
                  <c:v>81</c:v>
                </c:pt>
                <c:pt idx="89">
                  <c:v>81</c:v>
                </c:pt>
                <c:pt idx="90">
                  <c:v>81</c:v>
                </c:pt>
                <c:pt idx="91">
                  <c:v>81</c:v>
                </c:pt>
                <c:pt idx="92">
                  <c:v>82</c:v>
                </c:pt>
                <c:pt idx="93">
                  <c:v>82</c:v>
                </c:pt>
                <c:pt idx="94">
                  <c:v>82</c:v>
                </c:pt>
                <c:pt idx="95">
                  <c:v>82</c:v>
                </c:pt>
                <c:pt idx="96">
                  <c:v>82</c:v>
                </c:pt>
                <c:pt idx="97">
                  <c:v>82</c:v>
                </c:pt>
                <c:pt idx="98">
                  <c:v>82</c:v>
                </c:pt>
                <c:pt idx="99">
                  <c:v>82</c:v>
                </c:pt>
              </c:numCache>
            </c:numRef>
          </c:xVal>
          <c:yVal>
            <c:numRef>
              <c:f>'Chart Data'!$B$2:$B$101</c:f>
              <c:numCache>
                <c:formatCode>General</c:formatCode>
                <c:ptCount val="100"/>
                <c:pt idx="0">
                  <c:v>33.4</c:v>
                </c:pt>
                <c:pt idx="1">
                  <c:v>33.7</c:v>
                </c:pt>
                <c:pt idx="2">
                  <c:v>43.4</c:v>
                </c:pt>
                <c:pt idx="3">
                  <c:v>41.8</c:v>
                </c:pt>
                <c:pt idx="4">
                  <c:v>28.7</c:v>
                </c:pt>
                <c:pt idx="5">
                  <c:v>32.8</c:v>
                </c:pt>
                <c:pt idx="6">
                  <c:v>34</c:v>
                </c:pt>
                <c:pt idx="7">
                  <c:v>36.9</c:v>
                </c:pt>
                <c:pt idx="8">
                  <c:v>34.1</c:v>
                </c:pt>
                <c:pt idx="9">
                  <c:v>34.7</c:v>
                </c:pt>
                <c:pt idx="10">
                  <c:v>45.4</c:v>
                </c:pt>
                <c:pt idx="11">
                  <c:v>34.2</c:v>
                </c:pt>
                <c:pt idx="12">
                  <c:v>40</c:v>
                </c:pt>
                <c:pt idx="13">
                  <c:v>30.2</c:v>
                </c:pt>
                <c:pt idx="14">
                  <c:v>30.4</c:v>
                </c:pt>
                <c:pt idx="15">
                  <c:v>27.1</c:v>
                </c:pt>
                <c:pt idx="16">
                  <c:v>36.4</c:v>
                </c:pt>
                <c:pt idx="17">
                  <c:v>31.7</c:v>
                </c:pt>
                <c:pt idx="18">
                  <c:v>26.1</c:v>
                </c:pt>
                <c:pt idx="19">
                  <c:v>42.4</c:v>
                </c:pt>
                <c:pt idx="20">
                  <c:v>44.7</c:v>
                </c:pt>
                <c:pt idx="21">
                  <c:v>40.9</c:v>
                </c:pt>
                <c:pt idx="22">
                  <c:v>29.7</c:v>
                </c:pt>
                <c:pt idx="23">
                  <c:v>33</c:v>
                </c:pt>
                <c:pt idx="24">
                  <c:v>43</c:v>
                </c:pt>
                <c:pt idx="25">
                  <c:v>39.9</c:v>
                </c:pt>
                <c:pt idx="26">
                  <c:v>29.4</c:v>
                </c:pt>
                <c:pt idx="27">
                  <c:v>38.3</c:v>
                </c:pt>
                <c:pt idx="28">
                  <c:v>28.9</c:v>
                </c:pt>
                <c:pt idx="29">
                  <c:v>45.8</c:v>
                </c:pt>
                <c:pt idx="30">
                  <c:v>30.6</c:v>
                </c:pt>
                <c:pt idx="31">
                  <c:v>26.3</c:v>
                </c:pt>
                <c:pt idx="32">
                  <c:v>38.8</c:v>
                </c:pt>
                <c:pt idx="33">
                  <c:v>41.8</c:v>
                </c:pt>
                <c:pt idx="34">
                  <c:v>30.1</c:v>
                </c:pt>
                <c:pt idx="35">
                  <c:v>45.5</c:v>
                </c:pt>
                <c:pt idx="36">
                  <c:v>44.4</c:v>
                </c:pt>
                <c:pt idx="37">
                  <c:v>44</c:v>
                </c:pt>
                <c:pt idx="38">
                  <c:v>32.8</c:v>
                </c:pt>
                <c:pt idx="39">
                  <c:v>36.8</c:v>
                </c:pt>
                <c:pt idx="40">
                  <c:v>34.5</c:v>
                </c:pt>
                <c:pt idx="41">
                  <c:v>26.7</c:v>
                </c:pt>
                <c:pt idx="42">
                  <c:v>28.2</c:v>
                </c:pt>
                <c:pt idx="43">
                  <c:v>29.3</c:v>
                </c:pt>
                <c:pt idx="44">
                  <c:v>30.8</c:v>
                </c:pt>
                <c:pt idx="45">
                  <c:v>35.5</c:v>
                </c:pt>
                <c:pt idx="46">
                  <c:v>29.6</c:v>
                </c:pt>
                <c:pt idx="47">
                  <c:v>27.2</c:v>
                </c:pt>
                <c:pt idx="48">
                  <c:v>36.2</c:v>
                </c:pt>
                <c:pt idx="49">
                  <c:v>45.6</c:v>
                </c:pt>
                <c:pt idx="50">
                  <c:v>32.9</c:v>
                </c:pt>
                <c:pt idx="51">
                  <c:v>39.2</c:v>
                </c:pt>
                <c:pt idx="52">
                  <c:v>30.5</c:v>
                </c:pt>
                <c:pt idx="53">
                  <c:v>34.5</c:v>
                </c:pt>
                <c:pt idx="54">
                  <c:v>38.9</c:v>
                </c:pt>
                <c:pt idx="55">
                  <c:v>27.4</c:v>
                </c:pt>
                <c:pt idx="56">
                  <c:v>38.6</c:v>
                </c:pt>
                <c:pt idx="57">
                  <c:v>27.5</c:v>
                </c:pt>
                <c:pt idx="58">
                  <c:v>34.8</c:v>
                </c:pt>
                <c:pt idx="59">
                  <c:v>36.5</c:v>
                </c:pt>
                <c:pt idx="60">
                  <c:v>45.8</c:v>
                </c:pt>
                <c:pt idx="61">
                  <c:v>33.6</c:v>
                </c:pt>
                <c:pt idx="62">
                  <c:v>31.8</c:v>
                </c:pt>
                <c:pt idx="63">
                  <c:v>44.4</c:v>
                </c:pt>
                <c:pt idx="64">
                  <c:v>35.3</c:v>
                </c:pt>
                <c:pt idx="65">
                  <c:v>39.4</c:v>
                </c:pt>
                <c:pt idx="66">
                  <c:v>29.4</c:v>
                </c:pt>
                <c:pt idx="67">
                  <c:v>34.7</c:v>
                </c:pt>
                <c:pt idx="68">
                  <c:v>34.8</c:v>
                </c:pt>
                <c:pt idx="69">
                  <c:v>36.6</c:v>
                </c:pt>
                <c:pt idx="70">
                  <c:v>27.4</c:v>
                </c:pt>
                <c:pt idx="71">
                  <c:v>32.2</c:v>
                </c:pt>
                <c:pt idx="72">
                  <c:v>27.1</c:v>
                </c:pt>
                <c:pt idx="73">
                  <c:v>35.2</c:v>
                </c:pt>
                <c:pt idx="74">
                  <c:v>27.5</c:v>
                </c:pt>
                <c:pt idx="75">
                  <c:v>41</c:v>
                </c:pt>
                <c:pt idx="76">
                  <c:v>35.9</c:v>
                </c:pt>
                <c:pt idx="77">
                  <c:v>42.1</c:v>
                </c:pt>
                <c:pt idx="78">
                  <c:v>45.6</c:v>
                </c:pt>
                <c:pt idx="79">
                  <c:v>35.5</c:v>
                </c:pt>
                <c:pt idx="80">
                  <c:v>34.6</c:v>
                </c:pt>
                <c:pt idx="81">
                  <c:v>40.4</c:v>
                </c:pt>
                <c:pt idx="82">
                  <c:v>30.5</c:v>
                </c:pt>
                <c:pt idx="83">
                  <c:v>43.6</c:v>
                </c:pt>
                <c:pt idx="84">
                  <c:v>40</c:v>
                </c:pt>
                <c:pt idx="85">
                  <c:v>31.3</c:v>
                </c:pt>
                <c:pt idx="86">
                  <c:v>44.2</c:v>
                </c:pt>
                <c:pt idx="87">
                  <c:v>34.8</c:v>
                </c:pt>
                <c:pt idx="88">
                  <c:v>34</c:v>
                </c:pt>
                <c:pt idx="89">
                  <c:v>33</c:v>
                </c:pt>
                <c:pt idx="90">
                  <c:v>34.4</c:v>
                </c:pt>
                <c:pt idx="91">
                  <c:v>29</c:v>
                </c:pt>
                <c:pt idx="92">
                  <c:v>26.3</c:v>
                </c:pt>
                <c:pt idx="93">
                  <c:v>42.7</c:v>
                </c:pt>
                <c:pt idx="94">
                  <c:v>41.8</c:v>
                </c:pt>
                <c:pt idx="95">
                  <c:v>26.3</c:v>
                </c:pt>
                <c:pt idx="96">
                  <c:v>34</c:v>
                </c:pt>
                <c:pt idx="97">
                  <c:v>40.2</c:v>
                </c:pt>
                <c:pt idx="98">
                  <c:v>30.8</c:v>
                </c:pt>
                <c:pt idx="99">
                  <c:v>40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0"/>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MPG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majorUnit val="20"/>
      </c:valAx>
      <c:valAx>
        <c:axId val="48650112"/>
        <c:scaling>
          <c:orientation val="minMax"/>
          <c:max val="82"/>
          <c:min val="7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Model year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6"/>
      </c:valAx>
      <c:spPr>
        <a:solidFill xmlns:a="http://schemas.openxmlformats.org/drawingml/2006/main">
          <a:srgbClr val="EEECE1"/>
        </a:solidFill>
      </c:spPr>
    </c:plotArea>
    <c:plotVisOnly val="1"/>
  </c:chart>
  <c:spPr>
    <a:solidFill xmlns:a="http://schemas.openxmlformats.org/drawingml/2006/main">
      <a:srgbClr val="EEECE1"/>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marker"/>
        <c:ser>
          <c:idx val="0"/>
          <c:order val="0"/>
          <c:tx>
            <c:v>usa</c:v>
          </c:tx>
          <c:spPr>
            <a:solidFill xmlns:a="http://schemas.openxmlformats.org/drawingml/2006/main">
              <a:srgbClr val="CF3338"/>
            </a:solidFill>
            <a:ln xmlns:a="http://schemas.openxmlformats.org/drawingml/2006/main" w="0">
              <a:noFill/>
            </a:ln>
          </c:spPr>
          <c:marker>
            <c:symbol val="circle"/>
            <c:size val="4"/>
            <c:spPr>
              <a:noFill xmlns:a="http://schemas.openxmlformats.org/drawingml/2006/main"/>
            </c:spPr>
          </c:marker>
          <c:xVal>
            <c:numRef>
              <c:f>'Chart Data'!$A$2:$A$208</c:f>
              <c:numCache>
                <c:formatCode>General</c:formatCode>
                <c:ptCount val="207"/>
                <c:pt idx="0">
                  <c:v>70</c:v>
                </c:pt>
                <c:pt idx="1">
                  <c:v>70</c:v>
                </c:pt>
                <c:pt idx="2">
                  <c:v>70</c:v>
                </c:pt>
                <c:pt idx="3">
                  <c:v>70</c:v>
                </c:pt>
                <c:pt idx="4">
                  <c:v>70</c:v>
                </c:pt>
                <c:pt idx="5">
                  <c:v>70</c:v>
                </c:pt>
                <c:pt idx="6">
                  <c:v>70</c:v>
                </c:pt>
                <c:pt idx="7">
                  <c:v>70</c:v>
                </c:pt>
                <c:pt idx="8">
                  <c:v>70</c:v>
                </c:pt>
                <c:pt idx="9">
                  <c:v>70</c:v>
                </c:pt>
                <c:pt idx="10">
                  <c:v>70</c:v>
                </c:pt>
                <c:pt idx="11">
                  <c:v>70</c:v>
                </c:pt>
                <c:pt idx="12">
                  <c:v>71</c:v>
                </c:pt>
                <c:pt idx="13">
                  <c:v>71</c:v>
                </c:pt>
                <c:pt idx="14">
                  <c:v>71</c:v>
                </c:pt>
                <c:pt idx="15">
                  <c:v>71</c:v>
                </c:pt>
                <c:pt idx="16">
                  <c:v>71</c:v>
                </c:pt>
                <c:pt idx="17">
                  <c:v>71</c:v>
                </c:pt>
                <c:pt idx="18">
                  <c:v>71</c:v>
                </c:pt>
                <c:pt idx="19">
                  <c:v>71</c:v>
                </c:pt>
                <c:pt idx="20">
                  <c:v>71</c:v>
                </c:pt>
                <c:pt idx="21">
                  <c:v>71</c:v>
                </c:pt>
                <c:pt idx="22">
                  <c:v>71</c:v>
                </c:pt>
                <c:pt idx="23">
                  <c:v>71</c:v>
                </c:pt>
                <c:pt idx="24">
                  <c:v>72</c:v>
                </c:pt>
                <c:pt idx="25">
                  <c:v>72</c:v>
                </c:pt>
                <c:pt idx="26">
                  <c:v>72</c:v>
                </c:pt>
                <c:pt idx="27">
                  <c:v>72</c:v>
                </c:pt>
                <c:pt idx="28">
                  <c:v>72</c:v>
                </c:pt>
                <c:pt idx="29">
                  <c:v>72</c:v>
                </c:pt>
                <c:pt idx="30">
                  <c:v>72</c:v>
                </c:pt>
                <c:pt idx="31">
                  <c:v>72</c:v>
                </c:pt>
                <c:pt idx="32">
                  <c:v>72</c:v>
                </c:pt>
                <c:pt idx="33">
                  <c:v>72</c:v>
                </c:pt>
                <c:pt idx="34">
                  <c:v>72</c:v>
                </c:pt>
                <c:pt idx="35">
                  <c:v>72</c:v>
                </c:pt>
                <c:pt idx="36">
                  <c:v>72</c:v>
                </c:pt>
                <c:pt idx="37">
                  <c:v>73</c:v>
                </c:pt>
                <c:pt idx="38">
                  <c:v>73</c:v>
                </c:pt>
                <c:pt idx="39">
                  <c:v>73</c:v>
                </c:pt>
                <c:pt idx="40">
                  <c:v>73</c:v>
                </c:pt>
                <c:pt idx="41">
                  <c:v>73</c:v>
                </c:pt>
                <c:pt idx="42">
                  <c:v>73</c:v>
                </c:pt>
                <c:pt idx="43">
                  <c:v>73</c:v>
                </c:pt>
                <c:pt idx="44">
                  <c:v>73</c:v>
                </c:pt>
                <c:pt idx="45">
                  <c:v>73</c:v>
                </c:pt>
                <c:pt idx="46">
                  <c:v>73</c:v>
                </c:pt>
                <c:pt idx="47">
                  <c:v>73</c:v>
                </c:pt>
                <c:pt idx="48">
                  <c:v>73</c:v>
                </c:pt>
                <c:pt idx="49">
                  <c:v>73</c:v>
                </c:pt>
                <c:pt idx="50">
                  <c:v>73</c:v>
                </c:pt>
                <c:pt idx="51">
                  <c:v>74</c:v>
                </c:pt>
                <c:pt idx="52">
                  <c:v>74</c:v>
                </c:pt>
                <c:pt idx="53">
                  <c:v>74</c:v>
                </c:pt>
                <c:pt idx="54">
                  <c:v>74</c:v>
                </c:pt>
                <c:pt idx="55">
                  <c:v>74</c:v>
                </c:pt>
                <c:pt idx="56">
                  <c:v>74</c:v>
                </c:pt>
                <c:pt idx="57">
                  <c:v>74</c:v>
                </c:pt>
                <c:pt idx="58">
                  <c:v>74</c:v>
                </c:pt>
                <c:pt idx="59">
                  <c:v>74</c:v>
                </c:pt>
                <c:pt idx="60">
                  <c:v>74</c:v>
                </c:pt>
                <c:pt idx="61">
                  <c:v>74</c:v>
                </c:pt>
                <c:pt idx="62">
                  <c:v>74</c:v>
                </c:pt>
                <c:pt idx="63">
                  <c:v>74</c:v>
                </c:pt>
                <c:pt idx="64">
                  <c:v>74</c:v>
                </c:pt>
                <c:pt idx="65">
                  <c:v>74</c:v>
                </c:pt>
                <c:pt idx="66">
                  <c:v>74</c:v>
                </c:pt>
                <c:pt idx="67">
                  <c:v>74</c:v>
                </c:pt>
                <c:pt idx="68">
                  <c:v>75</c:v>
                </c:pt>
                <c:pt idx="69">
                  <c:v>75</c:v>
                </c:pt>
                <c:pt idx="70">
                  <c:v>75</c:v>
                </c:pt>
                <c:pt idx="71">
                  <c:v>75</c:v>
                </c:pt>
                <c:pt idx="72">
                  <c:v>75</c:v>
                </c:pt>
                <c:pt idx="73">
                  <c:v>75</c:v>
                </c:pt>
                <c:pt idx="74">
                  <c:v>75</c:v>
                </c:pt>
                <c:pt idx="75">
                  <c:v>75</c:v>
                </c:pt>
                <c:pt idx="76">
                  <c:v>75</c:v>
                </c:pt>
                <c:pt idx="77">
                  <c:v>75</c:v>
                </c:pt>
                <c:pt idx="78">
                  <c:v>75</c:v>
                </c:pt>
                <c:pt idx="79">
                  <c:v>75</c:v>
                </c:pt>
                <c:pt idx="80">
                  <c:v>75</c:v>
                </c:pt>
                <c:pt idx="81">
                  <c:v>75</c:v>
                </c:pt>
                <c:pt idx="82">
                  <c:v>75</c:v>
                </c:pt>
                <c:pt idx="83">
                  <c:v>75</c:v>
                </c:pt>
                <c:pt idx="84">
                  <c:v>75</c:v>
                </c:pt>
                <c:pt idx="85">
                  <c:v>75</c:v>
                </c:pt>
                <c:pt idx="86">
                  <c:v>75</c:v>
                </c:pt>
                <c:pt idx="87">
                  <c:v>75</c:v>
                </c:pt>
                <c:pt idx="88">
                  <c:v>76</c:v>
                </c:pt>
                <c:pt idx="89">
                  <c:v>76</c:v>
                </c:pt>
                <c:pt idx="90">
                  <c:v>76</c:v>
                </c:pt>
                <c:pt idx="91">
                  <c:v>76</c:v>
                </c:pt>
                <c:pt idx="92">
                  <c:v>76</c:v>
                </c:pt>
                <c:pt idx="93">
                  <c:v>76</c:v>
                </c:pt>
                <c:pt idx="94">
                  <c:v>76</c:v>
                </c:pt>
                <c:pt idx="95">
                  <c:v>76</c:v>
                </c:pt>
                <c:pt idx="96">
                  <c:v>76</c:v>
                </c:pt>
                <c:pt idx="97">
                  <c:v>76</c:v>
                </c:pt>
                <c:pt idx="98">
                  <c:v>76</c:v>
                </c:pt>
                <c:pt idx="99">
                  <c:v>76</c:v>
                </c:pt>
                <c:pt idx="100">
                  <c:v>76</c:v>
                </c:pt>
                <c:pt idx="101">
                  <c:v>76</c:v>
                </c:pt>
                <c:pt idx="102">
                  <c:v>76</c:v>
                </c:pt>
                <c:pt idx="103">
                  <c:v>76</c:v>
                </c:pt>
                <c:pt idx="104">
                  <c:v>76</c:v>
                </c:pt>
                <c:pt idx="105">
                  <c:v>76</c:v>
                </c:pt>
                <c:pt idx="106">
                  <c:v>76</c:v>
                </c:pt>
                <c:pt idx="107">
                  <c:v>77</c:v>
                </c:pt>
                <c:pt idx="108">
                  <c:v>77</c:v>
                </c:pt>
                <c:pt idx="109">
                  <c:v>77</c:v>
                </c:pt>
                <c:pt idx="110">
                  <c:v>77</c:v>
                </c:pt>
                <c:pt idx="111">
                  <c:v>77</c:v>
                </c:pt>
                <c:pt idx="112">
                  <c:v>77</c:v>
                </c:pt>
                <c:pt idx="113">
                  <c:v>77</c:v>
                </c:pt>
                <c:pt idx="114">
                  <c:v>77</c:v>
                </c:pt>
                <c:pt idx="115">
                  <c:v>77</c:v>
                </c:pt>
                <c:pt idx="116">
                  <c:v>77</c:v>
                </c:pt>
                <c:pt idx="117">
                  <c:v>77</c:v>
                </c:pt>
                <c:pt idx="118">
                  <c:v>77</c:v>
                </c:pt>
                <c:pt idx="119">
                  <c:v>77</c:v>
                </c:pt>
                <c:pt idx="120">
                  <c:v>77</c:v>
                </c:pt>
                <c:pt idx="121">
                  <c:v>77</c:v>
                </c:pt>
                <c:pt idx="122">
                  <c:v>77</c:v>
                </c:pt>
                <c:pt idx="123">
                  <c:v>78</c:v>
                </c:pt>
                <c:pt idx="124">
                  <c:v>78</c:v>
                </c:pt>
                <c:pt idx="125">
                  <c:v>78</c:v>
                </c:pt>
                <c:pt idx="126">
                  <c:v>78</c:v>
                </c:pt>
                <c:pt idx="127">
                  <c:v>78</c:v>
                </c:pt>
                <c:pt idx="128">
                  <c:v>78</c:v>
                </c:pt>
                <c:pt idx="129">
                  <c:v>78</c:v>
                </c:pt>
                <c:pt idx="130">
                  <c:v>78</c:v>
                </c:pt>
                <c:pt idx="131">
                  <c:v>78</c:v>
                </c:pt>
                <c:pt idx="132">
                  <c:v>78</c:v>
                </c:pt>
                <c:pt idx="133">
                  <c:v>78</c:v>
                </c:pt>
                <c:pt idx="134">
                  <c:v>78</c:v>
                </c:pt>
                <c:pt idx="135">
                  <c:v>78</c:v>
                </c:pt>
                <c:pt idx="136">
                  <c:v>78</c:v>
                </c:pt>
                <c:pt idx="137">
                  <c:v>78</c:v>
                </c:pt>
                <c:pt idx="138">
                  <c:v>79</c:v>
                </c:pt>
                <c:pt idx="139">
                  <c:v>79</c:v>
                </c:pt>
                <c:pt idx="140">
                  <c:v>79</c:v>
                </c:pt>
                <c:pt idx="141">
                  <c:v>79</c:v>
                </c:pt>
                <c:pt idx="142">
                  <c:v>79</c:v>
                </c:pt>
                <c:pt idx="143">
                  <c:v>79</c:v>
                </c:pt>
                <c:pt idx="144">
                  <c:v>79</c:v>
                </c:pt>
                <c:pt idx="145">
                  <c:v>79</c:v>
                </c:pt>
                <c:pt idx="146">
                  <c:v>79</c:v>
                </c:pt>
                <c:pt idx="147">
                  <c:v>79</c:v>
                </c:pt>
                <c:pt idx="148">
                  <c:v>79</c:v>
                </c:pt>
                <c:pt idx="149">
                  <c:v>79</c:v>
                </c:pt>
                <c:pt idx="150">
                  <c:v>79</c:v>
                </c:pt>
                <c:pt idx="151">
                  <c:v>79</c:v>
                </c:pt>
                <c:pt idx="152">
                  <c:v>79</c:v>
                </c:pt>
                <c:pt idx="153">
                  <c:v>79</c:v>
                </c:pt>
                <c:pt idx="154">
                  <c:v>79</c:v>
                </c:pt>
                <c:pt idx="155">
                  <c:v>79</c:v>
                </c:pt>
                <c:pt idx="156">
                  <c:v>79</c:v>
                </c:pt>
                <c:pt idx="157">
                  <c:v>79</c:v>
                </c:pt>
                <c:pt idx="158">
                  <c:v>80</c:v>
                </c:pt>
                <c:pt idx="159">
                  <c:v>80</c:v>
                </c:pt>
                <c:pt idx="160">
                  <c:v>80</c:v>
                </c:pt>
                <c:pt idx="161">
                  <c:v>80</c:v>
                </c:pt>
                <c:pt idx="162">
                  <c:v>80</c:v>
                </c:pt>
                <c:pt idx="163">
                  <c:v>80</c:v>
                </c:pt>
                <c:pt idx="164">
                  <c:v>80</c:v>
                </c:pt>
                <c:pt idx="165">
                  <c:v>80</c:v>
                </c:pt>
                <c:pt idx="166">
                  <c:v>80</c:v>
                </c:pt>
                <c:pt idx="167">
                  <c:v>80</c:v>
                </c:pt>
                <c:pt idx="168">
                  <c:v>80</c:v>
                </c:pt>
                <c:pt idx="169">
                  <c:v>80</c:v>
                </c:pt>
                <c:pt idx="170">
                  <c:v>80</c:v>
                </c:pt>
                <c:pt idx="171">
                  <c:v>80</c:v>
                </c:pt>
                <c:pt idx="172">
                  <c:v>80</c:v>
                </c:pt>
                <c:pt idx="173">
                  <c:v>80</c:v>
                </c:pt>
                <c:pt idx="174">
                  <c:v>80</c:v>
                </c:pt>
                <c:pt idx="175">
                  <c:v>80</c:v>
                </c:pt>
                <c:pt idx="176">
                  <c:v>81</c:v>
                </c:pt>
                <c:pt idx="177">
                  <c:v>81</c:v>
                </c:pt>
                <c:pt idx="178">
                  <c:v>81</c:v>
                </c:pt>
                <c:pt idx="179">
                  <c:v>81</c:v>
                </c:pt>
                <c:pt idx="180">
                  <c:v>81</c:v>
                </c:pt>
                <c:pt idx="181">
                  <c:v>81</c:v>
                </c:pt>
                <c:pt idx="182">
                  <c:v>81</c:v>
                </c:pt>
                <c:pt idx="183">
                  <c:v>81</c:v>
                </c:pt>
                <c:pt idx="184">
                  <c:v>81</c:v>
                </c:pt>
                <c:pt idx="185">
                  <c:v>81</c:v>
                </c:pt>
                <c:pt idx="186">
                  <c:v>81</c:v>
                </c:pt>
                <c:pt idx="187">
                  <c:v>81</c:v>
                </c:pt>
                <c:pt idx="188">
                  <c:v>81</c:v>
                </c:pt>
                <c:pt idx="189">
                  <c:v>81</c:v>
                </c:pt>
                <c:pt idx="190">
                  <c:v>81</c:v>
                </c:pt>
                <c:pt idx="191">
                  <c:v>82</c:v>
                </c:pt>
                <c:pt idx="192">
                  <c:v>82</c:v>
                </c:pt>
                <c:pt idx="193">
                  <c:v>82</c:v>
                </c:pt>
                <c:pt idx="194">
                  <c:v>82</c:v>
                </c:pt>
                <c:pt idx="195">
                  <c:v>82</c:v>
                </c:pt>
                <c:pt idx="196">
                  <c:v>82</c:v>
                </c:pt>
                <c:pt idx="197">
                  <c:v>82</c:v>
                </c:pt>
                <c:pt idx="198">
                  <c:v>82</c:v>
                </c:pt>
                <c:pt idx="199">
                  <c:v>82</c:v>
                </c:pt>
                <c:pt idx="200">
                  <c:v>82</c:v>
                </c:pt>
                <c:pt idx="201">
                  <c:v>82</c:v>
                </c:pt>
                <c:pt idx="202">
                  <c:v>82</c:v>
                </c:pt>
                <c:pt idx="203">
                  <c:v>82</c:v>
                </c:pt>
                <c:pt idx="204">
                  <c:v>82</c:v>
                </c:pt>
                <c:pt idx="205">
                  <c:v>82</c:v>
                </c:pt>
                <c:pt idx="206">
                  <c:v>82</c:v>
                </c:pt>
              </c:numCache>
            </c:numRef>
          </c:xVal>
          <c:yVal>
            <c:numRef>
              <c:f>'Chart Data'!$B$2:$B$208</c:f>
              <c:numCache>
                <c:formatCode>General</c:formatCode>
                <c:ptCount val="207"/>
                <c:pt idx="0">
                  <c:v>32.8</c:v>
                </c:pt>
                <c:pt idx="1">
                  <c:v>20.1</c:v>
                </c:pt>
                <c:pt idx="2">
                  <c:v>22</c:v>
                </c:pt>
                <c:pt idx="3">
                  <c:v>24.8</c:v>
                </c:pt>
                <c:pt idx="4">
                  <c:v>26.9</c:v>
                </c:pt>
                <c:pt idx="5">
                  <c:v>22.3</c:v>
                </c:pt>
                <c:pt idx="6">
                  <c:v>27.6</c:v>
                </c:pt>
                <c:pt idx="7">
                  <c:v>14.5</c:v>
                </c:pt>
                <c:pt idx="8">
                  <c:v>23.9</c:v>
                </c:pt>
                <c:pt idx="9">
                  <c:v>16.9</c:v>
                </c:pt>
                <c:pt idx="10">
                  <c:v>34.5</c:v>
                </c:pt>
                <c:pt idx="11">
                  <c:v>13.5</c:v>
                </c:pt>
                <c:pt idx="12">
                  <c:v>22.8</c:v>
                </c:pt>
                <c:pt idx="13">
                  <c:v>25.4</c:v>
                </c:pt>
                <c:pt idx="14">
                  <c:v>14.7</c:v>
                </c:pt>
                <c:pt idx="15">
                  <c:v>17.3</c:v>
                </c:pt>
                <c:pt idx="16">
                  <c:v>20.3</c:v>
                </c:pt>
                <c:pt idx="17">
                  <c:v>19.7</c:v>
                </c:pt>
                <c:pt idx="18">
                  <c:v>20.5</c:v>
                </c:pt>
                <c:pt idx="19">
                  <c:v>34.9</c:v>
                </c:pt>
                <c:pt idx="20">
                  <c:v>23</c:v>
                </c:pt>
                <c:pt idx="21">
                  <c:v>31.1</c:v>
                </c:pt>
                <c:pt idx="22">
                  <c:v>14</c:v>
                </c:pt>
                <c:pt idx="23">
                  <c:v>16.4</c:v>
                </c:pt>
                <c:pt idx="24">
                  <c:v>19.4</c:v>
                </c:pt>
                <c:pt idx="25">
                  <c:v>16.6</c:v>
                </c:pt>
                <c:pt idx="26">
                  <c:v>17.3</c:v>
                </c:pt>
                <c:pt idx="27">
                  <c:v>12.5</c:v>
                </c:pt>
                <c:pt idx="28">
                  <c:v>33</c:v>
                </c:pt>
                <c:pt idx="29">
                  <c:v>17.9</c:v>
                </c:pt>
                <c:pt idx="30">
                  <c:v>20.3</c:v>
                </c:pt>
                <c:pt idx="31">
                  <c:v>18.1</c:v>
                </c:pt>
                <c:pt idx="32">
                  <c:v>33.4</c:v>
                </c:pt>
                <c:pt idx="33">
                  <c:v>25.4</c:v>
                </c:pt>
                <c:pt idx="34">
                  <c:v>27</c:v>
                </c:pt>
                <c:pt idx="35">
                  <c:v>17.2</c:v>
                </c:pt>
                <c:pt idx="36">
                  <c:v>31.1</c:v>
                </c:pt>
                <c:pt idx="37">
                  <c:v>21</c:v>
                </c:pt>
                <c:pt idx="38">
                  <c:v>29.5</c:v>
                </c:pt>
                <c:pt idx="39">
                  <c:v>23.7</c:v>
                </c:pt>
                <c:pt idx="40">
                  <c:v>12.3</c:v>
                </c:pt>
                <c:pt idx="41">
                  <c:v>11.7</c:v>
                </c:pt>
                <c:pt idx="42">
                  <c:v>16.8</c:v>
                </c:pt>
                <c:pt idx="43">
                  <c:v>34.6</c:v>
                </c:pt>
                <c:pt idx="44">
                  <c:v>10.9</c:v>
                </c:pt>
                <c:pt idx="45">
                  <c:v>24.4</c:v>
                </c:pt>
                <c:pt idx="46">
                  <c:v>10.6</c:v>
                </c:pt>
                <c:pt idx="47">
                  <c:v>31</c:v>
                </c:pt>
                <c:pt idx="48">
                  <c:v>24.1</c:v>
                </c:pt>
                <c:pt idx="49">
                  <c:v>24.5</c:v>
                </c:pt>
                <c:pt idx="50">
                  <c:v>35.9</c:v>
                </c:pt>
                <c:pt idx="51">
                  <c:v>25.3</c:v>
                </c:pt>
                <c:pt idx="52">
                  <c:v>18</c:v>
                </c:pt>
                <c:pt idx="53">
                  <c:v>17.7</c:v>
                </c:pt>
                <c:pt idx="54">
                  <c:v>24.1</c:v>
                </c:pt>
                <c:pt idx="55">
                  <c:v>30.4</c:v>
                </c:pt>
                <c:pt idx="56">
                  <c:v>26.9</c:v>
                </c:pt>
                <c:pt idx="57">
                  <c:v>22.1</c:v>
                </c:pt>
                <c:pt idx="58">
                  <c:v>24.7</c:v>
                </c:pt>
                <c:pt idx="59">
                  <c:v>21.4</c:v>
                </c:pt>
                <c:pt idx="60">
                  <c:v>20.5</c:v>
                </c:pt>
                <c:pt idx="61">
                  <c:v>16.3</c:v>
                </c:pt>
                <c:pt idx="62">
                  <c:v>24.4</c:v>
                </c:pt>
                <c:pt idx="63">
                  <c:v>15.7</c:v>
                </c:pt>
                <c:pt idx="64">
                  <c:v>34.7</c:v>
                </c:pt>
                <c:pt idx="65">
                  <c:v>19.7</c:v>
                </c:pt>
                <c:pt idx="66">
                  <c:v>21.8</c:v>
                </c:pt>
                <c:pt idx="67">
                  <c:v>25.3</c:v>
                </c:pt>
                <c:pt idx="68">
                  <c:v>32.6</c:v>
                </c:pt>
                <c:pt idx="69">
                  <c:v>11.4</c:v>
                </c:pt>
                <c:pt idx="70">
                  <c:v>35.4</c:v>
                </c:pt>
                <c:pt idx="71">
                  <c:v>18.6</c:v>
                </c:pt>
                <c:pt idx="72">
                  <c:v>31.1</c:v>
                </c:pt>
                <c:pt idx="73">
                  <c:v>32.3</c:v>
                </c:pt>
                <c:pt idx="74">
                  <c:v>22.4</c:v>
                </c:pt>
                <c:pt idx="75">
                  <c:v>24.1</c:v>
                </c:pt>
                <c:pt idx="76">
                  <c:v>31.1</c:v>
                </c:pt>
                <c:pt idx="77">
                  <c:v>33.2</c:v>
                </c:pt>
                <c:pt idx="78">
                  <c:v>24.4</c:v>
                </c:pt>
                <c:pt idx="79">
                  <c:v>21.7</c:v>
                </c:pt>
                <c:pt idx="80">
                  <c:v>20.7</c:v>
                </c:pt>
                <c:pt idx="81">
                  <c:v>17.4</c:v>
                </c:pt>
                <c:pt idx="82">
                  <c:v>15.9</c:v>
                </c:pt>
                <c:pt idx="83">
                  <c:v>35.3</c:v>
                </c:pt>
                <c:pt idx="84">
                  <c:v>15.8</c:v>
                </c:pt>
                <c:pt idx="85">
                  <c:v>22.2</c:v>
                </c:pt>
                <c:pt idx="86">
                  <c:v>19.4</c:v>
                </c:pt>
                <c:pt idx="87">
                  <c:v>17.8</c:v>
                </c:pt>
                <c:pt idx="88">
                  <c:v>27.9</c:v>
                </c:pt>
                <c:pt idx="89">
                  <c:v>34.8</c:v>
                </c:pt>
                <c:pt idx="90">
                  <c:v>24.3</c:v>
                </c:pt>
                <c:pt idx="91">
                  <c:v>22.1</c:v>
                </c:pt>
                <c:pt idx="92">
                  <c:v>33.3</c:v>
                </c:pt>
                <c:pt idx="93">
                  <c:v>18.9</c:v>
                </c:pt>
                <c:pt idx="94">
                  <c:v>21.8</c:v>
                </c:pt>
                <c:pt idx="95">
                  <c:v>12.4</c:v>
                </c:pt>
                <c:pt idx="96">
                  <c:v>18</c:v>
                </c:pt>
                <c:pt idx="97">
                  <c:v>20.3</c:v>
                </c:pt>
                <c:pt idx="98">
                  <c:v>26.2</c:v>
                </c:pt>
                <c:pt idx="99">
                  <c:v>11.5</c:v>
                </c:pt>
                <c:pt idx="100">
                  <c:v>26.6</c:v>
                </c:pt>
                <c:pt idx="101">
                  <c:v>25.3</c:v>
                </c:pt>
                <c:pt idx="102">
                  <c:v>27.5</c:v>
                </c:pt>
                <c:pt idx="103">
                  <c:v>21.4</c:v>
                </c:pt>
                <c:pt idx="104">
                  <c:v>28.1</c:v>
                </c:pt>
                <c:pt idx="105">
                  <c:v>20.3</c:v>
                </c:pt>
                <c:pt idx="106">
                  <c:v>17.6</c:v>
                </c:pt>
                <c:pt idx="107">
                  <c:v>10.2</c:v>
                </c:pt>
                <c:pt idx="108">
                  <c:v>24.6</c:v>
                </c:pt>
                <c:pt idx="109">
                  <c:v>20.6</c:v>
                </c:pt>
                <c:pt idx="110">
                  <c:v>27.5</c:v>
                </c:pt>
                <c:pt idx="111">
                  <c:v>12.7</c:v>
                </c:pt>
                <c:pt idx="112">
                  <c:v>31.2</c:v>
                </c:pt>
                <c:pt idx="113">
                  <c:v>24.4</c:v>
                </c:pt>
                <c:pt idx="114">
                  <c:v>26.4</c:v>
                </c:pt>
                <c:pt idx="115">
                  <c:v>21.7</c:v>
                </c:pt>
                <c:pt idx="116">
                  <c:v>14.7</c:v>
                </c:pt>
                <c:pt idx="117">
                  <c:v>18.5</c:v>
                </c:pt>
                <c:pt idx="118">
                  <c:v>17.3</c:v>
                </c:pt>
                <c:pt idx="119">
                  <c:v>26.3</c:v>
                </c:pt>
                <c:pt idx="120">
                  <c:v>20.7</c:v>
                </c:pt>
                <c:pt idx="121">
                  <c:v>29.6</c:v>
                </c:pt>
                <c:pt idx="122">
                  <c:v>11.5</c:v>
                </c:pt>
                <c:pt idx="123">
                  <c:v>14.1</c:v>
                </c:pt>
                <c:pt idx="124">
                  <c:v>23.3</c:v>
                </c:pt>
                <c:pt idx="125">
                  <c:v>17.4</c:v>
                </c:pt>
                <c:pt idx="126">
                  <c:v>21.5</c:v>
                </c:pt>
                <c:pt idx="127">
                  <c:v>18.5</c:v>
                </c:pt>
                <c:pt idx="128">
                  <c:v>19.4</c:v>
                </c:pt>
                <c:pt idx="129">
                  <c:v>17.3</c:v>
                </c:pt>
                <c:pt idx="130">
                  <c:v>27</c:v>
                </c:pt>
                <c:pt idx="131">
                  <c:v>16.5</c:v>
                </c:pt>
                <c:pt idx="132">
                  <c:v>26.8</c:v>
                </c:pt>
                <c:pt idx="133">
                  <c:v>13.7</c:v>
                </c:pt>
                <c:pt idx="134">
                  <c:v>26.7</c:v>
                </c:pt>
                <c:pt idx="135">
                  <c:v>31.9</c:v>
                </c:pt>
                <c:pt idx="136">
                  <c:v>21.4</c:v>
                </c:pt>
                <c:pt idx="137">
                  <c:v>19.9</c:v>
                </c:pt>
                <c:pt idx="138">
                  <c:v>25.6</c:v>
                </c:pt>
                <c:pt idx="139">
                  <c:v>24.4</c:v>
                </c:pt>
                <c:pt idx="140">
                  <c:v>18.7</c:v>
                </c:pt>
                <c:pt idx="141">
                  <c:v>22.2</c:v>
                </c:pt>
                <c:pt idx="142">
                  <c:v>23.4</c:v>
                </c:pt>
                <c:pt idx="143">
                  <c:v>31.9</c:v>
                </c:pt>
                <c:pt idx="144">
                  <c:v>23.3</c:v>
                </c:pt>
                <c:pt idx="145">
                  <c:v>15.8</c:v>
                </c:pt>
                <c:pt idx="146">
                  <c:v>24.8</c:v>
                </c:pt>
                <c:pt idx="147">
                  <c:v>20.9</c:v>
                </c:pt>
                <c:pt idx="148">
                  <c:v>17.6</c:v>
                </c:pt>
                <c:pt idx="149">
                  <c:v>18.5</c:v>
                </c:pt>
                <c:pt idx="150">
                  <c:v>26.6</c:v>
                </c:pt>
                <c:pt idx="151">
                  <c:v>25</c:v>
                </c:pt>
                <c:pt idx="152">
                  <c:v>32.9</c:v>
                </c:pt>
                <c:pt idx="153">
                  <c:v>23.4</c:v>
                </c:pt>
                <c:pt idx="154">
                  <c:v>19.1</c:v>
                </c:pt>
                <c:pt idx="155">
                  <c:v>20.4</c:v>
                </c:pt>
                <c:pt idx="156">
                  <c:v>31.2</c:v>
                </c:pt>
                <c:pt idx="157">
                  <c:v>34.2</c:v>
                </c:pt>
                <c:pt idx="158">
                  <c:v>21.9</c:v>
                </c:pt>
                <c:pt idx="159">
                  <c:v>23.1</c:v>
                </c:pt>
                <c:pt idx="160">
                  <c:v>15.2</c:v>
                </c:pt>
                <c:pt idx="161">
                  <c:v>21.5</c:v>
                </c:pt>
                <c:pt idx="162">
                  <c:v>28</c:v>
                </c:pt>
                <c:pt idx="163">
                  <c:v>17.7</c:v>
                </c:pt>
                <c:pt idx="164">
                  <c:v>22</c:v>
                </c:pt>
                <c:pt idx="165">
                  <c:v>19.2</c:v>
                </c:pt>
                <c:pt idx="166">
                  <c:v>22.7</c:v>
                </c:pt>
                <c:pt idx="167">
                  <c:v>20.1</c:v>
                </c:pt>
                <c:pt idx="168">
                  <c:v>31.3</c:v>
                </c:pt>
                <c:pt idx="169">
                  <c:v>27.8</c:v>
                </c:pt>
                <c:pt idx="170">
                  <c:v>24</c:v>
                </c:pt>
                <c:pt idx="171">
                  <c:v>31</c:v>
                </c:pt>
                <c:pt idx="172">
                  <c:v>17.7</c:v>
                </c:pt>
                <c:pt idx="173">
                  <c:v>14.2</c:v>
                </c:pt>
                <c:pt idx="174">
                  <c:v>20.9</c:v>
                </c:pt>
                <c:pt idx="175">
                  <c:v>19.2</c:v>
                </c:pt>
                <c:pt idx="176">
                  <c:v>11.2</c:v>
                </c:pt>
                <c:pt idx="177">
                  <c:v>25.5</c:v>
                </c:pt>
                <c:pt idx="178">
                  <c:v>25</c:v>
                </c:pt>
                <c:pt idx="179">
                  <c:v>17.1</c:v>
                </c:pt>
                <c:pt idx="180">
                  <c:v>34.5</c:v>
                </c:pt>
                <c:pt idx="181">
                  <c:v>18</c:v>
                </c:pt>
                <c:pt idx="182">
                  <c:v>23.3</c:v>
                </c:pt>
                <c:pt idx="183">
                  <c:v>16.2</c:v>
                </c:pt>
                <c:pt idx="184">
                  <c:v>25.4</c:v>
                </c:pt>
                <c:pt idx="185">
                  <c:v>18.5</c:v>
                </c:pt>
                <c:pt idx="186">
                  <c:v>22.3</c:v>
                </c:pt>
                <c:pt idx="187">
                  <c:v>16</c:v>
                </c:pt>
                <c:pt idx="188">
                  <c:v>10.6</c:v>
                </c:pt>
                <c:pt idx="189">
                  <c:v>20.6</c:v>
                </c:pt>
                <c:pt idx="190">
                  <c:v>21.1</c:v>
                </c:pt>
                <c:pt idx="191">
                  <c:v>15.9</c:v>
                </c:pt>
                <c:pt idx="192">
                  <c:v>22.2</c:v>
                </c:pt>
                <c:pt idx="193">
                  <c:v>22.7</c:v>
                </c:pt>
                <c:pt idx="194">
                  <c:v>32.5</c:v>
                </c:pt>
                <c:pt idx="195">
                  <c:v>22.8</c:v>
                </c:pt>
                <c:pt idx="196">
                  <c:v>23.8</c:v>
                </c:pt>
                <c:pt idx="197">
                  <c:v>17.4</c:v>
                </c:pt>
                <c:pt idx="198">
                  <c:v>22.6</c:v>
                </c:pt>
                <c:pt idx="199">
                  <c:v>25.9</c:v>
                </c:pt>
                <c:pt idx="200">
                  <c:v>19.2</c:v>
                </c:pt>
                <c:pt idx="201">
                  <c:v>23.1</c:v>
                </c:pt>
                <c:pt idx="202">
                  <c:v>16.3</c:v>
                </c:pt>
                <c:pt idx="203">
                  <c:v>17.2</c:v>
                </c:pt>
                <c:pt idx="204">
                  <c:v>34.2</c:v>
                </c:pt>
                <c:pt idx="205">
                  <c:v>19.2</c:v>
                </c:pt>
                <c:pt idx="206">
                  <c:v>23.8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0"/>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MPG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majorUnit val="20"/>
      </c:valAx>
      <c:valAx>
        <c:axId val="48650112"/>
        <c:scaling>
          <c:orientation val="minMax"/>
          <c:max val="82"/>
          <c:min val="7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Model year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6"/>
      </c:valAx>
      <c:spPr>
        <a:solidFill xmlns:a="http://schemas.openxmlformats.org/drawingml/2006/main">
          <a:srgbClr val="EEECE1"/>
        </a:solidFill>
      </c:spPr>
    </c:plotArea>
    <c:plotVisOnly val="1"/>
  </c:chart>
  <c:spPr>
    <a:solidFill xmlns:a="http://schemas.openxmlformats.org/drawingml/2006/main">
      <a:srgbClr val="EEECE1"/>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d21784dcf204ec3"/>
          <a:stretch xmlns:a="http://schemas.openxmlformats.org/drawingml/2006/main"/>
        </p:blipFill>
        <p:spPr>
          <a:xfrm xmlns:a="http://schemas.openxmlformats.org/drawingml/2006/main">
            <a:off x="610132" y="514350"/>
            <a:ext cx="3427937" cy="593408"/>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45D627D-C5CD-4E54-B00F-694C21E2606B}"/>
              </a:ext>
            </a:extLst>
          </p:cNvPr>
          <p:cNvSpPr>
            <a:spLocks xmlns:a="http://schemas.openxmlformats.org/drawingml/2006/main" noGrp="1"/>
          </p:cNvSpPr>
          <p:nvPr/>
        </p:nvSpPr>
        <p:spPr>
          <a:xfrm xmlns:a="http://schemas.openxmlformats.org/drawingml/2006/main">
            <a:off x="609600" y="1990725"/>
            <a:ext cx="10906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1">
                <a:solidFill>
                  <a:srgbClr val="CF3338"/>
                </a:solidFill>
                <a:latin typeface="Arial Black"/>
                <a:ea typeface="Arial Black"/>
                <a:cs typeface="Arial Black"/>
              </a:defRPr>
            </a:pPr>
            <a:r>
              <a:rPr sz="4575" b="1">
                <a:solidFill>
                  <a:srgbClr val="CF3338"/>
                </a:solidFill>
                <a:latin typeface="Arial Black"/>
                <a:ea typeface="Arial Black"/>
                <a:cs typeface="Arial Black"/>
              </a:rPr>
              <a:t>Charts that answer questions</a:t>
            </a:r>
          </a:p>
        </p:txBody>
      </p:sp>
      <p:sp>
        <p:nvSpPr>
          <p:cNvPr id="3" name="">
            <a:extLst xmlns:a="http://schemas.openxmlformats.org/drawingml/2006/main">
              <a:ext uri="{FF2B5EF4-FFF2-40B4-BE49-F238E27FC236}">
                <a16:creationId xmlns:a16="http://schemas.microsoft.com/office/drawing/2014/main" id="{256E5BC6-0283-42E9-88D9-09C43C7FF417}"/>
              </a:ext>
            </a:extLst>
          </p:cNvPr>
          <p:cNvSpPr>
            <a:spLocks xmlns:a="http://schemas.openxmlformats.org/drawingml/2006/main" noGrp="1"/>
          </p:cNvSpPr>
          <p:nvPr/>
        </p:nvSpPr>
        <p:spPr>
          <a:xfrm xmlns:a="http://schemas.openxmlformats.org/drawingml/2006/main">
            <a:off x="609600" y="35528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75" b="1">
                <a:solidFill>
                  <a:srgbClr val="1F2120"/>
                </a:solidFill>
                <a:latin typeface="Arial"/>
                <a:ea typeface="Arial"/>
                <a:cs typeface="Arial"/>
              </a:defRPr>
            </a:pPr>
            <a:r>
              <a:rPr sz="2775" b="1">
                <a:solidFill>
                  <a:srgbClr val="1F2120"/>
                </a:solidFill>
                <a:latin typeface="Arial"/>
                <a:ea typeface="Arial"/>
                <a:cs typeface="Arial"/>
              </a:rPr>
              <a:t>Python in Excel for Excel analysts</a:t>
            </a:r>
          </a:p>
        </p:txBody>
      </p:sp>
      <p:sp>
        <p:nvSpPr>
          <p:cNvPr id="4" name="">
            <a:extLst xmlns:a="http://schemas.openxmlformats.org/drawingml/2006/main">
              <a:ext uri="{FF2B5EF4-FFF2-40B4-BE49-F238E27FC236}">
                <a16:creationId xmlns:a16="http://schemas.microsoft.com/office/drawing/2014/main" id="{5AF8948B-F73A-4429-9EEB-C1141930AC0E}"/>
              </a:ext>
            </a:extLst>
          </p:cNvPr>
          <p:cNvSpPr>
            <a:spLocks xmlns:a="http://schemas.openxmlformats.org/drawingml/2006/main" noGrp="1"/>
          </p:cNvSpPr>
          <p:nvPr/>
        </p:nvSpPr>
        <p:spPr>
          <a:xfrm xmlns:a="http://schemas.openxmlformats.org/drawingml/2006/main">
            <a:off x="609600" y="4533900"/>
            <a:ext cx="10096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Choose a useful chart and explain what it shows.</a:t>
            </a:r>
          </a:p>
        </p:txBody>
      </p:sp>
      <p:sp>
        <p:nvSpPr>
          <p:cNvPr id="5" name="">
            <a:extLst xmlns:a="http://schemas.openxmlformats.org/drawingml/2006/main">
              <a:ext uri="{FF2B5EF4-FFF2-40B4-BE49-F238E27FC236}">
                <a16:creationId xmlns:a16="http://schemas.microsoft.com/office/drawing/2014/main" id="{33C88D1E-F69E-439E-80CC-2EAAC9CD7063}"/>
              </a:ext>
            </a:extLst>
          </p:cNvPr>
          <p:cNvSpPr>
            <a:spLocks xmlns:a="http://schemas.openxmlformats.org/drawingml/2006/main" noGrp="1"/>
          </p:cNvSpPr>
          <p:nvPr/>
        </p:nvSpPr>
        <p:spPr>
          <a:xfrm xmlns:a="http://schemas.openxmlformats.org/drawingml/2006/main">
            <a:off x="609600" y="604837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07070"/>
                </a:solidFill>
                <a:latin typeface="Arial"/>
                <a:ea typeface="Arial"/>
                <a:cs typeface="Arial"/>
              </a:defRPr>
            </a:pPr>
            <a:r>
              <a:rPr sz="1725" b="0">
                <a:solidFill>
                  <a:srgbClr val="707070"/>
                </a:solidFill>
                <a:latin typeface="Arial"/>
                <a:ea typeface="Arial"/>
                <a:cs typeface="Arial"/>
              </a:rPr>
              <a:t>George Mount  /  Session 2  /  45 minutes</a:t>
            </a:r>
          </a:p>
        </p:txBody>
      </p:sp>
    </p:spTree>
    <p:extLst>
      <p:ext uri="{BB962C8B-B14F-4D97-AF65-F5344CB8AC3E}">
        <p14:creationId xmlns:p14="http://schemas.microsoft.com/office/powerpoint/2010/main" val="1688154196"/>
      </p:ext>
    </p:extLst>
  </p:cSld>
</p:sld>
</file>

<file path=ppt/slides/slide2.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61610A2-4349-4DA8-B90F-F9B901D4A39E}"/>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The chart is easy to make. The question matters.</a:t>
            </a:r>
          </a:p>
        </p:txBody>
      </p:sp>
      <p:sp>
        <p:nvSpPr>
          <p:cNvPr id="2" name="">
            <a:extLst xmlns:a="http://schemas.openxmlformats.org/drawingml/2006/main">
              <a:ext uri="{FF2B5EF4-FFF2-40B4-BE49-F238E27FC236}">
                <a16:creationId xmlns:a16="http://schemas.microsoft.com/office/drawing/2014/main" id="{5C9659F3-EAE2-498B-81E5-8845C117468D}"/>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67DC7D02-D0B7-491E-8AED-16898988F831}"/>
              </a:ext>
            </a:extLst>
          </p:cNvPr>
          <p:cNvSpPr>
            <a:spLocks xmlns:a="http://schemas.openxmlformats.org/drawingml/2006/main" noGrp="1"/>
          </p:cNvSpPr>
          <p:nvPr/>
        </p:nvSpPr>
        <p:spPr>
          <a:xfrm xmlns:a="http://schemas.openxmlformats.org/drawingml/2006/main">
            <a:off x="609600" y="2628900"/>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0">
                <a:solidFill>
                  <a:srgbClr val="1F2120"/>
                </a:solidFill>
                <a:latin typeface="Arial"/>
                <a:ea typeface="Arial"/>
                <a:cs typeface="Arial"/>
              </a:defRPr>
            </a:pPr>
            <a:r>
              <a:rPr sz="2700" b="0">
                <a:solidFill>
                  <a:srgbClr val="1F2120"/>
                </a:solidFill>
                <a:latin typeface="Arial"/>
                <a:ea typeface="Arial"/>
                <a:cs typeface="Arial"/>
              </a:rPr>
              <a:t>You have a table full of numbers.</a:t>
            </a:r>
          </a:p>
          <a:p xmlns:a="http://schemas.openxmlformats.org/drawingml/2006/main">
            <a:pPr>
              <a:defRPr sz="2700" b="0">
                <a:solidFill>
                  <a:srgbClr val="1F2120"/>
                </a:solidFill>
                <a:latin typeface="Arial"/>
                <a:ea typeface="Arial"/>
                <a:cs typeface="Arial"/>
              </a:defRPr>
            </a:pPr>
            <a:r>
              <a:rPr sz="2700" b="0">
                <a:solidFill>
                  <a:srgbClr val="1F2120"/>
                </a:solidFill>
                <a:latin typeface="Arial"/>
                <a:ea typeface="Arial"/>
                <a:cs typeface="Arial"/>
              </a:rPr>
              <a:t>Your audience wants to know what matters.</a:t>
            </a:r>
          </a:p>
        </p:txBody>
      </p:sp>
      <p:sp>
        <p:nvSpPr>
          <p:cNvPr id="4" name="">
            <a:extLst xmlns:a="http://schemas.openxmlformats.org/drawingml/2006/main">
              <a:ext uri="{FF2B5EF4-FFF2-40B4-BE49-F238E27FC236}">
                <a16:creationId xmlns:a16="http://schemas.microsoft.com/office/drawing/2014/main" id="{3BBC4A7F-018C-4D57-B0B7-86F521274580}"/>
              </a:ext>
            </a:extLst>
          </p:cNvPr>
          <p:cNvSpPr>
            <a:spLocks xmlns:a="http://schemas.openxmlformats.org/drawingml/2006/main" noGrp="1"/>
          </p:cNvSpPr>
          <p:nvPr/>
        </p:nvSpPr>
        <p:spPr>
          <a:xfrm xmlns:a="http://schemas.openxmlformats.org/drawingml/2006/main">
            <a:off x="609600" y="5457825"/>
            <a:ext cx="10972800" cy="695325"/>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2AEDCB6-444A-4905-BF0B-929BFCF9B5D8}"/>
              </a:ext>
            </a:extLst>
          </p:cNvPr>
          <p:cNvSpPr>
            <a:spLocks xmlns:a="http://schemas.openxmlformats.org/drawingml/2006/main" noGrp="1"/>
          </p:cNvSpPr>
          <p:nvPr/>
        </p:nvSpPr>
        <p:spPr>
          <a:xfrm xmlns:a="http://schemas.openxmlformats.org/drawingml/2006/main">
            <a:off x="828675" y="5638800"/>
            <a:ext cx="10525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Your goal: choose a chart that makes one answer clear.</a:t>
            </a:r>
          </a:p>
        </p:txBody>
      </p:sp>
    </p:spTree>
    <p:extLst>
      <p:ext uri="{BB962C8B-B14F-4D97-AF65-F5344CB8AC3E}">
        <p14:creationId xmlns:p14="http://schemas.microsoft.com/office/powerpoint/2010/main" val="977786716"/>
      </p:ext>
    </p:extLst>
  </p:cSld>
</p:sld>
</file>

<file path=ppt/slides/slide3.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4EF1C98-0919-4A62-AA8A-7443D84724E6}"/>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 short route through today’s workbook</a:t>
            </a:r>
          </a:p>
        </p:txBody>
      </p:sp>
      <p:sp>
        <p:nvSpPr>
          <p:cNvPr id="2" name="">
            <a:extLst xmlns:a="http://schemas.openxmlformats.org/drawingml/2006/main">
              <a:ext uri="{FF2B5EF4-FFF2-40B4-BE49-F238E27FC236}">
                <a16:creationId xmlns:a16="http://schemas.microsoft.com/office/drawing/2014/main" id="{65739500-D6C9-4D7E-8451-4F34AD50E78F}"/>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You bring the question. I’ll guide you through the Python.</a:t>
            </a:r>
          </a:p>
        </p:txBody>
      </p:sp>
      <p:sp>
        <p:nvSpPr>
          <p:cNvPr id="3" name="">
            <a:extLst xmlns:a="http://schemas.openxmlformats.org/drawingml/2006/main">
              <a:ext uri="{FF2B5EF4-FFF2-40B4-BE49-F238E27FC236}">
                <a16:creationId xmlns:a16="http://schemas.microsoft.com/office/drawing/2014/main" id="{8B12D012-EF93-40F7-9241-93FA9CEBCE72}"/>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D367FF48-DE39-4338-85E3-E6019521A0D3}"/>
              </a:ext>
            </a:extLst>
          </p:cNvPr>
          <p:cNvSpPr>
            <a:spLocks xmlns:a="http://schemas.openxmlformats.org/drawingml/2006/main" noGrp="1"/>
          </p:cNvSpPr>
          <p:nvPr/>
        </p:nvSpPr>
        <p:spPr>
          <a:xfrm xmlns:a="http://schemas.openxmlformats.org/drawingml/2006/main">
            <a:off x="609600" y="2619375"/>
            <a:ext cx="1000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CF3338"/>
                </a:solidFill>
                <a:latin typeface="Arial"/>
                <a:ea typeface="Arial"/>
                <a:cs typeface="Arial"/>
              </a:defRPr>
            </a:pPr>
            <a:r>
              <a:rPr sz="3525" b="1">
                <a:solidFill>
                  <a:srgbClr val="CF333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9120D20-3470-4679-9F81-B57ED848E320}"/>
              </a:ext>
            </a:extLst>
          </p:cNvPr>
          <p:cNvSpPr>
            <a:spLocks xmlns:a="http://schemas.openxmlformats.org/drawingml/2006/main" noGrp="1"/>
          </p:cNvSpPr>
          <p:nvPr/>
        </p:nvSpPr>
        <p:spPr>
          <a:xfrm xmlns:a="http://schemas.openxmlformats.org/drawingml/2006/main">
            <a:off x="1971675" y="2619375"/>
            <a:ext cx="952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F2120"/>
                </a:solidFill>
                <a:latin typeface="Arial"/>
                <a:ea typeface="Arial"/>
                <a:cs typeface="Arial"/>
              </a:defRPr>
            </a:pPr>
            <a:r>
              <a:rPr sz="2400" b="1">
                <a:solidFill>
                  <a:srgbClr val="1F2120"/>
                </a:solidFill>
                <a:latin typeface="Arial"/>
                <a:ea typeface="Arial"/>
                <a:cs typeface="Arial"/>
              </a:rPr>
              <a:t>Try three charts</a:t>
            </a:r>
          </a:p>
        </p:txBody>
      </p:sp>
      <p:sp>
        <p:nvSpPr>
          <p:cNvPr id="6" name="">
            <a:extLst xmlns:a="http://schemas.openxmlformats.org/drawingml/2006/main">
              <a:ext uri="{FF2B5EF4-FFF2-40B4-BE49-F238E27FC236}">
                <a16:creationId xmlns:a16="http://schemas.microsoft.com/office/drawing/2014/main" id="{770556DA-C72D-43D3-BEC1-8E8171DDD7EE}"/>
              </a:ext>
            </a:extLst>
          </p:cNvPr>
          <p:cNvSpPr>
            <a:spLocks xmlns:a="http://schemas.openxmlformats.org/drawingml/2006/main" noGrp="1"/>
          </p:cNvSpPr>
          <p:nvPr/>
        </p:nvSpPr>
        <p:spPr>
          <a:xfrm xmlns:a="http://schemas.openxmlformats.org/drawingml/2006/main">
            <a:off x="1971675" y="3095625"/>
            <a:ext cx="9477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707070"/>
                </a:solidFill>
                <a:latin typeface="Arial"/>
                <a:ea typeface="Arial"/>
                <a:cs typeface="Arial"/>
              </a:defRPr>
            </a:pPr>
            <a:r>
              <a:rPr sz="1950" b="0">
                <a:solidFill>
                  <a:srgbClr val="707070"/>
                </a:solidFill>
                <a:latin typeface="Arial"/>
                <a:ea typeface="Arial"/>
                <a:cs typeface="Arial"/>
              </a:rPr>
              <a:t>Counts, a histogram and a scatterplot.</a:t>
            </a:r>
          </a:p>
        </p:txBody>
      </p:sp>
      <p:sp>
        <p:nvSpPr>
          <p:cNvPr id="7" name="">
            <a:extLst xmlns:a="http://schemas.openxmlformats.org/drawingml/2006/main">
              <a:ext uri="{FF2B5EF4-FFF2-40B4-BE49-F238E27FC236}">
                <a16:creationId xmlns:a16="http://schemas.microsoft.com/office/drawing/2014/main" id="{E50FE505-1436-4B89-B80F-3F2B835A1004}"/>
              </a:ext>
            </a:extLst>
          </p:cNvPr>
          <p:cNvSpPr>
            <a:spLocks xmlns:a="http://schemas.openxmlformats.org/drawingml/2006/main" noGrp="1"/>
          </p:cNvSpPr>
          <p:nvPr/>
        </p:nvSpPr>
        <p:spPr>
          <a:xfrm xmlns:a="http://schemas.openxmlformats.org/drawingml/2006/main">
            <a:off x="609600" y="3695700"/>
            <a:ext cx="1000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CF3338"/>
                </a:solidFill>
                <a:latin typeface="Arial"/>
                <a:ea typeface="Arial"/>
                <a:cs typeface="Arial"/>
              </a:defRPr>
            </a:pPr>
            <a:r>
              <a:rPr sz="3525" b="1">
                <a:solidFill>
                  <a:srgbClr val="CF333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79EE9A94-FAAD-4BC0-A040-515558FAA135}"/>
              </a:ext>
            </a:extLst>
          </p:cNvPr>
          <p:cNvSpPr>
            <a:spLocks xmlns:a="http://schemas.openxmlformats.org/drawingml/2006/main" noGrp="1"/>
          </p:cNvSpPr>
          <p:nvPr/>
        </p:nvSpPr>
        <p:spPr>
          <a:xfrm xmlns:a="http://schemas.openxmlformats.org/drawingml/2006/main">
            <a:off x="1971675" y="3695700"/>
            <a:ext cx="952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F2120"/>
                </a:solidFill>
                <a:latin typeface="Arial"/>
                <a:ea typeface="Arial"/>
                <a:cs typeface="Arial"/>
              </a:defRPr>
            </a:pPr>
            <a:r>
              <a:rPr sz="2400" b="1">
                <a:solidFill>
                  <a:srgbClr val="1F2120"/>
                </a:solidFill>
                <a:latin typeface="Arial"/>
                <a:ea typeface="Arial"/>
                <a:cs typeface="Arial"/>
              </a:rPr>
              <a:t>Watch three more</a:t>
            </a:r>
          </a:p>
        </p:txBody>
      </p:sp>
      <p:sp>
        <p:nvSpPr>
          <p:cNvPr id="9" name="">
            <a:extLst xmlns:a="http://schemas.openxmlformats.org/drawingml/2006/main">
              <a:ext uri="{FF2B5EF4-FFF2-40B4-BE49-F238E27FC236}">
                <a16:creationId xmlns:a16="http://schemas.microsoft.com/office/drawing/2014/main" id="{0BB8206D-57E4-4267-A795-5EE6D3ABEC26}"/>
              </a:ext>
            </a:extLst>
          </p:cNvPr>
          <p:cNvSpPr>
            <a:spLocks xmlns:a="http://schemas.openxmlformats.org/drawingml/2006/main" noGrp="1"/>
          </p:cNvSpPr>
          <p:nvPr/>
        </p:nvSpPr>
        <p:spPr>
          <a:xfrm xmlns:a="http://schemas.openxmlformats.org/drawingml/2006/main">
            <a:off x="1971675" y="4171950"/>
            <a:ext cx="9477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707070"/>
                </a:solidFill>
                <a:latin typeface="Arial"/>
                <a:ea typeface="Arial"/>
                <a:cs typeface="Arial"/>
              </a:defRPr>
            </a:pPr>
            <a:r>
              <a:rPr sz="1950" b="0">
                <a:solidFill>
                  <a:srgbClr val="707070"/>
                </a:solidFill>
                <a:latin typeface="Arial"/>
                <a:ea typeface="Arial"/>
                <a:cs typeface="Arial"/>
              </a:rPr>
              <a:t>A boxplot, a heatmap and separate charts by group.</a:t>
            </a:r>
          </a:p>
        </p:txBody>
      </p:sp>
      <p:sp>
        <p:nvSpPr>
          <p:cNvPr id="10" name="">
            <a:extLst xmlns:a="http://schemas.openxmlformats.org/drawingml/2006/main">
              <a:ext uri="{FF2B5EF4-FFF2-40B4-BE49-F238E27FC236}">
                <a16:creationId xmlns:a16="http://schemas.microsoft.com/office/drawing/2014/main" id="{BC24A2A4-7109-489F-B3EF-AE4E29B6629B}"/>
              </a:ext>
            </a:extLst>
          </p:cNvPr>
          <p:cNvSpPr>
            <a:spLocks xmlns:a="http://schemas.openxmlformats.org/drawingml/2006/main" noGrp="1"/>
          </p:cNvSpPr>
          <p:nvPr/>
        </p:nvSpPr>
        <p:spPr>
          <a:xfrm xmlns:a="http://schemas.openxmlformats.org/drawingml/2006/main">
            <a:off x="609600" y="4772025"/>
            <a:ext cx="1000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CF3338"/>
                </a:solidFill>
                <a:latin typeface="Arial"/>
                <a:ea typeface="Arial"/>
                <a:cs typeface="Arial"/>
              </a:defRPr>
            </a:pPr>
            <a:r>
              <a:rPr sz="3525" b="1">
                <a:solidFill>
                  <a:srgbClr val="CF333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CEE93357-4C0F-4FC9-AE77-D01AD249EEE4}"/>
              </a:ext>
            </a:extLst>
          </p:cNvPr>
          <p:cNvSpPr>
            <a:spLocks xmlns:a="http://schemas.openxmlformats.org/drawingml/2006/main" noGrp="1"/>
          </p:cNvSpPr>
          <p:nvPr/>
        </p:nvSpPr>
        <p:spPr>
          <a:xfrm xmlns:a="http://schemas.openxmlformats.org/drawingml/2006/main">
            <a:off x="1971675" y="4772025"/>
            <a:ext cx="952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F2120"/>
                </a:solidFill>
                <a:latin typeface="Arial"/>
                <a:ea typeface="Arial"/>
                <a:cs typeface="Arial"/>
              </a:defRPr>
            </a:pPr>
            <a:r>
              <a:rPr sz="2400" b="1">
                <a:solidFill>
                  <a:srgbClr val="1F2120"/>
                </a:solidFill>
                <a:latin typeface="Arial"/>
                <a:ea typeface="Arial"/>
                <a:cs typeface="Arial"/>
              </a:rPr>
              <a:t>Explain one useful finding</a:t>
            </a:r>
          </a:p>
        </p:txBody>
      </p:sp>
      <p:sp>
        <p:nvSpPr>
          <p:cNvPr id="12" name="">
            <a:extLst xmlns:a="http://schemas.openxmlformats.org/drawingml/2006/main">
              <a:ext uri="{FF2B5EF4-FFF2-40B4-BE49-F238E27FC236}">
                <a16:creationId xmlns:a16="http://schemas.microsoft.com/office/drawing/2014/main" id="{CACB025D-2F54-4555-A9BA-B866F155421B}"/>
              </a:ext>
            </a:extLst>
          </p:cNvPr>
          <p:cNvSpPr>
            <a:spLocks xmlns:a="http://schemas.openxmlformats.org/drawingml/2006/main" noGrp="1"/>
          </p:cNvSpPr>
          <p:nvPr/>
        </p:nvSpPr>
        <p:spPr>
          <a:xfrm xmlns:a="http://schemas.openxmlformats.org/drawingml/2006/main">
            <a:off x="1971675" y="5248275"/>
            <a:ext cx="9477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707070"/>
                </a:solidFill>
                <a:latin typeface="Arial"/>
                <a:ea typeface="Arial"/>
                <a:cs typeface="Arial"/>
              </a:defRPr>
            </a:pPr>
            <a:r>
              <a:rPr sz="1950" b="0">
                <a:solidFill>
                  <a:srgbClr val="707070"/>
                </a:solidFill>
                <a:latin typeface="Arial"/>
                <a:ea typeface="Arial"/>
                <a:cs typeface="Arial"/>
              </a:rPr>
              <a:t>Write a sentence your colleague could understand.</a:t>
            </a:r>
          </a:p>
        </p:txBody>
      </p:sp>
    </p:spTree>
    <p:extLst>
      <p:ext uri="{BB962C8B-B14F-4D97-AF65-F5344CB8AC3E}">
        <p14:creationId xmlns:p14="http://schemas.microsoft.com/office/powerpoint/2010/main" val="2091714371"/>
      </p:ext>
    </p:extLst>
  </p:cSld>
</p:sld>
</file>

<file path=ppt/slides/slide4.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6E0E4F2-FF1A-41A1-B723-14BF16AF82C6}"/>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Your follow-along setup</a:t>
            </a:r>
          </a:p>
        </p:txBody>
      </p:sp>
      <p:sp>
        <p:nvSpPr>
          <p:cNvPr id="2" name="">
            <a:extLst xmlns:a="http://schemas.openxmlformats.org/drawingml/2006/main">
              <a:ext uri="{FF2B5EF4-FFF2-40B4-BE49-F238E27FC236}">
                <a16:creationId xmlns:a16="http://schemas.microsoft.com/office/drawing/2014/main" id="{06D8D9BF-5F02-4054-ACCC-0CCA3E1E231A}"/>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Open follow-along.xlsx and the attendee worksheet.</a:t>
            </a:r>
          </a:p>
        </p:txBody>
      </p:sp>
      <p:sp>
        <p:nvSpPr>
          <p:cNvPr id="3" name="">
            <a:extLst xmlns:a="http://schemas.openxmlformats.org/drawingml/2006/main">
              <a:ext uri="{FF2B5EF4-FFF2-40B4-BE49-F238E27FC236}">
                <a16:creationId xmlns:a16="http://schemas.microsoft.com/office/drawing/2014/main" id="{15F1CBAD-51FB-4A0C-836D-7478ABC8774F}"/>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58B4E6B0-50E1-49BB-A682-7D83AADAB598}"/>
              </a:ext>
            </a:extLst>
          </p:cNvPr>
          <p:cNvSpPr>
            <a:spLocks xmlns:a="http://schemas.openxmlformats.org/drawingml/2006/main" noGrp="1"/>
          </p:cNvSpPr>
          <p:nvPr/>
        </p:nvSpPr>
        <p:spPr>
          <a:xfrm xmlns:a="http://schemas.openxmlformats.org/drawingml/2006/main">
            <a:off x="609600" y="2524125"/>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1  Go to the mpg sheet. Leave the data table as it is.</a:t>
            </a:r>
          </a:p>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2  Use K1, K20 and K40 for the guided steps.</a:t>
            </a:r>
          </a:p>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3  Work in order. The later cells reuse mpg_df.</a:t>
            </a:r>
          </a:p>
        </p:txBody>
      </p:sp>
      <p:sp>
        <p:nvSpPr>
          <p:cNvPr id="5" name="">
            <a:extLst xmlns:a="http://schemas.openxmlformats.org/drawingml/2006/main">
              <a:ext uri="{FF2B5EF4-FFF2-40B4-BE49-F238E27FC236}">
                <a16:creationId xmlns:a16="http://schemas.microsoft.com/office/drawing/2014/main" id="{3B5BD424-A760-4EBB-A109-D0E4CCCF9A38}"/>
              </a:ext>
            </a:extLst>
          </p:cNvPr>
          <p:cNvSpPr>
            <a:spLocks xmlns:a="http://schemas.openxmlformats.org/drawingml/2006/main" noGrp="1"/>
          </p:cNvSpPr>
          <p:nvPr/>
        </p:nvSpPr>
        <p:spPr>
          <a:xfrm xmlns:a="http://schemas.openxmlformats.org/drawingml/2006/main">
            <a:off x="609600" y="5486400"/>
            <a:ext cx="10972800" cy="695325"/>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1ACBD33-3CB2-47F9-9422-FA65F986F987}"/>
              </a:ext>
            </a:extLst>
          </p:cNvPr>
          <p:cNvSpPr>
            <a:spLocks xmlns:a="http://schemas.openxmlformats.org/drawingml/2006/main" noGrp="1"/>
          </p:cNvSpPr>
          <p:nvPr/>
        </p:nvSpPr>
        <p:spPr>
          <a:xfrm xmlns:a="http://schemas.openxmlformats.org/drawingml/2006/main">
            <a:off x="828675" y="5667375"/>
            <a:ext cx="10525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Formulas &gt; Insert Python. Ctrl+Enter runs the code.</a:t>
            </a:r>
          </a:p>
        </p:txBody>
      </p:sp>
    </p:spTree>
    <p:extLst>
      <p:ext uri="{BB962C8B-B14F-4D97-AF65-F5344CB8AC3E}">
        <p14:creationId xmlns:p14="http://schemas.microsoft.com/office/powerpoint/2010/main" val="1561714999"/>
      </p:ext>
    </p:extLst>
  </p:cSld>
</p:sld>
</file>

<file path=ppt/slides/slide5.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909CCF-6B02-4FE9-8FDA-941977F97A1D}"/>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How many cars are in each group?</a:t>
            </a:r>
          </a:p>
        </p:txBody>
      </p:sp>
      <p:sp>
        <p:nvSpPr>
          <p:cNvPr id="2" name="">
            <a:extLst xmlns:a="http://schemas.openxmlformats.org/drawingml/2006/main">
              <a:ext uri="{FF2B5EF4-FFF2-40B4-BE49-F238E27FC236}">
                <a16:creationId xmlns:a16="http://schemas.microsoft.com/office/drawing/2014/main" id="{122C4D0F-E380-4739-A64F-67FD9C01DF8C}"/>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TRY IT  /  mpg!K1</a:t>
            </a:r>
          </a:p>
        </p:txBody>
      </p:sp>
      <p:sp>
        <p:nvSpPr>
          <p:cNvPr id="3" name="">
            <a:extLst xmlns:a="http://schemas.openxmlformats.org/drawingml/2006/main">
              <a:ext uri="{FF2B5EF4-FFF2-40B4-BE49-F238E27FC236}">
                <a16:creationId xmlns:a16="http://schemas.microsoft.com/office/drawing/2014/main" id="{5B6D7EB0-9188-4320-8E4F-8A6D138B65CA}"/>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B4D07E91-8216-44E9-8600-3FBE85952838}"/>
              </a:ext>
            </a:extLst>
          </p:cNvPr>
          <p:cNvSpPr>
            <a:spLocks xmlns:a="http://schemas.openxmlformats.org/drawingml/2006/main" noGrp="1"/>
          </p:cNvSpPr>
          <p:nvPr/>
        </p:nvSpPr>
        <p:spPr>
          <a:xfrm xmlns:a="http://schemas.openxmlformats.org/drawingml/2006/main">
            <a:off x="609600" y="2514600"/>
            <a:ext cx="10972800" cy="1743075"/>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C614B75-4ADE-4D64-8202-14986C6C00DF}"/>
              </a:ext>
            </a:extLst>
          </p:cNvPr>
          <p:cNvSpPr>
            <a:spLocks xmlns:a="http://schemas.openxmlformats.org/drawingml/2006/main" noGrp="1"/>
          </p:cNvSpPr>
          <p:nvPr/>
        </p:nvSpPr>
        <p:spPr>
          <a:xfrm xmlns:a="http://schemas.openxmlformats.org/drawingml/2006/main">
            <a:off x="838200" y="2733675"/>
            <a:ext cx="105156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FFFFF"/>
                </a:solidFill>
                <a:latin typeface="Consolas"/>
                <a:ea typeface="Consolas"/>
                <a:cs typeface="Consolas"/>
              </a:defRPr>
            </a:pPr>
            <a:r>
              <a:rPr sz="2175" b="0">
                <a:solidFill>
                  <a:srgbClr val="FFFFFF"/>
                </a:solidFill>
                <a:latin typeface="Consolas"/>
                <a:ea typeface="Consolas"/>
                <a:cs typeface="Consolas"/>
              </a:rPr>
              <a:t>mpg_df = xl("mpg[#All]", headers=True)</a:t>
            </a:r>
          </a:p>
          <a:p xmlns:a="http://schemas.openxmlformats.org/drawingml/2006/main">
            <a:pPr>
              <a:defRPr sz="2175" b="0">
                <a:solidFill>
                  <a:srgbClr val="FFFFFF"/>
                </a:solidFill>
                <a:latin typeface="Consolas"/>
                <a:ea typeface="Consolas"/>
                <a:cs typeface="Consolas"/>
              </a:defRPr>
            </a:pPr>
            <a:r>
              <a:rPr sz="2175" b="0">
                <a:solidFill>
                  <a:srgbClr val="FFFFFF"/>
                </a:solidFill>
                <a:latin typeface="Consolas"/>
                <a:ea typeface="Consolas"/>
                <a:cs typeface="Consolas"/>
              </a:rPr>
              <a:t>plt.figure()</a:t>
            </a:r>
          </a:p>
          <a:p xmlns:a="http://schemas.openxmlformats.org/drawingml/2006/main">
            <a:pPr>
              <a:defRPr sz="2175" b="0">
                <a:solidFill>
                  <a:srgbClr val="FFFFFF"/>
                </a:solidFill>
                <a:latin typeface="Consolas"/>
                <a:ea typeface="Consolas"/>
                <a:cs typeface="Consolas"/>
              </a:defRPr>
            </a:pPr>
            <a:r>
              <a:rPr sz="2175" b="0">
                <a:solidFill>
                  <a:srgbClr val="FFFFFF"/>
                </a:solidFill>
                <a:latin typeface="Consolas"/>
                <a:ea typeface="Consolas"/>
                <a:cs typeface="Consolas"/>
              </a:rPr>
              <a:t>sns.countplot(data=mpg_df, x="origin", color="#CF3338")</a:t>
            </a:r>
          </a:p>
        </p:txBody>
      </p:sp>
      <p:sp>
        <p:nvSpPr>
          <p:cNvPr id="6" name="">
            <a:extLst xmlns:a="http://schemas.openxmlformats.org/drawingml/2006/main">
              <a:ext uri="{FF2B5EF4-FFF2-40B4-BE49-F238E27FC236}">
                <a16:creationId xmlns:a16="http://schemas.microsoft.com/office/drawing/2014/main" id="{3439DF43-F087-4FC6-9452-00AF2A2350E0}"/>
              </a:ext>
            </a:extLst>
          </p:cNvPr>
          <p:cNvSpPr>
            <a:spLocks xmlns:a="http://schemas.openxmlformats.org/drawingml/2006/main" noGrp="1"/>
          </p:cNvSpPr>
          <p:nvPr/>
        </p:nvSpPr>
        <p:spPr>
          <a:xfrm xmlns:a="http://schemas.openxmlformats.org/drawingml/2006/main">
            <a:off x="609600" y="4667250"/>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F2120"/>
                </a:solidFill>
                <a:latin typeface="Arial"/>
                <a:ea typeface="Arial"/>
                <a:cs typeface="Arial"/>
              </a:defRPr>
            </a:pPr>
            <a:r>
              <a:rPr sz="2175" b="0">
                <a:solidFill>
                  <a:srgbClr val="1F2120"/>
                </a:solidFill>
                <a:latin typeface="Arial"/>
                <a:ea typeface="Arial"/>
                <a:cs typeface="Arial"/>
              </a:rPr>
              <a:t>One bar for each origin. Taller means more cars.</a:t>
            </a:r>
          </a:p>
        </p:txBody>
      </p:sp>
    </p:spTree>
    <p:extLst>
      <p:ext uri="{BB962C8B-B14F-4D97-AF65-F5344CB8AC3E}">
        <p14:creationId xmlns:p14="http://schemas.microsoft.com/office/powerpoint/2010/main" val="1586158077"/>
      </p:ext>
    </p:extLst>
  </p:cSld>
</p:sld>
</file>

<file path=ppt/slides/slide6.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E7793E9-D81C-43EF-B156-BDC93BABC009}"/>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The USA group has the most cars</a:t>
            </a:r>
          </a:p>
        </p:txBody>
      </p:sp>
      <p:sp>
        <p:nvSpPr>
          <p:cNvPr id="2" name="">
            <a:extLst xmlns:a="http://schemas.openxmlformats.org/drawingml/2006/main">
              <a:ext uri="{FF2B5EF4-FFF2-40B4-BE49-F238E27FC236}">
                <a16:creationId xmlns:a16="http://schemas.microsoft.com/office/drawing/2014/main" id="{2DCDA76E-A58B-4BAF-B700-28E85B4C7414}"/>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CHECK  /  Worksheet page 1</a:t>
            </a:r>
          </a:p>
        </p:txBody>
      </p:sp>
      <p:sp>
        <p:nvSpPr>
          <p:cNvPr id="3" name="">
            <a:extLst xmlns:a="http://schemas.openxmlformats.org/drawingml/2006/main">
              <a:ext uri="{FF2B5EF4-FFF2-40B4-BE49-F238E27FC236}">
                <a16:creationId xmlns:a16="http://schemas.microsoft.com/office/drawing/2014/main" id="{A4ACC3D0-7C4E-4DBE-9D7C-0696CF0A9522}"/>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06</a:t>
            </a:r>
          </a:p>
        </p:txBody>
      </p:sp>
      <p:graphicFrame>
        <p:nvGraphicFramePr>
          <p:cNvPr id="10" name="Chart"/>
          <p:cNvGraphicFramePr/>
          <p:nvPr/>
        </p:nvGraphicFramePr>
        <p:xfrm>
          <a:off xmlns:a="http://schemas.openxmlformats.org/drawingml/2006/main" x="609600" y="2524125"/>
          <a:ext xmlns:a="http://schemas.openxmlformats.org/drawingml/2006/main" cx="7219950" cy="3352800"/>
        </p:xfrm>
        <a:graphic xmlns:a="http://schemas.openxmlformats.org/drawingml/2006/main">
          <a:graphicData uri="http://schemas.openxmlformats.org/drawingml/2006/chart">
            <c:chart xmlns:r="http://schemas.openxmlformats.org/officeDocument/2006/relationships" xmlns:c="http://schemas.openxmlformats.org/drawingml/2006/chart" r:id="Rd108d1b4b7c9457c"/>
          </a:graphicData>
        </a:graphic>
      </p:graphicFrame>
      <p:sp>
        <p:nvSpPr>
          <p:cNvPr id="5" name="">
            <a:extLst xmlns:a="http://schemas.openxmlformats.org/drawingml/2006/main">
              <a:ext uri="{FF2B5EF4-FFF2-40B4-BE49-F238E27FC236}">
                <a16:creationId xmlns:a16="http://schemas.microsoft.com/office/drawing/2014/main" id="{9DFB9B62-C416-4D93-876A-FE7C0F46F653}"/>
              </a:ext>
            </a:extLst>
          </p:cNvPr>
          <p:cNvSpPr>
            <a:spLocks xmlns:a="http://schemas.openxmlformats.org/drawingml/2006/main" noGrp="1"/>
          </p:cNvSpPr>
          <p:nvPr/>
        </p:nvSpPr>
        <p:spPr>
          <a:xfrm xmlns:a="http://schemas.openxmlformats.org/drawingml/2006/main">
            <a:off x="8410575" y="2771775"/>
            <a:ext cx="3000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800" b="1">
                <a:solidFill>
                  <a:srgbClr val="CF3338"/>
                </a:solidFill>
                <a:latin typeface="Arial"/>
                <a:ea typeface="Arial"/>
                <a:cs typeface="Arial"/>
              </a:defRPr>
            </a:pPr>
            <a:r>
              <a:rPr sz="4800" b="1">
                <a:solidFill>
                  <a:srgbClr val="CF3338"/>
                </a:solidFill>
                <a:latin typeface="Arial"/>
                <a:ea typeface="Arial"/>
                <a:cs typeface="Arial"/>
              </a:rPr>
              <a:t>207</a:t>
            </a:r>
          </a:p>
        </p:txBody>
      </p:sp>
      <p:sp>
        <p:nvSpPr>
          <p:cNvPr id="6" name="">
            <a:extLst xmlns:a="http://schemas.openxmlformats.org/drawingml/2006/main">
              <a:ext uri="{FF2B5EF4-FFF2-40B4-BE49-F238E27FC236}">
                <a16:creationId xmlns:a16="http://schemas.microsoft.com/office/drawing/2014/main" id="{DDD6B6E1-9196-41E0-A9DD-C4E7A7235E75}"/>
              </a:ext>
            </a:extLst>
          </p:cNvPr>
          <p:cNvSpPr>
            <a:spLocks xmlns:a="http://schemas.openxmlformats.org/drawingml/2006/main" noGrp="1"/>
          </p:cNvSpPr>
          <p:nvPr/>
        </p:nvSpPr>
        <p:spPr>
          <a:xfrm xmlns:a="http://schemas.openxmlformats.org/drawingml/2006/main">
            <a:off x="8410575" y="3752850"/>
            <a:ext cx="30003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F2120"/>
                </a:solidFill>
                <a:latin typeface="Arial"/>
                <a:ea typeface="Arial"/>
                <a:cs typeface="Arial"/>
              </a:defRPr>
            </a:pPr>
            <a:r>
              <a:rPr sz="2325" b="0">
                <a:solidFill>
                  <a:srgbClr val="1F2120"/>
                </a:solidFill>
                <a:latin typeface="Arial"/>
                <a:ea typeface="Arial"/>
                <a:cs typeface="Arial"/>
              </a:rPr>
              <a:t>USA cars</a:t>
            </a:r>
          </a:p>
          <a:p xmlns:a="http://schemas.openxmlformats.org/drawingml/2006/main">
            <a:pPr>
              <a:defRPr sz="2325" b="0">
                <a:solidFill>
                  <a:srgbClr val="1F2120"/>
                </a:solidFill>
                <a:latin typeface="Arial"/>
                <a:ea typeface="Arial"/>
                <a:cs typeface="Arial"/>
              </a:defRPr>
            </a:pPr>
            <a:r>
              <a:rPr sz="2325" b="0">
                <a:solidFill>
                  <a:srgbClr val="1F2120"/>
                </a:solidFill>
                <a:latin typeface="Arial"/>
                <a:ea typeface="Arial"/>
                <a:cs typeface="Arial"/>
              </a:rPr>
              <a:t>in this sample</a:t>
            </a:r>
          </a:p>
        </p:txBody>
      </p:sp>
    </p:spTree>
    <p:extLst>
      <p:ext uri="{BB962C8B-B14F-4D97-AF65-F5344CB8AC3E}">
        <p14:creationId xmlns:p14="http://schemas.microsoft.com/office/powerpoint/2010/main" val="566590276"/>
      </p:ext>
    </p:extLst>
  </p:cSld>
</p:sld>
</file>

<file path=ppt/slides/slide7.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2FEB34-867B-427D-BD9E-15F7E34B9087}"/>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Labels help someone else read your chart</a:t>
            </a:r>
          </a:p>
        </p:txBody>
      </p:sp>
      <p:sp>
        <p:nvSpPr>
          <p:cNvPr id="2" name="">
            <a:extLst xmlns:a="http://schemas.openxmlformats.org/drawingml/2006/main">
              <a:ext uri="{FF2B5EF4-FFF2-40B4-BE49-F238E27FC236}">
                <a16:creationId xmlns:a16="http://schemas.microsoft.com/office/drawing/2014/main" id="{FF579D04-79E0-4CE1-9156-A968A5A9D7F9}"/>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TRY IT  /  Add these lines to the end of K1</a:t>
            </a:r>
          </a:p>
        </p:txBody>
      </p:sp>
      <p:sp>
        <p:nvSpPr>
          <p:cNvPr id="3" name="">
            <a:extLst xmlns:a="http://schemas.openxmlformats.org/drawingml/2006/main">
              <a:ext uri="{FF2B5EF4-FFF2-40B4-BE49-F238E27FC236}">
                <a16:creationId xmlns:a16="http://schemas.microsoft.com/office/drawing/2014/main" id="{9C977D14-052E-43FC-9AC7-80AF228AABB0}"/>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D6A28F0B-70CA-442D-A80A-95AB812BC809}"/>
              </a:ext>
            </a:extLst>
          </p:cNvPr>
          <p:cNvSpPr>
            <a:spLocks xmlns:a="http://schemas.openxmlformats.org/drawingml/2006/main" noGrp="1"/>
          </p:cNvSpPr>
          <p:nvPr/>
        </p:nvSpPr>
        <p:spPr>
          <a:xfrm xmlns:a="http://schemas.openxmlformats.org/drawingml/2006/main">
            <a:off x="609600" y="2562225"/>
            <a:ext cx="10972800" cy="1733550"/>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6986966-4526-487E-91CF-9E4221052543}"/>
              </a:ext>
            </a:extLst>
          </p:cNvPr>
          <p:cNvSpPr>
            <a:spLocks xmlns:a="http://schemas.openxmlformats.org/drawingml/2006/main" noGrp="1"/>
          </p:cNvSpPr>
          <p:nvPr/>
        </p:nvSpPr>
        <p:spPr>
          <a:xfrm xmlns:a="http://schemas.openxmlformats.org/drawingml/2006/main">
            <a:off x="838200" y="2781300"/>
            <a:ext cx="105156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FFFFFF"/>
                </a:solidFill>
                <a:latin typeface="Consolas"/>
                <a:ea typeface="Consolas"/>
                <a:cs typeface="Consolas"/>
              </a:defRPr>
            </a:pPr>
            <a:r>
              <a:rPr sz="2400" b="0">
                <a:solidFill>
                  <a:srgbClr val="FFFFFF"/>
                </a:solidFill>
                <a:latin typeface="Consolas"/>
                <a:ea typeface="Consolas"/>
                <a:cs typeface="Consolas"/>
              </a:rPr>
              <a:t>plt.title("Cars in each group")</a:t>
            </a:r>
          </a:p>
          <a:p xmlns:a="http://schemas.openxmlformats.org/drawingml/2006/main">
            <a:pPr>
              <a:defRPr sz="2400" b="0">
                <a:solidFill>
                  <a:srgbClr val="FFFFFF"/>
                </a:solidFill>
                <a:latin typeface="Consolas"/>
                <a:ea typeface="Consolas"/>
                <a:cs typeface="Consolas"/>
              </a:defRPr>
            </a:pPr>
            <a:r>
              <a:rPr sz="2400" b="0">
                <a:solidFill>
                  <a:srgbClr val="FFFFFF"/>
                </a:solidFill>
                <a:latin typeface="Consolas"/>
                <a:ea typeface="Consolas"/>
                <a:cs typeface="Consolas"/>
              </a:rPr>
              <a:t>plt.xlabel("Origin")</a:t>
            </a:r>
          </a:p>
          <a:p xmlns:a="http://schemas.openxmlformats.org/drawingml/2006/main">
            <a:pPr>
              <a:defRPr sz="2400" b="0">
                <a:solidFill>
                  <a:srgbClr val="FFFFFF"/>
                </a:solidFill>
                <a:latin typeface="Consolas"/>
                <a:ea typeface="Consolas"/>
                <a:cs typeface="Consolas"/>
              </a:defRPr>
            </a:pPr>
            <a:r>
              <a:rPr sz="2400" b="0">
                <a:solidFill>
                  <a:srgbClr val="FFFFFF"/>
                </a:solidFill>
                <a:latin typeface="Consolas"/>
                <a:ea typeface="Consolas"/>
                <a:cs typeface="Consolas"/>
              </a:rPr>
              <a:t>plt.ylabel("Number of cars")</a:t>
            </a:r>
          </a:p>
        </p:txBody>
      </p:sp>
      <p:sp>
        <p:nvSpPr>
          <p:cNvPr id="6" name="">
            <a:extLst xmlns:a="http://schemas.openxmlformats.org/drawingml/2006/main">
              <a:ext uri="{FF2B5EF4-FFF2-40B4-BE49-F238E27FC236}">
                <a16:creationId xmlns:a16="http://schemas.microsoft.com/office/drawing/2014/main" id="{E4318C1B-50A8-412C-87F9-E24EDCFC41D6}"/>
              </a:ext>
            </a:extLst>
          </p:cNvPr>
          <p:cNvSpPr>
            <a:spLocks xmlns:a="http://schemas.openxmlformats.org/drawingml/2006/main" noGrp="1"/>
          </p:cNvSpPr>
          <p:nvPr/>
        </p:nvSpPr>
        <p:spPr>
          <a:xfrm xmlns:a="http://schemas.openxmlformats.org/drawingml/2006/main">
            <a:off x="609600" y="4705350"/>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A useful title answers: “What am I looking at?”</a:t>
            </a:r>
          </a:p>
        </p:txBody>
      </p:sp>
    </p:spTree>
    <p:extLst>
      <p:ext uri="{BB962C8B-B14F-4D97-AF65-F5344CB8AC3E}">
        <p14:creationId xmlns:p14="http://schemas.microsoft.com/office/powerpoint/2010/main" val="1711086132"/>
      </p:ext>
    </p:extLst>
  </p:cSld>
</p:sld>
</file>

<file path=ppt/slides/slide8.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4B1076-2EE8-4001-862D-6984002B587C}"/>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What fuel economy values are common?</a:t>
            </a:r>
          </a:p>
        </p:txBody>
      </p:sp>
      <p:sp>
        <p:nvSpPr>
          <p:cNvPr id="2" name="">
            <a:extLst xmlns:a="http://schemas.openxmlformats.org/drawingml/2006/main">
              <a:ext uri="{FF2B5EF4-FFF2-40B4-BE49-F238E27FC236}">
                <a16:creationId xmlns:a16="http://schemas.microsoft.com/office/drawing/2014/main" id="{9DAACC4C-4D48-44A4-9C9B-BEA78E71E950}"/>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TRY IT  /  mpg!K20</a:t>
            </a:r>
          </a:p>
        </p:txBody>
      </p:sp>
      <p:sp>
        <p:nvSpPr>
          <p:cNvPr id="3" name="">
            <a:extLst xmlns:a="http://schemas.openxmlformats.org/drawingml/2006/main">
              <a:ext uri="{FF2B5EF4-FFF2-40B4-BE49-F238E27FC236}">
                <a16:creationId xmlns:a16="http://schemas.microsoft.com/office/drawing/2014/main" id="{9651DBB7-51CF-45B2-84D4-67A8A5D73EDD}"/>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9380E1B2-05E3-4651-95EF-0DA56DE0D2C4}"/>
              </a:ext>
            </a:extLst>
          </p:cNvPr>
          <p:cNvSpPr>
            <a:spLocks xmlns:a="http://schemas.openxmlformats.org/drawingml/2006/main" noGrp="1"/>
          </p:cNvSpPr>
          <p:nvPr/>
        </p:nvSpPr>
        <p:spPr>
          <a:xfrm xmlns:a="http://schemas.openxmlformats.org/drawingml/2006/main">
            <a:off x="609600" y="2514600"/>
            <a:ext cx="10972800" cy="1781175"/>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2585D64-0D95-4050-BCA2-CA1F845F5A26}"/>
              </a:ext>
            </a:extLst>
          </p:cNvPr>
          <p:cNvSpPr>
            <a:spLocks xmlns:a="http://schemas.openxmlformats.org/drawingml/2006/main" noGrp="1"/>
          </p:cNvSpPr>
          <p:nvPr/>
        </p:nvSpPr>
        <p:spPr>
          <a:xfrm xmlns:a="http://schemas.openxmlformats.org/drawingml/2006/main">
            <a:off x="838200" y="2733675"/>
            <a:ext cx="105156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FFFFF"/>
                </a:solidFill>
                <a:latin typeface="Consolas"/>
                <a:ea typeface="Consolas"/>
                <a:cs typeface="Consolas"/>
              </a:defRPr>
            </a:pPr>
            <a:r>
              <a:rPr sz="2175" b="0">
                <a:solidFill>
                  <a:srgbClr val="FFFFFF"/>
                </a:solidFill>
                <a:latin typeface="Consolas"/>
                <a:ea typeface="Consolas"/>
                <a:cs typeface="Consolas"/>
              </a:rPr>
              <a:t>plt.figure()</a:t>
            </a:r>
          </a:p>
          <a:p xmlns:a="http://schemas.openxmlformats.org/drawingml/2006/main">
            <a:pPr>
              <a:defRPr sz="2175" b="0">
                <a:solidFill>
                  <a:srgbClr val="FFFFFF"/>
                </a:solidFill>
                <a:latin typeface="Consolas"/>
                <a:ea typeface="Consolas"/>
                <a:cs typeface="Consolas"/>
              </a:defRPr>
            </a:pPr>
            <a:r>
              <a:rPr sz="2175" b="0">
                <a:solidFill>
                  <a:srgbClr val="FFFFFF"/>
                </a:solidFill>
                <a:latin typeface="Consolas"/>
                <a:ea typeface="Consolas"/>
                <a:cs typeface="Consolas"/>
              </a:rPr>
              <a:t>sns.histplot(data=mpg_df, x="mpg", bins=10,</a:t>
            </a:r>
          </a:p>
          <a:p xmlns:a="http://schemas.openxmlformats.org/drawingml/2006/main">
            <a:pPr>
              <a:defRPr sz="2175" b="0">
                <a:solidFill>
                  <a:srgbClr val="FFFFFF"/>
                </a:solidFill>
                <a:latin typeface="Consolas"/>
                <a:ea typeface="Consolas"/>
                <a:cs typeface="Consolas"/>
              </a:defRPr>
            </a:pPr>
            <a:r>
              <a:rPr sz="2175" b="0">
                <a:solidFill>
                  <a:srgbClr val="FFFFFF"/>
                </a:solidFill>
                <a:latin typeface="Consolas"/>
                <a:ea typeface="Consolas"/>
                <a:cs typeface="Consolas"/>
              </a:rPr>
              <a:t>             color="#CF3338")</a:t>
            </a:r>
          </a:p>
        </p:txBody>
      </p:sp>
      <p:sp>
        <p:nvSpPr>
          <p:cNvPr id="6" name="">
            <a:extLst xmlns:a="http://schemas.openxmlformats.org/drawingml/2006/main">
              <a:ext uri="{FF2B5EF4-FFF2-40B4-BE49-F238E27FC236}">
                <a16:creationId xmlns:a16="http://schemas.microsoft.com/office/drawing/2014/main" id="{D8841310-D7B0-43D5-BB7F-139684AE0869}"/>
              </a:ext>
            </a:extLst>
          </p:cNvPr>
          <p:cNvSpPr>
            <a:spLocks xmlns:a="http://schemas.openxmlformats.org/drawingml/2006/main" noGrp="1"/>
          </p:cNvSpPr>
          <p:nvPr/>
        </p:nvSpPr>
        <p:spPr>
          <a:xfrm xmlns:a="http://schemas.openxmlformats.org/drawingml/2006/main">
            <a:off x="609600" y="4610100"/>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A histogram groups numbers into ranges.</a:t>
            </a:r>
          </a:p>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A taller bar means more cars in that range.</a:t>
            </a:r>
          </a:p>
        </p:txBody>
      </p:sp>
    </p:spTree>
    <p:extLst>
      <p:ext uri="{BB962C8B-B14F-4D97-AF65-F5344CB8AC3E}">
        <p14:creationId xmlns:p14="http://schemas.microsoft.com/office/powerpoint/2010/main" val="1984567395"/>
      </p:ext>
    </p:extLst>
  </p:cSld>
</p:sld>
</file>

<file path=ppt/slides/slide9.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1977D90-A40C-43B3-B3A9-474A97C42895}"/>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 histogram shows the spread</a:t>
            </a:r>
          </a:p>
        </p:txBody>
      </p:sp>
      <p:sp>
        <p:nvSpPr>
          <p:cNvPr id="2" name="">
            <a:extLst xmlns:a="http://schemas.openxmlformats.org/drawingml/2006/main">
              <a:ext uri="{FF2B5EF4-FFF2-40B4-BE49-F238E27FC236}">
                <a16:creationId xmlns:a16="http://schemas.microsoft.com/office/drawing/2014/main" id="{0AB789AF-923C-44B1-89E8-E7C7FC63B5DF}"/>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CHECK  /  Each bar covers a range of MPG values</a:t>
            </a:r>
          </a:p>
        </p:txBody>
      </p:sp>
      <p:sp>
        <p:nvSpPr>
          <p:cNvPr id="3" name="">
            <a:extLst xmlns:a="http://schemas.openxmlformats.org/drawingml/2006/main">
              <a:ext uri="{FF2B5EF4-FFF2-40B4-BE49-F238E27FC236}">
                <a16:creationId xmlns:a16="http://schemas.microsoft.com/office/drawing/2014/main" id="{6B318606-6DC9-427F-AC59-8874B797F629}"/>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09</a:t>
            </a:r>
          </a:p>
        </p:txBody>
      </p:sp>
      <p:graphicFrame>
        <p:nvGraphicFramePr>
          <p:cNvPr id="8" name="Chart"/>
          <p:cNvGraphicFramePr/>
          <p:nvPr/>
        </p:nvGraphicFramePr>
        <p:xfrm>
          <a:off xmlns:a="http://schemas.openxmlformats.org/drawingml/2006/main" x="609600" y="2466975"/>
          <a:ext xmlns:a="http://schemas.openxmlformats.org/drawingml/2006/main" cx="10972800" cy="3419475"/>
        </p:xfrm>
        <a:graphic xmlns:a="http://schemas.openxmlformats.org/drawingml/2006/main">
          <a:graphicData uri="http://schemas.openxmlformats.org/drawingml/2006/chart">
            <c:chart xmlns:r="http://schemas.openxmlformats.org/officeDocument/2006/relationships" xmlns:c="http://schemas.openxmlformats.org/drawingml/2006/chart" r:id="R1bf982f2c8c94755"/>
          </a:graphicData>
        </a:graphic>
      </p:graphicFrame>
    </p:spTree>
    <p:extLst>
      <p:ext uri="{BB962C8B-B14F-4D97-AF65-F5344CB8AC3E}">
        <p14:creationId xmlns:p14="http://schemas.microsoft.com/office/powerpoint/2010/main" val="886862158"/>
      </p:ext>
    </p:extLst>
  </p:cSld>
</p:sld>
</file>

<file path=ppt/slides/slide10.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F28D5C-84F2-402D-A5F9-CB5EF15FEB82}"/>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Do heavier cars tend to use more fuel?</a:t>
            </a:r>
          </a:p>
        </p:txBody>
      </p:sp>
      <p:sp>
        <p:nvSpPr>
          <p:cNvPr id="2" name="">
            <a:extLst xmlns:a="http://schemas.openxmlformats.org/drawingml/2006/main">
              <a:ext uri="{FF2B5EF4-FFF2-40B4-BE49-F238E27FC236}">
                <a16:creationId xmlns:a16="http://schemas.microsoft.com/office/drawing/2014/main" id="{DC3BEA27-E61F-4C85-91C5-C478951C5C4E}"/>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TRY IT  /  mpg!K40</a:t>
            </a:r>
          </a:p>
        </p:txBody>
      </p:sp>
      <p:sp>
        <p:nvSpPr>
          <p:cNvPr id="3" name="">
            <a:extLst xmlns:a="http://schemas.openxmlformats.org/drawingml/2006/main">
              <a:ext uri="{FF2B5EF4-FFF2-40B4-BE49-F238E27FC236}">
                <a16:creationId xmlns:a16="http://schemas.microsoft.com/office/drawing/2014/main" id="{F1EBB645-A64E-4A9C-B477-54B74A7D9230}"/>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628768AA-305D-441D-80FD-5A3AE4269648}"/>
              </a:ext>
            </a:extLst>
          </p:cNvPr>
          <p:cNvSpPr>
            <a:spLocks xmlns:a="http://schemas.openxmlformats.org/drawingml/2006/main" noGrp="1"/>
          </p:cNvSpPr>
          <p:nvPr/>
        </p:nvSpPr>
        <p:spPr>
          <a:xfrm xmlns:a="http://schemas.openxmlformats.org/drawingml/2006/main">
            <a:off x="609600" y="2514600"/>
            <a:ext cx="10972800" cy="2066925"/>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560078B-F77B-471F-80AF-FBCA40ECFF30}"/>
              </a:ext>
            </a:extLst>
          </p:cNvPr>
          <p:cNvSpPr>
            <a:spLocks xmlns:a="http://schemas.openxmlformats.org/drawingml/2006/main" noGrp="1"/>
          </p:cNvSpPr>
          <p:nvPr/>
        </p:nvSpPr>
        <p:spPr>
          <a:xfrm xmlns:a="http://schemas.openxmlformats.org/drawingml/2006/main">
            <a:off x="838200" y="2733675"/>
            <a:ext cx="105156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FFFFFF"/>
                </a:solidFill>
                <a:latin typeface="Consolas"/>
                <a:ea typeface="Consolas"/>
                <a:cs typeface="Consolas"/>
              </a:defRPr>
            </a:pPr>
            <a:r>
              <a:rPr sz="2025" b="0">
                <a:solidFill>
                  <a:srgbClr val="FFFFFF"/>
                </a:solidFill>
                <a:latin typeface="Consolas"/>
                <a:ea typeface="Consolas"/>
                <a:cs typeface="Consolas"/>
              </a:rPr>
              <a:t>plt.figure()</a:t>
            </a:r>
          </a:p>
          <a:p xmlns:a="http://schemas.openxmlformats.org/drawingml/2006/main">
            <a:pPr>
              <a:defRPr sz="2025" b="0">
                <a:solidFill>
                  <a:srgbClr val="FFFFFF"/>
                </a:solidFill>
                <a:latin typeface="Consolas"/>
                <a:ea typeface="Consolas"/>
                <a:cs typeface="Consolas"/>
              </a:defRPr>
            </a:pPr>
            <a:r>
              <a:rPr sz="2025" b="0">
                <a:solidFill>
                  <a:srgbClr val="FFFFFF"/>
                </a:solidFill>
                <a:latin typeface="Consolas"/>
                <a:ea typeface="Consolas"/>
                <a:cs typeface="Consolas"/>
              </a:rPr>
              <a:t>sns.scatterplot(data=mpg_df, x="weight", y="mpg",</a:t>
            </a:r>
          </a:p>
          <a:p xmlns:a="http://schemas.openxmlformats.org/drawingml/2006/main">
            <a:pPr>
              <a:defRPr sz="2025" b="0">
                <a:solidFill>
                  <a:srgbClr val="FFFFFF"/>
                </a:solidFill>
                <a:latin typeface="Consolas"/>
                <a:ea typeface="Consolas"/>
                <a:cs typeface="Consolas"/>
              </a:defRPr>
            </a:pPr>
            <a:r>
              <a:rPr sz="2025" b="0">
                <a:solidFill>
                  <a:srgbClr val="FFFFFF"/>
                </a:solidFill>
                <a:latin typeface="Consolas"/>
                <a:ea typeface="Consolas"/>
                <a:cs typeface="Consolas"/>
              </a:rPr>
              <a:t>                hue="origin",</a:t>
            </a:r>
          </a:p>
          <a:p xmlns:a="http://schemas.openxmlformats.org/drawingml/2006/main">
            <a:pPr>
              <a:defRPr sz="2025" b="0">
                <a:solidFill>
                  <a:srgbClr val="FFFFFF"/>
                </a:solidFill>
                <a:latin typeface="Consolas"/>
                <a:ea typeface="Consolas"/>
                <a:cs typeface="Consolas"/>
              </a:defRPr>
            </a:pPr>
            <a:r>
              <a:rPr sz="2025" b="0">
                <a:solidFill>
                  <a:srgbClr val="FFFFFF"/>
                </a:solidFill>
                <a:latin typeface="Consolas"/>
                <a:ea typeface="Consolas"/>
                <a:cs typeface="Consolas"/>
              </a:rPr>
              <a:t>                palette=["#CF3338", "#707070", "#1F2120"])</a:t>
            </a:r>
          </a:p>
        </p:txBody>
      </p:sp>
      <p:sp>
        <p:nvSpPr>
          <p:cNvPr id="6" name="">
            <a:extLst xmlns:a="http://schemas.openxmlformats.org/drawingml/2006/main">
              <a:ext uri="{FF2B5EF4-FFF2-40B4-BE49-F238E27FC236}">
                <a16:creationId xmlns:a16="http://schemas.microsoft.com/office/drawing/2014/main" id="{2FE4FB58-C19A-439F-9C4D-A4E38816F8D7}"/>
              </a:ext>
            </a:extLst>
          </p:cNvPr>
          <p:cNvSpPr>
            <a:spLocks xmlns:a="http://schemas.openxmlformats.org/drawingml/2006/main" noGrp="1"/>
          </p:cNvSpPr>
          <p:nvPr/>
        </p:nvSpPr>
        <p:spPr>
          <a:xfrm xmlns:a="http://schemas.openxmlformats.org/drawingml/2006/main">
            <a:off x="609600" y="4972050"/>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F2120"/>
                </a:solidFill>
                <a:latin typeface="Arial"/>
                <a:ea typeface="Arial"/>
                <a:cs typeface="Arial"/>
              </a:defRPr>
            </a:pPr>
            <a:r>
              <a:rPr sz="2175" b="0">
                <a:solidFill>
                  <a:srgbClr val="1F2120"/>
                </a:solidFill>
                <a:latin typeface="Arial"/>
                <a:ea typeface="Arial"/>
                <a:cs typeface="Arial"/>
              </a:rPr>
              <a:t>Each dot is one car. The colors identify its origin.</a:t>
            </a:r>
          </a:p>
        </p:txBody>
      </p:sp>
    </p:spTree>
    <p:extLst>
      <p:ext uri="{BB962C8B-B14F-4D97-AF65-F5344CB8AC3E}">
        <p14:creationId xmlns:p14="http://schemas.microsoft.com/office/powerpoint/2010/main" val="13851780"/>
      </p:ext>
    </p:extLst>
  </p:cSld>
</p:sld>
</file>

<file path=ppt/slides/slide11.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6FFDDA6-8870-4558-B5CA-97E376871478}"/>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Heavier cars tend to have lower MPG</a:t>
            </a:r>
          </a:p>
        </p:txBody>
      </p:sp>
      <p:sp>
        <p:nvSpPr>
          <p:cNvPr id="2" name="">
            <a:extLst xmlns:a="http://schemas.openxmlformats.org/drawingml/2006/main">
              <a:ext uri="{FF2B5EF4-FFF2-40B4-BE49-F238E27FC236}">
                <a16:creationId xmlns:a16="http://schemas.microsoft.com/office/drawing/2014/main" id="{C1B6A222-A04B-454C-83AD-C88782EB9D2A}"/>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CHECK  /  One observation, in plain English</a:t>
            </a:r>
          </a:p>
        </p:txBody>
      </p:sp>
      <p:sp>
        <p:nvSpPr>
          <p:cNvPr id="3" name="">
            <a:extLst xmlns:a="http://schemas.openxmlformats.org/drawingml/2006/main">
              <a:ext uri="{FF2B5EF4-FFF2-40B4-BE49-F238E27FC236}">
                <a16:creationId xmlns:a16="http://schemas.microsoft.com/office/drawing/2014/main" id="{38B3B428-2971-471F-8B2A-8ED5A996F5D8}"/>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11</a:t>
            </a:r>
          </a:p>
        </p:txBody>
      </p:sp>
      <p:graphicFrame>
        <p:nvGraphicFramePr>
          <p:cNvPr id="13" name="Chart"/>
          <p:cNvGraphicFramePr/>
          <p:nvPr/>
        </p:nvGraphicFramePr>
        <p:xfrm>
          <a:off xmlns:a="http://schemas.openxmlformats.org/drawingml/2006/main" x="609600" y="2428875"/>
          <a:ext xmlns:a="http://schemas.openxmlformats.org/drawingml/2006/main" cx="7524750" cy="3552825"/>
        </p:xfrm>
        <a:graphic xmlns:a="http://schemas.openxmlformats.org/drawingml/2006/main">
          <a:graphicData uri="http://schemas.openxmlformats.org/drawingml/2006/chart">
            <c:chart xmlns:r="http://schemas.openxmlformats.org/officeDocument/2006/relationships" xmlns:c="http://schemas.openxmlformats.org/drawingml/2006/chart" r:id="R170588fd1f7a4241"/>
          </a:graphicData>
        </a:graphic>
      </p:graphicFrame>
      <p:sp>
        <p:nvSpPr>
          <p:cNvPr id="5" name="">
            <a:extLst xmlns:a="http://schemas.openxmlformats.org/drawingml/2006/main">
              <a:ext uri="{FF2B5EF4-FFF2-40B4-BE49-F238E27FC236}">
                <a16:creationId xmlns:a16="http://schemas.microsoft.com/office/drawing/2014/main" id="{FBF599F0-9692-4C9C-A047-48B4EF84A1AE}"/>
              </a:ext>
            </a:extLst>
          </p:cNvPr>
          <p:cNvSpPr>
            <a:spLocks xmlns:a="http://schemas.openxmlformats.org/drawingml/2006/main" noGrp="1"/>
          </p:cNvSpPr>
          <p:nvPr/>
        </p:nvSpPr>
        <p:spPr>
          <a:xfrm xmlns:a="http://schemas.openxmlformats.org/drawingml/2006/main">
            <a:off x="1847850" y="6076950"/>
            <a:ext cx="1666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707070"/>
                </a:solidFill>
                <a:latin typeface="Arial"/>
                <a:ea typeface="Arial"/>
                <a:cs typeface="Arial"/>
              </a:defRPr>
            </a:pPr>
            <a:r>
              <a:rPr sz="1500" b="1">
                <a:solidFill>
                  <a:srgbClr val="707070"/>
                </a:solidFill>
                <a:latin typeface="Arial"/>
                <a:ea typeface="Arial"/>
                <a:cs typeface="Arial"/>
              </a:rPr>
              <a:t>● europe</a:t>
            </a:r>
          </a:p>
        </p:txBody>
      </p:sp>
      <p:sp>
        <p:nvSpPr>
          <p:cNvPr id="6" name="">
            <a:extLst xmlns:a="http://schemas.openxmlformats.org/drawingml/2006/main">
              <a:ext uri="{FF2B5EF4-FFF2-40B4-BE49-F238E27FC236}">
                <a16:creationId xmlns:a16="http://schemas.microsoft.com/office/drawing/2014/main" id="{C38BE622-C1CF-4B93-A20B-8AB1C53A5A55}"/>
              </a:ext>
            </a:extLst>
          </p:cNvPr>
          <p:cNvSpPr>
            <a:spLocks xmlns:a="http://schemas.openxmlformats.org/drawingml/2006/main" noGrp="1"/>
          </p:cNvSpPr>
          <p:nvPr/>
        </p:nvSpPr>
        <p:spPr>
          <a:xfrm xmlns:a="http://schemas.openxmlformats.org/drawingml/2006/main">
            <a:off x="3514725" y="6076950"/>
            <a:ext cx="1666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1F2120"/>
                </a:solidFill>
                <a:latin typeface="Arial"/>
                <a:ea typeface="Arial"/>
                <a:cs typeface="Arial"/>
              </a:defRPr>
            </a:pPr>
            <a:r>
              <a:rPr sz="1500" b="1">
                <a:solidFill>
                  <a:srgbClr val="1F2120"/>
                </a:solidFill>
                <a:latin typeface="Arial"/>
                <a:ea typeface="Arial"/>
                <a:cs typeface="Arial"/>
              </a:rPr>
              <a:t>● japan</a:t>
            </a:r>
          </a:p>
        </p:txBody>
      </p:sp>
      <p:sp>
        <p:nvSpPr>
          <p:cNvPr id="7" name="">
            <a:extLst xmlns:a="http://schemas.openxmlformats.org/drawingml/2006/main">
              <a:ext uri="{FF2B5EF4-FFF2-40B4-BE49-F238E27FC236}">
                <a16:creationId xmlns:a16="http://schemas.microsoft.com/office/drawing/2014/main" id="{5F0FAA00-0F37-4B8A-BDC1-0CD1A53798DD}"/>
              </a:ext>
            </a:extLst>
          </p:cNvPr>
          <p:cNvSpPr>
            <a:spLocks xmlns:a="http://schemas.openxmlformats.org/drawingml/2006/main" noGrp="1"/>
          </p:cNvSpPr>
          <p:nvPr/>
        </p:nvSpPr>
        <p:spPr>
          <a:xfrm xmlns:a="http://schemas.openxmlformats.org/drawingml/2006/main">
            <a:off x="5181600" y="6076950"/>
            <a:ext cx="1666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F3338"/>
                </a:solidFill>
                <a:latin typeface="Arial"/>
                <a:ea typeface="Arial"/>
                <a:cs typeface="Arial"/>
              </a:defRPr>
            </a:pPr>
            <a:r>
              <a:rPr sz="1500" b="1">
                <a:solidFill>
                  <a:srgbClr val="CF3338"/>
                </a:solidFill>
                <a:latin typeface="Arial"/>
                <a:ea typeface="Arial"/>
                <a:cs typeface="Arial"/>
              </a:rPr>
              <a:t>● usa</a:t>
            </a:r>
          </a:p>
        </p:txBody>
      </p:sp>
      <p:sp>
        <p:nvSpPr>
          <p:cNvPr id="8" name="">
            <a:extLst xmlns:a="http://schemas.openxmlformats.org/drawingml/2006/main">
              <a:ext uri="{FF2B5EF4-FFF2-40B4-BE49-F238E27FC236}">
                <a16:creationId xmlns:a16="http://schemas.microsoft.com/office/drawing/2014/main" id="{1B6DD135-5EFE-462F-B699-CB5FD4C79E97}"/>
              </a:ext>
            </a:extLst>
          </p:cNvPr>
          <p:cNvSpPr>
            <a:spLocks xmlns:a="http://schemas.openxmlformats.org/drawingml/2006/main" noGrp="1"/>
          </p:cNvSpPr>
          <p:nvPr/>
        </p:nvSpPr>
        <p:spPr>
          <a:xfrm xmlns:a="http://schemas.openxmlformats.org/drawingml/2006/main">
            <a:off x="8505825" y="2809875"/>
            <a:ext cx="2895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CF3338"/>
                </a:solidFill>
                <a:latin typeface="Arial"/>
                <a:ea typeface="Arial"/>
                <a:cs typeface="Arial"/>
              </a:defRPr>
            </a:pPr>
            <a:r>
              <a:rPr sz="2250" b="1">
                <a:solidFill>
                  <a:srgbClr val="CF3338"/>
                </a:solidFill>
                <a:latin typeface="Arial"/>
                <a:ea typeface="Arial"/>
                <a:cs typeface="Arial"/>
              </a:rPr>
              <a:t>The pattern</a:t>
            </a:r>
          </a:p>
        </p:txBody>
      </p:sp>
      <p:sp>
        <p:nvSpPr>
          <p:cNvPr id="9" name="">
            <a:extLst xmlns:a="http://schemas.openxmlformats.org/drawingml/2006/main">
              <a:ext uri="{FF2B5EF4-FFF2-40B4-BE49-F238E27FC236}">
                <a16:creationId xmlns:a16="http://schemas.microsoft.com/office/drawing/2014/main" id="{755A598F-9E0D-4C11-B024-B038CB27E2A4}"/>
              </a:ext>
            </a:extLst>
          </p:cNvPr>
          <p:cNvSpPr>
            <a:spLocks xmlns:a="http://schemas.openxmlformats.org/drawingml/2006/main" noGrp="1"/>
          </p:cNvSpPr>
          <p:nvPr/>
        </p:nvSpPr>
        <p:spPr>
          <a:xfrm xmlns:a="http://schemas.openxmlformats.org/drawingml/2006/main">
            <a:off x="8505825" y="3524250"/>
            <a:ext cx="28956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F2120"/>
                </a:solidFill>
                <a:latin typeface="Arial"/>
                <a:ea typeface="Arial"/>
                <a:cs typeface="Arial"/>
              </a:defRPr>
            </a:pPr>
            <a:r>
              <a:rPr sz="2325" b="0">
                <a:solidFill>
                  <a:srgbClr val="1F2120"/>
                </a:solidFill>
                <a:latin typeface="Arial"/>
                <a:ea typeface="Arial"/>
                <a:cs typeface="Arial"/>
              </a:rPr>
              <a:t>More weight</a:t>
            </a:r>
          </a:p>
          <a:p xmlns:a="http://schemas.openxmlformats.org/drawingml/2006/main">
            <a:pPr>
              <a:defRPr sz="2325" b="0">
                <a:solidFill>
                  <a:srgbClr val="1F2120"/>
                </a:solidFill>
                <a:latin typeface="Arial"/>
                <a:ea typeface="Arial"/>
                <a:cs typeface="Arial"/>
              </a:defRPr>
            </a:pPr>
            <a:r>
              <a:rPr sz="2325" b="0">
                <a:solidFill>
                  <a:srgbClr val="1F2120"/>
                </a:solidFill>
                <a:latin typeface="Arial"/>
                <a:ea typeface="Arial"/>
                <a:cs typeface="Arial"/>
              </a:rPr>
              <a:t>often comes with</a:t>
            </a:r>
          </a:p>
          <a:p xmlns:a="http://schemas.openxmlformats.org/drawingml/2006/main">
            <a:pPr>
              <a:defRPr sz="2325" b="0">
                <a:solidFill>
                  <a:srgbClr val="1F2120"/>
                </a:solidFill>
                <a:latin typeface="Arial"/>
                <a:ea typeface="Arial"/>
                <a:cs typeface="Arial"/>
              </a:defRPr>
            </a:pPr>
            <a:r>
              <a:rPr sz="2325" b="0">
                <a:solidFill>
                  <a:srgbClr val="1F2120"/>
                </a:solidFill>
                <a:latin typeface="Arial"/>
                <a:ea typeface="Arial"/>
                <a:cs typeface="Arial"/>
              </a:rPr>
              <a:t>lower MPG.</a:t>
            </a:r>
          </a:p>
        </p:txBody>
      </p:sp>
    </p:spTree>
    <p:extLst>
      <p:ext uri="{BB962C8B-B14F-4D97-AF65-F5344CB8AC3E}">
        <p14:creationId xmlns:p14="http://schemas.microsoft.com/office/powerpoint/2010/main" val="1010196751"/>
      </p:ext>
    </p:extLst>
  </p:cSld>
</p:sld>
</file>

<file path=ppt/slides/slide12.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8ED1768-3682-4AD0-8211-A67C6FADE7B7}"/>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 boxplot compares the middle and spread</a:t>
            </a:r>
          </a:p>
        </p:txBody>
      </p:sp>
      <p:sp>
        <p:nvSpPr>
          <p:cNvPr id="2" name="">
            <a:extLst xmlns:a="http://schemas.openxmlformats.org/drawingml/2006/main">
              <a:ext uri="{FF2B5EF4-FFF2-40B4-BE49-F238E27FC236}">
                <a16:creationId xmlns:a16="http://schemas.microsoft.com/office/drawing/2014/main" id="{8650AE02-D9D0-4B4E-8688-A590B2C6223C}"/>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WATCH  /  mpg!K60. Code is on worksheet page 3.</a:t>
            </a:r>
          </a:p>
        </p:txBody>
      </p:sp>
      <p:sp>
        <p:nvSpPr>
          <p:cNvPr id="3" name="">
            <a:extLst xmlns:a="http://schemas.openxmlformats.org/drawingml/2006/main">
              <a:ext uri="{FF2B5EF4-FFF2-40B4-BE49-F238E27FC236}">
                <a16:creationId xmlns:a16="http://schemas.microsoft.com/office/drawing/2014/main" id="{BD6B94E1-B31C-4634-B6C7-28FFA0B762D3}"/>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D30A7682-C71E-4E85-87F4-23BF8E2843D6}"/>
              </a:ext>
            </a:extLst>
          </p:cNvPr>
          <p:cNvSpPr>
            <a:spLocks xmlns:a="http://schemas.openxmlformats.org/drawingml/2006/main" noGrp="1"/>
          </p:cNvSpPr>
          <p:nvPr/>
        </p:nvSpPr>
        <p:spPr>
          <a:xfrm xmlns:a="http://schemas.openxmlformats.org/drawingml/2006/main">
            <a:off x="609600" y="2457450"/>
            <a:ext cx="10972800" cy="1714500"/>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09A1499-FD83-4A8F-B7B0-B890CEDD9F70}"/>
              </a:ext>
            </a:extLst>
          </p:cNvPr>
          <p:cNvSpPr>
            <a:spLocks xmlns:a="http://schemas.openxmlformats.org/drawingml/2006/main" noGrp="1"/>
          </p:cNvSpPr>
          <p:nvPr/>
        </p:nvSpPr>
        <p:spPr>
          <a:xfrm xmlns:a="http://schemas.openxmlformats.org/drawingml/2006/main">
            <a:off x="838200" y="2676525"/>
            <a:ext cx="105156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FFFFFF"/>
                </a:solidFill>
                <a:latin typeface="Consolas"/>
                <a:ea typeface="Consolas"/>
                <a:cs typeface="Consolas"/>
              </a:defRPr>
            </a:pPr>
            <a:r>
              <a:rPr sz="2100" b="0">
                <a:solidFill>
                  <a:srgbClr val="FFFFFF"/>
                </a:solidFill>
                <a:latin typeface="Consolas"/>
                <a:ea typeface="Consolas"/>
                <a:cs typeface="Consolas"/>
              </a:rPr>
              <a:t>plt.figure()</a:t>
            </a:r>
          </a:p>
          <a:p xmlns:a="http://schemas.openxmlformats.org/drawingml/2006/main">
            <a:pPr>
              <a:defRPr sz="2100" b="0">
                <a:solidFill>
                  <a:srgbClr val="FFFFFF"/>
                </a:solidFill>
                <a:latin typeface="Consolas"/>
                <a:ea typeface="Consolas"/>
                <a:cs typeface="Consolas"/>
              </a:defRPr>
            </a:pPr>
            <a:r>
              <a:rPr sz="2100" b="0">
                <a:solidFill>
                  <a:srgbClr val="FFFFFF"/>
                </a:solidFill>
                <a:latin typeface="Consolas"/>
                <a:ea typeface="Consolas"/>
                <a:cs typeface="Consolas"/>
              </a:rPr>
              <a:t>sns.boxplot(data=mpg_df, x="origin", y="mpg",</a:t>
            </a:r>
          </a:p>
          <a:p xmlns:a="http://schemas.openxmlformats.org/drawingml/2006/main">
            <a:pPr>
              <a:defRPr sz="2100" b="0">
                <a:solidFill>
                  <a:srgbClr val="FFFFFF"/>
                </a:solidFill>
                <a:latin typeface="Consolas"/>
                <a:ea typeface="Consolas"/>
                <a:cs typeface="Consolas"/>
              </a:defRPr>
            </a:pPr>
            <a:r>
              <a:rPr sz="2100" b="0">
                <a:solidFill>
                  <a:srgbClr val="FFFFFF"/>
                </a:solidFill>
                <a:latin typeface="Consolas"/>
                <a:ea typeface="Consolas"/>
                <a:cs typeface="Consolas"/>
              </a:rPr>
              <a:t>            color="#CF3338")</a:t>
            </a:r>
          </a:p>
        </p:txBody>
      </p:sp>
      <p:sp>
        <p:nvSpPr>
          <p:cNvPr id="6" name="">
            <a:extLst xmlns:a="http://schemas.openxmlformats.org/drawingml/2006/main">
              <a:ext uri="{FF2B5EF4-FFF2-40B4-BE49-F238E27FC236}">
                <a16:creationId xmlns:a16="http://schemas.microsoft.com/office/drawing/2014/main" id="{5CF1BE30-D156-4A33-AA59-E94F40337B56}"/>
              </a:ext>
            </a:extLst>
          </p:cNvPr>
          <p:cNvSpPr>
            <a:spLocks xmlns:a="http://schemas.openxmlformats.org/drawingml/2006/main" noGrp="1"/>
          </p:cNvSpPr>
          <p:nvPr/>
        </p:nvSpPr>
        <p:spPr>
          <a:xfrm xmlns:a="http://schemas.openxmlformats.org/drawingml/2006/main">
            <a:off x="609600" y="4524375"/>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F2120"/>
                </a:solidFill>
                <a:latin typeface="Arial"/>
                <a:ea typeface="Arial"/>
                <a:cs typeface="Arial"/>
              </a:defRPr>
            </a:pPr>
            <a:r>
              <a:rPr sz="2325" b="0">
                <a:solidFill>
                  <a:srgbClr val="1F2120"/>
                </a:solidFill>
                <a:latin typeface="Arial"/>
                <a:ea typeface="Arial"/>
                <a:cs typeface="Arial"/>
              </a:rPr>
              <a:t>Line inside the box = middle value.</a:t>
            </a:r>
          </a:p>
          <a:p xmlns:a="http://schemas.openxmlformats.org/drawingml/2006/main">
            <a:pPr>
              <a:defRPr sz="2325" b="0">
                <a:solidFill>
                  <a:srgbClr val="1F2120"/>
                </a:solidFill>
                <a:latin typeface="Arial"/>
                <a:ea typeface="Arial"/>
                <a:cs typeface="Arial"/>
              </a:defRPr>
            </a:pPr>
            <a:r>
              <a:rPr sz="2325" b="0">
                <a:solidFill>
                  <a:srgbClr val="1F2120"/>
                </a:solidFill>
                <a:latin typeface="Arial"/>
                <a:ea typeface="Arial"/>
                <a:cs typeface="Arial"/>
              </a:rPr>
              <a:t>Box = the middle half of the data.</a:t>
            </a:r>
          </a:p>
        </p:txBody>
      </p:sp>
    </p:spTree>
    <p:extLst>
      <p:ext uri="{BB962C8B-B14F-4D97-AF65-F5344CB8AC3E}">
        <p14:creationId xmlns:p14="http://schemas.microsoft.com/office/powerpoint/2010/main" val="1868068774"/>
      </p:ext>
    </p:extLst>
  </p:cSld>
</p:sld>
</file>

<file path=ppt/slides/slide13.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956AFA-723F-4726-96D9-D8F99FD72210}"/>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 heatmap summarizes relationships</a:t>
            </a:r>
          </a:p>
        </p:txBody>
      </p:sp>
      <p:sp>
        <p:nvSpPr>
          <p:cNvPr id="2" name="">
            <a:extLst xmlns:a="http://schemas.openxmlformats.org/drawingml/2006/main">
              <a:ext uri="{FF2B5EF4-FFF2-40B4-BE49-F238E27FC236}">
                <a16:creationId xmlns:a16="http://schemas.microsoft.com/office/drawing/2014/main" id="{B16DA313-5018-499D-AB89-D4D5B8F2C0E7}"/>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WATCH  /  mpg!K80. Focus on MPG and weight.</a:t>
            </a:r>
          </a:p>
        </p:txBody>
      </p:sp>
      <p:sp>
        <p:nvSpPr>
          <p:cNvPr id="3" name="">
            <a:extLst xmlns:a="http://schemas.openxmlformats.org/drawingml/2006/main">
              <a:ext uri="{FF2B5EF4-FFF2-40B4-BE49-F238E27FC236}">
                <a16:creationId xmlns:a16="http://schemas.microsoft.com/office/drawing/2014/main" id="{46E37BEE-5A25-4970-8212-970D32B6276F}"/>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13</a:t>
            </a:r>
          </a:p>
        </p:txBody>
      </p:sp>
      <p:graphicFrame>
        <p:nvGraphicFramePr>
          <p:cNvPr id="11" name=""/>
          <p:cNvGraphicFramePr/>
          <p:nvPr/>
        </p:nvGraphicFramePr>
        <p:xfrm>
          <a:off xmlns:a="http://schemas.openxmlformats.org/drawingml/2006/main" x="609600" y="2495550"/>
          <a:ext xmlns:a="http://schemas.openxmlformats.org/drawingml/2006/main" cx="8096250" cy="2924175"/>
        </p:xfrm>
        <a:graphic xmlns:a="http://schemas.openxmlformats.org/drawingml/2006/main">
          <a:graphicData uri="http://schemas.openxmlformats.org/drawingml/2006/table">
            <a:tbl>
              <a:tblPr/>
              <a:tblGrid>
                <a:gridCol w="2024063"/>
                <a:gridCol w="2024063"/>
                <a:gridCol w="2024063"/>
                <a:gridCol w="2024063"/>
              </a:tblGrid>
              <a:tr h="731044">
                <a:tc>
                  <a:txBody>
                    <a:bodyPr/>
                    <a:lstStyle/>
                    <a:p>
                      <a:r>
                        <a:rPr sz="2025" b="1">
                          <a:solidFill>
                            <a:srgbClr val="FFFFFF"/>
                          </a:solidFill>
                          <a:latin typeface="Arial"/>
                          <a:ea typeface="Arial"/>
                          <a:cs typeface="Arial"/>
                        </a:rPr>
                        <a:t/>
                      </a:r>
                    </a:p>
                  </a:txBody>
                  <a:tcPr marL="152400" marR="95250" marT="123825" marB="95250">
                    <a:solidFill>
                      <a:srgbClr val="1F2120"/>
                    </a:solidFill>
                  </a:tcPr>
                </a:tc>
                <a:tc>
                  <a:txBody>
                    <a:bodyPr/>
                    <a:lstStyle/>
                    <a:p>
                      <a:r>
                        <a:rPr sz="2025" b="1">
                          <a:solidFill>
                            <a:srgbClr val="FFFFFF"/>
                          </a:solidFill>
                          <a:latin typeface="Arial"/>
                          <a:ea typeface="Arial"/>
                          <a:cs typeface="Arial"/>
                        </a:rPr>
                        <a:t>MPG</a:t>
                      </a:r>
                    </a:p>
                  </a:txBody>
                  <a:tcPr marL="152400" marR="95250" marT="123825" marB="95250">
                    <a:solidFill>
                      <a:srgbClr val="1F2120"/>
                    </a:solidFill>
                  </a:tcPr>
                </a:tc>
                <a:tc>
                  <a:txBody>
                    <a:bodyPr/>
                    <a:lstStyle/>
                    <a:p>
                      <a:r>
                        <a:rPr sz="2025" b="1">
                          <a:solidFill>
                            <a:srgbClr val="FFFFFF"/>
                          </a:solidFill>
                          <a:latin typeface="Arial"/>
                          <a:ea typeface="Arial"/>
                          <a:cs typeface="Arial"/>
                        </a:rPr>
                        <a:t>Weight</a:t>
                      </a:r>
                    </a:p>
                  </a:txBody>
                  <a:tcPr marL="152400" marR="95250" marT="123825" marB="95250">
                    <a:solidFill>
                      <a:srgbClr val="1F2120"/>
                    </a:solidFill>
                  </a:tcPr>
                </a:tc>
                <a:tc>
                  <a:txBody>
                    <a:bodyPr/>
                    <a:lstStyle/>
                    <a:p>
                      <a:r>
                        <a:rPr sz="2025" b="1">
                          <a:solidFill>
                            <a:srgbClr val="FFFFFF"/>
                          </a:solidFill>
                          <a:latin typeface="Arial"/>
                          <a:ea typeface="Arial"/>
                          <a:cs typeface="Arial"/>
                        </a:rPr>
                        <a:t>Cylinders</a:t>
                      </a:r>
                    </a:p>
                  </a:txBody>
                  <a:tcPr marL="152400" marR="95250" marT="123825" marB="95250">
                    <a:solidFill>
                      <a:srgbClr val="1F2120"/>
                    </a:solidFill>
                  </a:tcPr>
                </a:tc>
              </a:tr>
              <a:tr h="731044">
                <a:tc>
                  <a:txBody>
                    <a:bodyPr/>
                    <a:lstStyle/>
                    <a:p>
                      <a:r>
                        <a:rPr sz="2025" b="0">
                          <a:solidFill>
                            <a:srgbClr val="FFFFFF"/>
                          </a:solidFill>
                          <a:latin typeface="Arial"/>
                          <a:ea typeface="Arial"/>
                          <a:cs typeface="Arial"/>
                        </a:rPr>
                        <a:t>MPG</a:t>
                      </a:r>
                    </a:p>
                  </a:txBody>
                  <a:tcPr marL="152400" marR="95250" marT="123825" marB="95250">
                    <a:solidFill>
                      <a:srgbClr val="1F2120"/>
                    </a:solidFill>
                  </a:tcPr>
                </a:tc>
                <a:tc>
                  <a:txBody>
                    <a:bodyPr/>
                    <a:lstStyle/>
                    <a:p>
                      <a:r>
                        <a:rPr sz="2025" b="0">
                          <a:solidFill>
                            <a:srgbClr val="FFFFFF"/>
                          </a:solidFill>
                          <a:latin typeface="Arial"/>
                          <a:ea typeface="Arial"/>
                          <a:cs typeface="Arial"/>
                        </a:rPr>
                        <a:t>1.00</a:t>
                      </a:r>
                    </a:p>
                  </a:txBody>
                  <a:tcPr marL="152400" marR="95250" marT="123825" marB="95250">
                    <a:solidFill>
                      <a:srgbClr val="CF3338"/>
                    </a:solidFill>
                  </a:tcPr>
                </a:tc>
                <a:tc>
                  <a:txBody>
                    <a:bodyPr/>
                    <a:lstStyle/>
                    <a:p>
                      <a:r>
                        <a:rPr sz="2025" b="0">
                          <a:solidFill>
                            <a:srgbClr val="1F2120"/>
                          </a:solidFill>
                          <a:latin typeface="Arial"/>
                          <a:ea typeface="Arial"/>
                          <a:cs typeface="Arial"/>
                        </a:rPr>
                        <a:t>-0.76</a:t>
                      </a:r>
                    </a:p>
                  </a:txBody>
                  <a:tcPr marL="152400" marR="95250" marT="123825" marB="95250">
                    <a:solidFill>
                      <a:srgbClr val="F5DADD"/>
                    </a:solidFill>
                  </a:tcPr>
                </a:tc>
                <a:tc>
                  <a:txBody>
                    <a:bodyPr/>
                    <a:lstStyle/>
                    <a:p>
                      <a:r>
                        <a:rPr sz="2025" b="0">
                          <a:solidFill>
                            <a:srgbClr val="1F2120"/>
                          </a:solidFill>
                          <a:latin typeface="Arial"/>
                          <a:ea typeface="Arial"/>
                          <a:cs typeface="Arial"/>
                        </a:rPr>
                        <a:t>-0.79</a:t>
                      </a:r>
                    </a:p>
                  </a:txBody>
                  <a:tcPr marL="152400" marR="95250" marT="123825" marB="95250">
                    <a:solidFill>
                      <a:srgbClr val="F5DADD"/>
                    </a:solidFill>
                  </a:tcPr>
                </a:tc>
              </a:tr>
              <a:tr h="731044">
                <a:tc>
                  <a:txBody>
                    <a:bodyPr/>
                    <a:lstStyle/>
                    <a:p>
                      <a:r>
                        <a:rPr sz="2025" b="0">
                          <a:solidFill>
                            <a:srgbClr val="FFFFFF"/>
                          </a:solidFill>
                          <a:latin typeface="Arial"/>
                          <a:ea typeface="Arial"/>
                          <a:cs typeface="Arial"/>
                        </a:rPr>
                        <a:t>Weight</a:t>
                      </a:r>
                    </a:p>
                  </a:txBody>
                  <a:tcPr marL="152400" marR="95250" marT="123825" marB="95250">
                    <a:solidFill>
                      <a:srgbClr val="1F2120"/>
                    </a:solidFill>
                  </a:tcPr>
                </a:tc>
                <a:tc>
                  <a:txBody>
                    <a:bodyPr/>
                    <a:lstStyle/>
                    <a:p>
                      <a:r>
                        <a:rPr sz="2025" b="0">
                          <a:solidFill>
                            <a:srgbClr val="1F2120"/>
                          </a:solidFill>
                          <a:latin typeface="Arial"/>
                          <a:ea typeface="Arial"/>
                          <a:cs typeface="Arial"/>
                        </a:rPr>
                        <a:t>-0.76</a:t>
                      </a:r>
                    </a:p>
                  </a:txBody>
                  <a:tcPr marL="152400" marR="95250" marT="123825" marB="95250">
                    <a:solidFill>
                      <a:srgbClr val="F5DADD"/>
                    </a:solidFill>
                  </a:tcPr>
                </a:tc>
                <a:tc>
                  <a:txBody>
                    <a:bodyPr/>
                    <a:lstStyle/>
                    <a:p>
                      <a:r>
                        <a:rPr sz="2025" b="0">
                          <a:solidFill>
                            <a:srgbClr val="FFFFFF"/>
                          </a:solidFill>
                          <a:latin typeface="Arial"/>
                          <a:ea typeface="Arial"/>
                          <a:cs typeface="Arial"/>
                        </a:rPr>
                        <a:t>1.00</a:t>
                      </a:r>
                    </a:p>
                  </a:txBody>
                  <a:tcPr marL="152400" marR="95250" marT="123825" marB="95250">
                    <a:solidFill>
                      <a:srgbClr val="CF3338"/>
                    </a:solidFill>
                  </a:tcPr>
                </a:tc>
                <a:tc>
                  <a:txBody>
                    <a:bodyPr/>
                    <a:lstStyle/>
                    <a:p>
                      <a:r>
                        <a:rPr sz="2025" b="0">
                          <a:solidFill>
                            <a:srgbClr val="FFFFFF"/>
                          </a:solidFill>
                          <a:latin typeface="Arial"/>
                          <a:ea typeface="Arial"/>
                          <a:cs typeface="Arial"/>
                        </a:rPr>
                        <a:t>0.91</a:t>
                      </a:r>
                    </a:p>
                  </a:txBody>
                  <a:tcPr marL="152400" marR="95250" marT="123825" marB="95250">
                    <a:solidFill>
                      <a:srgbClr val="CF3338"/>
                    </a:solidFill>
                  </a:tcPr>
                </a:tc>
              </a:tr>
              <a:tr h="731044">
                <a:tc>
                  <a:txBody>
                    <a:bodyPr/>
                    <a:lstStyle/>
                    <a:p>
                      <a:r>
                        <a:rPr sz="2025" b="0">
                          <a:solidFill>
                            <a:srgbClr val="FFFFFF"/>
                          </a:solidFill>
                          <a:latin typeface="Arial"/>
                          <a:ea typeface="Arial"/>
                          <a:cs typeface="Arial"/>
                        </a:rPr>
                        <a:t>Cylinders</a:t>
                      </a:r>
                    </a:p>
                  </a:txBody>
                  <a:tcPr marL="152400" marR="95250" marT="123825" marB="95250">
                    <a:solidFill>
                      <a:srgbClr val="1F2120"/>
                    </a:solidFill>
                  </a:tcPr>
                </a:tc>
                <a:tc>
                  <a:txBody>
                    <a:bodyPr/>
                    <a:lstStyle/>
                    <a:p>
                      <a:r>
                        <a:rPr sz="2025" b="0">
                          <a:solidFill>
                            <a:srgbClr val="1F2120"/>
                          </a:solidFill>
                          <a:latin typeface="Arial"/>
                          <a:ea typeface="Arial"/>
                          <a:cs typeface="Arial"/>
                        </a:rPr>
                        <a:t>-0.79</a:t>
                      </a:r>
                    </a:p>
                  </a:txBody>
                  <a:tcPr marL="152400" marR="95250" marT="123825" marB="95250">
                    <a:solidFill>
                      <a:srgbClr val="F5DADD"/>
                    </a:solidFill>
                  </a:tcPr>
                </a:tc>
                <a:tc>
                  <a:txBody>
                    <a:bodyPr/>
                    <a:lstStyle/>
                    <a:p>
                      <a:r>
                        <a:rPr sz="2025" b="0">
                          <a:solidFill>
                            <a:srgbClr val="FFFFFF"/>
                          </a:solidFill>
                          <a:latin typeface="Arial"/>
                          <a:ea typeface="Arial"/>
                          <a:cs typeface="Arial"/>
                        </a:rPr>
                        <a:t>0.91</a:t>
                      </a:r>
                    </a:p>
                  </a:txBody>
                  <a:tcPr marL="152400" marR="95250" marT="123825" marB="95250">
                    <a:solidFill>
                      <a:srgbClr val="CF3338"/>
                    </a:solidFill>
                  </a:tcPr>
                </a:tc>
                <a:tc>
                  <a:txBody>
                    <a:bodyPr/>
                    <a:lstStyle/>
                    <a:p>
                      <a:r>
                        <a:rPr sz="2025" b="0">
                          <a:solidFill>
                            <a:srgbClr val="FFFFFF"/>
                          </a:solidFill>
                          <a:latin typeface="Arial"/>
                          <a:ea typeface="Arial"/>
                          <a:cs typeface="Arial"/>
                        </a:rPr>
                        <a:t>1.00</a:t>
                      </a:r>
                    </a:p>
                  </a:txBody>
                  <a:tcPr marL="152400" marR="95250" marT="123825" marB="95250">
                    <a:solidFill>
                      <a:srgbClr val="CF3338"/>
                    </a:solidFill>
                  </a:tcPr>
                </a:tc>
              </a:tr>
            </a:tbl>
          </a:graphicData>
        </a:graphic>
      </p:graphicFrame>
      <p:sp>
        <p:nvSpPr>
          <p:cNvPr id="5" name="">
            <a:extLst xmlns:a="http://schemas.openxmlformats.org/drawingml/2006/main">
              <a:ext uri="{FF2B5EF4-FFF2-40B4-BE49-F238E27FC236}">
                <a16:creationId xmlns:a16="http://schemas.microsoft.com/office/drawing/2014/main" id="{AA3C6208-CA4A-4D3C-B252-DCA06494F424}"/>
              </a:ext>
            </a:extLst>
          </p:cNvPr>
          <p:cNvSpPr>
            <a:spLocks xmlns:a="http://schemas.openxmlformats.org/drawingml/2006/main" noGrp="1"/>
          </p:cNvSpPr>
          <p:nvPr/>
        </p:nvSpPr>
        <p:spPr>
          <a:xfrm xmlns:a="http://schemas.openxmlformats.org/drawingml/2006/main">
            <a:off x="9163050" y="2743200"/>
            <a:ext cx="2238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1">
                <a:solidFill>
                  <a:srgbClr val="CF3338"/>
                </a:solidFill>
                <a:latin typeface="Arial"/>
                <a:ea typeface="Arial"/>
                <a:cs typeface="Arial"/>
              </a:defRPr>
            </a:pPr>
            <a:r>
              <a:rPr sz="3375" b="1">
                <a:solidFill>
                  <a:srgbClr val="CF3338"/>
                </a:solidFill>
                <a:latin typeface="Arial"/>
                <a:ea typeface="Arial"/>
                <a:cs typeface="Arial"/>
              </a:rPr>
              <a:t>−0.76</a:t>
            </a:r>
          </a:p>
        </p:txBody>
      </p:sp>
      <p:sp>
        <p:nvSpPr>
          <p:cNvPr id="6" name="">
            <a:extLst xmlns:a="http://schemas.openxmlformats.org/drawingml/2006/main">
              <a:ext uri="{FF2B5EF4-FFF2-40B4-BE49-F238E27FC236}">
                <a16:creationId xmlns:a16="http://schemas.microsoft.com/office/drawing/2014/main" id="{77D53BE4-C444-4D58-B79C-E5AD6985D366}"/>
              </a:ext>
            </a:extLst>
          </p:cNvPr>
          <p:cNvSpPr>
            <a:spLocks xmlns:a="http://schemas.openxmlformats.org/drawingml/2006/main" noGrp="1"/>
          </p:cNvSpPr>
          <p:nvPr/>
        </p:nvSpPr>
        <p:spPr>
          <a:xfrm xmlns:a="http://schemas.openxmlformats.org/drawingml/2006/main">
            <a:off x="9163050" y="3667125"/>
            <a:ext cx="23622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F2120"/>
                </a:solidFill>
                <a:latin typeface="Arial"/>
                <a:ea typeface="Arial"/>
                <a:cs typeface="Arial"/>
              </a:defRPr>
            </a:pPr>
            <a:r>
              <a:rPr sz="1875" b="0">
                <a:solidFill>
                  <a:srgbClr val="1F2120"/>
                </a:solidFill>
                <a:latin typeface="Arial"/>
                <a:ea typeface="Arial"/>
                <a:cs typeface="Arial"/>
              </a:rPr>
              <a:t>Weight and MPG</a:t>
            </a:r>
          </a:p>
          <a:p xmlns:a="http://schemas.openxmlformats.org/drawingml/2006/main">
            <a:pPr>
              <a:defRPr sz="1875" b="0">
                <a:solidFill>
                  <a:srgbClr val="1F2120"/>
                </a:solidFill>
                <a:latin typeface="Arial"/>
                <a:ea typeface="Arial"/>
                <a:cs typeface="Arial"/>
              </a:defRPr>
            </a:pPr>
            <a:r>
              <a:rPr sz="1875" b="0">
                <a:solidFill>
                  <a:srgbClr val="1F2120"/>
                </a:solidFill>
                <a:latin typeface="Arial"/>
                <a:ea typeface="Arial"/>
                <a:cs typeface="Arial"/>
              </a:rPr>
              <a:t>move in opposite</a:t>
            </a:r>
          </a:p>
          <a:p xmlns:a="http://schemas.openxmlformats.org/drawingml/2006/main">
            <a:pPr>
              <a:defRPr sz="1875" b="0">
                <a:solidFill>
                  <a:srgbClr val="1F2120"/>
                </a:solidFill>
                <a:latin typeface="Arial"/>
                <a:ea typeface="Arial"/>
                <a:cs typeface="Arial"/>
              </a:defRPr>
            </a:pPr>
            <a:r>
              <a:rPr sz="1875" b="0">
                <a:solidFill>
                  <a:srgbClr val="1F2120"/>
                </a:solidFill>
                <a:latin typeface="Arial"/>
                <a:ea typeface="Arial"/>
                <a:cs typeface="Arial"/>
              </a:rPr>
              <a:t>directions.</a:t>
            </a:r>
          </a:p>
        </p:txBody>
      </p:sp>
      <p:sp>
        <p:nvSpPr>
          <p:cNvPr id="7" name="">
            <a:extLst xmlns:a="http://schemas.openxmlformats.org/drawingml/2006/main">
              <a:ext uri="{FF2B5EF4-FFF2-40B4-BE49-F238E27FC236}">
                <a16:creationId xmlns:a16="http://schemas.microsoft.com/office/drawing/2014/main" id="{653F8A9C-35D1-4BC7-94D5-17B12BA641A5}"/>
              </a:ext>
            </a:extLst>
          </p:cNvPr>
          <p:cNvSpPr>
            <a:spLocks xmlns:a="http://schemas.openxmlformats.org/drawingml/2006/main" noGrp="1"/>
          </p:cNvSpPr>
          <p:nvPr/>
        </p:nvSpPr>
        <p:spPr>
          <a:xfrm xmlns:a="http://schemas.openxmlformats.org/drawingml/2006/main">
            <a:off x="609600" y="5876925"/>
            <a:ext cx="10801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F2120"/>
                </a:solidFill>
                <a:latin typeface="Arial"/>
                <a:ea typeface="Arial"/>
                <a:cs typeface="Arial"/>
              </a:defRPr>
            </a:pPr>
            <a:r>
              <a:rPr sz="1875" b="0">
                <a:solidFill>
                  <a:srgbClr val="1F2120"/>
                </a:solidFill>
                <a:latin typeface="Arial"/>
                <a:ea typeface="Arial"/>
                <a:cs typeface="Arial"/>
              </a:rPr>
              <a:t>Near −1: opposite directions. Near +1: same direction.</a:t>
            </a:r>
          </a:p>
        </p:txBody>
      </p:sp>
    </p:spTree>
    <p:extLst>
      <p:ext uri="{BB962C8B-B14F-4D97-AF65-F5344CB8AC3E}">
        <p14:creationId xmlns:p14="http://schemas.microsoft.com/office/powerpoint/2010/main" val="352613772"/>
      </p:ext>
    </p:extLst>
  </p:cSld>
</p:sld>
</file>

<file path=ppt/slides/slide14.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3D0BAEC-A377-4383-BC33-FF2D2BE06946}"/>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Separate charts make groups easier to compare</a:t>
            </a:r>
          </a:p>
        </p:txBody>
      </p:sp>
      <p:sp>
        <p:nvSpPr>
          <p:cNvPr id="2" name="">
            <a:extLst xmlns:a="http://schemas.openxmlformats.org/drawingml/2006/main">
              <a:ext uri="{FF2B5EF4-FFF2-40B4-BE49-F238E27FC236}">
                <a16:creationId xmlns:a16="http://schemas.microsoft.com/office/drawing/2014/main" id="{BD1102FF-EC6A-407B-B55D-B9028FAA9907}"/>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WATCH  /  mpg!K100. Same axes for every origin.</a:t>
            </a:r>
          </a:p>
        </p:txBody>
      </p:sp>
      <p:sp>
        <p:nvSpPr>
          <p:cNvPr id="3" name="">
            <a:extLst xmlns:a="http://schemas.openxmlformats.org/drawingml/2006/main">
              <a:ext uri="{FF2B5EF4-FFF2-40B4-BE49-F238E27FC236}">
                <a16:creationId xmlns:a16="http://schemas.microsoft.com/office/drawing/2014/main" id="{29C52B1C-5EA1-4D4E-990C-833A04444BB5}"/>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6D0C79DE-863F-439E-918F-953A3DCBE2AC}"/>
              </a:ext>
            </a:extLst>
          </p:cNvPr>
          <p:cNvSpPr>
            <a:spLocks xmlns:a="http://schemas.openxmlformats.org/drawingml/2006/main" noGrp="1"/>
          </p:cNvSpPr>
          <p:nvPr/>
        </p:nvSpPr>
        <p:spPr>
          <a:xfrm xmlns:a="http://schemas.openxmlformats.org/drawingml/2006/main">
            <a:off x="647700" y="2543175"/>
            <a:ext cx="34194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CF3338"/>
                </a:solidFill>
                <a:latin typeface="Arial"/>
                <a:ea typeface="Arial"/>
                <a:cs typeface="Arial"/>
              </a:defRPr>
            </a:pPr>
            <a:r>
              <a:rPr sz="1875" b="1">
                <a:solidFill>
                  <a:srgbClr val="CF3338"/>
                </a:solidFill>
                <a:latin typeface="Arial"/>
                <a:ea typeface="Arial"/>
                <a:cs typeface="Arial"/>
              </a:rPr>
              <a:t>EUROPE</a:t>
            </a:r>
          </a:p>
        </p:txBody>
      </p:sp>
      <p:graphicFrame>
        <p:nvGraphicFramePr>
          <p:cNvPr id="14" name="Chart"/>
          <p:cNvGraphicFramePr/>
          <p:nvPr/>
        </p:nvGraphicFramePr>
        <p:xfrm>
          <a:off xmlns:a="http://schemas.openxmlformats.org/drawingml/2006/main" x="609600" y="2933700"/>
          <a:ext xmlns:a="http://schemas.openxmlformats.org/drawingml/2006/main" cx="3552825" cy="2886075"/>
        </p:xfrm>
        <a:graphic xmlns:a="http://schemas.openxmlformats.org/drawingml/2006/main">
          <a:graphicData uri="http://schemas.openxmlformats.org/drawingml/2006/chart">
            <c:chart xmlns:r="http://schemas.openxmlformats.org/officeDocument/2006/relationships" xmlns:c="http://schemas.openxmlformats.org/drawingml/2006/chart" r:id="R2f8de7fc0e944887"/>
          </a:graphicData>
        </a:graphic>
      </p:graphicFrame>
      <p:sp>
        <p:nvSpPr>
          <p:cNvPr id="6" name="">
            <a:extLst xmlns:a="http://schemas.openxmlformats.org/drawingml/2006/main">
              <a:ext uri="{FF2B5EF4-FFF2-40B4-BE49-F238E27FC236}">
                <a16:creationId xmlns:a16="http://schemas.microsoft.com/office/drawing/2014/main" id="{2610BA5A-4BB2-4550-BBCE-E4B42EE343DE}"/>
              </a:ext>
            </a:extLst>
          </p:cNvPr>
          <p:cNvSpPr>
            <a:spLocks xmlns:a="http://schemas.openxmlformats.org/drawingml/2006/main" noGrp="1"/>
          </p:cNvSpPr>
          <p:nvPr/>
        </p:nvSpPr>
        <p:spPr>
          <a:xfrm xmlns:a="http://schemas.openxmlformats.org/drawingml/2006/main">
            <a:off x="4352925" y="2543175"/>
            <a:ext cx="34194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CF3338"/>
                </a:solidFill>
                <a:latin typeface="Arial"/>
                <a:ea typeface="Arial"/>
                <a:cs typeface="Arial"/>
              </a:defRPr>
            </a:pPr>
            <a:r>
              <a:rPr sz="1875" b="1">
                <a:solidFill>
                  <a:srgbClr val="CF3338"/>
                </a:solidFill>
                <a:latin typeface="Arial"/>
                <a:ea typeface="Arial"/>
                <a:cs typeface="Arial"/>
              </a:rPr>
              <a:t>JAPAN</a:t>
            </a:r>
          </a:p>
        </p:txBody>
      </p:sp>
      <p:graphicFrame>
        <p:nvGraphicFramePr>
          <p:cNvPr id="16" name="Chart"/>
          <p:cNvGraphicFramePr/>
          <p:nvPr/>
        </p:nvGraphicFramePr>
        <p:xfrm>
          <a:off xmlns:a="http://schemas.openxmlformats.org/drawingml/2006/main" x="4314825" y="2933700"/>
          <a:ext xmlns:a="http://schemas.openxmlformats.org/drawingml/2006/main" cx="3552825" cy="2886075"/>
        </p:xfrm>
        <a:graphic xmlns:a="http://schemas.openxmlformats.org/drawingml/2006/main">
          <a:graphicData uri="http://schemas.openxmlformats.org/drawingml/2006/chart">
            <c:chart xmlns:r="http://schemas.openxmlformats.org/officeDocument/2006/relationships" xmlns:c="http://schemas.openxmlformats.org/drawingml/2006/chart" r:id="Rdfea0aa6db89447a"/>
          </a:graphicData>
        </a:graphic>
      </p:graphicFrame>
      <p:sp>
        <p:nvSpPr>
          <p:cNvPr id="8" name="">
            <a:extLst xmlns:a="http://schemas.openxmlformats.org/drawingml/2006/main">
              <a:ext uri="{FF2B5EF4-FFF2-40B4-BE49-F238E27FC236}">
                <a16:creationId xmlns:a16="http://schemas.microsoft.com/office/drawing/2014/main" id="{F12EFC29-2C26-47DB-BC6F-6B11563F52D2}"/>
              </a:ext>
            </a:extLst>
          </p:cNvPr>
          <p:cNvSpPr>
            <a:spLocks xmlns:a="http://schemas.openxmlformats.org/drawingml/2006/main" noGrp="1"/>
          </p:cNvSpPr>
          <p:nvPr/>
        </p:nvSpPr>
        <p:spPr>
          <a:xfrm xmlns:a="http://schemas.openxmlformats.org/drawingml/2006/main">
            <a:off x="8058150" y="2543175"/>
            <a:ext cx="34194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CF3338"/>
                </a:solidFill>
                <a:latin typeface="Arial"/>
                <a:ea typeface="Arial"/>
                <a:cs typeface="Arial"/>
              </a:defRPr>
            </a:pPr>
            <a:r>
              <a:rPr sz="1875" b="1">
                <a:solidFill>
                  <a:srgbClr val="CF3338"/>
                </a:solidFill>
                <a:latin typeface="Arial"/>
                <a:ea typeface="Arial"/>
                <a:cs typeface="Arial"/>
              </a:rPr>
              <a:t>USA</a:t>
            </a:r>
          </a:p>
        </p:txBody>
      </p:sp>
      <p:graphicFrame>
        <p:nvGraphicFramePr>
          <p:cNvPr id="18" name="Chart"/>
          <p:cNvGraphicFramePr/>
          <p:nvPr/>
        </p:nvGraphicFramePr>
        <p:xfrm>
          <a:off xmlns:a="http://schemas.openxmlformats.org/drawingml/2006/main" x="8020050" y="2933700"/>
          <a:ext xmlns:a="http://schemas.openxmlformats.org/drawingml/2006/main" cx="3552825" cy="2886075"/>
        </p:xfrm>
        <a:graphic xmlns:a="http://schemas.openxmlformats.org/drawingml/2006/main">
          <a:graphicData uri="http://schemas.openxmlformats.org/drawingml/2006/chart">
            <c:chart xmlns:r="http://schemas.openxmlformats.org/officeDocument/2006/relationships" xmlns:c="http://schemas.openxmlformats.org/drawingml/2006/chart" r:id="R127b0a18ff0f45ab"/>
          </a:graphicData>
        </a:graphic>
      </p:graphicFrame>
    </p:spTree>
    <p:extLst>
      <p:ext uri="{BB962C8B-B14F-4D97-AF65-F5344CB8AC3E}">
        <p14:creationId xmlns:p14="http://schemas.microsoft.com/office/powerpoint/2010/main" val="1350078291"/>
      </p:ext>
    </p:extLst>
  </p:cSld>
</p:sld>
</file>

<file path=ppt/slides/slide15.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3048578-9AFE-40BE-B421-6124395B56F9}"/>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Your question chooses the chart</a:t>
            </a:r>
          </a:p>
        </p:txBody>
      </p:sp>
      <p:sp>
        <p:nvSpPr>
          <p:cNvPr id="2" name="">
            <a:extLst xmlns:a="http://schemas.openxmlformats.org/drawingml/2006/main">
              <a:ext uri="{FF2B5EF4-FFF2-40B4-BE49-F238E27FC236}">
                <a16:creationId xmlns:a16="http://schemas.microsoft.com/office/drawing/2014/main" id="{7528DF1F-1E6A-4D11-8D2C-3B87544A59AF}"/>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15</a:t>
            </a:r>
          </a:p>
        </p:txBody>
      </p:sp>
      <p:graphicFrame>
        <p:nvGraphicFramePr>
          <p:cNvPr id="6" name=""/>
          <p:cNvGraphicFramePr/>
          <p:nvPr/>
        </p:nvGraphicFramePr>
        <p:xfrm>
          <a:off xmlns:a="http://schemas.openxmlformats.org/drawingml/2006/main" x="609600" y="2505075"/>
          <a:ext xmlns:a="http://schemas.openxmlformats.org/drawingml/2006/main" cx="10972800" cy="3362325"/>
        </p:xfrm>
        <a:graphic xmlns:a="http://schemas.openxmlformats.org/drawingml/2006/main">
          <a:graphicData uri="http://schemas.openxmlformats.org/drawingml/2006/table">
            <a:tbl>
              <a:tblPr/>
              <a:tblGrid>
                <a:gridCol w="5486400"/>
                <a:gridCol w="5486400"/>
              </a:tblGrid>
              <a:tr h="672465">
                <a:tc>
                  <a:txBody>
                    <a:bodyPr/>
                    <a:lstStyle/>
                    <a:p>
                      <a:r>
                        <a:rPr sz="2025" b="1">
                          <a:solidFill>
                            <a:srgbClr val="FFFFFF"/>
                          </a:solidFill>
                          <a:latin typeface="Arial"/>
                          <a:ea typeface="Arial"/>
                          <a:cs typeface="Arial"/>
                        </a:rPr>
                        <a:t>Your question</a:t>
                      </a:r>
                    </a:p>
                  </a:txBody>
                  <a:tcPr marL="152400" marR="95250" marT="123825" marB="95250">
                    <a:solidFill>
                      <a:srgbClr val="1F2120"/>
                    </a:solidFill>
                  </a:tcPr>
                </a:tc>
                <a:tc>
                  <a:txBody>
                    <a:bodyPr/>
                    <a:lstStyle/>
                    <a:p>
                      <a:r>
                        <a:rPr sz="2025" b="1">
                          <a:solidFill>
                            <a:srgbClr val="FFFFFF"/>
                          </a:solidFill>
                          <a:latin typeface="Arial"/>
                          <a:ea typeface="Arial"/>
                          <a:cs typeface="Arial"/>
                        </a:rPr>
                        <a:t>A useful starting point</a:t>
                      </a:r>
                    </a:p>
                  </a:txBody>
                  <a:tcPr marL="152400" marR="95250" marT="123825" marB="95250">
                    <a:solidFill>
                      <a:srgbClr val="1F2120"/>
                    </a:solidFill>
                  </a:tcPr>
                </a:tc>
              </a:tr>
              <a:tr h="672465">
                <a:tc>
                  <a:txBody>
                    <a:bodyPr/>
                    <a:lstStyle/>
                    <a:p>
                      <a:r>
                        <a:rPr sz="2025" b="0">
                          <a:solidFill>
                            <a:srgbClr val="1F2120"/>
                          </a:solidFill>
                          <a:latin typeface="Arial"/>
                          <a:ea typeface="Arial"/>
                          <a:cs typeface="Arial"/>
                        </a:rPr>
                        <a:t>How many in each category?</a:t>
                      </a:r>
                    </a:p>
                  </a:txBody>
                  <a:tcPr marL="152400" marR="95250" marT="123825" marB="95250">
                    <a:solidFill>
                      <a:srgbClr val="EEECE1"/>
                    </a:solidFill>
                  </a:tcPr>
                </a:tc>
                <a:tc>
                  <a:txBody>
                    <a:bodyPr/>
                    <a:lstStyle/>
                    <a:p>
                      <a:r>
                        <a:rPr sz="2025" b="0">
                          <a:solidFill>
                            <a:srgbClr val="1F2120"/>
                          </a:solidFill>
                          <a:latin typeface="Arial"/>
                          <a:ea typeface="Arial"/>
                          <a:cs typeface="Arial"/>
                        </a:rPr>
                        <a:t>Count chart</a:t>
                      </a:r>
                    </a:p>
                  </a:txBody>
                  <a:tcPr marL="152400" marR="95250" marT="123825" marB="95250">
                    <a:solidFill>
                      <a:srgbClr val="EEECE1"/>
                    </a:solidFill>
                  </a:tcPr>
                </a:tc>
              </a:tr>
              <a:tr h="672465">
                <a:tc>
                  <a:txBody>
                    <a:bodyPr/>
                    <a:lstStyle/>
                    <a:p>
                      <a:r>
                        <a:rPr sz="2025" b="0">
                          <a:solidFill>
                            <a:srgbClr val="1F2120"/>
                          </a:solidFill>
                          <a:latin typeface="Arial"/>
                          <a:ea typeface="Arial"/>
                          <a:cs typeface="Arial"/>
                        </a:rPr>
                        <a:t>How spread out are the values?</a:t>
                      </a:r>
                    </a:p>
                  </a:txBody>
                  <a:tcPr marL="152400" marR="95250" marT="123825" marB="95250">
                    <a:solidFill>
                      <a:srgbClr val="EEECE1"/>
                    </a:solidFill>
                  </a:tcPr>
                </a:tc>
                <a:tc>
                  <a:txBody>
                    <a:bodyPr/>
                    <a:lstStyle/>
                    <a:p>
                      <a:r>
                        <a:rPr sz="2025" b="0">
                          <a:solidFill>
                            <a:srgbClr val="1F2120"/>
                          </a:solidFill>
                          <a:latin typeface="Arial"/>
                          <a:ea typeface="Arial"/>
                          <a:cs typeface="Arial"/>
                        </a:rPr>
                        <a:t>Histogram or boxplot</a:t>
                      </a:r>
                    </a:p>
                  </a:txBody>
                  <a:tcPr marL="152400" marR="95250" marT="123825" marB="95250">
                    <a:solidFill>
                      <a:srgbClr val="EEECE1"/>
                    </a:solidFill>
                  </a:tcPr>
                </a:tc>
              </a:tr>
              <a:tr h="672465">
                <a:tc>
                  <a:txBody>
                    <a:bodyPr/>
                    <a:lstStyle/>
                    <a:p>
                      <a:r>
                        <a:rPr sz="2025" b="0">
                          <a:solidFill>
                            <a:srgbClr val="1F2120"/>
                          </a:solidFill>
                          <a:latin typeface="Arial"/>
                          <a:ea typeface="Arial"/>
                          <a:cs typeface="Arial"/>
                        </a:rPr>
                        <a:t>Do two numbers move together?</a:t>
                      </a:r>
                    </a:p>
                  </a:txBody>
                  <a:tcPr marL="152400" marR="95250" marT="123825" marB="95250">
                    <a:solidFill>
                      <a:srgbClr val="EEECE1"/>
                    </a:solidFill>
                  </a:tcPr>
                </a:tc>
                <a:tc>
                  <a:txBody>
                    <a:bodyPr/>
                    <a:lstStyle/>
                    <a:p>
                      <a:r>
                        <a:rPr sz="2025" b="0">
                          <a:solidFill>
                            <a:srgbClr val="1F2120"/>
                          </a:solidFill>
                          <a:latin typeface="Arial"/>
                          <a:ea typeface="Arial"/>
                          <a:cs typeface="Arial"/>
                        </a:rPr>
                        <a:t>Scatterplot</a:t>
                      </a:r>
                    </a:p>
                  </a:txBody>
                  <a:tcPr marL="152400" marR="95250" marT="123825" marB="95250">
                    <a:solidFill>
                      <a:srgbClr val="EEECE1"/>
                    </a:solidFill>
                  </a:tcPr>
                </a:tc>
              </a:tr>
              <a:tr h="672465">
                <a:tc>
                  <a:txBody>
                    <a:bodyPr/>
                    <a:lstStyle/>
                    <a:p>
                      <a:r>
                        <a:rPr sz="2025" b="0">
                          <a:solidFill>
                            <a:srgbClr val="1F2120"/>
                          </a:solidFill>
                          <a:latin typeface="Arial"/>
                          <a:ea typeface="Arial"/>
                          <a:cs typeface="Arial"/>
                        </a:rPr>
                        <a:t>How do groups differ?</a:t>
                      </a:r>
                    </a:p>
                  </a:txBody>
                  <a:tcPr marL="152400" marR="95250" marT="123825" marB="95250">
                    <a:solidFill>
                      <a:srgbClr val="EEECE1"/>
                    </a:solidFill>
                  </a:tcPr>
                </a:tc>
                <a:tc>
                  <a:txBody>
                    <a:bodyPr/>
                    <a:lstStyle/>
                    <a:p>
                      <a:r>
                        <a:rPr sz="2025" b="0">
                          <a:solidFill>
                            <a:srgbClr val="1F2120"/>
                          </a:solidFill>
                          <a:latin typeface="Arial"/>
                          <a:ea typeface="Arial"/>
                          <a:cs typeface="Arial"/>
                        </a:rPr>
                        <a:t>Same chart for each group</a:t>
                      </a:r>
                    </a:p>
                  </a:txBody>
                  <a:tcPr marL="152400" marR="95250" marT="123825" marB="95250">
                    <a:solidFill>
                      <a:srgbClr val="EEECE1"/>
                    </a:solidFill>
                  </a:tcPr>
                </a:tc>
              </a:tr>
            </a:tbl>
          </a:graphicData>
        </a:graphic>
      </p:graphicFrame>
    </p:spTree>
    <p:extLst>
      <p:ext uri="{BB962C8B-B14F-4D97-AF65-F5344CB8AC3E}">
        <p14:creationId xmlns:p14="http://schemas.microsoft.com/office/powerpoint/2010/main" val="895758303"/>
      </p:ext>
    </p:extLst>
  </p:cSld>
</p:sld>
</file>

<file path=ppt/slides/slide16.xml><?xml version="1.0" encoding="utf-8"?>
<p:sld xmlns:p="http://schemas.openxmlformats.org/presentationml/2006/main">
  <p:cSld>
    <p:bg>
      <p:bgPr>
        <a:solidFill xmlns:a="http://schemas.openxmlformats.org/drawingml/2006/main">
          <a:srgbClr val="1F21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E47004-9AAB-4BC5-9DF6-102AD7AF2078}"/>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FFFFFF"/>
                </a:solidFill>
                <a:latin typeface="Arial Black"/>
                <a:ea typeface="Arial Black"/>
                <a:cs typeface="Arial Black"/>
              </a:defRPr>
            </a:pPr>
            <a:r>
              <a:rPr sz="3300" b="1">
                <a:solidFill>
                  <a:srgbClr val="FFFFFF"/>
                </a:solidFill>
                <a:latin typeface="Arial Black"/>
                <a:ea typeface="Arial Black"/>
                <a:cs typeface="Arial Black"/>
              </a:rPr>
              <a:t>A finding someone else can understand</a:t>
            </a:r>
          </a:p>
        </p:txBody>
      </p:sp>
      <p:sp>
        <p:nvSpPr>
          <p:cNvPr id="2" name="">
            <a:extLst xmlns:a="http://schemas.openxmlformats.org/drawingml/2006/main">
              <a:ext uri="{FF2B5EF4-FFF2-40B4-BE49-F238E27FC236}">
                <a16:creationId xmlns:a16="http://schemas.microsoft.com/office/drawing/2014/main" id="{A480FAF0-9177-4A06-B8DC-91858A7C311D}"/>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EEECE1"/>
                </a:solidFill>
                <a:latin typeface="Arial"/>
                <a:ea typeface="Arial"/>
                <a:cs typeface="Arial"/>
              </a:defRPr>
            </a:pPr>
            <a:r>
              <a:rPr sz="1875" b="0">
                <a:solidFill>
                  <a:srgbClr val="EEECE1"/>
                </a:solidFill>
                <a:latin typeface="Arial"/>
                <a:ea typeface="Arial"/>
                <a:cs typeface="Arial"/>
              </a:rPr>
              <a:t>YOUR TURN  /  Explain the scatterplot in one sentence</a:t>
            </a:r>
          </a:p>
        </p:txBody>
      </p:sp>
      <p:sp>
        <p:nvSpPr>
          <p:cNvPr id="3" name="">
            <a:extLst xmlns:a="http://schemas.openxmlformats.org/drawingml/2006/main">
              <a:ext uri="{FF2B5EF4-FFF2-40B4-BE49-F238E27FC236}">
                <a16:creationId xmlns:a16="http://schemas.microsoft.com/office/drawing/2014/main" id="{74230E5E-654F-4646-A57C-58FD900D0F7A}"/>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EEECE1"/>
                </a:solidFill>
                <a:latin typeface="Arial"/>
                <a:ea typeface="Arial"/>
                <a:cs typeface="Arial"/>
              </a:defRPr>
            </a:pPr>
            <a:r>
              <a:rPr sz="1200" b="0">
                <a:solidFill>
                  <a:srgbClr val="EEECE1"/>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700673D8-0377-46CB-9250-B546AE5A5370}"/>
              </a:ext>
            </a:extLst>
          </p:cNvPr>
          <p:cNvSpPr>
            <a:spLocks xmlns:a="http://schemas.openxmlformats.org/drawingml/2006/main" noGrp="1"/>
          </p:cNvSpPr>
          <p:nvPr/>
        </p:nvSpPr>
        <p:spPr>
          <a:xfrm xmlns:a="http://schemas.openxmlformats.org/drawingml/2006/main">
            <a:off x="609600" y="2743200"/>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“In this sample, heavier cars tend to have lower MPG.”</a:t>
            </a:r>
          </a:p>
        </p:txBody>
      </p:sp>
      <p:sp>
        <p:nvSpPr>
          <p:cNvPr id="5" name="">
            <a:extLst xmlns:a="http://schemas.openxmlformats.org/drawingml/2006/main">
              <a:ext uri="{FF2B5EF4-FFF2-40B4-BE49-F238E27FC236}">
                <a16:creationId xmlns:a16="http://schemas.microsoft.com/office/drawing/2014/main" id="{ABCEAFF3-EEF5-472B-8E8F-7EFC963F12E4}"/>
              </a:ext>
            </a:extLst>
          </p:cNvPr>
          <p:cNvSpPr>
            <a:spLocks xmlns:a="http://schemas.openxmlformats.org/drawingml/2006/main" noGrp="1"/>
          </p:cNvSpPr>
          <p:nvPr/>
        </p:nvSpPr>
        <p:spPr>
          <a:xfrm xmlns:a="http://schemas.openxmlformats.org/drawingml/2006/main">
            <a:off x="609600" y="4686300"/>
            <a:ext cx="10839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EEECE1"/>
                </a:solidFill>
                <a:latin typeface="Arial"/>
                <a:ea typeface="Arial"/>
                <a:cs typeface="Arial"/>
              </a:defRPr>
            </a:pPr>
            <a:r>
              <a:rPr sz="2250" b="0">
                <a:solidFill>
                  <a:srgbClr val="EEECE1"/>
                </a:solidFill>
                <a:latin typeface="Arial"/>
                <a:ea typeface="Arial"/>
                <a:cs typeface="Arial"/>
              </a:rPr>
              <a:t>What would you want to check before using this in a decision?</a:t>
            </a:r>
          </a:p>
        </p:txBody>
      </p:sp>
    </p:spTree>
    <p:extLst>
      <p:ext uri="{BB962C8B-B14F-4D97-AF65-F5344CB8AC3E}">
        <p14:creationId xmlns:p14="http://schemas.microsoft.com/office/powerpoint/2010/main" val="746366167"/>
      </p:ext>
    </p:extLst>
  </p:cSld>
</p:sld>
</file>

<file path=ppt/slides/slide17.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BD847FF-AA78-4C3A-9368-349B627DC12D}"/>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 book to help you keep going</a:t>
            </a:r>
          </a:p>
        </p:txBody>
      </p:sp>
      <p:sp>
        <p:nvSpPr>
          <p:cNvPr id="2" name="">
            <a:extLst xmlns:a="http://schemas.openxmlformats.org/drawingml/2006/main">
              <a:ext uri="{FF2B5EF4-FFF2-40B4-BE49-F238E27FC236}">
                <a16:creationId xmlns:a16="http://schemas.microsoft.com/office/drawing/2014/main" id="{32B128DA-BCE2-4FAA-82B2-6BD458F0805F}"/>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Python in Excel for Data Analytics  /  George Mount  /  Packt</a:t>
            </a:r>
          </a:p>
        </p:txBody>
      </p:sp>
      <p:sp>
        <p:nvSpPr>
          <p:cNvPr id="3" name="">
            <a:extLst xmlns:a="http://schemas.openxmlformats.org/drawingml/2006/main">
              <a:ext uri="{FF2B5EF4-FFF2-40B4-BE49-F238E27FC236}">
                <a16:creationId xmlns:a16="http://schemas.microsoft.com/office/drawing/2014/main" id="{82EB3289-C83D-450D-A119-7E589F3E65A5}"/>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17</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9bcb0101d2f4feb"/>
          <a:stretch xmlns:a="http://schemas.openxmlformats.org/drawingml/2006/main"/>
        </p:blipFill>
        <p:spPr>
          <a:xfrm xmlns:a="http://schemas.openxmlformats.org/drawingml/2006/main">
            <a:off x="8140117" y="2314575"/>
            <a:ext cx="3226965"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4A363EF-DD2C-498F-A9D7-BFC3405D8F55}"/>
              </a:ext>
            </a:extLst>
          </p:cNvPr>
          <p:cNvSpPr>
            <a:spLocks xmlns:a="http://schemas.openxmlformats.org/drawingml/2006/main" noGrp="1"/>
          </p:cNvSpPr>
          <p:nvPr/>
        </p:nvSpPr>
        <p:spPr>
          <a:xfrm xmlns:a="http://schemas.openxmlformats.org/drawingml/2006/main">
            <a:off x="609600" y="2609850"/>
            <a:ext cx="695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CF3338"/>
                </a:solidFill>
                <a:latin typeface="Arial"/>
                <a:ea typeface="Arial"/>
                <a:cs typeface="Arial"/>
              </a:defRPr>
            </a:pPr>
            <a:r>
              <a:rPr sz="2475" b="1">
                <a:solidFill>
                  <a:srgbClr val="CF3338"/>
                </a:solidFill>
                <a:latin typeface="Arial"/>
                <a:ea typeface="Arial"/>
                <a:cs typeface="Arial"/>
              </a:rPr>
              <a:t>Build on today’s examples</a:t>
            </a:r>
          </a:p>
        </p:txBody>
      </p:sp>
      <p:sp>
        <p:nvSpPr>
          <p:cNvPr id="6" name="">
            <a:extLst xmlns:a="http://schemas.openxmlformats.org/drawingml/2006/main">
              <a:ext uri="{FF2B5EF4-FFF2-40B4-BE49-F238E27FC236}">
                <a16:creationId xmlns:a16="http://schemas.microsoft.com/office/drawing/2014/main" id="{A0ADB0BB-EB25-40F0-AED6-8C8545C6C1B2}"/>
              </a:ext>
            </a:extLst>
          </p:cNvPr>
          <p:cNvSpPr>
            <a:spLocks xmlns:a="http://schemas.openxmlformats.org/drawingml/2006/main" noGrp="1"/>
          </p:cNvSpPr>
          <p:nvPr/>
        </p:nvSpPr>
        <p:spPr>
          <a:xfrm xmlns:a="http://schemas.openxmlformats.org/drawingml/2006/main">
            <a:off x="609600" y="3209925"/>
            <a:ext cx="6905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F2120"/>
                </a:solidFill>
                <a:latin typeface="Arial"/>
                <a:ea typeface="Arial"/>
                <a:cs typeface="Arial"/>
              </a:defRPr>
            </a:pPr>
            <a:r>
              <a:rPr sz="2175" b="0">
                <a:solidFill>
                  <a:srgbClr val="1F2120"/>
                </a:solidFill>
                <a:latin typeface="Arial"/>
                <a:ea typeface="Arial"/>
                <a:cs typeface="Arial"/>
              </a:rPr>
              <a:t>Chapters 3 and 4 develop visualization and data exploration.</a:t>
            </a:r>
          </a:p>
        </p:txBody>
      </p:sp>
      <p:sp>
        <p:nvSpPr>
          <p:cNvPr id="7" name="">
            <a:extLst xmlns:a="http://schemas.openxmlformats.org/drawingml/2006/main">
              <a:ext uri="{FF2B5EF4-FFF2-40B4-BE49-F238E27FC236}">
                <a16:creationId xmlns:a16="http://schemas.microsoft.com/office/drawing/2014/main" id="{D46E7904-E52A-47FE-A7EB-F71EC9049CB1}"/>
              </a:ext>
            </a:extLst>
          </p:cNvPr>
          <p:cNvSpPr>
            <a:spLocks xmlns:a="http://schemas.openxmlformats.org/drawingml/2006/main" noGrp="1"/>
          </p:cNvSpPr>
          <p:nvPr/>
        </p:nvSpPr>
        <p:spPr>
          <a:xfrm xmlns:a="http://schemas.openxmlformats.org/drawingml/2006/main">
            <a:off x="609600" y="4705350"/>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CF3338"/>
                </a:solidFill>
                <a:latin typeface="Arial"/>
                <a:ea typeface="Arial"/>
                <a:cs typeface="Arial"/>
              </a:defRPr>
            </a:pPr>
            <a:r>
              <a:rPr sz="2475" b="1">
                <a:solidFill>
                  <a:srgbClr val="CF3338"/>
                </a:solidFill>
                <a:latin typeface="Arial"/>
                <a:ea typeface="Arial"/>
                <a:cs typeface="Arial"/>
              </a:rPr>
              <a:t>A path you can practice</a:t>
            </a:r>
          </a:p>
        </p:txBody>
      </p:sp>
      <p:sp>
        <p:nvSpPr>
          <p:cNvPr id="8" name="">
            <a:extLst xmlns:a="http://schemas.openxmlformats.org/drawingml/2006/main">
              <a:ext uri="{FF2B5EF4-FFF2-40B4-BE49-F238E27FC236}">
                <a16:creationId xmlns:a16="http://schemas.microsoft.com/office/drawing/2014/main" id="{689A6C96-45D2-462D-8E33-B143AD8B5386}"/>
              </a:ext>
            </a:extLst>
          </p:cNvPr>
          <p:cNvSpPr>
            <a:spLocks xmlns:a="http://schemas.openxmlformats.org/drawingml/2006/main" noGrp="1"/>
          </p:cNvSpPr>
          <p:nvPr/>
        </p:nvSpPr>
        <p:spPr>
          <a:xfrm xmlns:a="http://schemas.openxmlformats.org/drawingml/2006/main">
            <a:off x="609600" y="5276850"/>
            <a:ext cx="695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F2120"/>
                </a:solidFill>
                <a:latin typeface="Arial"/>
                <a:ea typeface="Arial"/>
                <a:cs typeface="Arial"/>
              </a:defRPr>
            </a:pPr>
            <a:r>
              <a:rPr sz="2100" b="0">
                <a:solidFill>
                  <a:srgbClr val="1F2120"/>
                </a:solidFill>
                <a:latin typeface="Arial"/>
                <a:ea typeface="Arial"/>
                <a:cs typeface="Arial"/>
              </a:rPr>
              <a:t>Practice with Excel workbooks, then adapt the examples to your own questions.</a:t>
            </a:r>
          </a:p>
        </p:txBody>
      </p:sp>
    </p:spTree>
    <p:extLst>
      <p:ext uri="{BB962C8B-B14F-4D97-AF65-F5344CB8AC3E}">
        <p14:creationId xmlns:p14="http://schemas.microsoft.com/office/powerpoint/2010/main" val="291248112"/>
      </p:ext>
    </p:extLst>
  </p:cSld>
</p:sld>
</file>

<file path=ppt/slides/slide18.xml><?xml version="1.0" encoding="utf-8"?>
<p:sld xmlns:p="http://schemas.openxmlformats.org/presentationml/2006/main">
  <p:cSld>
    <p:bg>
      <p:bgPr>
        <a:solidFill xmlns:a="http://schemas.openxmlformats.org/drawingml/2006/main">
          <a:srgbClr val="CF333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7EBA62-4F07-47F4-833A-CC2B41286EDA}"/>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FFFFFF"/>
                </a:solidFill>
                <a:latin typeface="Arial Black"/>
                <a:ea typeface="Arial Black"/>
                <a:cs typeface="Arial Black"/>
              </a:defRPr>
            </a:pPr>
            <a:r>
              <a:rPr sz="3300" b="1">
                <a:solidFill>
                  <a:srgbClr val="FFFFFF"/>
                </a:solidFill>
                <a:latin typeface="Arial Black"/>
                <a:ea typeface="Arial Black"/>
                <a:cs typeface="Arial Black"/>
              </a:rPr>
              <a:t>Preorder your copy</a:t>
            </a:r>
          </a:p>
        </p:txBody>
      </p:sp>
      <p:sp>
        <p:nvSpPr>
          <p:cNvPr id="2" name="">
            <a:extLst xmlns:a="http://schemas.openxmlformats.org/drawingml/2006/main">
              <a:ext uri="{FF2B5EF4-FFF2-40B4-BE49-F238E27FC236}">
                <a16:creationId xmlns:a16="http://schemas.microsoft.com/office/drawing/2014/main" id="{72AE2BC0-4B20-4B41-8438-072617E9F79F}"/>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EEECE1"/>
                </a:solidFill>
                <a:latin typeface="Arial"/>
                <a:ea typeface="Arial"/>
                <a:cs typeface="Arial"/>
              </a:defRPr>
            </a:pPr>
            <a:r>
              <a:rPr sz="1200" b="0">
                <a:solidFill>
                  <a:srgbClr val="EEECE1"/>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4B07C5CC-101D-4734-B1EA-81674B0EFA79}"/>
              </a:ext>
            </a:extLst>
          </p:cNvPr>
          <p:cNvSpPr>
            <a:spLocks xmlns:a="http://schemas.openxmlformats.org/drawingml/2006/main" noGrp="1"/>
          </p:cNvSpPr>
          <p:nvPr/>
        </p:nvSpPr>
        <p:spPr>
          <a:xfrm xmlns:a="http://schemas.openxmlformats.org/drawingml/2006/main">
            <a:off x="609600" y="2171700"/>
            <a:ext cx="7143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FFFFFF"/>
                </a:solidFill>
                <a:latin typeface="Arial Black"/>
                <a:ea typeface="Arial Black"/>
                <a:cs typeface="Arial Black"/>
              </a:defRPr>
            </a:pPr>
            <a:r>
              <a:rPr sz="3225" b="1">
                <a:solidFill>
                  <a:srgbClr val="FFFFFF"/>
                </a:solidFill>
                <a:latin typeface="Arial Black"/>
                <a:ea typeface="Arial Black"/>
                <a:cs typeface="Arial Black"/>
              </a:rPr>
              <a:t>Python in Excel</a:t>
            </a:r>
          </a:p>
          <a:p xmlns:a="http://schemas.openxmlformats.org/drawingml/2006/main">
            <a:pPr>
              <a:defRPr sz="3225" b="1">
                <a:solidFill>
                  <a:srgbClr val="FFFFFF"/>
                </a:solidFill>
                <a:latin typeface="Arial Black"/>
                <a:ea typeface="Arial Black"/>
                <a:cs typeface="Arial Black"/>
              </a:defRPr>
            </a:pPr>
            <a:r>
              <a:rPr sz="3225" b="1">
                <a:solidFill>
                  <a:srgbClr val="FFFFFF"/>
                </a:solidFill>
                <a:latin typeface="Arial Black"/>
                <a:ea typeface="Arial Black"/>
                <a:cs typeface="Arial Black"/>
              </a:rPr>
              <a:t>for Data Analytics</a:t>
            </a:r>
          </a:p>
        </p:txBody>
      </p:sp>
      <p:sp>
        <p:nvSpPr>
          <p:cNvPr id="4" name="">
            <a:extLst xmlns:a="http://schemas.openxmlformats.org/drawingml/2006/main">
              <a:ext uri="{FF2B5EF4-FFF2-40B4-BE49-F238E27FC236}">
                <a16:creationId xmlns:a16="http://schemas.microsoft.com/office/drawing/2014/main" id="{A82C39B1-D44E-434F-B413-B34C7373C15F}"/>
              </a:ext>
            </a:extLst>
          </p:cNvPr>
          <p:cNvSpPr>
            <a:spLocks xmlns:a="http://schemas.openxmlformats.org/drawingml/2006/main" noGrp="1"/>
          </p:cNvSpPr>
          <p:nvPr/>
        </p:nvSpPr>
        <p:spPr>
          <a:xfrm xmlns:a="http://schemas.openxmlformats.org/drawingml/2006/main">
            <a:off x="609600" y="4067175"/>
            <a:ext cx="68770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Open the book page.</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Choose your bookseller.</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Reserve your preferred format.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07b349fe1e248fb"/>
          <a:stretch xmlns:a="http://schemas.openxmlformats.org/drawingml/2006/main"/>
        </p:blipFill>
        <p:spPr>
          <a:xfrm xmlns:a="http://schemas.openxmlformats.org/drawingml/2006/main">
            <a:off x="8601075" y="2238375"/>
            <a:ext cx="2800350" cy="28003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0BCDC9B-2CEA-4B2C-BEDC-E5C5DBB01456}"/>
              </a:ext>
            </a:extLst>
          </p:cNvPr>
          <p:cNvSpPr>
            <a:spLocks xmlns:a="http://schemas.openxmlformats.org/drawingml/2006/main" noGrp="1"/>
          </p:cNvSpPr>
          <p:nvPr/>
        </p:nvSpPr>
        <p:spPr>
          <a:xfrm xmlns:a="http://schemas.openxmlformats.org/drawingml/2006/main">
            <a:off x="609600" y="591502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FFFFFF"/>
                </a:solidFill>
                <a:latin typeface="Arial"/>
                <a:ea typeface="Arial"/>
                <a:cs typeface="Arial"/>
              </a:defRPr>
            </a:pPr>
            <a:r>
              <a:rPr>
                <a:hlinkClick xmlns:r="http://schemas.openxmlformats.org/officeDocument/2006/relationships" r:id="Rf169433fadfa432b"/>
              </a:rPr>
              <a:t>stringfestanalytics.com/pyxlda</a:t>
            </a:r>
          </a:p>
        </p:txBody>
      </p:sp>
    </p:spTree>
    <p:extLst>
      <p:ext uri="{BB962C8B-B14F-4D97-AF65-F5344CB8AC3E}">
        <p14:creationId xmlns:p14="http://schemas.microsoft.com/office/powerpoint/2010/main" val="249251943"/>
      </p:ext>
    </p:extLst>
  </p:cSld>
</p:sld>
</file>

<file path=ppt/slides/slide19.xml><?xml version="1.0" encoding="utf-8"?>
<p:sld xmlns:p="http://schemas.openxmlformats.org/presentationml/2006/main">
  <p:cSld>
    <p:bg>
      <p:bgPr>
        <a:solidFill xmlns:a="http://schemas.openxmlformats.org/drawingml/2006/main">
          <a:srgbClr val="1F212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7E2DD8-95EB-4A23-8613-72FDCEB17C80}"/>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FFFFFF"/>
                </a:solidFill>
                <a:latin typeface="Arial Black"/>
                <a:ea typeface="Arial Black"/>
                <a:cs typeface="Arial Black"/>
              </a:defRPr>
            </a:pPr>
            <a:r>
              <a:rPr sz="3300" b="1">
                <a:solidFill>
                  <a:srgbClr val="FFFFFF"/>
                </a:solidFill>
                <a:latin typeface="Arial Black"/>
                <a:ea typeface="Arial Black"/>
                <a:cs typeface="Arial Black"/>
              </a:rPr>
              <a:t>What would you try in your own workbook?</a:t>
            </a:r>
          </a:p>
        </p:txBody>
      </p:sp>
      <p:sp>
        <p:nvSpPr>
          <p:cNvPr id="2" name="">
            <a:extLst xmlns:a="http://schemas.openxmlformats.org/drawingml/2006/main">
              <a:ext uri="{FF2B5EF4-FFF2-40B4-BE49-F238E27FC236}">
                <a16:creationId xmlns:a16="http://schemas.microsoft.com/office/drawing/2014/main" id="{99FF76F1-D029-4820-AC75-F9856E16B974}"/>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EEECE1"/>
                </a:solidFill>
                <a:latin typeface="Arial"/>
                <a:ea typeface="Arial"/>
                <a:cs typeface="Arial"/>
              </a:defRPr>
            </a:pPr>
            <a:r>
              <a:rPr sz="1875" b="0">
                <a:solidFill>
                  <a:srgbClr val="EEECE1"/>
                </a:solidFill>
                <a:latin typeface="Arial"/>
                <a:ea typeface="Arial"/>
                <a:cs typeface="Arial"/>
              </a:rPr>
              <a:t>Questions and your next step</a:t>
            </a:r>
          </a:p>
        </p:txBody>
      </p:sp>
      <p:sp>
        <p:nvSpPr>
          <p:cNvPr id="3" name="">
            <a:extLst xmlns:a="http://schemas.openxmlformats.org/drawingml/2006/main">
              <a:ext uri="{FF2B5EF4-FFF2-40B4-BE49-F238E27FC236}">
                <a16:creationId xmlns:a16="http://schemas.microsoft.com/office/drawing/2014/main" id="{4A0DEA81-1354-4141-9CC6-F7EB896AFCD6}"/>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EEECE1"/>
                </a:solidFill>
                <a:latin typeface="Arial"/>
                <a:ea typeface="Arial"/>
                <a:cs typeface="Arial"/>
              </a:defRPr>
            </a:pPr>
            <a:r>
              <a:rPr sz="1200" b="0">
                <a:solidFill>
                  <a:srgbClr val="EEECE1"/>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D7FEB129-FD29-41B9-A1A9-30A60B9C1D10}"/>
              </a:ext>
            </a:extLst>
          </p:cNvPr>
          <p:cNvSpPr>
            <a:spLocks xmlns:a="http://schemas.openxmlformats.org/drawingml/2006/main" noGrp="1"/>
          </p:cNvSpPr>
          <p:nvPr/>
        </p:nvSpPr>
        <p:spPr>
          <a:xfrm xmlns:a="http://schemas.openxmlformats.org/drawingml/2006/main">
            <a:off x="609600" y="279082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One question. One small example you can check.</a:t>
            </a:r>
          </a:p>
        </p:txBody>
      </p:sp>
      <p:sp>
        <p:nvSpPr>
          <p:cNvPr id="5" name="">
            <a:extLst xmlns:a="http://schemas.openxmlformats.org/drawingml/2006/main">
              <a:ext uri="{FF2B5EF4-FFF2-40B4-BE49-F238E27FC236}">
                <a16:creationId xmlns:a16="http://schemas.microsoft.com/office/drawing/2014/main" id="{1633B972-3688-486A-8615-01EEE7894BFA}"/>
              </a:ext>
            </a:extLst>
          </p:cNvPr>
          <p:cNvSpPr>
            <a:spLocks xmlns:a="http://schemas.openxmlformats.org/drawingml/2006/main" noGrp="1"/>
          </p:cNvSpPr>
          <p:nvPr/>
        </p:nvSpPr>
        <p:spPr>
          <a:xfrm xmlns:a="http://schemas.openxmlformats.org/drawingml/2006/main">
            <a:off x="609600" y="433387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FFFFFF"/>
                </a:solidFill>
                <a:latin typeface="Arial"/>
                <a:ea typeface="Arial"/>
                <a:cs typeface="Arial"/>
              </a:defRPr>
            </a:pPr>
            <a:r>
              <a:rPr>
                <a:hlinkClick xmlns:r="http://schemas.openxmlformats.org/officeDocument/2006/relationships" r:id="R13b56506b3924c39"/>
              </a:rPr>
              <a:t>Preorder: stringfestanalytics.com/pyxlda</a:t>
            </a:r>
          </a:p>
        </p:txBody>
      </p:sp>
      <p:sp>
        <p:nvSpPr>
          <p:cNvPr id="6" name="">
            <a:extLst xmlns:a="http://schemas.openxmlformats.org/drawingml/2006/main">
              <a:ext uri="{FF2B5EF4-FFF2-40B4-BE49-F238E27FC236}">
                <a16:creationId xmlns:a16="http://schemas.microsoft.com/office/drawing/2014/main" id="{6AFE3650-C87D-46BD-A262-AF622A91D2BC}"/>
              </a:ext>
            </a:extLst>
          </p:cNvPr>
          <p:cNvSpPr>
            <a:spLocks xmlns:a="http://schemas.openxmlformats.org/drawingml/2006/main" noGrp="1"/>
          </p:cNvSpPr>
          <p:nvPr/>
        </p:nvSpPr>
        <p:spPr>
          <a:xfrm xmlns:a="http://schemas.openxmlformats.org/drawingml/2006/main">
            <a:off x="609600" y="55435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EECE1"/>
                </a:solidFill>
                <a:latin typeface="Arial"/>
                <a:ea typeface="Arial"/>
                <a:cs typeface="Arial"/>
              </a:defRPr>
            </a:pPr>
            <a:r>
              <a:rPr>
                <a:hlinkClick xmlns:r="http://schemas.openxmlformats.org/officeDocument/2006/relationships" r:id="R7eed3189974d43d4"/>
              </a:rPr>
              <a:t>Files and replay: stringfestdata.gumroad.com/l/pxlaf</a:t>
            </a:r>
          </a:p>
        </p:txBody>
      </p:sp>
    </p:spTree>
    <p:extLst>
      <p:ext uri="{BB962C8B-B14F-4D97-AF65-F5344CB8AC3E}">
        <p14:creationId xmlns:p14="http://schemas.microsoft.com/office/powerpoint/2010/main" val="667215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2026-09-20T21:42:31.2320000Z</dcterms:created>
  <dcterms:modified xsi:type="dcterms:W3CDTF">2026-09-20T21:42:31.2320000Z</dcterms:modified>
</coreProperties>
</file>