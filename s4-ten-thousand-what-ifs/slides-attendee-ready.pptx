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2.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7f3888633154b49" /><Relationship Type="http://schemas.openxmlformats.org/officeDocument/2006/relationships/extended-properties" Target="/docProps/app.xml" Id="R53a966808de3480e" /><Relationship Type="http://schemas.openxmlformats.org/officeDocument/2006/relationships/officeDocument" Target="/ppt/presentation.xml" Id="R04052200772442e1" /></Relationships>
</file>

<file path=ppt/presentation.xml><?xml version="1.0" encoding="utf-8"?>
<p:presentation xmlns:p="http://schemas.openxmlformats.org/presentationml/2006/main">
  <p:sldMasterIdLst>
    <p:sldMasterId xmlns:r="http://schemas.openxmlformats.org/officeDocument/2006/relationships" id="2147483648" r:id="R256f4d8e9f9443eb"/>
  </p:sldMasterIdLst>
  <p:notesMasterIdLst>
    <p:notesMasterId xmlns:r="http://schemas.openxmlformats.org/officeDocument/2006/relationships" r:id="R16ee9446c08a42d2"/>
  </p:notesMasterIdLst>
  <p:sldIdLst>
    <p:sldId xmlns:r="http://schemas.openxmlformats.org/officeDocument/2006/relationships" id="256" r:id="R2f7a1e14ad89476e"/>
    <p:sldId xmlns:r="http://schemas.openxmlformats.org/officeDocument/2006/relationships" id="257" r:id="R0f865adeab2747c9"/>
    <p:sldId xmlns:r="http://schemas.openxmlformats.org/officeDocument/2006/relationships" id="258" r:id="Reaece768ce674d87"/>
    <p:sldId xmlns:r="http://schemas.openxmlformats.org/officeDocument/2006/relationships" id="259" r:id="Ra9d955237d904cbb"/>
    <p:sldId xmlns:r="http://schemas.openxmlformats.org/officeDocument/2006/relationships" id="260" r:id="R4d5a1dc7792f45e0"/>
    <p:sldId xmlns:r="http://schemas.openxmlformats.org/officeDocument/2006/relationships" id="261" r:id="Ra26de9594e3e4937"/>
    <p:sldId xmlns:r="http://schemas.openxmlformats.org/officeDocument/2006/relationships" id="262" r:id="R0385fca59f82429c"/>
    <p:sldId xmlns:r="http://schemas.openxmlformats.org/officeDocument/2006/relationships" id="263" r:id="Rbacea7a2ad9a4a59"/>
    <p:sldId xmlns:r="http://schemas.openxmlformats.org/officeDocument/2006/relationships" id="264" r:id="R4c0c5c35f7044e5f"/>
    <p:sldId xmlns:r="http://schemas.openxmlformats.org/officeDocument/2006/relationships" id="265" r:id="R44425a25663740ac"/>
    <p:sldId xmlns:r="http://schemas.openxmlformats.org/officeDocument/2006/relationships" id="266" r:id="Rc7c07ab3fae3449e"/>
    <p:sldId xmlns:r="http://schemas.openxmlformats.org/officeDocument/2006/relationships" id="267" r:id="R7a5531eead414dae"/>
    <p:sldId xmlns:r="http://schemas.openxmlformats.org/officeDocument/2006/relationships" id="268" r:id="Re7cc775e19464ba6"/>
    <p:sldId xmlns:r="http://schemas.openxmlformats.org/officeDocument/2006/relationships" id="269" r:id="R46c8c4fa04564623"/>
    <p:sldId xmlns:r="http://schemas.openxmlformats.org/officeDocument/2006/relationships" id="270" r:id="R070afab12e184cea"/>
    <p:sldId xmlns:r="http://schemas.openxmlformats.org/officeDocument/2006/relationships" id="271" r:id="R131f79a9b82546b6"/>
    <p:sldId xmlns:r="http://schemas.openxmlformats.org/officeDocument/2006/relationships" id="272" r:id="R0e14738e49124096"/>
    <p:sldId xmlns:r="http://schemas.openxmlformats.org/officeDocument/2006/relationships" id="273" r:id="R4cdd4f90fad4468e"/>
  </p:sldIdLst>
  <p:sldSz cx="1219169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7914d8f9c724955" /><Relationship Type="http://schemas.openxmlformats.org/officeDocument/2006/relationships/slideMaster" Target="/ppt/slideMasters/slideMaster1.xml" Id="R256f4d8e9f9443eb" /><Relationship Type="http://schemas.openxmlformats.org/officeDocument/2006/relationships/notesMaster" Target="/ppt/notesMasters/notesMaster1.xml" Id="R16ee9446c08a42d2" /><Relationship Type="http://schemas.openxmlformats.org/officeDocument/2006/relationships/presProps" Target="/ppt/presProps.xml" Id="Ra4c1ab79c4984dc2" /><Relationship Type="http://schemas.openxmlformats.org/officeDocument/2006/relationships/tableStyles" Target="/ppt/tableStyles.xml" Id="Rf06beb6656ff4521" /><Relationship Type="http://schemas.openxmlformats.org/officeDocument/2006/relationships/slide" Target="/ppt/slides/slide1.xml" Id="R2f7a1e14ad89476e" /><Relationship Type="http://schemas.openxmlformats.org/officeDocument/2006/relationships/slide" Target="/ppt/slides/slide2.xml" Id="R0f865adeab2747c9" /><Relationship Type="http://schemas.openxmlformats.org/officeDocument/2006/relationships/slide" Target="/ppt/slides/slide3.xml" Id="Reaece768ce674d87" /><Relationship Type="http://schemas.openxmlformats.org/officeDocument/2006/relationships/slide" Target="/ppt/slides/slide4.xml" Id="Ra9d955237d904cbb" /><Relationship Type="http://schemas.openxmlformats.org/officeDocument/2006/relationships/slide" Target="/ppt/slides/slide5.xml" Id="R4d5a1dc7792f45e0" /><Relationship Type="http://schemas.openxmlformats.org/officeDocument/2006/relationships/slide" Target="/ppt/slides/slide6.xml" Id="Ra26de9594e3e4937" /><Relationship Type="http://schemas.openxmlformats.org/officeDocument/2006/relationships/slide" Target="/ppt/slides/slide7.xml" Id="R0385fca59f82429c" /><Relationship Type="http://schemas.openxmlformats.org/officeDocument/2006/relationships/slide" Target="/ppt/slides/slide8.xml" Id="Rbacea7a2ad9a4a59" /><Relationship Type="http://schemas.openxmlformats.org/officeDocument/2006/relationships/slide" Target="/ppt/slides/slide9.xml" Id="R4c0c5c35f7044e5f" /><Relationship Type="http://schemas.openxmlformats.org/officeDocument/2006/relationships/slide" Target="/ppt/slides/slide10.xml" Id="R44425a25663740ac" /><Relationship Type="http://schemas.openxmlformats.org/officeDocument/2006/relationships/slide" Target="/ppt/slides/slide11.xml" Id="Rc7c07ab3fae3449e" /><Relationship Type="http://schemas.openxmlformats.org/officeDocument/2006/relationships/slide" Target="/ppt/slides/slide12.xml" Id="R7a5531eead414dae" /><Relationship Type="http://schemas.openxmlformats.org/officeDocument/2006/relationships/slide" Target="/ppt/slides/slide13.xml" Id="Re7cc775e19464ba6" /><Relationship Type="http://schemas.openxmlformats.org/officeDocument/2006/relationships/slide" Target="/ppt/slides/slide14.xml" Id="R46c8c4fa04564623" /><Relationship Type="http://schemas.openxmlformats.org/officeDocument/2006/relationships/slide" Target="/ppt/slides/slide15.xml" Id="R070afab12e184cea" /><Relationship Type="http://schemas.openxmlformats.org/officeDocument/2006/relationships/slide" Target="/ppt/slides/slide16.xml" Id="R131f79a9b82546b6" /><Relationship Type="http://schemas.openxmlformats.org/officeDocument/2006/relationships/slide" Target="/ppt/slides/slide17.xml" Id="R0e14738e49124096" /><Relationship Type="http://schemas.openxmlformats.org/officeDocument/2006/relationships/slide" Target="/ppt/slides/slide18.xml" Id="R4cdd4f90fad4468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0cec522de304d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ca10b7331f4570" /><Relationship Type="http://schemas.openxmlformats.org/officeDocument/2006/relationships/notesMaster" Target="/ppt/notesMasters/notesMaster1.xml" Id="R882df3ecc2364a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f4b02d07c24b43af" /><Relationship Type="http://schemas.openxmlformats.org/officeDocument/2006/relationships/notesMaster" Target="/ppt/notesMasters/notesMaster1.xml" Id="R1a6c0dd883924f5c" /></Relationships>
</file>

<file path=ppt/notesSlides/_rels/notesSlide3.xml.rels>&#65279;<?xml version="1.0" encoding="utf-8"?><Relationships xmlns="http://schemas.openxmlformats.org/package/2006/relationships"><Relationship Type="http://schemas.openxmlformats.org/officeDocument/2006/relationships/slide" Target="/ppt/slides/slide3.xml" Id="R64a494dc7f234655" /><Relationship Type="http://schemas.openxmlformats.org/officeDocument/2006/relationships/notesMaster" Target="/ppt/notesMasters/notesMaster1.xml" Id="R8fd15d228e1a49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ede255dc414ae7" /><Relationship Type="http://schemas.openxmlformats.org/officeDocument/2006/relationships/notesMaster" Target="/ppt/notesMasters/notesMaster1.xml" Id="Rfcc1f4ae210147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9418e1b479487e" /><Relationship Type="http://schemas.openxmlformats.org/officeDocument/2006/relationships/notesMaster" Target="/ppt/notesMasters/notesMaster1.xml" Id="R2f6d86d719c147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d00947303b4d39" /><Relationship Type="http://schemas.openxmlformats.org/officeDocument/2006/relationships/notesMaster" Target="/ppt/notesMasters/notesMaster1.xml" Id="Rbf8d1fa756f94dc1"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3308bbaf944ac6" /><Relationship Type="http://schemas.openxmlformats.org/officeDocument/2006/relationships/notesMaster" Target="/ppt/notesMasters/notesMaster1.xml" Id="Rfee2e494c7d84af7" /></Relationships>
</file>

<file path=ppt/notesSlides/_rels/notesSlide8.xml.rels>&#65279;<?xml version="1.0" encoding="utf-8"?><Relationships xmlns="http://schemas.openxmlformats.org/package/2006/relationships"><Relationship Type="http://schemas.openxmlformats.org/officeDocument/2006/relationships/slide" Target="/ppt/slides/slide8.xml" Id="Ra2c4c28a35e549be" /><Relationship Type="http://schemas.openxmlformats.org/officeDocument/2006/relationships/notesMaster" Target="/ppt/notesMasters/notesMaster1.xml" Id="Rbc7325dff42744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15f137c32faa4b6d" /><Relationship Type="http://schemas.openxmlformats.org/officeDocument/2006/relationships/notesMaster" Target="/ppt/notesMasters/notesMaster1.xml" Id="Ra90fb5fffbe7435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518f584f1674db1" /><Relationship Type="http://schemas.openxmlformats.org/officeDocument/2006/relationships/notesMaster" Target="/ppt/notesMasters/notesMaster1.xml" Id="R946362cf0d5448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a66627dcd7c4411" /><Relationship Type="http://schemas.openxmlformats.org/officeDocument/2006/relationships/notesMaster" Target="/ppt/notesMasters/notesMaster1.xml" Id="R64f32f00e1cd46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9ee0e3167647de" /><Relationship Type="http://schemas.openxmlformats.org/officeDocument/2006/relationships/notesMaster" Target="/ppt/notesMasters/notesMaster1.xml" Id="R9b0ceb9b6c48489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8260d58e3644562" /><Relationship Type="http://schemas.openxmlformats.org/officeDocument/2006/relationships/notesMaster" Target="/ppt/notesMasters/notesMaster1.xml" Id="R3463f0d2284f416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c2fd86fa0b4b8a" /><Relationship Type="http://schemas.openxmlformats.org/officeDocument/2006/relationships/notesMaster" Target="/ppt/notesMasters/notesMaster1.xml" Id="R59b35ae517d44e0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76437cd8924010" /><Relationship Type="http://schemas.openxmlformats.org/officeDocument/2006/relationships/notesMaster" Target="/ppt/notesMasters/notesMaster1.xml" Id="Re18689250851450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4e4e72e98d4925" /><Relationship Type="http://schemas.openxmlformats.org/officeDocument/2006/relationships/notesMaster" Target="/ppt/notesMasters/notesMaster1.xml" Id="Raa63c8182fd7437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52b5df3a149e48f5" /><Relationship Type="http://schemas.openxmlformats.org/officeDocument/2006/relationships/notesMaster" Target="/ppt/notesMasters/notesMaster1.xml" Id="Rcba9ee05d79349a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c4c8cc260c54519" /><Relationship Type="http://schemas.openxmlformats.org/officeDocument/2006/relationships/notesMaster" Target="/ppt/notesMasters/notesMaster1.xml" Id="R2f7f8a1de4d24cb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00:00-01:00. Welcome back. You bring the Excel experience and the business question. Today we will compare possible profits before choosing how much stock to buy. You can type the marked steps or watch and complete the worksheet checkpoints. I am George Mount, founder of Stringfest Analytics, Microsoft Excel MVP and author of Python in Excel for Data Analytics. This session connects to the book's step-by-step learning path. Author and book source: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01:00-02:00. Ask attendees to think of a planning number they use: demand, staffing, sales or cost. A single estimate hides other possibilities. Write one uncertain input on worksheet page 1. Today we will model a range of demand, look at losses and compare stock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02:00-04:00. The simulation is a small planning example with explicit assumptions. Then we show a different example: using an ordinary Excel cell to control a chart. Both are ways to make analysis easier to reuse.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04:00-06:00. Worksheet page 1. The supplied follow-along workbook does not already include a simulation sheet, so add it now. Later we use daily_sales on moving-average. Use Python cells only at the marked positions. Windows instructions. Python calculates across each row, then down, and follows sheet order. Code names must be defined before later cells use them. The supplied workbook's opening tab contains a longer route. Use this worksheet's locations today. If Insert Python is unavailable, watch and answer the checkpoints. Sources: https://support.microsoft.com/en-us/excel/python/get-started-with-python-in-excel; https://support.microsoft.com/en-us/excel/python/open-source-libraries-and-python-in-excel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06:00-08:00. Read the assumptions before running the model. Stock costs $30 per unit and sells for $50. Buy 1,100 units up front. Demand follows a normal distribution centered at 1,000 with standard deviation 200, bounded below at zero. This is a simplified continuous-demand illustration, so draws need not be whole units. Unsold goods have no resale value and other costs are excluded. A real model would need assumptions suited to the business.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08:00-12:00. Worksheet page 1. In simulation A3 insert Python and run the code. seed makes this teaching example repeatable. normal generates demand; maximum prevents negative demand. minimum caps units sold at stock on hand. We pay for all 1,100 units, even when demand is low. The final line displays rounded average profit. Check approximately $14,998. np is available by default. Source: Microsoft libraries page https://support.microsoft.com/en-us/excel/python/open-source-libraries-and-python-in-excel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12:00-14:00. Worksheet page 2. In simulation A6 insert Python and run the histogram code. The solid black line marks zero profit and the dashed line marks the average. Ask where losses appear: left of zero. Many draws reach maximum profit because demand exceeds stock. These are simulated outcomes under the assumptions, not observed frequencies.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14:00-17:00. Worksheet page 2. In A10 run (profit &lt; 0).mean(). Each comparison is True or False; the mean gives the share that are True. The result is 0.0465, which means 4.65%. This is a fraction of simulated outcomes for the assumed demand distribution. It is not a guaranteed real-world loss probability.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17:00-20:00. Worksheet page 2. Watch A14. The percentile code displays P10 $4,077, P50 $16,974 and P90 $22,000 after rounding. Roughly 10% of draws are at or below P10. P50 is the median, not the mean. P90 lands on the maximum because many outcomes reach the stock limit. Ties mean the usual exact 90% interpretation does not apply here.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20:00-23:00. Worksheet page 3. Watch A20. Reuse the same demand draws to compare stocking 900 with 1,100. This makes the comparison fairer by changing only stock. The result includes mean profit and loss rate. The 900-unit option has about $16,007 mean profit and 1.06% losses. The 1,100-unit option has about $14,998 and 4.65%. Source: supplied assumptions, numpy seed 42, 10,000 draws.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23:00-25:00. Ask attendees to choose between the two stock quantities and give a reason on worksheet page 3. Then ask what assumption they would challenge. Lower stock caps maximum profit at $18,000 versus $22,000, and lost sales or service costs may matter in reality. We have compared two choices, not searched all possible stock levels or found a universal optimum.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25:00-28:00. Worksheet page 4. On moving-average G1 insert Python and run the rolling block. Date conversion and sorting put observations in time order. There is one row per day in this workbook, so rolling(7) averages the current row and six previous days. The first six results are blank because a complete window is unavailable. Smoothing describes recent history; it does not forecast tomorrow.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28:00-30:00. The chart shows the full 366-day sales series with seven-day and thirty-day averages. The thirty-day line is smoother but responds more slowly. We used daily data with no date gaps. If rows are irregularly spaced, a row-based rolling average does not necessarily mean days. Source: moving-average daily_sales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30:00-33:00. Worksheet page 4. Put 7 in ordinary Excel cell E1. Before connecting it, use Data Validation to allow whole numbers between 1 and 60 with Stop error style. This prevents invalid entries through normal typing. In G20 run the input block from the worksheet. It reads E1 with xl and uses int for the window. Change E1 to 30 and wait for recalculation. Pasting can bypass Excel validation, so inspect unexpected inputs. G1 defines sales_df before G20.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33:00-35:00. Ask attendees to choose a real input for their own workbook and write an allowed range. The input might control a window size, price or stock quantity. The first version should include a label, sensible limits and an output they can check. We used a normal Excel cell plus Python, building on their existing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35:00-37:00. You have a useful example you can repeat. The next step is learning how to adapt it to a question from your own work. Python in Excel for Data Analytics introduces the code gradually for people comfortable in Excel. Chapters 8 and 10 cover simulation and Excel integration.. It includes practical business examples and downloadable Excel workbooks. Build examples with assumptions you can explain and workbook inputs you can reuse. Preordering reserves the book; do not promise immediate workbook access or unannounced bonuses. Source: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37:00-38:00. Make the ask directly. If you want to keep building on today's work, preorder Python in Excel for Data Analytics. Open the book page, choose a bookseller and reserve your preferred format. Pause for twenty seconds for scanning. The author page carries current ordering details. Source checked September 20, 2026: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38:00-45:00. Ask attendees to record one small practice task and when they will do it on the final worksheet page. Take questions with the book link visible. Return to the task they wrote at the beginning. If asked where to practice, the free sessions page has files and replay when posted: https://stringfestdata.gumroad.com/l/pxlaf. If asked what comes next, point to chapters 8 and 10 cover simulation and excel integration.. Close with a direct invitation: for the step-by-step path, preorder the book. Thank everyone for joining. Source: https://stringfestanalytics.com/pyxlda/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bab9426c404d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f830e679fc4497" /><Relationship Type="http://schemas.openxmlformats.org/officeDocument/2006/relationships/slideLayout" Target="/ppt/slideLayouts/slideLayout1.xml" Id="R48b94150056c41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b94150056c41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d5c32ce03fe4537" /><Relationship Type="http://schemas.openxmlformats.org/officeDocument/2006/relationships/image" Target="/ppt/media/image.png" Id="R964c0e216b3a4181" /><Relationship Type="http://schemas.openxmlformats.org/officeDocument/2006/relationships/notesSlide" Target="/ppt/notesSlides/notesSlide1.xml" Id="Rd63b2ee8eff94c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d5303104d3f4404d" /><Relationship Type="http://schemas.openxmlformats.org/officeDocument/2006/relationships/notesSlide" Target="/ppt/notesSlides/notesSlide2.xml" Id="Rfa4384e73188411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cf599d65ee94f07" /><Relationship Type="http://schemas.openxmlformats.org/officeDocument/2006/relationships/notesSlide" Target="/ppt/notesSlides/notesSlide3.xml" Id="Rd86fdfc5b28c488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6a369cc30fe4669" /><Relationship Type="http://schemas.openxmlformats.org/officeDocument/2006/relationships/notesSlide" Target="/ppt/notesSlides/notesSlide4.xml" Id="Re21b17514abc40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87e8e970eb74cf2" /><Relationship Type="http://schemas.openxmlformats.org/officeDocument/2006/relationships/notesSlide" Target="/ppt/notesSlides/notesSlide5.xml" Id="Rb225689ce579468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d357ee882fe4eb2" /><Relationship Type="http://schemas.openxmlformats.org/officeDocument/2006/relationships/notesSlide" Target="/ppt/notesSlides/notesSlide6.xml" Id="R5d3fc31f4192433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0357e6e9d4548de" /><Relationship Type="http://schemas.openxmlformats.org/officeDocument/2006/relationships/chart" Target="/ppt/slides/charts/chart1.xml" Id="Rb6c95ed784b64a67" /><Relationship Type="http://schemas.openxmlformats.org/officeDocument/2006/relationships/notesSlide" Target="/ppt/notesSlides/notesSlide7.xml" Id="R72495bd952ed46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bb0fe0bd6cd4de7" /><Relationship Type="http://schemas.openxmlformats.org/officeDocument/2006/relationships/notesSlide" Target="/ppt/notesSlides/notesSlide8.xml" Id="R50a958a485e5441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9b0e0794d5b4ed8" /><Relationship Type="http://schemas.openxmlformats.org/officeDocument/2006/relationships/notesSlide" Target="/ppt/notesSlides/notesSlide9.xml" Id="Redd6bb90610841e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f002001847e4309" /><Relationship Type="http://schemas.openxmlformats.org/officeDocument/2006/relationships/notesSlide" Target="/ppt/notesSlides/notesSlide10.xml" Id="R9375cd6f9e2448f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e83a475f0e5a4f7b" /><Relationship Type="http://schemas.openxmlformats.org/officeDocument/2006/relationships/notesSlide" Target="/ppt/notesSlides/notesSlide11.xml" Id="R280f2f8e3a144f2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920983ae55343ad" /><Relationship Type="http://schemas.openxmlformats.org/officeDocument/2006/relationships/notesSlide" Target="/ppt/notesSlides/notesSlide12.xml" Id="R6527528d76ed42f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1712c22f45224bca" /><Relationship Type="http://schemas.openxmlformats.org/officeDocument/2006/relationships/chart" Target="/ppt/slides/charts/chart2.xml" Id="R78a4b615a3b64712" /><Relationship Type="http://schemas.openxmlformats.org/officeDocument/2006/relationships/notesSlide" Target="/ppt/notesSlides/notesSlide13.xml" Id="R44fc4a0620fd4f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251bb0416734abb" /><Relationship Type="http://schemas.openxmlformats.org/officeDocument/2006/relationships/notesSlide" Target="/ppt/notesSlides/notesSlide14.xml" Id="R7af4542ff932493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5e6f106d1a44e71" /><Relationship Type="http://schemas.openxmlformats.org/officeDocument/2006/relationships/notesSlide" Target="/ppt/notesSlides/notesSlide15.xml" Id="Rb81a8cc63cbd453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d1b093655e943d2" /><Relationship Type="http://schemas.openxmlformats.org/officeDocument/2006/relationships/image" Target="/ppt/media/image2.png" Id="Ra4b005f5fb5448ab" /><Relationship Type="http://schemas.openxmlformats.org/officeDocument/2006/relationships/notesSlide" Target="/ppt/notesSlides/notesSlide16.xml" Id="R387f3d53695b4a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ae9ab4a60fa44439" /><Relationship Type="http://schemas.openxmlformats.org/officeDocument/2006/relationships/image" Target="/ppt/media/image3.png" Id="Reb61ba0c00134d82" /><Relationship Type="http://schemas.openxmlformats.org/officeDocument/2006/relationships/hyperlink" Target="https://stringfestanalytics.com/pyxlda/" TargetMode="External" Id="R8ea009e549da48eb" /><Relationship Type="http://schemas.openxmlformats.org/officeDocument/2006/relationships/notesSlide" Target="/ppt/notesSlides/notesSlide17.xml" Id="R95b7a6744889405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0606a1baa7354925" /><Relationship Type="http://schemas.openxmlformats.org/officeDocument/2006/relationships/hyperlink" Target="https://stringfestanalytics.com/pyxlda/" TargetMode="External" Id="Ra52251e0464b43b3" /><Relationship Type="http://schemas.openxmlformats.org/officeDocument/2006/relationships/hyperlink" Target="https://stringfestdata.gumroad.com/l/pxlaf" TargetMode="External" Id="R6045921b061e4c7b" /><Relationship Type="http://schemas.openxmlformats.org/officeDocument/2006/relationships/notesSlide" Target="/ppt/notesSlides/notesSlide18.xml" Id="R240c90633e4b402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Simulated outcomes</c:v>
          </c:tx>
          <c:spPr>
            <a:solidFill xmlns:a="http://schemas.openxmlformats.org/drawingml/2006/main">
              <a:srgbClr val="CF3338"/>
            </a:solidFill>
          </c:spPr>
          <c:cat>
            <c:numRef>
              <c:f>'Chart Data'!$A$2:$A$11</c:f>
              <c:numCache>
                <c:formatCode>General</c:formatCode>
                <c:ptCount val="10"/>
                <c:pt idx="0">
                  <c:v>-25</c:v>
                </c:pt>
                <c:pt idx="1">
                  <c:v>-20</c:v>
                </c:pt>
                <c:pt idx="2">
                  <c:v>-15</c:v>
                </c:pt>
                <c:pt idx="3">
                  <c:v>-10</c:v>
                </c:pt>
                <c:pt idx="4">
                  <c:v>-5</c:v>
                </c:pt>
                <c:pt idx="5">
                  <c:v>0</c:v>
                </c:pt>
                <c:pt idx="6">
                  <c:v>5</c:v>
                </c:pt>
                <c:pt idx="7">
                  <c:v>10</c:v>
                </c:pt>
                <c:pt idx="8">
                  <c:v>15</c:v>
                </c:pt>
                <c:pt idx="9">
                  <c:v>20</c:v>
                </c:pt>
              </c:numCache>
            </c:numRef>
          </c:cat>
          <c:val>
            <c:numRef>
              <c:f>'Chart Data'!$B$2:$B$11</c:f>
              <c:numCache>
                <c:formatCode>General</c:formatCode>
                <c:ptCount val="10"/>
                <c:pt idx="0">
                  <c:v>2</c:v>
                </c:pt>
                <c:pt idx="1">
                  <c:v>5</c:v>
                </c:pt>
                <c:pt idx="2">
                  <c:v>35</c:v>
                </c:pt>
                <c:pt idx="3">
                  <c:v>92</c:v>
                </c:pt>
                <c:pt idx="4">
                  <c:v>331</c:v>
                </c:pt>
                <c:pt idx="5">
                  <c:v>683</c:v>
                </c:pt>
                <c:pt idx="6">
                  <c:v>1283</c:v>
                </c:pt>
                <c:pt idx="7">
                  <c:v>1792</c:v>
                </c:pt>
                <c:pt idx="8">
                  <c:v>1966</c:v>
                </c:pt>
                <c:pt idx="9">
                  <c:v>3811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4"/>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Profit in $000s (range starts)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catAx>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Outcomes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crossBetween val="between"/>
      </c:valAx>
      <c:spPr>
        <a:solidFill xmlns:a="http://schemas.openxmlformats.org/drawingml/2006/main">
          <a:srgbClr val="EEECE1"/>
        </a:solidFill>
      </c:spPr>
    </c:plotArea>
    <c:plotVisOnly val="1"/>
  </c:chart>
  <c:spPr>
    <a:solidFill xmlns:a="http://schemas.openxmlformats.org/drawingml/2006/main">
      <a:srgbClr val="EEECE1"/>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Daily sales</c:v>
          </c:tx>
          <c:spPr>
            <a:solidFill xmlns:a="http://schemas.openxmlformats.org/drawingml/2006/main">
              <a:srgbClr val="B6B4AA"/>
            </a:solidFill>
            <a:ln xmlns:a="http://schemas.openxmlformats.org/drawingml/2006/main" w="19050">
              <a:solidFill>
                <a:srgbClr val="B6B4AA"/>
              </a:solidFill>
            </a:ln>
          </c:spPr>
          <c:marker>
            <c:symbol val="none"/>
            <c:size val="4"/>
          </c:marker>
          <c:xVal>
            <c:numRef>
              <c:f>'Chart Data'!$A$2:$A$367</c:f>
              <c:numCache>
                <c:formatCode>General</c:formatCode>
                <c:ptCount val="36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pt idx="120">
                  <c:v>121</c:v>
                </c:pt>
                <c:pt idx="121">
                  <c:v>122</c:v>
                </c:pt>
                <c:pt idx="122">
                  <c:v>123</c:v>
                </c:pt>
                <c:pt idx="123">
                  <c:v>124</c:v>
                </c:pt>
                <c:pt idx="124">
                  <c:v>125</c:v>
                </c:pt>
                <c:pt idx="125">
                  <c:v>126</c:v>
                </c:pt>
                <c:pt idx="126">
                  <c:v>127</c:v>
                </c:pt>
                <c:pt idx="127">
                  <c:v>128</c:v>
                </c:pt>
                <c:pt idx="128">
                  <c:v>129</c:v>
                </c:pt>
                <c:pt idx="129">
                  <c:v>130</c:v>
                </c:pt>
                <c:pt idx="130">
                  <c:v>131</c:v>
                </c:pt>
                <c:pt idx="131">
                  <c:v>132</c:v>
                </c:pt>
                <c:pt idx="132">
                  <c:v>133</c:v>
                </c:pt>
                <c:pt idx="133">
                  <c:v>134</c:v>
                </c:pt>
                <c:pt idx="134">
                  <c:v>135</c:v>
                </c:pt>
                <c:pt idx="135">
                  <c:v>136</c:v>
                </c:pt>
                <c:pt idx="136">
                  <c:v>137</c:v>
                </c:pt>
                <c:pt idx="137">
                  <c:v>138</c:v>
                </c:pt>
                <c:pt idx="138">
                  <c:v>139</c:v>
                </c:pt>
                <c:pt idx="139">
                  <c:v>140</c:v>
                </c:pt>
                <c:pt idx="140">
                  <c:v>141</c:v>
                </c:pt>
                <c:pt idx="141">
                  <c:v>142</c:v>
                </c:pt>
                <c:pt idx="142">
                  <c:v>143</c:v>
                </c:pt>
                <c:pt idx="143">
                  <c:v>144</c:v>
                </c:pt>
                <c:pt idx="144">
                  <c:v>145</c:v>
                </c:pt>
                <c:pt idx="145">
                  <c:v>146</c:v>
                </c:pt>
                <c:pt idx="146">
                  <c:v>147</c:v>
                </c:pt>
                <c:pt idx="147">
                  <c:v>148</c:v>
                </c:pt>
                <c:pt idx="148">
                  <c:v>149</c:v>
                </c:pt>
                <c:pt idx="149">
                  <c:v>150</c:v>
                </c:pt>
                <c:pt idx="150">
                  <c:v>151</c:v>
                </c:pt>
                <c:pt idx="151">
                  <c:v>152</c:v>
                </c:pt>
                <c:pt idx="152">
                  <c:v>153</c:v>
                </c:pt>
                <c:pt idx="153">
                  <c:v>154</c:v>
                </c:pt>
                <c:pt idx="154">
                  <c:v>155</c:v>
                </c:pt>
                <c:pt idx="155">
                  <c:v>156</c:v>
                </c:pt>
                <c:pt idx="156">
                  <c:v>157</c:v>
                </c:pt>
                <c:pt idx="157">
                  <c:v>158</c:v>
                </c:pt>
                <c:pt idx="158">
                  <c:v>159</c:v>
                </c:pt>
                <c:pt idx="159">
                  <c:v>160</c:v>
                </c:pt>
                <c:pt idx="160">
                  <c:v>161</c:v>
                </c:pt>
                <c:pt idx="161">
                  <c:v>162</c:v>
                </c:pt>
                <c:pt idx="162">
                  <c:v>163</c:v>
                </c:pt>
                <c:pt idx="163">
                  <c:v>164</c:v>
                </c:pt>
                <c:pt idx="164">
                  <c:v>165</c:v>
                </c:pt>
                <c:pt idx="165">
                  <c:v>166</c:v>
                </c:pt>
                <c:pt idx="166">
                  <c:v>167</c:v>
                </c:pt>
                <c:pt idx="167">
                  <c:v>168</c:v>
                </c:pt>
                <c:pt idx="168">
                  <c:v>169</c:v>
                </c:pt>
                <c:pt idx="169">
                  <c:v>170</c:v>
                </c:pt>
                <c:pt idx="170">
                  <c:v>171</c:v>
                </c:pt>
                <c:pt idx="171">
                  <c:v>172</c:v>
                </c:pt>
                <c:pt idx="172">
                  <c:v>173</c:v>
                </c:pt>
                <c:pt idx="173">
                  <c:v>174</c:v>
                </c:pt>
                <c:pt idx="174">
                  <c:v>175</c:v>
                </c:pt>
                <c:pt idx="175">
                  <c:v>176</c:v>
                </c:pt>
                <c:pt idx="176">
                  <c:v>177</c:v>
                </c:pt>
                <c:pt idx="177">
                  <c:v>178</c:v>
                </c:pt>
                <c:pt idx="178">
                  <c:v>179</c:v>
                </c:pt>
                <c:pt idx="179">
                  <c:v>180</c:v>
                </c:pt>
                <c:pt idx="180">
                  <c:v>181</c:v>
                </c:pt>
                <c:pt idx="181">
                  <c:v>182</c:v>
                </c:pt>
                <c:pt idx="182">
                  <c:v>183</c:v>
                </c:pt>
                <c:pt idx="183">
                  <c:v>184</c:v>
                </c:pt>
                <c:pt idx="184">
                  <c:v>185</c:v>
                </c:pt>
                <c:pt idx="185">
                  <c:v>186</c:v>
                </c:pt>
                <c:pt idx="186">
                  <c:v>187</c:v>
                </c:pt>
                <c:pt idx="187">
                  <c:v>188</c:v>
                </c:pt>
                <c:pt idx="188">
                  <c:v>189</c:v>
                </c:pt>
                <c:pt idx="189">
                  <c:v>190</c:v>
                </c:pt>
                <c:pt idx="190">
                  <c:v>191</c:v>
                </c:pt>
                <c:pt idx="191">
                  <c:v>192</c:v>
                </c:pt>
                <c:pt idx="192">
                  <c:v>193</c:v>
                </c:pt>
                <c:pt idx="193">
                  <c:v>194</c:v>
                </c:pt>
                <c:pt idx="194">
                  <c:v>195</c:v>
                </c:pt>
                <c:pt idx="195">
                  <c:v>196</c:v>
                </c:pt>
                <c:pt idx="196">
                  <c:v>197</c:v>
                </c:pt>
                <c:pt idx="197">
                  <c:v>198</c:v>
                </c:pt>
                <c:pt idx="198">
                  <c:v>199</c:v>
                </c:pt>
                <c:pt idx="199">
                  <c:v>200</c:v>
                </c:pt>
                <c:pt idx="200">
                  <c:v>201</c:v>
                </c:pt>
                <c:pt idx="201">
                  <c:v>202</c:v>
                </c:pt>
                <c:pt idx="202">
                  <c:v>203</c:v>
                </c:pt>
                <c:pt idx="203">
                  <c:v>204</c:v>
                </c:pt>
                <c:pt idx="204">
                  <c:v>205</c:v>
                </c:pt>
                <c:pt idx="205">
                  <c:v>206</c:v>
                </c:pt>
                <c:pt idx="206">
                  <c:v>207</c:v>
                </c:pt>
                <c:pt idx="207">
                  <c:v>208</c:v>
                </c:pt>
                <c:pt idx="208">
                  <c:v>209</c:v>
                </c:pt>
                <c:pt idx="209">
                  <c:v>210</c:v>
                </c:pt>
                <c:pt idx="210">
                  <c:v>211</c:v>
                </c:pt>
                <c:pt idx="211">
                  <c:v>212</c:v>
                </c:pt>
                <c:pt idx="212">
                  <c:v>213</c:v>
                </c:pt>
                <c:pt idx="213">
                  <c:v>214</c:v>
                </c:pt>
                <c:pt idx="214">
                  <c:v>215</c:v>
                </c:pt>
                <c:pt idx="215">
                  <c:v>216</c:v>
                </c:pt>
                <c:pt idx="216">
                  <c:v>217</c:v>
                </c:pt>
                <c:pt idx="217">
                  <c:v>218</c:v>
                </c:pt>
                <c:pt idx="218">
                  <c:v>219</c:v>
                </c:pt>
                <c:pt idx="219">
                  <c:v>220</c:v>
                </c:pt>
                <c:pt idx="220">
                  <c:v>221</c:v>
                </c:pt>
                <c:pt idx="221">
                  <c:v>222</c:v>
                </c:pt>
                <c:pt idx="222">
                  <c:v>223</c:v>
                </c:pt>
                <c:pt idx="223">
                  <c:v>224</c:v>
                </c:pt>
                <c:pt idx="224">
                  <c:v>225</c:v>
                </c:pt>
                <c:pt idx="225">
                  <c:v>226</c:v>
                </c:pt>
                <c:pt idx="226">
                  <c:v>227</c:v>
                </c:pt>
                <c:pt idx="227">
                  <c:v>228</c:v>
                </c:pt>
                <c:pt idx="228">
                  <c:v>229</c:v>
                </c:pt>
                <c:pt idx="229">
                  <c:v>230</c:v>
                </c:pt>
                <c:pt idx="230">
                  <c:v>231</c:v>
                </c:pt>
                <c:pt idx="231">
                  <c:v>232</c:v>
                </c:pt>
                <c:pt idx="232">
                  <c:v>233</c:v>
                </c:pt>
                <c:pt idx="233">
                  <c:v>234</c:v>
                </c:pt>
                <c:pt idx="234">
                  <c:v>235</c:v>
                </c:pt>
                <c:pt idx="235">
                  <c:v>236</c:v>
                </c:pt>
                <c:pt idx="236">
                  <c:v>237</c:v>
                </c:pt>
                <c:pt idx="237">
                  <c:v>238</c:v>
                </c:pt>
                <c:pt idx="238">
                  <c:v>239</c:v>
                </c:pt>
                <c:pt idx="239">
                  <c:v>240</c:v>
                </c:pt>
                <c:pt idx="240">
                  <c:v>241</c:v>
                </c:pt>
                <c:pt idx="241">
                  <c:v>242</c:v>
                </c:pt>
                <c:pt idx="242">
                  <c:v>243</c:v>
                </c:pt>
                <c:pt idx="243">
                  <c:v>244</c:v>
                </c:pt>
                <c:pt idx="244">
                  <c:v>245</c:v>
                </c:pt>
                <c:pt idx="245">
                  <c:v>246</c:v>
                </c:pt>
                <c:pt idx="246">
                  <c:v>247</c:v>
                </c:pt>
                <c:pt idx="247">
                  <c:v>248</c:v>
                </c:pt>
                <c:pt idx="248">
                  <c:v>249</c:v>
                </c:pt>
                <c:pt idx="249">
                  <c:v>250</c:v>
                </c:pt>
                <c:pt idx="250">
                  <c:v>251</c:v>
                </c:pt>
                <c:pt idx="251">
                  <c:v>252</c:v>
                </c:pt>
                <c:pt idx="252">
                  <c:v>253</c:v>
                </c:pt>
                <c:pt idx="253">
                  <c:v>254</c:v>
                </c:pt>
                <c:pt idx="254">
                  <c:v>255</c:v>
                </c:pt>
                <c:pt idx="255">
                  <c:v>256</c:v>
                </c:pt>
                <c:pt idx="256">
                  <c:v>257</c:v>
                </c:pt>
                <c:pt idx="257">
                  <c:v>258</c:v>
                </c:pt>
                <c:pt idx="258">
                  <c:v>259</c:v>
                </c:pt>
                <c:pt idx="259">
                  <c:v>260</c:v>
                </c:pt>
                <c:pt idx="260">
                  <c:v>261</c:v>
                </c:pt>
                <c:pt idx="261">
                  <c:v>262</c:v>
                </c:pt>
                <c:pt idx="262">
                  <c:v>263</c:v>
                </c:pt>
                <c:pt idx="263">
                  <c:v>264</c:v>
                </c:pt>
                <c:pt idx="264">
                  <c:v>265</c:v>
                </c:pt>
                <c:pt idx="265">
                  <c:v>266</c:v>
                </c:pt>
                <c:pt idx="266">
                  <c:v>267</c:v>
                </c:pt>
                <c:pt idx="267">
                  <c:v>268</c:v>
                </c:pt>
                <c:pt idx="268">
                  <c:v>269</c:v>
                </c:pt>
                <c:pt idx="269">
                  <c:v>270</c:v>
                </c:pt>
                <c:pt idx="270">
                  <c:v>271</c:v>
                </c:pt>
                <c:pt idx="271">
                  <c:v>272</c:v>
                </c:pt>
                <c:pt idx="272">
                  <c:v>273</c:v>
                </c:pt>
                <c:pt idx="273">
                  <c:v>274</c:v>
                </c:pt>
                <c:pt idx="274">
                  <c:v>275</c:v>
                </c:pt>
                <c:pt idx="275">
                  <c:v>276</c:v>
                </c:pt>
                <c:pt idx="276">
                  <c:v>277</c:v>
                </c:pt>
                <c:pt idx="277">
                  <c:v>278</c:v>
                </c:pt>
                <c:pt idx="278">
                  <c:v>279</c:v>
                </c:pt>
                <c:pt idx="279">
                  <c:v>280</c:v>
                </c:pt>
                <c:pt idx="280">
                  <c:v>281</c:v>
                </c:pt>
                <c:pt idx="281">
                  <c:v>282</c:v>
                </c:pt>
                <c:pt idx="282">
                  <c:v>283</c:v>
                </c:pt>
                <c:pt idx="283">
                  <c:v>284</c:v>
                </c:pt>
                <c:pt idx="284">
                  <c:v>285</c:v>
                </c:pt>
                <c:pt idx="285">
                  <c:v>286</c:v>
                </c:pt>
                <c:pt idx="286">
                  <c:v>287</c:v>
                </c:pt>
                <c:pt idx="287">
                  <c:v>288</c:v>
                </c:pt>
                <c:pt idx="288">
                  <c:v>289</c:v>
                </c:pt>
                <c:pt idx="289">
                  <c:v>290</c:v>
                </c:pt>
                <c:pt idx="290">
                  <c:v>291</c:v>
                </c:pt>
                <c:pt idx="291">
                  <c:v>292</c:v>
                </c:pt>
                <c:pt idx="292">
                  <c:v>293</c:v>
                </c:pt>
                <c:pt idx="293">
                  <c:v>294</c:v>
                </c:pt>
                <c:pt idx="294">
                  <c:v>295</c:v>
                </c:pt>
                <c:pt idx="295">
                  <c:v>296</c:v>
                </c:pt>
                <c:pt idx="296">
                  <c:v>297</c:v>
                </c:pt>
                <c:pt idx="297">
                  <c:v>298</c:v>
                </c:pt>
                <c:pt idx="298">
                  <c:v>299</c:v>
                </c:pt>
                <c:pt idx="299">
                  <c:v>300</c:v>
                </c:pt>
                <c:pt idx="300">
                  <c:v>301</c:v>
                </c:pt>
                <c:pt idx="301">
                  <c:v>302</c:v>
                </c:pt>
                <c:pt idx="302">
                  <c:v>303</c:v>
                </c:pt>
                <c:pt idx="303">
                  <c:v>304</c:v>
                </c:pt>
                <c:pt idx="304">
                  <c:v>305</c:v>
                </c:pt>
                <c:pt idx="305">
                  <c:v>306</c:v>
                </c:pt>
                <c:pt idx="306">
                  <c:v>307</c:v>
                </c:pt>
                <c:pt idx="307">
                  <c:v>308</c:v>
                </c:pt>
                <c:pt idx="308">
                  <c:v>309</c:v>
                </c:pt>
                <c:pt idx="309">
                  <c:v>310</c:v>
                </c:pt>
                <c:pt idx="310">
                  <c:v>311</c:v>
                </c:pt>
                <c:pt idx="311">
                  <c:v>312</c:v>
                </c:pt>
                <c:pt idx="312">
                  <c:v>313</c:v>
                </c:pt>
                <c:pt idx="313">
                  <c:v>314</c:v>
                </c:pt>
                <c:pt idx="314">
                  <c:v>315</c:v>
                </c:pt>
                <c:pt idx="315">
                  <c:v>316</c:v>
                </c:pt>
                <c:pt idx="316">
                  <c:v>317</c:v>
                </c:pt>
                <c:pt idx="317">
                  <c:v>318</c:v>
                </c:pt>
                <c:pt idx="318">
                  <c:v>319</c:v>
                </c:pt>
                <c:pt idx="319">
                  <c:v>320</c:v>
                </c:pt>
                <c:pt idx="320">
                  <c:v>321</c:v>
                </c:pt>
                <c:pt idx="321">
                  <c:v>322</c:v>
                </c:pt>
                <c:pt idx="322">
                  <c:v>323</c:v>
                </c:pt>
                <c:pt idx="323">
                  <c:v>324</c:v>
                </c:pt>
                <c:pt idx="324">
                  <c:v>325</c:v>
                </c:pt>
                <c:pt idx="325">
                  <c:v>326</c:v>
                </c:pt>
                <c:pt idx="326">
                  <c:v>327</c:v>
                </c:pt>
                <c:pt idx="327">
                  <c:v>328</c:v>
                </c:pt>
                <c:pt idx="328">
                  <c:v>329</c:v>
                </c:pt>
                <c:pt idx="329">
                  <c:v>330</c:v>
                </c:pt>
                <c:pt idx="330">
                  <c:v>331</c:v>
                </c:pt>
                <c:pt idx="331">
                  <c:v>332</c:v>
                </c:pt>
                <c:pt idx="332">
                  <c:v>333</c:v>
                </c:pt>
                <c:pt idx="333">
                  <c:v>334</c:v>
                </c:pt>
                <c:pt idx="334">
                  <c:v>335</c:v>
                </c:pt>
                <c:pt idx="335">
                  <c:v>336</c:v>
                </c:pt>
                <c:pt idx="336">
                  <c:v>337</c:v>
                </c:pt>
                <c:pt idx="337">
                  <c:v>338</c:v>
                </c:pt>
                <c:pt idx="338">
                  <c:v>339</c:v>
                </c:pt>
                <c:pt idx="339">
                  <c:v>340</c:v>
                </c:pt>
                <c:pt idx="340">
                  <c:v>341</c:v>
                </c:pt>
                <c:pt idx="341">
                  <c:v>342</c:v>
                </c:pt>
                <c:pt idx="342">
                  <c:v>343</c:v>
                </c:pt>
                <c:pt idx="343">
                  <c:v>344</c:v>
                </c:pt>
                <c:pt idx="344">
                  <c:v>345</c:v>
                </c:pt>
                <c:pt idx="345">
                  <c:v>346</c:v>
                </c:pt>
                <c:pt idx="346">
                  <c:v>347</c:v>
                </c:pt>
                <c:pt idx="347">
                  <c:v>348</c:v>
                </c:pt>
                <c:pt idx="348">
                  <c:v>349</c:v>
                </c:pt>
                <c:pt idx="349">
                  <c:v>350</c:v>
                </c:pt>
                <c:pt idx="350">
                  <c:v>351</c:v>
                </c:pt>
                <c:pt idx="351">
                  <c:v>352</c:v>
                </c:pt>
                <c:pt idx="352">
                  <c:v>353</c:v>
                </c:pt>
                <c:pt idx="353">
                  <c:v>354</c:v>
                </c:pt>
                <c:pt idx="354">
                  <c:v>355</c:v>
                </c:pt>
                <c:pt idx="355">
                  <c:v>356</c:v>
                </c:pt>
                <c:pt idx="356">
                  <c:v>357</c:v>
                </c:pt>
                <c:pt idx="357">
                  <c:v>358</c:v>
                </c:pt>
                <c:pt idx="358">
                  <c:v>359</c:v>
                </c:pt>
                <c:pt idx="359">
                  <c:v>360</c:v>
                </c:pt>
                <c:pt idx="360">
                  <c:v>361</c:v>
                </c:pt>
                <c:pt idx="361">
                  <c:v>362</c:v>
                </c:pt>
                <c:pt idx="362">
                  <c:v>363</c:v>
                </c:pt>
                <c:pt idx="363">
                  <c:v>364</c:v>
                </c:pt>
                <c:pt idx="364">
                  <c:v>365</c:v>
                </c:pt>
                <c:pt idx="365">
                  <c:v>366</c:v>
                </c:pt>
              </c:numCache>
            </c:numRef>
          </c:xVal>
          <c:yVal>
            <c:numRef>
              <c:f>'Chart Data'!$B$2:$B$367</c:f>
              <c:numCache>
                <c:formatCode>General</c:formatCode>
                <c:ptCount val="366"/>
                <c:pt idx="0">
                  <c:v>52.48</c:v>
                </c:pt>
                <c:pt idx="1">
                  <c:v>49.34</c:v>
                </c:pt>
                <c:pt idx="2">
                  <c:v>53.31</c:v>
                </c:pt>
                <c:pt idx="3">
                  <c:v>57.72</c:v>
                </c:pt>
                <c:pt idx="4">
                  <c:v>48.97</c:v>
                </c:pt>
                <c:pt idx="5">
                  <c:v>49</c:v>
                </c:pt>
                <c:pt idx="6">
                  <c:v>58.1</c:v>
                </c:pt>
                <c:pt idx="7">
                  <c:v>54.08</c:v>
                </c:pt>
                <c:pt idx="8">
                  <c:v>47.93</c:v>
                </c:pt>
                <c:pt idx="9">
                  <c:v>53.02</c:v>
                </c:pt>
                <c:pt idx="10">
                  <c:v>48.03</c:v>
                </c:pt>
                <c:pt idx="11">
                  <c:v>48.05</c:v>
                </c:pt>
                <c:pt idx="12">
                  <c:v>51.62</c:v>
                </c:pt>
                <c:pt idx="13">
                  <c:v>40.88</c:v>
                </c:pt>
                <c:pt idx="14">
                  <c:v>41.85</c:v>
                </c:pt>
                <c:pt idx="15">
                  <c:v>47.7</c:v>
                </c:pt>
                <c:pt idx="16">
                  <c:v>45.48</c:v>
                </c:pt>
                <c:pt idx="17">
                  <c:v>52.15</c:v>
                </c:pt>
                <c:pt idx="18">
                  <c:v>46.08</c:v>
                </c:pt>
                <c:pt idx="19">
                  <c:v>43.59</c:v>
                </c:pt>
                <c:pt idx="20">
                  <c:v>58.01</c:v>
                </c:pt>
                <c:pt idx="21">
                  <c:v>49.59</c:v>
                </c:pt>
                <c:pt idx="22">
                  <c:v>51.09</c:v>
                </c:pt>
                <c:pt idx="23">
                  <c:v>43.66</c:v>
                </c:pt>
                <c:pt idx="24">
                  <c:v>48.1</c:v>
                </c:pt>
                <c:pt idx="25">
                  <c:v>51.41</c:v>
                </c:pt>
                <c:pt idx="26">
                  <c:v>45.14</c:v>
                </c:pt>
                <c:pt idx="27">
                  <c:v>52.8</c:v>
                </c:pt>
                <c:pt idx="28">
                  <c:v>47.96</c:v>
                </c:pt>
                <c:pt idx="29">
                  <c:v>49.53</c:v>
                </c:pt>
                <c:pt idx="30">
                  <c:v>48.02</c:v>
                </c:pt>
                <c:pt idx="31">
                  <c:v>60.32</c:v>
                </c:pt>
                <c:pt idx="32">
                  <c:v>51.03</c:v>
                </c:pt>
                <c:pt idx="33">
                  <c:v>45.84</c:v>
                </c:pt>
                <c:pt idx="34">
                  <c:v>55.28</c:v>
                </c:pt>
                <c:pt idx="35">
                  <c:v>45.09</c:v>
                </c:pt>
                <c:pt idx="36">
                  <c:v>52.28</c:v>
                </c:pt>
                <c:pt idx="37">
                  <c:v>41.47</c:v>
                </c:pt>
                <c:pt idx="38">
                  <c:v>44.66</c:v>
                </c:pt>
                <c:pt idx="39">
                  <c:v>52.32</c:v>
                </c:pt>
                <c:pt idx="40">
                  <c:v>55.06</c:v>
                </c:pt>
                <c:pt idx="41">
                  <c:v>52.26</c:v>
                </c:pt>
                <c:pt idx="42">
                  <c:v>50.86</c:v>
                </c:pt>
                <c:pt idx="43">
                  <c:v>49.97</c:v>
                </c:pt>
                <c:pt idx="44">
                  <c:v>44.11</c:v>
                </c:pt>
                <c:pt idx="45">
                  <c:v>47.94</c:v>
                </c:pt>
                <c:pt idx="46">
                  <c:v>49.27</c:v>
                </c:pt>
                <c:pt idx="47">
                  <c:v>56.9</c:v>
                </c:pt>
                <c:pt idx="48">
                  <c:v>53.36</c:v>
                </c:pt>
                <c:pt idx="49">
                  <c:v>42.86</c:v>
                </c:pt>
                <c:pt idx="50">
                  <c:v>53.33</c:v>
                </c:pt>
                <c:pt idx="51">
                  <c:v>49.82</c:v>
                </c:pt>
                <c:pt idx="52">
                  <c:v>48.4</c:v>
                </c:pt>
                <c:pt idx="53">
                  <c:v>54.87</c:v>
                </c:pt>
                <c:pt idx="54">
                  <c:v>57</c:v>
                </c:pt>
                <c:pt idx="55">
                  <c:v>56.54</c:v>
                </c:pt>
                <c:pt idx="56">
                  <c:v>47.72</c:v>
                </c:pt>
                <c:pt idx="57">
                  <c:v>50.41</c:v>
                </c:pt>
                <c:pt idx="58">
                  <c:v>53.64</c:v>
                </c:pt>
                <c:pt idx="59">
                  <c:v>56.9</c:v>
                </c:pt>
                <c:pt idx="60">
                  <c:v>49.66</c:v>
                </c:pt>
                <c:pt idx="61">
                  <c:v>51.16</c:v>
                </c:pt>
                <c:pt idx="62">
                  <c:v>46.59</c:v>
                </c:pt>
                <c:pt idx="63">
                  <c:v>46.18</c:v>
                </c:pt>
                <c:pt idx="64">
                  <c:v>56.25</c:v>
                </c:pt>
                <c:pt idx="65">
                  <c:v>59.01</c:v>
                </c:pt>
                <c:pt idx="66">
                  <c:v>51.9</c:v>
                </c:pt>
                <c:pt idx="67">
                  <c:v>57.31</c:v>
                </c:pt>
                <c:pt idx="68">
                  <c:v>54.14</c:v>
                </c:pt>
                <c:pt idx="69">
                  <c:v>49.14</c:v>
                </c:pt>
                <c:pt idx="70">
                  <c:v>54.2</c:v>
                </c:pt>
                <c:pt idx="71">
                  <c:v>60.12</c:v>
                </c:pt>
                <c:pt idx="72">
                  <c:v>52.29</c:v>
                </c:pt>
                <c:pt idx="73">
                  <c:v>60.32</c:v>
                </c:pt>
                <c:pt idx="74">
                  <c:v>39.44</c:v>
                </c:pt>
                <c:pt idx="75">
                  <c:v>56.68</c:v>
                </c:pt>
                <c:pt idx="76">
                  <c:v>53.04</c:v>
                </c:pt>
                <c:pt idx="77">
                  <c:v>51.14</c:v>
                </c:pt>
                <c:pt idx="78">
                  <c:v>53.13</c:v>
                </c:pt>
                <c:pt idx="79">
                  <c:v>42.77</c:v>
                </c:pt>
                <c:pt idx="80">
                  <c:v>51.64</c:v>
                </c:pt>
                <c:pt idx="81">
                  <c:v>54.56</c:v>
                </c:pt>
                <c:pt idx="82">
                  <c:v>60.2</c:v>
                </c:pt>
                <c:pt idx="83">
                  <c:v>50.25</c:v>
                </c:pt>
                <c:pt idx="84">
                  <c:v>48.83</c:v>
                </c:pt>
                <c:pt idx="85">
                  <c:v>50.4</c:v>
                </c:pt>
                <c:pt idx="86">
                  <c:v>57.52</c:v>
                </c:pt>
                <c:pt idx="87">
                  <c:v>54.62</c:v>
                </c:pt>
                <c:pt idx="88">
                  <c:v>50.36</c:v>
                </c:pt>
                <c:pt idx="89">
                  <c:v>55.61</c:v>
                </c:pt>
                <c:pt idx="90">
                  <c:v>53.57</c:v>
                </c:pt>
                <c:pt idx="91">
                  <c:v>57.96</c:v>
                </c:pt>
                <c:pt idx="92">
                  <c:v>49.64</c:v>
                </c:pt>
                <c:pt idx="93">
                  <c:v>51.55</c:v>
                </c:pt>
                <c:pt idx="94">
                  <c:v>51.26</c:v>
                </c:pt>
                <c:pt idx="95">
                  <c:v>45.94</c:v>
                </c:pt>
                <c:pt idx="96">
                  <c:v>54.77</c:v>
                </c:pt>
                <c:pt idx="97">
                  <c:v>54.63</c:v>
                </c:pt>
                <c:pt idx="98">
                  <c:v>53.38</c:v>
                </c:pt>
                <c:pt idx="99">
                  <c:v>52.22</c:v>
                </c:pt>
                <c:pt idx="100">
                  <c:v>46.35</c:v>
                </c:pt>
                <c:pt idx="101">
                  <c:v>51.36</c:v>
                </c:pt>
                <c:pt idx="102">
                  <c:v>51.78</c:v>
                </c:pt>
                <c:pt idx="103">
                  <c:v>49.52</c:v>
                </c:pt>
                <c:pt idx="104">
                  <c:v>52.76</c:v>
                </c:pt>
                <c:pt idx="105">
                  <c:v>55.62</c:v>
                </c:pt>
                <c:pt idx="106">
                  <c:v>63.06</c:v>
                </c:pt>
                <c:pt idx="107">
                  <c:v>54.54</c:v>
                </c:pt>
                <c:pt idx="108">
                  <c:v>54.99</c:v>
                </c:pt>
                <c:pt idx="109">
                  <c:v>53.36</c:v>
                </c:pt>
                <c:pt idx="110">
                  <c:v>44.17</c:v>
                </c:pt>
                <c:pt idx="111">
                  <c:v>53.67</c:v>
                </c:pt>
                <c:pt idx="112">
                  <c:v>54.14</c:v>
                </c:pt>
                <c:pt idx="113">
                  <c:v>66.19</c:v>
                </c:pt>
                <c:pt idx="114">
                  <c:v>52.94</c:v>
                </c:pt>
                <c:pt idx="115">
                  <c:v>55.45</c:v>
                </c:pt>
                <c:pt idx="116">
                  <c:v>53.8</c:v>
                </c:pt>
                <c:pt idx="117">
                  <c:v>48.16</c:v>
                </c:pt>
                <c:pt idx="118">
                  <c:v>59.76</c:v>
                </c:pt>
                <c:pt idx="119">
                  <c:v>57.84</c:v>
                </c:pt>
                <c:pt idx="120">
                  <c:v>58.06</c:v>
                </c:pt>
                <c:pt idx="121">
                  <c:v>49.6</c:v>
                </c:pt>
                <c:pt idx="122">
                  <c:v>61.19</c:v>
                </c:pt>
                <c:pt idx="123">
                  <c:v>47.2</c:v>
                </c:pt>
                <c:pt idx="124">
                  <c:v>57.18</c:v>
                </c:pt>
                <c:pt idx="125">
                  <c:v>65.23</c:v>
                </c:pt>
                <c:pt idx="126">
                  <c:v>49.36</c:v>
                </c:pt>
                <c:pt idx="127">
                  <c:v>51.52</c:v>
                </c:pt>
                <c:pt idx="128">
                  <c:v>54.88</c:v>
                </c:pt>
                <c:pt idx="129">
                  <c:v>51.9</c:v>
                </c:pt>
                <c:pt idx="130">
                  <c:v>46.7</c:v>
                </c:pt>
                <c:pt idx="131">
                  <c:v>54.83</c:v>
                </c:pt>
                <c:pt idx="132">
                  <c:v>49.21</c:v>
                </c:pt>
                <c:pt idx="133">
                  <c:v>56.92</c:v>
                </c:pt>
                <c:pt idx="134">
                  <c:v>49.99</c:v>
                </c:pt>
                <c:pt idx="135">
                  <c:v>62.37</c:v>
                </c:pt>
                <c:pt idx="136">
                  <c:v>50.74</c:v>
                </c:pt>
                <c:pt idx="137">
                  <c:v>53.08</c:v>
                </c:pt>
                <c:pt idx="138">
                  <c:v>58.79</c:v>
                </c:pt>
                <c:pt idx="139">
                  <c:v>48.61</c:v>
                </c:pt>
                <c:pt idx="140">
                  <c:v>55.93</c:v>
                </c:pt>
                <c:pt idx="141">
                  <c:v>61.36</c:v>
                </c:pt>
                <c:pt idx="142">
                  <c:v>46.83</c:v>
                </c:pt>
                <c:pt idx="143">
                  <c:v>55.82</c:v>
                </c:pt>
                <c:pt idx="144">
                  <c:v>56.23</c:v>
                </c:pt>
                <c:pt idx="145">
                  <c:v>58.87</c:v>
                </c:pt>
                <c:pt idx="146">
                  <c:v>48.82</c:v>
                </c:pt>
                <c:pt idx="147">
                  <c:v>48.43</c:v>
                </c:pt>
                <c:pt idx="148">
                  <c:v>57.68</c:v>
                </c:pt>
                <c:pt idx="149">
                  <c:v>56.59</c:v>
                </c:pt>
                <c:pt idx="150">
                  <c:v>56.39</c:v>
                </c:pt>
                <c:pt idx="151">
                  <c:v>56.9</c:v>
                </c:pt>
                <c:pt idx="152">
                  <c:v>51.81</c:v>
                </c:pt>
                <c:pt idx="153">
                  <c:v>56.4</c:v>
                </c:pt>
                <c:pt idx="154">
                  <c:v>56.74</c:v>
                </c:pt>
                <c:pt idx="155">
                  <c:v>51.74</c:v>
                </c:pt>
                <c:pt idx="156">
                  <c:v>64.67</c:v>
                </c:pt>
                <c:pt idx="157">
                  <c:v>57.75</c:v>
                </c:pt>
                <c:pt idx="158">
                  <c:v>49.45</c:v>
                </c:pt>
                <c:pt idx="159">
                  <c:v>58.73</c:v>
                </c:pt>
                <c:pt idx="160">
                  <c:v>50.61</c:v>
                </c:pt>
                <c:pt idx="161">
                  <c:v>59.45</c:v>
                </c:pt>
                <c:pt idx="162">
                  <c:v>61.34</c:v>
                </c:pt>
                <c:pt idx="163">
                  <c:v>51.48</c:v>
                </c:pt>
                <c:pt idx="164">
                  <c:v>60.43</c:v>
                </c:pt>
                <c:pt idx="165">
                  <c:v>57.71</c:v>
                </c:pt>
                <c:pt idx="166">
                  <c:v>59.8</c:v>
                </c:pt>
                <c:pt idx="167">
                  <c:v>65.2</c:v>
                </c:pt>
                <c:pt idx="168">
                  <c:v>54.53</c:v>
                </c:pt>
                <c:pt idx="169">
                  <c:v>52.02</c:v>
                </c:pt>
                <c:pt idx="170">
                  <c:v>51.37</c:v>
                </c:pt>
                <c:pt idx="171">
                  <c:v>51.78</c:v>
                </c:pt>
                <c:pt idx="172">
                  <c:v>55.5</c:v>
                </c:pt>
                <c:pt idx="173">
                  <c:v>57.63</c:v>
                </c:pt>
                <c:pt idx="174">
                  <c:v>57.34</c:v>
                </c:pt>
                <c:pt idx="175">
                  <c:v>60.13</c:v>
                </c:pt>
                <c:pt idx="176">
                  <c:v>56.09</c:v>
                </c:pt>
                <c:pt idx="177">
                  <c:v>63.33</c:v>
                </c:pt>
                <c:pt idx="178">
                  <c:v>54.77</c:v>
                </c:pt>
                <c:pt idx="179">
                  <c:v>69.73</c:v>
                </c:pt>
                <c:pt idx="180">
                  <c:v>59.29</c:v>
                </c:pt>
                <c:pt idx="181">
                  <c:v>51.91</c:v>
                </c:pt>
                <c:pt idx="182">
                  <c:v>50.88</c:v>
                </c:pt>
                <c:pt idx="183">
                  <c:v>58.68</c:v>
                </c:pt>
                <c:pt idx="184">
                  <c:v>55.18</c:v>
                </c:pt>
                <c:pt idx="185">
                  <c:v>59.91</c:v>
                </c:pt>
                <c:pt idx="186">
                  <c:v>58.74</c:v>
                </c:pt>
                <c:pt idx="187">
                  <c:v>56.04</c:v>
                </c:pt>
                <c:pt idx="188">
                  <c:v>52.2</c:v>
                </c:pt>
                <c:pt idx="189">
                  <c:v>48.9</c:v>
                </c:pt>
                <c:pt idx="190">
                  <c:v>54.27</c:v>
                </c:pt>
                <c:pt idx="191">
                  <c:v>60.82</c:v>
                </c:pt>
                <c:pt idx="192">
                  <c:v>57.65</c:v>
                </c:pt>
                <c:pt idx="193">
                  <c:v>50.38</c:v>
                </c:pt>
                <c:pt idx="194">
                  <c:v>57.51</c:v>
                </c:pt>
                <c:pt idx="195">
                  <c:v>58.6</c:v>
                </c:pt>
                <c:pt idx="196">
                  <c:v>52.29</c:v>
                </c:pt>
                <c:pt idx="197">
                  <c:v>57.52</c:v>
                </c:pt>
                <c:pt idx="198">
                  <c:v>57.07</c:v>
                </c:pt>
                <c:pt idx="199">
                  <c:v>51.1</c:v>
                </c:pt>
                <c:pt idx="200">
                  <c:v>58.64</c:v>
                </c:pt>
                <c:pt idx="201">
                  <c:v>59.69</c:v>
                </c:pt>
                <c:pt idx="202">
                  <c:v>62.33</c:v>
                </c:pt>
                <c:pt idx="203">
                  <c:v>62.22</c:v>
                </c:pt>
                <c:pt idx="204">
                  <c:v>50.1</c:v>
                </c:pt>
                <c:pt idx="205">
                  <c:v>52.33</c:v>
                </c:pt>
                <c:pt idx="206">
                  <c:v>59.63</c:v>
                </c:pt>
                <c:pt idx="207">
                  <c:v>59.66</c:v>
                </c:pt>
                <c:pt idx="208">
                  <c:v>59.7</c:v>
                </c:pt>
                <c:pt idx="209">
                  <c:v>76.42</c:v>
                </c:pt>
                <c:pt idx="210">
                  <c:v>60.05</c:v>
                </c:pt>
                <c:pt idx="211">
                  <c:v>62.9</c:v>
                </c:pt>
                <c:pt idx="212">
                  <c:v>62.03</c:v>
                </c:pt>
                <c:pt idx="213">
                  <c:v>60.55</c:v>
                </c:pt>
                <c:pt idx="214">
                  <c:v>55.75</c:v>
                </c:pt>
                <c:pt idx="215">
                  <c:v>61.16</c:v>
                </c:pt>
                <c:pt idx="216">
                  <c:v>53.53</c:v>
                </c:pt>
                <c:pt idx="217">
                  <c:v>56.25</c:v>
                </c:pt>
                <c:pt idx="218">
                  <c:v>55.04</c:v>
                </c:pt>
                <c:pt idx="219">
                  <c:v>57.91</c:v>
                </c:pt>
                <c:pt idx="220">
                  <c:v>69.11</c:v>
                </c:pt>
                <c:pt idx="221">
                  <c:v>48.23</c:v>
                </c:pt>
                <c:pt idx="222">
                  <c:v>61.03</c:v>
                </c:pt>
                <c:pt idx="223">
                  <c:v>49.57</c:v>
                </c:pt>
                <c:pt idx="224">
                  <c:v>55.31</c:v>
                </c:pt>
                <c:pt idx="225">
                  <c:v>63.15</c:v>
                </c:pt>
                <c:pt idx="226">
                  <c:v>58.06</c:v>
                </c:pt>
                <c:pt idx="227">
                  <c:v>52.39</c:v>
                </c:pt>
                <c:pt idx="228">
                  <c:v>54.23</c:v>
                </c:pt>
                <c:pt idx="229">
                  <c:v>61.24</c:v>
                </c:pt>
                <c:pt idx="230">
                  <c:v>54.22</c:v>
                </c:pt>
                <c:pt idx="231">
                  <c:v>58.99</c:v>
                </c:pt>
                <c:pt idx="232">
                  <c:v>58.17</c:v>
                </c:pt>
                <c:pt idx="233">
                  <c:v>54.72</c:v>
                </c:pt>
                <c:pt idx="234">
                  <c:v>68.73</c:v>
                </c:pt>
                <c:pt idx="235">
                  <c:v>61.22</c:v>
                </c:pt>
                <c:pt idx="236">
                  <c:v>47.96</c:v>
                </c:pt>
                <c:pt idx="237">
                  <c:v>59.05</c:v>
                </c:pt>
                <c:pt idx="238">
                  <c:v>54.84</c:v>
                </c:pt>
                <c:pt idx="239">
                  <c:v>62.45</c:v>
                </c:pt>
                <c:pt idx="240">
                  <c:v>54.26</c:v>
                </c:pt>
                <c:pt idx="241">
                  <c:v>57.68</c:v>
                </c:pt>
                <c:pt idx="242">
                  <c:v>60.81</c:v>
                </c:pt>
                <c:pt idx="243">
                  <c:v>62.65</c:v>
                </c:pt>
                <c:pt idx="244">
                  <c:v>52.35</c:v>
                </c:pt>
                <c:pt idx="245">
                  <c:v>56.72</c:v>
                </c:pt>
                <c:pt idx="246">
                  <c:v>56.05</c:v>
                </c:pt>
                <c:pt idx="247">
                  <c:v>55.19</c:v>
                </c:pt>
                <c:pt idx="248">
                  <c:v>67.32</c:v>
                </c:pt>
                <c:pt idx="249">
                  <c:v>60.55</c:v>
                </c:pt>
                <c:pt idx="250">
                  <c:v>52.26</c:v>
                </c:pt>
                <c:pt idx="251">
                  <c:v>63.19</c:v>
                </c:pt>
                <c:pt idx="252">
                  <c:v>69.24</c:v>
                </c:pt>
                <c:pt idx="253">
                  <c:v>63.83</c:v>
                </c:pt>
                <c:pt idx="254">
                  <c:v>51.1</c:v>
                </c:pt>
                <c:pt idx="255">
                  <c:v>56.31</c:v>
                </c:pt>
                <c:pt idx="256">
                  <c:v>65.1</c:v>
                </c:pt>
                <c:pt idx="257">
                  <c:v>55.26</c:v>
                </c:pt>
                <c:pt idx="258">
                  <c:v>61.05</c:v>
                </c:pt>
                <c:pt idx="259">
                  <c:v>62.74</c:v>
                </c:pt>
                <c:pt idx="260">
                  <c:v>54.27</c:v>
                </c:pt>
                <c:pt idx="261">
                  <c:v>58.64</c:v>
                </c:pt>
                <c:pt idx="262">
                  <c:v>42.77</c:v>
                </c:pt>
                <c:pt idx="263">
                  <c:v>53.88</c:v>
                </c:pt>
                <c:pt idx="264">
                  <c:v>57.78</c:v>
                </c:pt>
                <c:pt idx="265">
                  <c:v>52.84</c:v>
                </c:pt>
                <c:pt idx="266">
                  <c:v>67.27</c:v>
                </c:pt>
                <c:pt idx="267">
                  <c:v>51.99</c:v>
                </c:pt>
                <c:pt idx="268">
                  <c:v>56.98</c:v>
                </c:pt>
                <c:pt idx="269">
                  <c:v>59.87</c:v>
                </c:pt>
                <c:pt idx="270">
                  <c:v>66.45</c:v>
                </c:pt>
                <c:pt idx="271">
                  <c:v>52.1</c:v>
                </c:pt>
                <c:pt idx="272">
                  <c:v>65.13</c:v>
                </c:pt>
                <c:pt idx="273">
                  <c:v>59.4</c:v>
                </c:pt>
                <c:pt idx="274">
                  <c:v>54.48</c:v>
                </c:pt>
                <c:pt idx="275">
                  <c:v>61.73</c:v>
                </c:pt>
                <c:pt idx="276">
                  <c:v>60.45</c:v>
                </c:pt>
                <c:pt idx="277">
                  <c:v>56.49</c:v>
                </c:pt>
                <c:pt idx="278">
                  <c:v>59.87</c:v>
                </c:pt>
                <c:pt idx="279">
                  <c:v>57.63</c:v>
                </c:pt>
                <c:pt idx="280">
                  <c:v>60.16</c:v>
                </c:pt>
                <c:pt idx="281">
                  <c:v>62.93</c:v>
                </c:pt>
                <c:pt idx="282">
                  <c:v>67.59</c:v>
                </c:pt>
                <c:pt idx="283">
                  <c:v>53.5</c:v>
                </c:pt>
                <c:pt idx="284">
                  <c:v>70.39</c:v>
                </c:pt>
                <c:pt idx="285">
                  <c:v>50</c:v>
                </c:pt>
                <c:pt idx="286">
                  <c:v>59.04</c:v>
                </c:pt>
                <c:pt idx="287">
                  <c:v>62.77</c:v>
                </c:pt>
                <c:pt idx="288">
                  <c:v>61.27</c:v>
                </c:pt>
                <c:pt idx="289">
                  <c:v>56.78</c:v>
                </c:pt>
                <c:pt idx="290">
                  <c:v>58.89</c:v>
                </c:pt>
                <c:pt idx="291">
                  <c:v>57.5</c:v>
                </c:pt>
                <c:pt idx="292">
                  <c:v>57.05</c:v>
                </c:pt>
                <c:pt idx="293">
                  <c:v>64.28</c:v>
                </c:pt>
                <c:pt idx="294">
                  <c:v>61.85</c:v>
                </c:pt>
                <c:pt idx="295">
                  <c:v>56.64</c:v>
                </c:pt>
                <c:pt idx="296">
                  <c:v>64.63</c:v>
                </c:pt>
                <c:pt idx="297">
                  <c:v>61.71</c:v>
                </c:pt>
                <c:pt idx="298">
                  <c:v>64.27</c:v>
                </c:pt>
                <c:pt idx="299">
                  <c:v>63.39</c:v>
                </c:pt>
                <c:pt idx="300">
                  <c:v>56.13</c:v>
                </c:pt>
                <c:pt idx="301">
                  <c:v>57.51</c:v>
                </c:pt>
                <c:pt idx="302">
                  <c:v>64.08</c:v>
                </c:pt>
                <c:pt idx="303">
                  <c:v>63.43</c:v>
                </c:pt>
                <c:pt idx="304">
                  <c:v>60.31</c:v>
                </c:pt>
                <c:pt idx="305">
                  <c:v>61.03</c:v>
                </c:pt>
                <c:pt idx="306">
                  <c:v>66.87</c:v>
                </c:pt>
                <c:pt idx="307">
                  <c:v>57.56</c:v>
                </c:pt>
                <c:pt idx="308">
                  <c:v>63.28</c:v>
                </c:pt>
                <c:pt idx="309">
                  <c:v>59.57</c:v>
                </c:pt>
                <c:pt idx="310">
                  <c:v>59.53</c:v>
                </c:pt>
                <c:pt idx="311">
                  <c:v>66.14</c:v>
                </c:pt>
                <c:pt idx="312">
                  <c:v>64.81</c:v>
                </c:pt>
                <c:pt idx="313">
                  <c:v>64.79</c:v>
                </c:pt>
                <c:pt idx="314">
                  <c:v>67.28</c:v>
                </c:pt>
                <c:pt idx="315">
                  <c:v>60.89</c:v>
                </c:pt>
                <c:pt idx="316">
                  <c:v>64.23</c:v>
                </c:pt>
                <c:pt idx="317">
                  <c:v>59.3</c:v>
                </c:pt>
                <c:pt idx="318">
                  <c:v>62.51</c:v>
                </c:pt>
                <c:pt idx="319">
                  <c:v>60.27</c:v>
                </c:pt>
                <c:pt idx="320">
                  <c:v>61.44</c:v>
                </c:pt>
                <c:pt idx="321">
                  <c:v>63.97</c:v>
                </c:pt>
                <c:pt idx="322">
                  <c:v>56.94</c:v>
                </c:pt>
                <c:pt idx="323">
                  <c:v>71.52</c:v>
                </c:pt>
                <c:pt idx="324">
                  <c:v>56.07</c:v>
                </c:pt>
                <c:pt idx="325">
                  <c:v>55.06</c:v>
                </c:pt>
                <c:pt idx="326">
                  <c:v>66.95</c:v>
                </c:pt>
                <c:pt idx="327">
                  <c:v>65.16</c:v>
                </c:pt>
                <c:pt idx="328">
                  <c:v>64.35</c:v>
                </c:pt>
                <c:pt idx="329">
                  <c:v>64.41</c:v>
                </c:pt>
                <c:pt idx="330">
                  <c:v>61.24</c:v>
                </c:pt>
                <c:pt idx="331">
                  <c:v>56.85</c:v>
                </c:pt>
                <c:pt idx="332">
                  <c:v>61.75</c:v>
                </c:pt>
                <c:pt idx="333">
                  <c:v>58.02</c:v>
                </c:pt>
                <c:pt idx="334">
                  <c:v>66.31</c:v>
                </c:pt>
                <c:pt idx="335">
                  <c:v>60.74</c:v>
                </c:pt>
                <c:pt idx="336">
                  <c:v>57.38</c:v>
                </c:pt>
                <c:pt idx="337">
                  <c:v>59.93</c:v>
                </c:pt>
                <c:pt idx="338">
                  <c:v>63.64</c:v>
                </c:pt>
                <c:pt idx="339">
                  <c:v>58.79</c:v>
                </c:pt>
                <c:pt idx="340">
                  <c:v>57.53</c:v>
                </c:pt>
                <c:pt idx="341">
                  <c:v>62.9</c:v>
                </c:pt>
                <c:pt idx="342">
                  <c:v>62.94</c:v>
                </c:pt>
                <c:pt idx="343">
                  <c:v>59.21</c:v>
                </c:pt>
                <c:pt idx="344">
                  <c:v>59.43</c:v>
                </c:pt>
                <c:pt idx="345">
                  <c:v>62.98</c:v>
                </c:pt>
                <c:pt idx="346">
                  <c:v>54.61</c:v>
                </c:pt>
                <c:pt idx="347">
                  <c:v>54.85</c:v>
                </c:pt>
                <c:pt idx="348">
                  <c:v>58.33</c:v>
                </c:pt>
                <c:pt idx="349">
                  <c:v>60.88</c:v>
                </c:pt>
                <c:pt idx="350">
                  <c:v>63.54</c:v>
                </c:pt>
                <c:pt idx="351">
                  <c:v>69.4</c:v>
                </c:pt>
                <c:pt idx="352">
                  <c:v>66.34</c:v>
                </c:pt>
                <c:pt idx="353">
                  <c:v>61.29</c:v>
                </c:pt>
                <c:pt idx="354">
                  <c:v>62.03</c:v>
                </c:pt>
                <c:pt idx="355">
                  <c:v>57.14</c:v>
                </c:pt>
                <c:pt idx="356">
                  <c:v>62.1</c:v>
                </c:pt>
                <c:pt idx="357">
                  <c:v>60.78</c:v>
                </c:pt>
                <c:pt idx="358">
                  <c:v>63.87</c:v>
                </c:pt>
                <c:pt idx="359">
                  <c:v>58.16</c:v>
                </c:pt>
                <c:pt idx="360">
                  <c:v>64.93</c:v>
                </c:pt>
                <c:pt idx="361">
                  <c:v>70.03</c:v>
                </c:pt>
                <c:pt idx="362">
                  <c:v>61.85</c:v>
                </c:pt>
                <c:pt idx="363">
                  <c:v>64.44</c:v>
                </c:pt>
                <c:pt idx="364">
                  <c:v>65.92</c:v>
                </c:pt>
                <c:pt idx="365">
                  <c:v>60.49</c:v>
                </c:pt>
              </c:numCache>
            </c:numRef>
          </c:yVal>
        </c:ser>
        <c:ser>
          <c:idx val="1"/>
          <c:order val="1"/>
          <c:tx>
            <c:v>7-day average</c:v>
          </c:tx>
          <c:spPr>
            <a:solidFill xmlns:a="http://schemas.openxmlformats.org/drawingml/2006/main">
              <a:srgbClr val="CF3338"/>
            </a:solidFill>
            <a:ln xmlns:a="http://schemas.openxmlformats.org/drawingml/2006/main" w="19050">
              <a:solidFill>
                <a:srgbClr val="CF3338"/>
              </a:solidFill>
            </a:ln>
          </c:spPr>
          <c:marker>
            <c:symbol val="none"/>
            <c:size val="4"/>
          </c:marker>
          <c:xVal>
            <c:numRef>
              <c:f>'Chart Data'!$C$2:$C$361</c:f>
              <c:numCache>
                <c:formatCode>General</c:formatCode>
                <c:ptCount val="360"/>
                <c:pt idx="0">
                  <c:v>7</c:v>
                </c:pt>
                <c:pt idx="1">
                  <c:v>8</c:v>
                </c:pt>
                <c:pt idx="2">
                  <c:v>9</c:v>
                </c:pt>
                <c:pt idx="3">
                  <c:v>10</c:v>
                </c:pt>
                <c:pt idx="4">
                  <c:v>11</c:v>
                </c:pt>
                <c:pt idx="5">
                  <c:v>12</c:v>
                </c:pt>
                <c:pt idx="6">
                  <c:v>13</c:v>
                </c:pt>
                <c:pt idx="7">
                  <c:v>14</c:v>
                </c:pt>
                <c:pt idx="8">
                  <c:v>15</c:v>
                </c:pt>
                <c:pt idx="9">
                  <c:v>16</c:v>
                </c:pt>
                <c:pt idx="10">
                  <c:v>17</c:v>
                </c:pt>
                <c:pt idx="11">
                  <c:v>18</c:v>
                </c:pt>
                <c:pt idx="12">
                  <c:v>19</c:v>
                </c:pt>
                <c:pt idx="13">
                  <c:v>20</c:v>
                </c:pt>
                <c:pt idx="14">
                  <c:v>21</c:v>
                </c:pt>
                <c:pt idx="15">
                  <c:v>22</c:v>
                </c:pt>
                <c:pt idx="16">
                  <c:v>23</c:v>
                </c:pt>
                <c:pt idx="17">
                  <c:v>24</c:v>
                </c:pt>
                <c:pt idx="18">
                  <c:v>25</c:v>
                </c:pt>
                <c:pt idx="19">
                  <c:v>26</c:v>
                </c:pt>
                <c:pt idx="20">
                  <c:v>27</c:v>
                </c:pt>
                <c:pt idx="21">
                  <c:v>28</c:v>
                </c:pt>
                <c:pt idx="22">
                  <c:v>29</c:v>
                </c:pt>
                <c:pt idx="23">
                  <c:v>30</c:v>
                </c:pt>
                <c:pt idx="24">
                  <c:v>31</c:v>
                </c:pt>
                <c:pt idx="25">
                  <c:v>32</c:v>
                </c:pt>
                <c:pt idx="26">
                  <c:v>33</c:v>
                </c:pt>
                <c:pt idx="27">
                  <c:v>34</c:v>
                </c:pt>
                <c:pt idx="28">
                  <c:v>35</c:v>
                </c:pt>
                <c:pt idx="29">
                  <c:v>36</c:v>
                </c:pt>
                <c:pt idx="30">
                  <c:v>37</c:v>
                </c:pt>
                <c:pt idx="31">
                  <c:v>38</c:v>
                </c:pt>
                <c:pt idx="32">
                  <c:v>39</c:v>
                </c:pt>
                <c:pt idx="33">
                  <c:v>40</c:v>
                </c:pt>
                <c:pt idx="34">
                  <c:v>41</c:v>
                </c:pt>
                <c:pt idx="35">
                  <c:v>42</c:v>
                </c:pt>
                <c:pt idx="36">
                  <c:v>43</c:v>
                </c:pt>
                <c:pt idx="37">
                  <c:v>44</c:v>
                </c:pt>
                <c:pt idx="38">
                  <c:v>45</c:v>
                </c:pt>
                <c:pt idx="39">
                  <c:v>46</c:v>
                </c:pt>
                <c:pt idx="40">
                  <c:v>47</c:v>
                </c:pt>
                <c:pt idx="41">
                  <c:v>48</c:v>
                </c:pt>
                <c:pt idx="42">
                  <c:v>49</c:v>
                </c:pt>
                <c:pt idx="43">
                  <c:v>50</c:v>
                </c:pt>
                <c:pt idx="44">
                  <c:v>51</c:v>
                </c:pt>
                <c:pt idx="45">
                  <c:v>52</c:v>
                </c:pt>
                <c:pt idx="46">
                  <c:v>53</c:v>
                </c:pt>
                <c:pt idx="47">
                  <c:v>54</c:v>
                </c:pt>
                <c:pt idx="48">
                  <c:v>55</c:v>
                </c:pt>
                <c:pt idx="49">
                  <c:v>56</c:v>
                </c:pt>
                <c:pt idx="50">
                  <c:v>57</c:v>
                </c:pt>
                <c:pt idx="51">
                  <c:v>58</c:v>
                </c:pt>
                <c:pt idx="52">
                  <c:v>59</c:v>
                </c:pt>
                <c:pt idx="53">
                  <c:v>60</c:v>
                </c:pt>
                <c:pt idx="54">
                  <c:v>61</c:v>
                </c:pt>
                <c:pt idx="55">
                  <c:v>62</c:v>
                </c:pt>
                <c:pt idx="56">
                  <c:v>63</c:v>
                </c:pt>
                <c:pt idx="57">
                  <c:v>64</c:v>
                </c:pt>
                <c:pt idx="58">
                  <c:v>65</c:v>
                </c:pt>
                <c:pt idx="59">
                  <c:v>66</c:v>
                </c:pt>
                <c:pt idx="60">
                  <c:v>67</c:v>
                </c:pt>
                <c:pt idx="61">
                  <c:v>68</c:v>
                </c:pt>
                <c:pt idx="62">
                  <c:v>69</c:v>
                </c:pt>
                <c:pt idx="63">
                  <c:v>70</c:v>
                </c:pt>
                <c:pt idx="64">
                  <c:v>71</c:v>
                </c:pt>
                <c:pt idx="65">
                  <c:v>72</c:v>
                </c:pt>
                <c:pt idx="66">
                  <c:v>73</c:v>
                </c:pt>
                <c:pt idx="67">
                  <c:v>74</c:v>
                </c:pt>
                <c:pt idx="68">
                  <c:v>75</c:v>
                </c:pt>
                <c:pt idx="69">
                  <c:v>76</c:v>
                </c:pt>
                <c:pt idx="70">
                  <c:v>77</c:v>
                </c:pt>
                <c:pt idx="71">
                  <c:v>78</c:v>
                </c:pt>
                <c:pt idx="72">
                  <c:v>79</c:v>
                </c:pt>
                <c:pt idx="73">
                  <c:v>80</c:v>
                </c:pt>
                <c:pt idx="74">
                  <c:v>81</c:v>
                </c:pt>
                <c:pt idx="75">
                  <c:v>82</c:v>
                </c:pt>
                <c:pt idx="76">
                  <c:v>83</c:v>
                </c:pt>
                <c:pt idx="77">
                  <c:v>84</c:v>
                </c:pt>
                <c:pt idx="78">
                  <c:v>85</c:v>
                </c:pt>
                <c:pt idx="79">
                  <c:v>86</c:v>
                </c:pt>
                <c:pt idx="80">
                  <c:v>87</c:v>
                </c:pt>
                <c:pt idx="81">
                  <c:v>88</c:v>
                </c:pt>
                <c:pt idx="82">
                  <c:v>89</c:v>
                </c:pt>
                <c:pt idx="83">
                  <c:v>90</c:v>
                </c:pt>
                <c:pt idx="84">
                  <c:v>91</c:v>
                </c:pt>
                <c:pt idx="85">
                  <c:v>92</c:v>
                </c:pt>
                <c:pt idx="86">
                  <c:v>93</c:v>
                </c:pt>
                <c:pt idx="87">
                  <c:v>94</c:v>
                </c:pt>
                <c:pt idx="88">
                  <c:v>95</c:v>
                </c:pt>
                <c:pt idx="89">
                  <c:v>96</c:v>
                </c:pt>
                <c:pt idx="90">
                  <c:v>97</c:v>
                </c:pt>
                <c:pt idx="91">
                  <c:v>98</c:v>
                </c:pt>
                <c:pt idx="92">
                  <c:v>99</c:v>
                </c:pt>
                <c:pt idx="93">
                  <c:v>100</c:v>
                </c:pt>
                <c:pt idx="94">
                  <c:v>101</c:v>
                </c:pt>
                <c:pt idx="95">
                  <c:v>102</c:v>
                </c:pt>
                <c:pt idx="96">
                  <c:v>103</c:v>
                </c:pt>
                <c:pt idx="97">
                  <c:v>104</c:v>
                </c:pt>
                <c:pt idx="98">
                  <c:v>105</c:v>
                </c:pt>
                <c:pt idx="99">
                  <c:v>106</c:v>
                </c:pt>
                <c:pt idx="100">
                  <c:v>107</c:v>
                </c:pt>
                <c:pt idx="101">
                  <c:v>108</c:v>
                </c:pt>
                <c:pt idx="102">
                  <c:v>109</c:v>
                </c:pt>
                <c:pt idx="103">
                  <c:v>110</c:v>
                </c:pt>
                <c:pt idx="104">
                  <c:v>111</c:v>
                </c:pt>
                <c:pt idx="105">
                  <c:v>112</c:v>
                </c:pt>
                <c:pt idx="106">
                  <c:v>113</c:v>
                </c:pt>
                <c:pt idx="107">
                  <c:v>114</c:v>
                </c:pt>
                <c:pt idx="108">
                  <c:v>115</c:v>
                </c:pt>
                <c:pt idx="109">
                  <c:v>116</c:v>
                </c:pt>
                <c:pt idx="110">
                  <c:v>117</c:v>
                </c:pt>
                <c:pt idx="111">
                  <c:v>118</c:v>
                </c:pt>
                <c:pt idx="112">
                  <c:v>119</c:v>
                </c:pt>
                <c:pt idx="113">
                  <c:v>120</c:v>
                </c:pt>
                <c:pt idx="114">
                  <c:v>121</c:v>
                </c:pt>
                <c:pt idx="115">
                  <c:v>122</c:v>
                </c:pt>
                <c:pt idx="116">
                  <c:v>123</c:v>
                </c:pt>
                <c:pt idx="117">
                  <c:v>124</c:v>
                </c:pt>
                <c:pt idx="118">
                  <c:v>125</c:v>
                </c:pt>
                <c:pt idx="119">
                  <c:v>126</c:v>
                </c:pt>
                <c:pt idx="120">
                  <c:v>127</c:v>
                </c:pt>
                <c:pt idx="121">
                  <c:v>128</c:v>
                </c:pt>
                <c:pt idx="122">
                  <c:v>129</c:v>
                </c:pt>
                <c:pt idx="123">
                  <c:v>130</c:v>
                </c:pt>
                <c:pt idx="124">
                  <c:v>131</c:v>
                </c:pt>
                <c:pt idx="125">
                  <c:v>132</c:v>
                </c:pt>
                <c:pt idx="126">
                  <c:v>133</c:v>
                </c:pt>
                <c:pt idx="127">
                  <c:v>134</c:v>
                </c:pt>
                <c:pt idx="128">
                  <c:v>135</c:v>
                </c:pt>
                <c:pt idx="129">
                  <c:v>136</c:v>
                </c:pt>
                <c:pt idx="130">
                  <c:v>137</c:v>
                </c:pt>
                <c:pt idx="131">
                  <c:v>138</c:v>
                </c:pt>
                <c:pt idx="132">
                  <c:v>139</c:v>
                </c:pt>
                <c:pt idx="133">
                  <c:v>140</c:v>
                </c:pt>
                <c:pt idx="134">
                  <c:v>141</c:v>
                </c:pt>
                <c:pt idx="135">
                  <c:v>142</c:v>
                </c:pt>
                <c:pt idx="136">
                  <c:v>143</c:v>
                </c:pt>
                <c:pt idx="137">
                  <c:v>144</c:v>
                </c:pt>
                <c:pt idx="138">
                  <c:v>145</c:v>
                </c:pt>
                <c:pt idx="139">
                  <c:v>146</c:v>
                </c:pt>
                <c:pt idx="140">
                  <c:v>147</c:v>
                </c:pt>
                <c:pt idx="141">
                  <c:v>148</c:v>
                </c:pt>
                <c:pt idx="142">
                  <c:v>149</c:v>
                </c:pt>
                <c:pt idx="143">
                  <c:v>150</c:v>
                </c:pt>
                <c:pt idx="144">
                  <c:v>151</c:v>
                </c:pt>
                <c:pt idx="145">
                  <c:v>152</c:v>
                </c:pt>
                <c:pt idx="146">
                  <c:v>153</c:v>
                </c:pt>
                <c:pt idx="147">
                  <c:v>154</c:v>
                </c:pt>
                <c:pt idx="148">
                  <c:v>155</c:v>
                </c:pt>
                <c:pt idx="149">
                  <c:v>156</c:v>
                </c:pt>
                <c:pt idx="150">
                  <c:v>157</c:v>
                </c:pt>
                <c:pt idx="151">
                  <c:v>158</c:v>
                </c:pt>
                <c:pt idx="152">
                  <c:v>159</c:v>
                </c:pt>
                <c:pt idx="153">
                  <c:v>160</c:v>
                </c:pt>
                <c:pt idx="154">
                  <c:v>161</c:v>
                </c:pt>
                <c:pt idx="155">
                  <c:v>162</c:v>
                </c:pt>
                <c:pt idx="156">
                  <c:v>163</c:v>
                </c:pt>
                <c:pt idx="157">
                  <c:v>164</c:v>
                </c:pt>
                <c:pt idx="158">
                  <c:v>165</c:v>
                </c:pt>
                <c:pt idx="159">
                  <c:v>166</c:v>
                </c:pt>
                <c:pt idx="160">
                  <c:v>167</c:v>
                </c:pt>
                <c:pt idx="161">
                  <c:v>168</c:v>
                </c:pt>
                <c:pt idx="162">
                  <c:v>169</c:v>
                </c:pt>
                <c:pt idx="163">
                  <c:v>170</c:v>
                </c:pt>
                <c:pt idx="164">
                  <c:v>171</c:v>
                </c:pt>
                <c:pt idx="165">
                  <c:v>172</c:v>
                </c:pt>
                <c:pt idx="166">
                  <c:v>173</c:v>
                </c:pt>
                <c:pt idx="167">
                  <c:v>174</c:v>
                </c:pt>
                <c:pt idx="168">
                  <c:v>175</c:v>
                </c:pt>
                <c:pt idx="169">
                  <c:v>176</c:v>
                </c:pt>
                <c:pt idx="170">
                  <c:v>177</c:v>
                </c:pt>
                <c:pt idx="171">
                  <c:v>178</c:v>
                </c:pt>
                <c:pt idx="172">
                  <c:v>179</c:v>
                </c:pt>
                <c:pt idx="173">
                  <c:v>180</c:v>
                </c:pt>
                <c:pt idx="174">
                  <c:v>181</c:v>
                </c:pt>
                <c:pt idx="175">
                  <c:v>182</c:v>
                </c:pt>
                <c:pt idx="176">
                  <c:v>183</c:v>
                </c:pt>
                <c:pt idx="177">
                  <c:v>184</c:v>
                </c:pt>
                <c:pt idx="178">
                  <c:v>185</c:v>
                </c:pt>
                <c:pt idx="179">
                  <c:v>186</c:v>
                </c:pt>
                <c:pt idx="180">
                  <c:v>187</c:v>
                </c:pt>
                <c:pt idx="181">
                  <c:v>188</c:v>
                </c:pt>
                <c:pt idx="182">
                  <c:v>189</c:v>
                </c:pt>
                <c:pt idx="183">
                  <c:v>190</c:v>
                </c:pt>
                <c:pt idx="184">
                  <c:v>191</c:v>
                </c:pt>
                <c:pt idx="185">
                  <c:v>192</c:v>
                </c:pt>
                <c:pt idx="186">
                  <c:v>193</c:v>
                </c:pt>
                <c:pt idx="187">
                  <c:v>194</c:v>
                </c:pt>
                <c:pt idx="188">
                  <c:v>195</c:v>
                </c:pt>
                <c:pt idx="189">
                  <c:v>196</c:v>
                </c:pt>
                <c:pt idx="190">
                  <c:v>197</c:v>
                </c:pt>
                <c:pt idx="191">
                  <c:v>198</c:v>
                </c:pt>
                <c:pt idx="192">
                  <c:v>199</c:v>
                </c:pt>
                <c:pt idx="193">
                  <c:v>200</c:v>
                </c:pt>
                <c:pt idx="194">
                  <c:v>201</c:v>
                </c:pt>
                <c:pt idx="195">
                  <c:v>202</c:v>
                </c:pt>
                <c:pt idx="196">
                  <c:v>203</c:v>
                </c:pt>
                <c:pt idx="197">
                  <c:v>204</c:v>
                </c:pt>
                <c:pt idx="198">
                  <c:v>205</c:v>
                </c:pt>
                <c:pt idx="199">
                  <c:v>206</c:v>
                </c:pt>
                <c:pt idx="200">
                  <c:v>207</c:v>
                </c:pt>
                <c:pt idx="201">
                  <c:v>208</c:v>
                </c:pt>
                <c:pt idx="202">
                  <c:v>209</c:v>
                </c:pt>
                <c:pt idx="203">
                  <c:v>210</c:v>
                </c:pt>
                <c:pt idx="204">
                  <c:v>211</c:v>
                </c:pt>
                <c:pt idx="205">
                  <c:v>212</c:v>
                </c:pt>
                <c:pt idx="206">
                  <c:v>213</c:v>
                </c:pt>
                <c:pt idx="207">
                  <c:v>214</c:v>
                </c:pt>
                <c:pt idx="208">
                  <c:v>215</c:v>
                </c:pt>
                <c:pt idx="209">
                  <c:v>216</c:v>
                </c:pt>
                <c:pt idx="210">
                  <c:v>217</c:v>
                </c:pt>
                <c:pt idx="211">
                  <c:v>218</c:v>
                </c:pt>
                <c:pt idx="212">
                  <c:v>219</c:v>
                </c:pt>
                <c:pt idx="213">
                  <c:v>220</c:v>
                </c:pt>
                <c:pt idx="214">
                  <c:v>221</c:v>
                </c:pt>
                <c:pt idx="215">
                  <c:v>222</c:v>
                </c:pt>
                <c:pt idx="216">
                  <c:v>223</c:v>
                </c:pt>
                <c:pt idx="217">
                  <c:v>224</c:v>
                </c:pt>
                <c:pt idx="218">
                  <c:v>225</c:v>
                </c:pt>
                <c:pt idx="219">
                  <c:v>226</c:v>
                </c:pt>
                <c:pt idx="220">
                  <c:v>227</c:v>
                </c:pt>
                <c:pt idx="221">
                  <c:v>228</c:v>
                </c:pt>
                <c:pt idx="222">
                  <c:v>229</c:v>
                </c:pt>
                <c:pt idx="223">
                  <c:v>230</c:v>
                </c:pt>
                <c:pt idx="224">
                  <c:v>231</c:v>
                </c:pt>
                <c:pt idx="225">
                  <c:v>232</c:v>
                </c:pt>
                <c:pt idx="226">
                  <c:v>233</c:v>
                </c:pt>
                <c:pt idx="227">
                  <c:v>234</c:v>
                </c:pt>
                <c:pt idx="228">
                  <c:v>235</c:v>
                </c:pt>
                <c:pt idx="229">
                  <c:v>236</c:v>
                </c:pt>
                <c:pt idx="230">
                  <c:v>237</c:v>
                </c:pt>
                <c:pt idx="231">
                  <c:v>238</c:v>
                </c:pt>
                <c:pt idx="232">
                  <c:v>239</c:v>
                </c:pt>
                <c:pt idx="233">
                  <c:v>240</c:v>
                </c:pt>
                <c:pt idx="234">
                  <c:v>241</c:v>
                </c:pt>
                <c:pt idx="235">
                  <c:v>242</c:v>
                </c:pt>
                <c:pt idx="236">
                  <c:v>243</c:v>
                </c:pt>
                <c:pt idx="237">
                  <c:v>244</c:v>
                </c:pt>
                <c:pt idx="238">
                  <c:v>245</c:v>
                </c:pt>
                <c:pt idx="239">
                  <c:v>246</c:v>
                </c:pt>
                <c:pt idx="240">
                  <c:v>247</c:v>
                </c:pt>
                <c:pt idx="241">
                  <c:v>248</c:v>
                </c:pt>
                <c:pt idx="242">
                  <c:v>249</c:v>
                </c:pt>
                <c:pt idx="243">
                  <c:v>250</c:v>
                </c:pt>
                <c:pt idx="244">
                  <c:v>251</c:v>
                </c:pt>
                <c:pt idx="245">
                  <c:v>252</c:v>
                </c:pt>
                <c:pt idx="246">
                  <c:v>253</c:v>
                </c:pt>
                <c:pt idx="247">
                  <c:v>254</c:v>
                </c:pt>
                <c:pt idx="248">
                  <c:v>255</c:v>
                </c:pt>
                <c:pt idx="249">
                  <c:v>256</c:v>
                </c:pt>
                <c:pt idx="250">
                  <c:v>257</c:v>
                </c:pt>
                <c:pt idx="251">
                  <c:v>258</c:v>
                </c:pt>
                <c:pt idx="252">
                  <c:v>259</c:v>
                </c:pt>
                <c:pt idx="253">
                  <c:v>260</c:v>
                </c:pt>
                <c:pt idx="254">
                  <c:v>261</c:v>
                </c:pt>
                <c:pt idx="255">
                  <c:v>262</c:v>
                </c:pt>
                <c:pt idx="256">
                  <c:v>263</c:v>
                </c:pt>
                <c:pt idx="257">
                  <c:v>264</c:v>
                </c:pt>
                <c:pt idx="258">
                  <c:v>265</c:v>
                </c:pt>
                <c:pt idx="259">
                  <c:v>266</c:v>
                </c:pt>
                <c:pt idx="260">
                  <c:v>267</c:v>
                </c:pt>
                <c:pt idx="261">
                  <c:v>268</c:v>
                </c:pt>
                <c:pt idx="262">
                  <c:v>269</c:v>
                </c:pt>
                <c:pt idx="263">
                  <c:v>270</c:v>
                </c:pt>
                <c:pt idx="264">
                  <c:v>271</c:v>
                </c:pt>
                <c:pt idx="265">
                  <c:v>272</c:v>
                </c:pt>
                <c:pt idx="266">
                  <c:v>273</c:v>
                </c:pt>
                <c:pt idx="267">
                  <c:v>274</c:v>
                </c:pt>
                <c:pt idx="268">
                  <c:v>275</c:v>
                </c:pt>
                <c:pt idx="269">
                  <c:v>276</c:v>
                </c:pt>
                <c:pt idx="270">
                  <c:v>277</c:v>
                </c:pt>
                <c:pt idx="271">
                  <c:v>278</c:v>
                </c:pt>
                <c:pt idx="272">
                  <c:v>279</c:v>
                </c:pt>
                <c:pt idx="273">
                  <c:v>280</c:v>
                </c:pt>
                <c:pt idx="274">
                  <c:v>281</c:v>
                </c:pt>
                <c:pt idx="275">
                  <c:v>282</c:v>
                </c:pt>
                <c:pt idx="276">
                  <c:v>283</c:v>
                </c:pt>
                <c:pt idx="277">
                  <c:v>284</c:v>
                </c:pt>
                <c:pt idx="278">
                  <c:v>285</c:v>
                </c:pt>
                <c:pt idx="279">
                  <c:v>286</c:v>
                </c:pt>
                <c:pt idx="280">
                  <c:v>287</c:v>
                </c:pt>
                <c:pt idx="281">
                  <c:v>288</c:v>
                </c:pt>
                <c:pt idx="282">
                  <c:v>289</c:v>
                </c:pt>
                <c:pt idx="283">
                  <c:v>290</c:v>
                </c:pt>
                <c:pt idx="284">
                  <c:v>291</c:v>
                </c:pt>
                <c:pt idx="285">
                  <c:v>292</c:v>
                </c:pt>
                <c:pt idx="286">
                  <c:v>293</c:v>
                </c:pt>
                <c:pt idx="287">
                  <c:v>294</c:v>
                </c:pt>
                <c:pt idx="288">
                  <c:v>295</c:v>
                </c:pt>
                <c:pt idx="289">
                  <c:v>296</c:v>
                </c:pt>
                <c:pt idx="290">
                  <c:v>297</c:v>
                </c:pt>
                <c:pt idx="291">
                  <c:v>298</c:v>
                </c:pt>
                <c:pt idx="292">
                  <c:v>299</c:v>
                </c:pt>
                <c:pt idx="293">
                  <c:v>300</c:v>
                </c:pt>
                <c:pt idx="294">
                  <c:v>301</c:v>
                </c:pt>
                <c:pt idx="295">
                  <c:v>302</c:v>
                </c:pt>
                <c:pt idx="296">
                  <c:v>303</c:v>
                </c:pt>
                <c:pt idx="297">
                  <c:v>304</c:v>
                </c:pt>
                <c:pt idx="298">
                  <c:v>305</c:v>
                </c:pt>
                <c:pt idx="299">
                  <c:v>306</c:v>
                </c:pt>
                <c:pt idx="300">
                  <c:v>307</c:v>
                </c:pt>
                <c:pt idx="301">
                  <c:v>308</c:v>
                </c:pt>
                <c:pt idx="302">
                  <c:v>309</c:v>
                </c:pt>
                <c:pt idx="303">
                  <c:v>310</c:v>
                </c:pt>
                <c:pt idx="304">
                  <c:v>311</c:v>
                </c:pt>
                <c:pt idx="305">
                  <c:v>312</c:v>
                </c:pt>
                <c:pt idx="306">
                  <c:v>313</c:v>
                </c:pt>
                <c:pt idx="307">
                  <c:v>314</c:v>
                </c:pt>
                <c:pt idx="308">
                  <c:v>315</c:v>
                </c:pt>
                <c:pt idx="309">
                  <c:v>316</c:v>
                </c:pt>
                <c:pt idx="310">
                  <c:v>317</c:v>
                </c:pt>
                <c:pt idx="311">
                  <c:v>318</c:v>
                </c:pt>
                <c:pt idx="312">
                  <c:v>319</c:v>
                </c:pt>
                <c:pt idx="313">
                  <c:v>320</c:v>
                </c:pt>
                <c:pt idx="314">
                  <c:v>321</c:v>
                </c:pt>
                <c:pt idx="315">
                  <c:v>322</c:v>
                </c:pt>
                <c:pt idx="316">
                  <c:v>323</c:v>
                </c:pt>
                <c:pt idx="317">
                  <c:v>324</c:v>
                </c:pt>
                <c:pt idx="318">
                  <c:v>325</c:v>
                </c:pt>
                <c:pt idx="319">
                  <c:v>326</c:v>
                </c:pt>
                <c:pt idx="320">
                  <c:v>327</c:v>
                </c:pt>
                <c:pt idx="321">
                  <c:v>328</c:v>
                </c:pt>
                <c:pt idx="322">
                  <c:v>329</c:v>
                </c:pt>
                <c:pt idx="323">
                  <c:v>330</c:v>
                </c:pt>
                <c:pt idx="324">
                  <c:v>331</c:v>
                </c:pt>
                <c:pt idx="325">
                  <c:v>332</c:v>
                </c:pt>
                <c:pt idx="326">
                  <c:v>333</c:v>
                </c:pt>
                <c:pt idx="327">
                  <c:v>334</c:v>
                </c:pt>
                <c:pt idx="328">
                  <c:v>335</c:v>
                </c:pt>
                <c:pt idx="329">
                  <c:v>336</c:v>
                </c:pt>
                <c:pt idx="330">
                  <c:v>337</c:v>
                </c:pt>
                <c:pt idx="331">
                  <c:v>338</c:v>
                </c:pt>
                <c:pt idx="332">
                  <c:v>339</c:v>
                </c:pt>
                <c:pt idx="333">
                  <c:v>340</c:v>
                </c:pt>
                <c:pt idx="334">
                  <c:v>341</c:v>
                </c:pt>
                <c:pt idx="335">
                  <c:v>342</c:v>
                </c:pt>
                <c:pt idx="336">
                  <c:v>343</c:v>
                </c:pt>
                <c:pt idx="337">
                  <c:v>344</c:v>
                </c:pt>
                <c:pt idx="338">
                  <c:v>345</c:v>
                </c:pt>
                <c:pt idx="339">
                  <c:v>346</c:v>
                </c:pt>
                <c:pt idx="340">
                  <c:v>347</c:v>
                </c:pt>
                <c:pt idx="341">
                  <c:v>348</c:v>
                </c:pt>
                <c:pt idx="342">
                  <c:v>349</c:v>
                </c:pt>
                <c:pt idx="343">
                  <c:v>350</c:v>
                </c:pt>
                <c:pt idx="344">
                  <c:v>351</c:v>
                </c:pt>
                <c:pt idx="345">
                  <c:v>352</c:v>
                </c:pt>
                <c:pt idx="346">
                  <c:v>353</c:v>
                </c:pt>
                <c:pt idx="347">
                  <c:v>354</c:v>
                </c:pt>
                <c:pt idx="348">
                  <c:v>355</c:v>
                </c:pt>
                <c:pt idx="349">
                  <c:v>356</c:v>
                </c:pt>
                <c:pt idx="350">
                  <c:v>357</c:v>
                </c:pt>
                <c:pt idx="351">
                  <c:v>358</c:v>
                </c:pt>
                <c:pt idx="352">
                  <c:v>359</c:v>
                </c:pt>
                <c:pt idx="353">
                  <c:v>360</c:v>
                </c:pt>
                <c:pt idx="354">
                  <c:v>361</c:v>
                </c:pt>
                <c:pt idx="355">
                  <c:v>362</c:v>
                </c:pt>
                <c:pt idx="356">
                  <c:v>363</c:v>
                </c:pt>
                <c:pt idx="357">
                  <c:v>364</c:v>
                </c:pt>
                <c:pt idx="358">
                  <c:v>365</c:v>
                </c:pt>
                <c:pt idx="359">
                  <c:v>366</c:v>
                </c:pt>
              </c:numCache>
            </c:numRef>
          </c:xVal>
          <c:yVal>
            <c:numRef>
              <c:f>'Chart Data'!$D$2:$D$361</c:f>
              <c:numCache>
                <c:formatCode>General</c:formatCode>
                <c:ptCount val="360"/>
                <c:pt idx="0">
                  <c:v>52.7028571429</c:v>
                </c:pt>
                <c:pt idx="1">
                  <c:v>52.9314285714</c:v>
                </c:pt>
                <c:pt idx="2">
                  <c:v>52.73</c:v>
                </c:pt>
                <c:pt idx="3">
                  <c:v>52.6885714286</c:v>
                </c:pt>
                <c:pt idx="4">
                  <c:v>51.3042857143</c:v>
                </c:pt>
                <c:pt idx="5">
                  <c:v>51.1728571429</c:v>
                </c:pt>
                <c:pt idx="6">
                  <c:v>51.5471428571</c:v>
                </c:pt>
                <c:pt idx="7">
                  <c:v>49.0871428571</c:v>
                </c:pt>
                <c:pt idx="8">
                  <c:v>47.34</c:v>
                </c:pt>
                <c:pt idx="9">
                  <c:v>47.3071428571</c:v>
                </c:pt>
                <c:pt idx="10">
                  <c:v>46.23</c:v>
                </c:pt>
                <c:pt idx="11">
                  <c:v>46.8185714286</c:v>
                </c:pt>
                <c:pt idx="12">
                  <c:v>46.5371428571</c:v>
                </c:pt>
                <c:pt idx="13">
                  <c:v>45.39</c:v>
                </c:pt>
                <c:pt idx="14">
                  <c:v>47.8371428571</c:v>
                </c:pt>
                <c:pt idx="15">
                  <c:v>48.9428571429</c:v>
                </c:pt>
                <c:pt idx="16">
                  <c:v>49.4271428571</c:v>
                </c:pt>
                <c:pt idx="17">
                  <c:v>49.1671428571</c:v>
                </c:pt>
                <c:pt idx="18">
                  <c:v>48.5885714286</c:v>
                </c:pt>
                <c:pt idx="19">
                  <c:v>49.35</c:v>
                </c:pt>
                <c:pt idx="20">
                  <c:v>49.5714285714</c:v>
                </c:pt>
                <c:pt idx="21">
                  <c:v>48.8271428571</c:v>
                </c:pt>
                <c:pt idx="22">
                  <c:v>48.5942857143</c:v>
                </c:pt>
                <c:pt idx="23">
                  <c:v>48.3714285714</c:v>
                </c:pt>
                <c:pt idx="24">
                  <c:v>48.9942857143</c:v>
                </c:pt>
                <c:pt idx="25">
                  <c:v>50.74</c:v>
                </c:pt>
                <c:pt idx="26">
                  <c:v>50.6857142857</c:v>
                </c:pt>
                <c:pt idx="27">
                  <c:v>50.7857142857</c:v>
                </c:pt>
                <c:pt idx="28">
                  <c:v>51.14</c:v>
                </c:pt>
                <c:pt idx="29">
                  <c:v>50.73</c:v>
                </c:pt>
                <c:pt idx="30">
                  <c:v>51.1228571429</c:v>
                </c:pt>
                <c:pt idx="31">
                  <c:v>50.1871428571</c:v>
                </c:pt>
                <c:pt idx="32">
                  <c:v>47.95</c:v>
                </c:pt>
                <c:pt idx="33">
                  <c:v>48.1342857143</c:v>
                </c:pt>
                <c:pt idx="34">
                  <c:v>49.4514285714</c:v>
                </c:pt>
                <c:pt idx="35">
                  <c:v>49.02</c:v>
                </c:pt>
                <c:pt idx="36">
                  <c:v>49.8442857143</c:v>
                </c:pt>
                <c:pt idx="37">
                  <c:v>49.5142857143</c:v>
                </c:pt>
                <c:pt idx="38">
                  <c:v>49.8914285714</c:v>
                </c:pt>
                <c:pt idx="39">
                  <c:v>50.36</c:v>
                </c:pt>
                <c:pt idx="40">
                  <c:v>49.9242857143</c:v>
                </c:pt>
                <c:pt idx="41">
                  <c:v>50.1871428571</c:v>
                </c:pt>
                <c:pt idx="42">
                  <c:v>50.3442857143</c:v>
                </c:pt>
                <c:pt idx="43">
                  <c:v>49.2014285714</c:v>
                </c:pt>
                <c:pt idx="44">
                  <c:v>49.6814285714</c:v>
                </c:pt>
                <c:pt idx="45">
                  <c:v>50.4971428571</c:v>
                </c:pt>
                <c:pt idx="46">
                  <c:v>50.5628571429</c:v>
                </c:pt>
                <c:pt idx="47">
                  <c:v>51.3628571429</c:v>
                </c:pt>
                <c:pt idx="48">
                  <c:v>51.3771428571</c:v>
                </c:pt>
                <c:pt idx="49">
                  <c:v>51.8314285714</c:v>
                </c:pt>
                <c:pt idx="50">
                  <c:v>52.5257142857</c:v>
                </c:pt>
                <c:pt idx="51">
                  <c:v>52.1085714286</c:v>
                </c:pt>
                <c:pt idx="52">
                  <c:v>52.6542857143</c:v>
                </c:pt>
                <c:pt idx="53">
                  <c:v>53.8685714286</c:v>
                </c:pt>
                <c:pt idx="54">
                  <c:v>53.1242857143</c:v>
                </c:pt>
                <c:pt idx="55">
                  <c:v>52.29</c:v>
                </c:pt>
                <c:pt idx="56">
                  <c:v>50.8685714286</c:v>
                </c:pt>
                <c:pt idx="57">
                  <c:v>50.6485714286</c:v>
                </c:pt>
                <c:pt idx="58">
                  <c:v>51.4828571429</c:v>
                </c:pt>
                <c:pt idx="59">
                  <c:v>52.25</c:v>
                </c:pt>
                <c:pt idx="60">
                  <c:v>51.5357142857</c:v>
                </c:pt>
                <c:pt idx="61">
                  <c:v>52.6285714286</c:v>
                </c:pt>
                <c:pt idx="62">
                  <c:v>53.0542857143</c:v>
                </c:pt>
                <c:pt idx="63">
                  <c:v>53.4185714286</c:v>
                </c:pt>
                <c:pt idx="64">
                  <c:v>54.5642857143</c:v>
                </c:pt>
                <c:pt idx="65">
                  <c:v>55.1171428571</c:v>
                </c:pt>
                <c:pt idx="66">
                  <c:v>54.1571428571</c:v>
                </c:pt>
                <c:pt idx="67">
                  <c:v>55.36</c:v>
                </c:pt>
                <c:pt idx="68">
                  <c:v>52.8071428571</c:v>
                </c:pt>
                <c:pt idx="69">
                  <c:v>53.17</c:v>
                </c:pt>
                <c:pt idx="70">
                  <c:v>53.7271428571</c:v>
                </c:pt>
                <c:pt idx="71">
                  <c:v>53.29</c:v>
                </c:pt>
                <c:pt idx="72">
                  <c:v>52.2914285714</c:v>
                </c:pt>
                <c:pt idx="73">
                  <c:v>50.9314285714</c:v>
                </c:pt>
                <c:pt idx="74">
                  <c:v>49.6914285714</c:v>
                </c:pt>
                <c:pt idx="75">
                  <c:v>51.8514285714</c:v>
                </c:pt>
                <c:pt idx="76">
                  <c:v>52.3542857143</c:v>
                </c:pt>
                <c:pt idx="77">
                  <c:v>51.9557142857</c:v>
                </c:pt>
                <c:pt idx="78">
                  <c:v>51.6257142857</c:v>
                </c:pt>
                <c:pt idx="79">
                  <c:v>51.2357142857</c:v>
                </c:pt>
                <c:pt idx="80">
                  <c:v>53.3428571429</c:v>
                </c:pt>
                <c:pt idx="81">
                  <c:v>53.7685714286</c:v>
                </c:pt>
                <c:pt idx="82">
                  <c:v>53.1685714286</c:v>
                </c:pt>
                <c:pt idx="83">
                  <c:v>52.5128571429</c:v>
                </c:pt>
                <c:pt idx="84">
                  <c:v>52.9871428571</c:v>
                </c:pt>
                <c:pt idx="85">
                  <c:v>54.2914285714</c:v>
                </c:pt>
                <c:pt idx="86">
                  <c:v>54.1828571429</c:v>
                </c:pt>
                <c:pt idx="87">
                  <c:v>53.33</c:v>
                </c:pt>
                <c:pt idx="88">
                  <c:v>52.85</c:v>
                </c:pt>
                <c:pt idx="89">
                  <c:v>52.2185714286</c:v>
                </c:pt>
                <c:pt idx="90">
                  <c:v>52.0985714286</c:v>
                </c:pt>
                <c:pt idx="91">
                  <c:v>52.25</c:v>
                </c:pt>
                <c:pt idx="92">
                  <c:v>51.5957142857</c:v>
                </c:pt>
                <c:pt idx="93">
                  <c:v>51.9642857143</c:v>
                </c:pt>
                <c:pt idx="94">
                  <c:v>51.2214285714</c:v>
                </c:pt>
                <c:pt idx="95">
                  <c:v>51.2357142857</c:v>
                </c:pt>
                <c:pt idx="96">
                  <c:v>52.07</c:v>
                </c:pt>
                <c:pt idx="97">
                  <c:v>51.32</c:v>
                </c:pt>
                <c:pt idx="98">
                  <c:v>51.0528571429</c:v>
                </c:pt>
                <c:pt idx="99">
                  <c:v>51.3728571429</c:v>
                </c:pt>
                <c:pt idx="100">
                  <c:v>52.9214285714</c:v>
                </c:pt>
                <c:pt idx="101">
                  <c:v>54.0914285714</c:v>
                </c:pt>
                <c:pt idx="102">
                  <c:v>54.61</c:v>
                </c:pt>
                <c:pt idx="103">
                  <c:v>54.8357142857</c:v>
                </c:pt>
                <c:pt idx="104">
                  <c:v>54.0714285714</c:v>
                </c:pt>
                <c:pt idx="105">
                  <c:v>54.2014285714</c:v>
                </c:pt>
                <c:pt idx="106">
                  <c:v>53.99</c:v>
                </c:pt>
                <c:pt idx="107">
                  <c:v>54.4371428571</c:v>
                </c:pt>
                <c:pt idx="108">
                  <c:v>54.2085714286</c:v>
                </c:pt>
                <c:pt idx="109">
                  <c:v>54.2742857143</c:v>
                </c:pt>
                <c:pt idx="110">
                  <c:v>54.3371428571</c:v>
                </c:pt>
                <c:pt idx="111">
                  <c:v>54.9071428571</c:v>
                </c:pt>
                <c:pt idx="112">
                  <c:v>55.7771428571</c:v>
                </c:pt>
                <c:pt idx="113">
                  <c:v>56.3057142857</c:v>
                </c:pt>
                <c:pt idx="114">
                  <c:v>55.1442857143</c:v>
                </c:pt>
                <c:pt idx="115">
                  <c:v>54.6671428571</c:v>
                </c:pt>
                <c:pt idx="116">
                  <c:v>55.4871428571</c:v>
                </c:pt>
                <c:pt idx="117">
                  <c:v>54.5442857143</c:v>
                </c:pt>
                <c:pt idx="118">
                  <c:v>55.8328571429</c:v>
                </c:pt>
                <c:pt idx="119">
                  <c:v>56.6142857143</c:v>
                </c:pt>
                <c:pt idx="120">
                  <c:v>55.4028571429</c:v>
                </c:pt>
                <c:pt idx="121">
                  <c:v>54.4685714286</c:v>
                </c:pt>
                <c:pt idx="122">
                  <c:v>55.2228571429</c:v>
                </c:pt>
                <c:pt idx="123">
                  <c:v>53.8957142857</c:v>
                </c:pt>
                <c:pt idx="124">
                  <c:v>53.8242857143</c:v>
                </c:pt>
                <c:pt idx="125">
                  <c:v>53.4885714286</c:v>
                </c:pt>
                <c:pt idx="126">
                  <c:v>51.2</c:v>
                </c:pt>
                <c:pt idx="127">
                  <c:v>52.28</c:v>
                </c:pt>
                <c:pt idx="128">
                  <c:v>52.0614285714</c:v>
                </c:pt>
                <c:pt idx="129">
                  <c:v>53.1314285714</c:v>
                </c:pt>
                <c:pt idx="130">
                  <c:v>52.9657142857</c:v>
                </c:pt>
                <c:pt idx="131">
                  <c:v>53.8771428571</c:v>
                </c:pt>
                <c:pt idx="132">
                  <c:v>54.4428571429</c:v>
                </c:pt>
                <c:pt idx="133">
                  <c:v>54.3571428571</c:v>
                </c:pt>
                <c:pt idx="134">
                  <c:v>54.2157142857</c:v>
                </c:pt>
                <c:pt idx="135">
                  <c:v>55.84</c:v>
                </c:pt>
                <c:pt idx="136">
                  <c:v>53.62</c:v>
                </c:pt>
                <c:pt idx="137">
                  <c:v>54.3457142857</c:v>
                </c:pt>
                <c:pt idx="138">
                  <c:v>54.7957142857</c:v>
                </c:pt>
                <c:pt idx="139">
                  <c:v>54.8071428571</c:v>
                </c:pt>
                <c:pt idx="140">
                  <c:v>54.8371428571</c:v>
                </c:pt>
                <c:pt idx="141">
                  <c:v>53.7657142857</c:v>
                </c:pt>
                <c:pt idx="142">
                  <c:v>53.24</c:v>
                </c:pt>
                <c:pt idx="143">
                  <c:v>54.6342857143</c:v>
                </c:pt>
                <c:pt idx="144">
                  <c:v>54.7157142857</c:v>
                </c:pt>
                <c:pt idx="145">
                  <c:v>54.8114285714</c:v>
                </c:pt>
                <c:pt idx="146">
                  <c:v>53.8028571429</c:v>
                </c:pt>
                <c:pt idx="147">
                  <c:v>54.8857142857</c:v>
                </c:pt>
                <c:pt idx="148">
                  <c:v>56.0728571429</c:v>
                </c:pt>
                <c:pt idx="149">
                  <c:v>55.2242857143</c:v>
                </c:pt>
                <c:pt idx="150">
                  <c:v>56.3785714286</c:v>
                </c:pt>
                <c:pt idx="151">
                  <c:v>56.5728571429</c:v>
                </c:pt>
                <c:pt idx="152">
                  <c:v>55.5085714286</c:v>
                </c:pt>
                <c:pt idx="153">
                  <c:v>56.4971428571</c:v>
                </c:pt>
                <c:pt idx="154">
                  <c:v>55.67</c:v>
                </c:pt>
                <c:pt idx="155">
                  <c:v>56.0571428571</c:v>
                </c:pt>
                <c:pt idx="156">
                  <c:v>57.4285714286</c:v>
                </c:pt>
                <c:pt idx="157">
                  <c:v>55.5442857143</c:v>
                </c:pt>
                <c:pt idx="158">
                  <c:v>55.9271428571</c:v>
                </c:pt>
                <c:pt idx="159">
                  <c:v>57.1071428571</c:v>
                </c:pt>
                <c:pt idx="160">
                  <c:v>57.26</c:v>
                </c:pt>
                <c:pt idx="161">
                  <c:v>59.3442857143</c:v>
                </c:pt>
                <c:pt idx="162">
                  <c:v>58.6414285714</c:v>
                </c:pt>
                <c:pt idx="163">
                  <c:v>57.31</c:v>
                </c:pt>
                <c:pt idx="164">
                  <c:v>57.2942857143</c:v>
                </c:pt>
                <c:pt idx="165">
                  <c:v>56.0585714286</c:v>
                </c:pt>
                <c:pt idx="166">
                  <c:v>55.7428571429</c:v>
                </c:pt>
                <c:pt idx="167">
                  <c:v>55.4328571429</c:v>
                </c:pt>
                <c:pt idx="168">
                  <c:v>54.31</c:v>
                </c:pt>
                <c:pt idx="169">
                  <c:v>55.11</c:v>
                </c:pt>
                <c:pt idx="170">
                  <c:v>55.6914285714</c:v>
                </c:pt>
                <c:pt idx="171">
                  <c:v>57.4</c:v>
                </c:pt>
                <c:pt idx="172">
                  <c:v>57.8271428571</c:v>
                </c:pt>
                <c:pt idx="173">
                  <c:v>59.86</c:v>
                </c:pt>
                <c:pt idx="174">
                  <c:v>60.0971428571</c:v>
                </c:pt>
                <c:pt idx="175">
                  <c:v>59.3214285714</c:v>
                </c:pt>
                <c:pt idx="176">
                  <c:v>58</c:v>
                </c:pt>
                <c:pt idx="177">
                  <c:v>58.37</c:v>
                </c:pt>
                <c:pt idx="178">
                  <c:v>57.2057142857</c:v>
                </c:pt>
                <c:pt idx="179">
                  <c:v>57.94</c:v>
                </c:pt>
                <c:pt idx="180">
                  <c:v>56.37</c:v>
                </c:pt>
                <c:pt idx="181">
                  <c:v>55.9057142857</c:v>
                </c:pt>
                <c:pt idx="182">
                  <c:v>55.9471428571</c:v>
                </c:pt>
                <c:pt idx="183">
                  <c:v>55.6642857143</c:v>
                </c:pt>
                <c:pt idx="184">
                  <c:v>55.0342857143</c:v>
                </c:pt>
                <c:pt idx="185">
                  <c:v>55.84</c:v>
                </c:pt>
                <c:pt idx="186">
                  <c:v>55.5171428571</c:v>
                </c:pt>
                <c:pt idx="187">
                  <c:v>54.3228571429</c:v>
                </c:pt>
                <c:pt idx="188">
                  <c:v>54.5328571429</c:v>
                </c:pt>
                <c:pt idx="189">
                  <c:v>55.4471428571</c:v>
                </c:pt>
                <c:pt idx="190">
                  <c:v>55.9314285714</c:v>
                </c:pt>
                <c:pt idx="191">
                  <c:v>56.3957142857</c:v>
                </c:pt>
                <c:pt idx="192">
                  <c:v>55.86</c:v>
                </c:pt>
                <c:pt idx="193">
                  <c:v>54.9242857143</c:v>
                </c:pt>
                <c:pt idx="194">
                  <c:v>56.1042857143</c:v>
                </c:pt>
                <c:pt idx="195">
                  <c:v>56.4157142857</c:v>
                </c:pt>
                <c:pt idx="196">
                  <c:v>56.9485714286</c:v>
                </c:pt>
                <c:pt idx="197">
                  <c:v>58.3671428571</c:v>
                </c:pt>
                <c:pt idx="198">
                  <c:v>57.3071428571</c:v>
                </c:pt>
                <c:pt idx="199">
                  <c:v>56.63</c:v>
                </c:pt>
                <c:pt idx="200">
                  <c:v>57.8485714286</c:v>
                </c:pt>
                <c:pt idx="201">
                  <c:v>57.9942857143</c:v>
                </c:pt>
                <c:pt idx="202">
                  <c:v>57.9957142857</c:v>
                </c:pt>
                <c:pt idx="203">
                  <c:v>60.0085714286</c:v>
                </c:pt>
                <c:pt idx="204">
                  <c:v>59.6985714286</c:v>
                </c:pt>
                <c:pt idx="205">
                  <c:v>61.5271428571</c:v>
                </c:pt>
                <c:pt idx="206">
                  <c:v>62.9128571429</c:v>
                </c:pt>
                <c:pt idx="207">
                  <c:v>63.0442857143</c:v>
                </c:pt>
                <c:pt idx="208">
                  <c:v>62.4857142857</c:v>
                </c:pt>
                <c:pt idx="209">
                  <c:v>62.6942857143</c:v>
                </c:pt>
                <c:pt idx="210">
                  <c:v>59.4242857143</c:v>
                </c:pt>
                <c:pt idx="211">
                  <c:v>58.8814285714</c:v>
                </c:pt>
                <c:pt idx="212">
                  <c:v>57.7585714286</c:v>
                </c:pt>
                <c:pt idx="213">
                  <c:v>57.17</c:v>
                </c:pt>
                <c:pt idx="214">
                  <c:v>58.3928571429</c:v>
                </c:pt>
                <c:pt idx="215">
                  <c:v>57.3185714286</c:v>
                </c:pt>
                <c:pt idx="216">
                  <c:v>57.3</c:v>
                </c:pt>
                <c:pt idx="217">
                  <c:v>56.7342857143</c:v>
                </c:pt>
                <c:pt idx="218">
                  <c:v>56.6</c:v>
                </c:pt>
                <c:pt idx="219">
                  <c:v>57.7585714286</c:v>
                </c:pt>
                <c:pt idx="220">
                  <c:v>57.78</c:v>
                </c:pt>
                <c:pt idx="221">
                  <c:v>55.3914285714</c:v>
                </c:pt>
                <c:pt idx="222">
                  <c:v>56.2485714286</c:v>
                </c:pt>
                <c:pt idx="223">
                  <c:v>56.2785714286</c:v>
                </c:pt>
                <c:pt idx="224">
                  <c:v>56.9428571429</c:v>
                </c:pt>
                <c:pt idx="225">
                  <c:v>57.4685714286</c:v>
                </c:pt>
                <c:pt idx="226">
                  <c:v>56.7571428571</c:v>
                </c:pt>
                <c:pt idx="227">
                  <c:v>56.28</c:v>
                </c:pt>
                <c:pt idx="228">
                  <c:v>58.6142857143</c:v>
                </c:pt>
                <c:pt idx="229">
                  <c:v>59.6128571429</c:v>
                </c:pt>
                <c:pt idx="230">
                  <c:v>57.7157142857</c:v>
                </c:pt>
                <c:pt idx="231">
                  <c:v>58.4057142857</c:v>
                </c:pt>
                <c:pt idx="232">
                  <c:v>57.8128571429</c:v>
                </c:pt>
                <c:pt idx="233">
                  <c:v>58.4242857143</c:v>
                </c:pt>
                <c:pt idx="234">
                  <c:v>58.3585714286</c:v>
                </c:pt>
                <c:pt idx="235">
                  <c:v>56.78</c:v>
                </c:pt>
                <c:pt idx="236">
                  <c:v>56.7214285714</c:v>
                </c:pt>
                <c:pt idx="237">
                  <c:v>58.82</c:v>
                </c:pt>
                <c:pt idx="238">
                  <c:v>57.8628571429</c:v>
                </c:pt>
                <c:pt idx="239">
                  <c:v>58.1314285714</c:v>
                </c:pt>
                <c:pt idx="240">
                  <c:v>57.2171428571</c:v>
                </c:pt>
                <c:pt idx="241">
                  <c:v>57.35</c:v>
                </c:pt>
                <c:pt idx="242">
                  <c:v>58.7271428571</c:v>
                </c:pt>
                <c:pt idx="243">
                  <c:v>58.69</c:v>
                </c:pt>
                <c:pt idx="244">
                  <c:v>57.2057142857</c:v>
                </c:pt>
                <c:pt idx="245">
                  <c:v>58.7542857143</c:v>
                </c:pt>
                <c:pt idx="246">
                  <c:v>60.5428571429</c:v>
                </c:pt>
                <c:pt idx="247">
                  <c:v>61.6542857143</c:v>
                </c:pt>
                <c:pt idx="248">
                  <c:v>61.07</c:v>
                </c:pt>
                <c:pt idx="249">
                  <c:v>59.4971428571</c:v>
                </c:pt>
                <c:pt idx="250">
                  <c:v>60.1471428571</c:v>
                </c:pt>
                <c:pt idx="251">
                  <c:v>60.5757142857</c:v>
                </c:pt>
                <c:pt idx="252">
                  <c:v>60.27</c:v>
                </c:pt>
                <c:pt idx="253">
                  <c:v>59.3414285714</c:v>
                </c:pt>
                <c:pt idx="254">
                  <c:v>57.9757142857</c:v>
                </c:pt>
                <c:pt idx="255">
                  <c:v>59.0528571429</c:v>
                </c:pt>
                <c:pt idx="256">
                  <c:v>57.1185714286</c:v>
                </c:pt>
                <c:pt idx="257">
                  <c:v>55.5157142857</c:v>
                </c:pt>
                <c:pt idx="258">
                  <c:v>55.8757142857</c:v>
                </c:pt>
                <c:pt idx="259">
                  <c:v>54.7028571429</c:v>
                </c:pt>
                <c:pt idx="260">
                  <c:v>55.35</c:v>
                </c:pt>
                <c:pt idx="261">
                  <c:v>55.0242857143</c:v>
                </c:pt>
                <c:pt idx="262">
                  <c:v>54.7871428571</c:v>
                </c:pt>
                <c:pt idx="263">
                  <c:v>57.23</c:v>
                </c:pt>
                <c:pt idx="264">
                  <c:v>59.0257142857</c:v>
                </c:pt>
                <c:pt idx="265">
                  <c:v>58.2142857143</c:v>
                </c:pt>
                <c:pt idx="266">
                  <c:v>59.97</c:v>
                </c:pt>
                <c:pt idx="267">
                  <c:v>58.8457142857</c:v>
                </c:pt>
                <c:pt idx="268">
                  <c:v>59.2014285714</c:v>
                </c:pt>
                <c:pt idx="269">
                  <c:v>59.88</c:v>
                </c:pt>
                <c:pt idx="270">
                  <c:v>59.9628571429</c:v>
                </c:pt>
                <c:pt idx="271">
                  <c:v>58.54</c:v>
                </c:pt>
                <c:pt idx="272">
                  <c:v>59.65</c:v>
                </c:pt>
                <c:pt idx="273">
                  <c:v>58.5785714286</c:v>
                </c:pt>
                <c:pt idx="274">
                  <c:v>58.6871428571</c:v>
                </c:pt>
                <c:pt idx="275">
                  <c:v>59.8942857143</c:v>
                </c:pt>
                <c:pt idx="276">
                  <c:v>60.7314285714</c:v>
                </c:pt>
                <c:pt idx="277">
                  <c:v>59.7385714286</c:v>
                </c:pt>
                <c:pt idx="278">
                  <c:v>61.7242857143</c:v>
                </c:pt>
                <c:pt idx="279">
                  <c:v>60.3142857143</c:v>
                </c:pt>
                <c:pt idx="280">
                  <c:v>60.5157142857</c:v>
                </c:pt>
                <c:pt idx="281">
                  <c:v>60.8885714286</c:v>
                </c:pt>
                <c:pt idx="282">
                  <c:v>60.6514285714</c:v>
                </c:pt>
                <c:pt idx="283">
                  <c:v>59.1071428571</c:v>
                </c:pt>
                <c:pt idx="284">
                  <c:v>59.8771428571</c:v>
                </c:pt>
                <c:pt idx="285">
                  <c:v>58.0357142857</c:v>
                </c:pt>
                <c:pt idx="286">
                  <c:v>59.0428571429</c:v>
                </c:pt>
                <c:pt idx="287">
                  <c:v>59.7914285714</c:v>
                </c:pt>
                <c:pt idx="288">
                  <c:v>59.66</c:v>
                </c:pt>
                <c:pt idx="289">
                  <c:v>58.9985714286</c:v>
                </c:pt>
                <c:pt idx="290">
                  <c:v>60.12</c:v>
                </c:pt>
                <c:pt idx="291">
                  <c:v>60.5228571429</c:v>
                </c:pt>
                <c:pt idx="292">
                  <c:v>61.49</c:v>
                </c:pt>
                <c:pt idx="293">
                  <c:v>62.3957142857</c:v>
                </c:pt>
                <c:pt idx="294">
                  <c:v>61.2314285714</c:v>
                </c:pt>
                <c:pt idx="295">
                  <c:v>60.6114285714</c:v>
                </c:pt>
                <c:pt idx="296">
                  <c:v>61.6742857143</c:v>
                </c:pt>
                <c:pt idx="297">
                  <c:v>61.5028571429</c:v>
                </c:pt>
                <c:pt idx="298">
                  <c:v>61.3028571429</c:v>
                </c:pt>
                <c:pt idx="299">
                  <c:v>60.84</c:v>
                </c:pt>
                <c:pt idx="300">
                  <c:v>61.3371428571</c:v>
                </c:pt>
                <c:pt idx="301">
                  <c:v>61.5414285714</c:v>
                </c:pt>
                <c:pt idx="302">
                  <c:v>62.3657142857</c:v>
                </c:pt>
                <c:pt idx="303">
                  <c:v>61.7214285714</c:v>
                </c:pt>
                <c:pt idx="304">
                  <c:v>61.1642857143</c:v>
                </c:pt>
                <c:pt idx="305">
                  <c:v>61.9971428571</c:v>
                </c:pt>
                <c:pt idx="306">
                  <c:v>62.5371428571</c:v>
                </c:pt>
                <c:pt idx="307">
                  <c:v>62.24</c:v>
                </c:pt>
                <c:pt idx="308">
                  <c:v>63.6285714286</c:v>
                </c:pt>
                <c:pt idx="309">
                  <c:v>63.2871428571</c:v>
                </c:pt>
                <c:pt idx="310">
                  <c:v>63.9528571429</c:v>
                </c:pt>
                <c:pt idx="311">
                  <c:v>63.92</c:v>
                </c:pt>
                <c:pt idx="312">
                  <c:v>63.4014285714</c:v>
                </c:pt>
                <c:pt idx="313">
                  <c:v>62.7528571429</c:v>
                </c:pt>
                <c:pt idx="314">
                  <c:v>62.2742857143</c:v>
                </c:pt>
                <c:pt idx="315">
                  <c:v>61.8014285714</c:v>
                </c:pt>
                <c:pt idx="316">
                  <c:v>61.2371428571</c:v>
                </c:pt>
                <c:pt idx="317">
                  <c:v>62.2785714286</c:v>
                </c:pt>
                <c:pt idx="318">
                  <c:v>61.8171428571</c:v>
                </c:pt>
                <c:pt idx="319">
                  <c:v>60.7528571429</c:v>
                </c:pt>
                <c:pt idx="320">
                  <c:v>61.7071428571</c:v>
                </c:pt>
                <c:pt idx="321">
                  <c:v>62.2385714286</c:v>
                </c:pt>
                <c:pt idx="322">
                  <c:v>62.2928571429</c:v>
                </c:pt>
                <c:pt idx="323">
                  <c:v>63.36</c:v>
                </c:pt>
                <c:pt idx="324">
                  <c:v>61.8914285714</c:v>
                </c:pt>
                <c:pt idx="325">
                  <c:v>62.0028571429</c:v>
                </c:pt>
                <c:pt idx="326">
                  <c:v>62.9585714286</c:v>
                </c:pt>
                <c:pt idx="327">
                  <c:v>61.6828571429</c:v>
                </c:pt>
                <c:pt idx="328">
                  <c:v>61.8471428571</c:v>
                </c:pt>
                <c:pt idx="329">
                  <c:v>61.3314285714</c:v>
                </c:pt>
                <c:pt idx="330">
                  <c:v>60.3271428571</c:v>
                </c:pt>
                <c:pt idx="331">
                  <c:v>60.14</c:v>
                </c:pt>
                <c:pt idx="332">
                  <c:v>61.11</c:v>
                </c:pt>
                <c:pt idx="333">
                  <c:v>60.6871428571</c:v>
                </c:pt>
                <c:pt idx="334">
                  <c:v>60.6171428571</c:v>
                </c:pt>
                <c:pt idx="335">
                  <c:v>60.13</c:v>
                </c:pt>
                <c:pt idx="336">
                  <c:v>60.4442857143</c:v>
                </c:pt>
                <c:pt idx="337">
                  <c:v>60.7057142857</c:v>
                </c:pt>
                <c:pt idx="338">
                  <c:v>60.6342857143</c:v>
                </c:pt>
                <c:pt idx="339">
                  <c:v>60.54</c:v>
                </c:pt>
                <c:pt idx="340">
                  <c:v>59.9428571429</c:v>
                </c:pt>
                <c:pt idx="341">
                  <c:v>59.56</c:v>
                </c:pt>
                <c:pt idx="342">
                  <c:v>58.9071428571</c:v>
                </c:pt>
                <c:pt idx="343">
                  <c:v>58.6128571429</c:v>
                </c:pt>
                <c:pt idx="344">
                  <c:v>59.2314285714</c:v>
                </c:pt>
                <c:pt idx="345">
                  <c:v>60.6557142857</c:v>
                </c:pt>
                <c:pt idx="346">
                  <c:v>61.1357142857</c:v>
                </c:pt>
                <c:pt idx="347">
                  <c:v>62.09</c:v>
                </c:pt>
                <c:pt idx="348">
                  <c:v>63.1157142857</c:v>
                </c:pt>
                <c:pt idx="349">
                  <c:v>62.9457142857</c:v>
                </c:pt>
                <c:pt idx="350">
                  <c:v>63.12</c:v>
                </c:pt>
                <c:pt idx="351">
                  <c:v>62.7257142857</c:v>
                </c:pt>
                <c:pt idx="352">
                  <c:v>61.9357142857</c:v>
                </c:pt>
                <c:pt idx="353">
                  <c:v>60.7671428571</c:v>
                </c:pt>
                <c:pt idx="354">
                  <c:v>61.2871428571</c:v>
                </c:pt>
                <c:pt idx="355">
                  <c:v>62.43</c:v>
                </c:pt>
                <c:pt idx="356">
                  <c:v>63.1028571429</c:v>
                </c:pt>
                <c:pt idx="357">
                  <c:v>63.4371428571</c:v>
                </c:pt>
                <c:pt idx="358">
                  <c:v>64.1714285714</c:v>
                </c:pt>
                <c:pt idx="359">
                  <c:v>63.6885714286</c:v>
                </c:pt>
              </c:numCache>
            </c:numRef>
          </c:yVal>
        </c:ser>
        <c:ser>
          <c:idx val="2"/>
          <c:order val="2"/>
          <c:tx>
            <c:v>30-day average</c:v>
          </c:tx>
          <c:spPr>
            <a:solidFill xmlns:a="http://schemas.openxmlformats.org/drawingml/2006/main">
              <a:srgbClr val="1F2120"/>
            </a:solidFill>
            <a:ln xmlns:a="http://schemas.openxmlformats.org/drawingml/2006/main" w="19050">
              <a:solidFill>
                <a:srgbClr val="1F2120"/>
              </a:solidFill>
            </a:ln>
          </c:spPr>
          <c:marker>
            <c:symbol val="none"/>
            <c:size val="4"/>
          </c:marker>
          <c:xVal>
            <c:numRef>
              <c:f>'Chart Data'!$E$2:$E$338</c:f>
              <c:numCache>
                <c:formatCode>General</c:formatCode>
                <c:ptCount val="337"/>
                <c:pt idx="0">
                  <c:v>30</c:v>
                </c:pt>
                <c:pt idx="1">
                  <c:v>31</c:v>
                </c:pt>
                <c:pt idx="2">
                  <c:v>32</c:v>
                </c:pt>
                <c:pt idx="3">
                  <c:v>33</c:v>
                </c:pt>
                <c:pt idx="4">
                  <c:v>34</c:v>
                </c:pt>
                <c:pt idx="5">
                  <c:v>35</c:v>
                </c:pt>
                <c:pt idx="6">
                  <c:v>36</c:v>
                </c:pt>
                <c:pt idx="7">
                  <c:v>37</c:v>
                </c:pt>
                <c:pt idx="8">
                  <c:v>38</c:v>
                </c:pt>
                <c:pt idx="9">
                  <c:v>39</c:v>
                </c:pt>
                <c:pt idx="10">
                  <c:v>40</c:v>
                </c:pt>
                <c:pt idx="11">
                  <c:v>41</c:v>
                </c:pt>
                <c:pt idx="12">
                  <c:v>42</c:v>
                </c:pt>
                <c:pt idx="13">
                  <c:v>43</c:v>
                </c:pt>
                <c:pt idx="14">
                  <c:v>44</c:v>
                </c:pt>
                <c:pt idx="15">
                  <c:v>45</c:v>
                </c:pt>
                <c:pt idx="16">
                  <c:v>46</c:v>
                </c:pt>
                <c:pt idx="17">
                  <c:v>47</c:v>
                </c:pt>
                <c:pt idx="18">
                  <c:v>48</c:v>
                </c:pt>
                <c:pt idx="19">
                  <c:v>49</c:v>
                </c:pt>
                <c:pt idx="20">
                  <c:v>50</c:v>
                </c:pt>
                <c:pt idx="21">
                  <c:v>51</c:v>
                </c:pt>
                <c:pt idx="22">
                  <c:v>52</c:v>
                </c:pt>
                <c:pt idx="23">
                  <c:v>53</c:v>
                </c:pt>
                <c:pt idx="24">
                  <c:v>54</c:v>
                </c:pt>
                <c:pt idx="25">
                  <c:v>55</c:v>
                </c:pt>
                <c:pt idx="26">
                  <c:v>56</c:v>
                </c:pt>
                <c:pt idx="27">
                  <c:v>57</c:v>
                </c:pt>
                <c:pt idx="28">
                  <c:v>58</c:v>
                </c:pt>
                <c:pt idx="29">
                  <c:v>59</c:v>
                </c:pt>
                <c:pt idx="30">
                  <c:v>60</c:v>
                </c:pt>
                <c:pt idx="31">
                  <c:v>61</c:v>
                </c:pt>
                <c:pt idx="32">
                  <c:v>62</c:v>
                </c:pt>
                <c:pt idx="33">
                  <c:v>63</c:v>
                </c:pt>
                <c:pt idx="34">
                  <c:v>64</c:v>
                </c:pt>
                <c:pt idx="35">
                  <c:v>65</c:v>
                </c:pt>
                <c:pt idx="36">
                  <c:v>66</c:v>
                </c:pt>
                <c:pt idx="37">
                  <c:v>67</c:v>
                </c:pt>
                <c:pt idx="38">
                  <c:v>68</c:v>
                </c:pt>
                <c:pt idx="39">
                  <c:v>69</c:v>
                </c:pt>
                <c:pt idx="40">
                  <c:v>70</c:v>
                </c:pt>
                <c:pt idx="41">
                  <c:v>71</c:v>
                </c:pt>
                <c:pt idx="42">
                  <c:v>72</c:v>
                </c:pt>
                <c:pt idx="43">
                  <c:v>73</c:v>
                </c:pt>
                <c:pt idx="44">
                  <c:v>74</c:v>
                </c:pt>
                <c:pt idx="45">
                  <c:v>75</c:v>
                </c:pt>
                <c:pt idx="46">
                  <c:v>76</c:v>
                </c:pt>
                <c:pt idx="47">
                  <c:v>77</c:v>
                </c:pt>
                <c:pt idx="48">
                  <c:v>78</c:v>
                </c:pt>
                <c:pt idx="49">
                  <c:v>79</c:v>
                </c:pt>
                <c:pt idx="50">
                  <c:v>80</c:v>
                </c:pt>
                <c:pt idx="51">
                  <c:v>81</c:v>
                </c:pt>
                <c:pt idx="52">
                  <c:v>82</c:v>
                </c:pt>
                <c:pt idx="53">
                  <c:v>83</c:v>
                </c:pt>
                <c:pt idx="54">
                  <c:v>84</c:v>
                </c:pt>
                <c:pt idx="55">
                  <c:v>85</c:v>
                </c:pt>
                <c:pt idx="56">
                  <c:v>86</c:v>
                </c:pt>
                <c:pt idx="57">
                  <c:v>87</c:v>
                </c:pt>
                <c:pt idx="58">
                  <c:v>88</c:v>
                </c:pt>
                <c:pt idx="59">
                  <c:v>89</c:v>
                </c:pt>
                <c:pt idx="60">
                  <c:v>90</c:v>
                </c:pt>
                <c:pt idx="61">
                  <c:v>91</c:v>
                </c:pt>
                <c:pt idx="62">
                  <c:v>92</c:v>
                </c:pt>
                <c:pt idx="63">
                  <c:v>93</c:v>
                </c:pt>
                <c:pt idx="64">
                  <c:v>94</c:v>
                </c:pt>
                <c:pt idx="65">
                  <c:v>95</c:v>
                </c:pt>
                <c:pt idx="66">
                  <c:v>96</c:v>
                </c:pt>
                <c:pt idx="67">
                  <c:v>97</c:v>
                </c:pt>
                <c:pt idx="68">
                  <c:v>98</c:v>
                </c:pt>
                <c:pt idx="69">
                  <c:v>99</c:v>
                </c:pt>
                <c:pt idx="70">
                  <c:v>100</c:v>
                </c:pt>
                <c:pt idx="71">
                  <c:v>101</c:v>
                </c:pt>
                <c:pt idx="72">
                  <c:v>102</c:v>
                </c:pt>
                <c:pt idx="73">
                  <c:v>103</c:v>
                </c:pt>
                <c:pt idx="74">
                  <c:v>104</c:v>
                </c:pt>
                <c:pt idx="75">
                  <c:v>105</c:v>
                </c:pt>
                <c:pt idx="76">
                  <c:v>106</c:v>
                </c:pt>
                <c:pt idx="77">
                  <c:v>107</c:v>
                </c:pt>
                <c:pt idx="78">
                  <c:v>108</c:v>
                </c:pt>
                <c:pt idx="79">
                  <c:v>109</c:v>
                </c:pt>
                <c:pt idx="80">
                  <c:v>110</c:v>
                </c:pt>
                <c:pt idx="81">
                  <c:v>111</c:v>
                </c:pt>
                <c:pt idx="82">
                  <c:v>112</c:v>
                </c:pt>
                <c:pt idx="83">
                  <c:v>113</c:v>
                </c:pt>
                <c:pt idx="84">
                  <c:v>114</c:v>
                </c:pt>
                <c:pt idx="85">
                  <c:v>115</c:v>
                </c:pt>
                <c:pt idx="86">
                  <c:v>116</c:v>
                </c:pt>
                <c:pt idx="87">
                  <c:v>117</c:v>
                </c:pt>
                <c:pt idx="88">
                  <c:v>118</c:v>
                </c:pt>
                <c:pt idx="89">
                  <c:v>119</c:v>
                </c:pt>
                <c:pt idx="90">
                  <c:v>120</c:v>
                </c:pt>
                <c:pt idx="91">
                  <c:v>121</c:v>
                </c:pt>
                <c:pt idx="92">
                  <c:v>122</c:v>
                </c:pt>
                <c:pt idx="93">
                  <c:v>123</c:v>
                </c:pt>
                <c:pt idx="94">
                  <c:v>124</c:v>
                </c:pt>
                <c:pt idx="95">
                  <c:v>125</c:v>
                </c:pt>
                <c:pt idx="96">
                  <c:v>126</c:v>
                </c:pt>
                <c:pt idx="97">
                  <c:v>127</c:v>
                </c:pt>
                <c:pt idx="98">
                  <c:v>128</c:v>
                </c:pt>
                <c:pt idx="99">
                  <c:v>129</c:v>
                </c:pt>
                <c:pt idx="100">
                  <c:v>130</c:v>
                </c:pt>
                <c:pt idx="101">
                  <c:v>131</c:v>
                </c:pt>
                <c:pt idx="102">
                  <c:v>132</c:v>
                </c:pt>
                <c:pt idx="103">
                  <c:v>133</c:v>
                </c:pt>
                <c:pt idx="104">
                  <c:v>134</c:v>
                </c:pt>
                <c:pt idx="105">
                  <c:v>135</c:v>
                </c:pt>
                <c:pt idx="106">
                  <c:v>136</c:v>
                </c:pt>
                <c:pt idx="107">
                  <c:v>137</c:v>
                </c:pt>
                <c:pt idx="108">
                  <c:v>138</c:v>
                </c:pt>
                <c:pt idx="109">
                  <c:v>139</c:v>
                </c:pt>
                <c:pt idx="110">
                  <c:v>140</c:v>
                </c:pt>
                <c:pt idx="111">
                  <c:v>141</c:v>
                </c:pt>
                <c:pt idx="112">
                  <c:v>142</c:v>
                </c:pt>
                <c:pt idx="113">
                  <c:v>143</c:v>
                </c:pt>
                <c:pt idx="114">
                  <c:v>144</c:v>
                </c:pt>
                <c:pt idx="115">
                  <c:v>145</c:v>
                </c:pt>
                <c:pt idx="116">
                  <c:v>146</c:v>
                </c:pt>
                <c:pt idx="117">
                  <c:v>147</c:v>
                </c:pt>
                <c:pt idx="118">
                  <c:v>148</c:v>
                </c:pt>
                <c:pt idx="119">
                  <c:v>149</c:v>
                </c:pt>
                <c:pt idx="120">
                  <c:v>150</c:v>
                </c:pt>
                <c:pt idx="121">
                  <c:v>151</c:v>
                </c:pt>
                <c:pt idx="122">
                  <c:v>152</c:v>
                </c:pt>
                <c:pt idx="123">
                  <c:v>153</c:v>
                </c:pt>
                <c:pt idx="124">
                  <c:v>154</c:v>
                </c:pt>
                <c:pt idx="125">
                  <c:v>155</c:v>
                </c:pt>
                <c:pt idx="126">
                  <c:v>156</c:v>
                </c:pt>
                <c:pt idx="127">
                  <c:v>157</c:v>
                </c:pt>
                <c:pt idx="128">
                  <c:v>158</c:v>
                </c:pt>
                <c:pt idx="129">
                  <c:v>159</c:v>
                </c:pt>
                <c:pt idx="130">
                  <c:v>160</c:v>
                </c:pt>
                <c:pt idx="131">
                  <c:v>161</c:v>
                </c:pt>
                <c:pt idx="132">
                  <c:v>162</c:v>
                </c:pt>
                <c:pt idx="133">
                  <c:v>163</c:v>
                </c:pt>
                <c:pt idx="134">
                  <c:v>164</c:v>
                </c:pt>
                <c:pt idx="135">
                  <c:v>165</c:v>
                </c:pt>
                <c:pt idx="136">
                  <c:v>166</c:v>
                </c:pt>
                <c:pt idx="137">
                  <c:v>167</c:v>
                </c:pt>
                <c:pt idx="138">
                  <c:v>168</c:v>
                </c:pt>
                <c:pt idx="139">
                  <c:v>169</c:v>
                </c:pt>
                <c:pt idx="140">
                  <c:v>170</c:v>
                </c:pt>
                <c:pt idx="141">
                  <c:v>171</c:v>
                </c:pt>
                <c:pt idx="142">
                  <c:v>172</c:v>
                </c:pt>
                <c:pt idx="143">
                  <c:v>173</c:v>
                </c:pt>
                <c:pt idx="144">
                  <c:v>174</c:v>
                </c:pt>
                <c:pt idx="145">
                  <c:v>175</c:v>
                </c:pt>
                <c:pt idx="146">
                  <c:v>176</c:v>
                </c:pt>
                <c:pt idx="147">
                  <c:v>177</c:v>
                </c:pt>
                <c:pt idx="148">
                  <c:v>178</c:v>
                </c:pt>
                <c:pt idx="149">
                  <c:v>179</c:v>
                </c:pt>
                <c:pt idx="150">
                  <c:v>180</c:v>
                </c:pt>
                <c:pt idx="151">
                  <c:v>181</c:v>
                </c:pt>
                <c:pt idx="152">
                  <c:v>182</c:v>
                </c:pt>
                <c:pt idx="153">
                  <c:v>183</c:v>
                </c:pt>
                <c:pt idx="154">
                  <c:v>184</c:v>
                </c:pt>
                <c:pt idx="155">
                  <c:v>185</c:v>
                </c:pt>
                <c:pt idx="156">
                  <c:v>186</c:v>
                </c:pt>
                <c:pt idx="157">
                  <c:v>187</c:v>
                </c:pt>
                <c:pt idx="158">
                  <c:v>188</c:v>
                </c:pt>
                <c:pt idx="159">
                  <c:v>189</c:v>
                </c:pt>
                <c:pt idx="160">
                  <c:v>190</c:v>
                </c:pt>
                <c:pt idx="161">
                  <c:v>191</c:v>
                </c:pt>
                <c:pt idx="162">
                  <c:v>192</c:v>
                </c:pt>
                <c:pt idx="163">
                  <c:v>193</c:v>
                </c:pt>
                <c:pt idx="164">
                  <c:v>194</c:v>
                </c:pt>
                <c:pt idx="165">
                  <c:v>195</c:v>
                </c:pt>
                <c:pt idx="166">
                  <c:v>196</c:v>
                </c:pt>
                <c:pt idx="167">
                  <c:v>197</c:v>
                </c:pt>
                <c:pt idx="168">
                  <c:v>198</c:v>
                </c:pt>
                <c:pt idx="169">
                  <c:v>199</c:v>
                </c:pt>
                <c:pt idx="170">
                  <c:v>200</c:v>
                </c:pt>
                <c:pt idx="171">
                  <c:v>201</c:v>
                </c:pt>
                <c:pt idx="172">
                  <c:v>202</c:v>
                </c:pt>
                <c:pt idx="173">
                  <c:v>203</c:v>
                </c:pt>
                <c:pt idx="174">
                  <c:v>204</c:v>
                </c:pt>
                <c:pt idx="175">
                  <c:v>205</c:v>
                </c:pt>
                <c:pt idx="176">
                  <c:v>206</c:v>
                </c:pt>
                <c:pt idx="177">
                  <c:v>207</c:v>
                </c:pt>
                <c:pt idx="178">
                  <c:v>208</c:v>
                </c:pt>
                <c:pt idx="179">
                  <c:v>209</c:v>
                </c:pt>
                <c:pt idx="180">
                  <c:v>210</c:v>
                </c:pt>
                <c:pt idx="181">
                  <c:v>211</c:v>
                </c:pt>
                <c:pt idx="182">
                  <c:v>212</c:v>
                </c:pt>
                <c:pt idx="183">
                  <c:v>213</c:v>
                </c:pt>
                <c:pt idx="184">
                  <c:v>214</c:v>
                </c:pt>
                <c:pt idx="185">
                  <c:v>215</c:v>
                </c:pt>
                <c:pt idx="186">
                  <c:v>216</c:v>
                </c:pt>
                <c:pt idx="187">
                  <c:v>217</c:v>
                </c:pt>
                <c:pt idx="188">
                  <c:v>218</c:v>
                </c:pt>
                <c:pt idx="189">
                  <c:v>219</c:v>
                </c:pt>
                <c:pt idx="190">
                  <c:v>220</c:v>
                </c:pt>
                <c:pt idx="191">
                  <c:v>221</c:v>
                </c:pt>
                <c:pt idx="192">
                  <c:v>222</c:v>
                </c:pt>
                <c:pt idx="193">
                  <c:v>223</c:v>
                </c:pt>
                <c:pt idx="194">
                  <c:v>224</c:v>
                </c:pt>
                <c:pt idx="195">
                  <c:v>225</c:v>
                </c:pt>
                <c:pt idx="196">
                  <c:v>226</c:v>
                </c:pt>
                <c:pt idx="197">
                  <c:v>227</c:v>
                </c:pt>
                <c:pt idx="198">
                  <c:v>228</c:v>
                </c:pt>
                <c:pt idx="199">
                  <c:v>229</c:v>
                </c:pt>
                <c:pt idx="200">
                  <c:v>230</c:v>
                </c:pt>
                <c:pt idx="201">
                  <c:v>231</c:v>
                </c:pt>
                <c:pt idx="202">
                  <c:v>232</c:v>
                </c:pt>
                <c:pt idx="203">
                  <c:v>233</c:v>
                </c:pt>
                <c:pt idx="204">
                  <c:v>234</c:v>
                </c:pt>
                <c:pt idx="205">
                  <c:v>235</c:v>
                </c:pt>
                <c:pt idx="206">
                  <c:v>236</c:v>
                </c:pt>
                <c:pt idx="207">
                  <c:v>237</c:v>
                </c:pt>
                <c:pt idx="208">
                  <c:v>238</c:v>
                </c:pt>
                <c:pt idx="209">
                  <c:v>239</c:v>
                </c:pt>
                <c:pt idx="210">
                  <c:v>240</c:v>
                </c:pt>
                <c:pt idx="211">
                  <c:v>241</c:v>
                </c:pt>
                <c:pt idx="212">
                  <c:v>242</c:v>
                </c:pt>
                <c:pt idx="213">
                  <c:v>243</c:v>
                </c:pt>
                <c:pt idx="214">
                  <c:v>244</c:v>
                </c:pt>
                <c:pt idx="215">
                  <c:v>245</c:v>
                </c:pt>
                <c:pt idx="216">
                  <c:v>246</c:v>
                </c:pt>
                <c:pt idx="217">
                  <c:v>247</c:v>
                </c:pt>
                <c:pt idx="218">
                  <c:v>248</c:v>
                </c:pt>
                <c:pt idx="219">
                  <c:v>249</c:v>
                </c:pt>
                <c:pt idx="220">
                  <c:v>250</c:v>
                </c:pt>
                <c:pt idx="221">
                  <c:v>251</c:v>
                </c:pt>
                <c:pt idx="222">
                  <c:v>252</c:v>
                </c:pt>
                <c:pt idx="223">
                  <c:v>253</c:v>
                </c:pt>
                <c:pt idx="224">
                  <c:v>254</c:v>
                </c:pt>
                <c:pt idx="225">
                  <c:v>255</c:v>
                </c:pt>
                <c:pt idx="226">
                  <c:v>256</c:v>
                </c:pt>
                <c:pt idx="227">
                  <c:v>257</c:v>
                </c:pt>
                <c:pt idx="228">
                  <c:v>258</c:v>
                </c:pt>
                <c:pt idx="229">
                  <c:v>259</c:v>
                </c:pt>
                <c:pt idx="230">
                  <c:v>260</c:v>
                </c:pt>
                <c:pt idx="231">
                  <c:v>261</c:v>
                </c:pt>
                <c:pt idx="232">
                  <c:v>262</c:v>
                </c:pt>
                <c:pt idx="233">
                  <c:v>263</c:v>
                </c:pt>
                <c:pt idx="234">
                  <c:v>264</c:v>
                </c:pt>
                <c:pt idx="235">
                  <c:v>265</c:v>
                </c:pt>
                <c:pt idx="236">
                  <c:v>266</c:v>
                </c:pt>
                <c:pt idx="237">
                  <c:v>267</c:v>
                </c:pt>
                <c:pt idx="238">
                  <c:v>268</c:v>
                </c:pt>
                <c:pt idx="239">
                  <c:v>269</c:v>
                </c:pt>
                <c:pt idx="240">
                  <c:v>270</c:v>
                </c:pt>
                <c:pt idx="241">
                  <c:v>271</c:v>
                </c:pt>
                <c:pt idx="242">
                  <c:v>272</c:v>
                </c:pt>
                <c:pt idx="243">
                  <c:v>273</c:v>
                </c:pt>
                <c:pt idx="244">
                  <c:v>274</c:v>
                </c:pt>
                <c:pt idx="245">
                  <c:v>275</c:v>
                </c:pt>
                <c:pt idx="246">
                  <c:v>276</c:v>
                </c:pt>
                <c:pt idx="247">
                  <c:v>277</c:v>
                </c:pt>
                <c:pt idx="248">
                  <c:v>278</c:v>
                </c:pt>
                <c:pt idx="249">
                  <c:v>279</c:v>
                </c:pt>
                <c:pt idx="250">
                  <c:v>280</c:v>
                </c:pt>
                <c:pt idx="251">
                  <c:v>281</c:v>
                </c:pt>
                <c:pt idx="252">
                  <c:v>282</c:v>
                </c:pt>
                <c:pt idx="253">
                  <c:v>283</c:v>
                </c:pt>
                <c:pt idx="254">
                  <c:v>284</c:v>
                </c:pt>
                <c:pt idx="255">
                  <c:v>285</c:v>
                </c:pt>
                <c:pt idx="256">
                  <c:v>286</c:v>
                </c:pt>
                <c:pt idx="257">
                  <c:v>287</c:v>
                </c:pt>
                <c:pt idx="258">
                  <c:v>288</c:v>
                </c:pt>
                <c:pt idx="259">
                  <c:v>289</c:v>
                </c:pt>
                <c:pt idx="260">
                  <c:v>290</c:v>
                </c:pt>
                <c:pt idx="261">
                  <c:v>291</c:v>
                </c:pt>
                <c:pt idx="262">
                  <c:v>292</c:v>
                </c:pt>
                <c:pt idx="263">
                  <c:v>293</c:v>
                </c:pt>
                <c:pt idx="264">
                  <c:v>294</c:v>
                </c:pt>
                <c:pt idx="265">
                  <c:v>295</c:v>
                </c:pt>
                <c:pt idx="266">
                  <c:v>296</c:v>
                </c:pt>
                <c:pt idx="267">
                  <c:v>297</c:v>
                </c:pt>
                <c:pt idx="268">
                  <c:v>298</c:v>
                </c:pt>
                <c:pt idx="269">
                  <c:v>299</c:v>
                </c:pt>
                <c:pt idx="270">
                  <c:v>300</c:v>
                </c:pt>
                <c:pt idx="271">
                  <c:v>301</c:v>
                </c:pt>
                <c:pt idx="272">
                  <c:v>302</c:v>
                </c:pt>
                <c:pt idx="273">
                  <c:v>303</c:v>
                </c:pt>
                <c:pt idx="274">
                  <c:v>304</c:v>
                </c:pt>
                <c:pt idx="275">
                  <c:v>305</c:v>
                </c:pt>
                <c:pt idx="276">
                  <c:v>306</c:v>
                </c:pt>
                <c:pt idx="277">
                  <c:v>307</c:v>
                </c:pt>
                <c:pt idx="278">
                  <c:v>308</c:v>
                </c:pt>
                <c:pt idx="279">
                  <c:v>309</c:v>
                </c:pt>
                <c:pt idx="280">
                  <c:v>310</c:v>
                </c:pt>
                <c:pt idx="281">
                  <c:v>311</c:v>
                </c:pt>
                <c:pt idx="282">
                  <c:v>312</c:v>
                </c:pt>
                <c:pt idx="283">
                  <c:v>313</c:v>
                </c:pt>
                <c:pt idx="284">
                  <c:v>314</c:v>
                </c:pt>
                <c:pt idx="285">
                  <c:v>315</c:v>
                </c:pt>
                <c:pt idx="286">
                  <c:v>316</c:v>
                </c:pt>
                <c:pt idx="287">
                  <c:v>317</c:v>
                </c:pt>
                <c:pt idx="288">
                  <c:v>318</c:v>
                </c:pt>
                <c:pt idx="289">
                  <c:v>319</c:v>
                </c:pt>
                <c:pt idx="290">
                  <c:v>320</c:v>
                </c:pt>
                <c:pt idx="291">
                  <c:v>321</c:v>
                </c:pt>
                <c:pt idx="292">
                  <c:v>322</c:v>
                </c:pt>
                <c:pt idx="293">
                  <c:v>323</c:v>
                </c:pt>
                <c:pt idx="294">
                  <c:v>324</c:v>
                </c:pt>
                <c:pt idx="295">
                  <c:v>325</c:v>
                </c:pt>
                <c:pt idx="296">
                  <c:v>326</c:v>
                </c:pt>
                <c:pt idx="297">
                  <c:v>327</c:v>
                </c:pt>
                <c:pt idx="298">
                  <c:v>328</c:v>
                </c:pt>
                <c:pt idx="299">
                  <c:v>329</c:v>
                </c:pt>
                <c:pt idx="300">
                  <c:v>330</c:v>
                </c:pt>
                <c:pt idx="301">
                  <c:v>331</c:v>
                </c:pt>
                <c:pt idx="302">
                  <c:v>332</c:v>
                </c:pt>
                <c:pt idx="303">
                  <c:v>333</c:v>
                </c:pt>
                <c:pt idx="304">
                  <c:v>334</c:v>
                </c:pt>
                <c:pt idx="305">
                  <c:v>335</c:v>
                </c:pt>
                <c:pt idx="306">
                  <c:v>336</c:v>
                </c:pt>
                <c:pt idx="307">
                  <c:v>337</c:v>
                </c:pt>
                <c:pt idx="308">
                  <c:v>338</c:v>
                </c:pt>
                <c:pt idx="309">
                  <c:v>339</c:v>
                </c:pt>
                <c:pt idx="310">
                  <c:v>340</c:v>
                </c:pt>
                <c:pt idx="311">
                  <c:v>341</c:v>
                </c:pt>
                <c:pt idx="312">
                  <c:v>342</c:v>
                </c:pt>
                <c:pt idx="313">
                  <c:v>343</c:v>
                </c:pt>
                <c:pt idx="314">
                  <c:v>344</c:v>
                </c:pt>
                <c:pt idx="315">
                  <c:v>345</c:v>
                </c:pt>
                <c:pt idx="316">
                  <c:v>346</c:v>
                </c:pt>
                <c:pt idx="317">
                  <c:v>347</c:v>
                </c:pt>
                <c:pt idx="318">
                  <c:v>348</c:v>
                </c:pt>
                <c:pt idx="319">
                  <c:v>349</c:v>
                </c:pt>
                <c:pt idx="320">
                  <c:v>350</c:v>
                </c:pt>
                <c:pt idx="321">
                  <c:v>351</c:v>
                </c:pt>
                <c:pt idx="322">
                  <c:v>352</c:v>
                </c:pt>
                <c:pt idx="323">
                  <c:v>353</c:v>
                </c:pt>
                <c:pt idx="324">
                  <c:v>354</c:v>
                </c:pt>
                <c:pt idx="325">
                  <c:v>355</c:v>
                </c:pt>
                <c:pt idx="326">
                  <c:v>356</c:v>
                </c:pt>
                <c:pt idx="327">
                  <c:v>357</c:v>
                </c:pt>
                <c:pt idx="328">
                  <c:v>358</c:v>
                </c:pt>
                <c:pt idx="329">
                  <c:v>359</c:v>
                </c:pt>
                <c:pt idx="330">
                  <c:v>360</c:v>
                </c:pt>
                <c:pt idx="331">
                  <c:v>361</c:v>
                </c:pt>
                <c:pt idx="332">
                  <c:v>362</c:v>
                </c:pt>
                <c:pt idx="333">
                  <c:v>363</c:v>
                </c:pt>
                <c:pt idx="334">
                  <c:v>364</c:v>
                </c:pt>
                <c:pt idx="335">
                  <c:v>365</c:v>
                </c:pt>
                <c:pt idx="336">
                  <c:v>366</c:v>
                </c:pt>
              </c:numCache>
            </c:numRef>
          </c:xVal>
          <c:yVal>
            <c:numRef>
              <c:f>'Chart Data'!$F$2:$F$338</c:f>
              <c:numCache>
                <c:formatCode>General</c:formatCode>
                <c:ptCount val="337"/>
                <c:pt idx="0">
                  <c:v>49.5556666667</c:v>
                </c:pt>
                <c:pt idx="1">
                  <c:v>49.407</c:v>
                </c:pt>
                <c:pt idx="2">
                  <c:v>49.773</c:v>
                </c:pt>
                <c:pt idx="3">
                  <c:v>49.697</c:v>
                </c:pt>
                <c:pt idx="4">
                  <c:v>49.301</c:v>
                </c:pt>
                <c:pt idx="5">
                  <c:v>49.5113333333</c:v>
                </c:pt>
                <c:pt idx="6">
                  <c:v>49.381</c:v>
                </c:pt>
                <c:pt idx="7">
                  <c:v>49.187</c:v>
                </c:pt>
                <c:pt idx="8">
                  <c:v>48.7666666667</c:v>
                </c:pt>
                <c:pt idx="9">
                  <c:v>48.6576666667</c:v>
                </c:pt>
                <c:pt idx="10">
                  <c:v>48.6343333333</c:v>
                </c:pt>
                <c:pt idx="11">
                  <c:v>48.8686666667</c:v>
                </c:pt>
                <c:pt idx="12">
                  <c:v>49.009</c:v>
                </c:pt>
                <c:pt idx="13">
                  <c:v>48.9836666667</c:v>
                </c:pt>
                <c:pt idx="14">
                  <c:v>49.2866666667</c:v>
                </c:pt>
                <c:pt idx="15">
                  <c:v>49.362</c:v>
                </c:pt>
                <c:pt idx="16">
                  <c:v>49.37</c:v>
                </c:pt>
                <c:pt idx="17">
                  <c:v>49.4963333333</c:v>
                </c:pt>
                <c:pt idx="18">
                  <c:v>49.6546666667</c:v>
                </c:pt>
                <c:pt idx="19">
                  <c:v>49.8973333333</c:v>
                </c:pt>
                <c:pt idx="20">
                  <c:v>49.873</c:v>
                </c:pt>
                <c:pt idx="21">
                  <c:v>49.717</c:v>
                </c:pt>
                <c:pt idx="22">
                  <c:v>49.7246666667</c:v>
                </c:pt>
                <c:pt idx="23">
                  <c:v>49.635</c:v>
                </c:pt>
                <c:pt idx="24">
                  <c:v>50.0086666667</c:v>
                </c:pt>
                <c:pt idx="25">
                  <c:v>50.3053333333</c:v>
                </c:pt>
                <c:pt idx="26">
                  <c:v>50.4763333333</c:v>
                </c:pt>
                <c:pt idx="27">
                  <c:v>50.5623333333</c:v>
                </c:pt>
                <c:pt idx="28">
                  <c:v>50.4826666667</c:v>
                </c:pt>
                <c:pt idx="29">
                  <c:v>50.672</c:v>
                </c:pt>
                <c:pt idx="30">
                  <c:v>50.9176666667</c:v>
                </c:pt>
                <c:pt idx="31">
                  <c:v>50.9723333333</c:v>
                </c:pt>
                <c:pt idx="32">
                  <c:v>50.667</c:v>
                </c:pt>
                <c:pt idx="33">
                  <c:v>50.519</c:v>
                </c:pt>
                <c:pt idx="34">
                  <c:v>50.5303333333</c:v>
                </c:pt>
                <c:pt idx="35">
                  <c:v>50.5626666667</c:v>
                </c:pt>
                <c:pt idx="36">
                  <c:v>51.0266666667</c:v>
                </c:pt>
                <c:pt idx="37">
                  <c:v>51.014</c:v>
                </c:pt>
                <c:pt idx="38">
                  <c:v>51.542</c:v>
                </c:pt>
                <c:pt idx="39">
                  <c:v>51.858</c:v>
                </c:pt>
                <c:pt idx="40">
                  <c:v>51.752</c:v>
                </c:pt>
                <c:pt idx="41">
                  <c:v>51.7233333333</c:v>
                </c:pt>
                <c:pt idx="42">
                  <c:v>51.9853333333</c:v>
                </c:pt>
                <c:pt idx="43">
                  <c:v>52.033</c:v>
                </c:pt>
                <c:pt idx="44">
                  <c:v>52.378</c:v>
                </c:pt>
                <c:pt idx="45">
                  <c:v>52.2223333333</c:v>
                </c:pt>
                <c:pt idx="46">
                  <c:v>52.5136666667</c:v>
                </c:pt>
                <c:pt idx="47">
                  <c:v>52.6393333333</c:v>
                </c:pt>
                <c:pt idx="48">
                  <c:v>52.4473333333</c:v>
                </c:pt>
                <c:pt idx="49">
                  <c:v>52.4396666667</c:v>
                </c:pt>
                <c:pt idx="50">
                  <c:v>52.4366666667</c:v>
                </c:pt>
                <c:pt idx="51">
                  <c:v>52.3803333333</c:v>
                </c:pt>
                <c:pt idx="52">
                  <c:v>52.5383333333</c:v>
                </c:pt>
                <c:pt idx="53">
                  <c:v>52.9316666667</c:v>
                </c:pt>
                <c:pt idx="54">
                  <c:v>52.7776666667</c:v>
                </c:pt>
                <c:pt idx="55">
                  <c:v>52.5053333333</c:v>
                </c:pt>
                <c:pt idx="56">
                  <c:v>52.3006666667</c:v>
                </c:pt>
                <c:pt idx="57">
                  <c:v>52.6273333333</c:v>
                </c:pt>
                <c:pt idx="58">
                  <c:v>52.7676666667</c:v>
                </c:pt>
                <c:pt idx="59">
                  <c:v>52.6583333333</c:v>
                </c:pt>
                <c:pt idx="60">
                  <c:v>52.6153333333</c:v>
                </c:pt>
                <c:pt idx="61">
                  <c:v>52.7456666667</c:v>
                </c:pt>
                <c:pt idx="62">
                  <c:v>52.9723333333</c:v>
                </c:pt>
                <c:pt idx="63">
                  <c:v>53.074</c:v>
                </c:pt>
                <c:pt idx="64">
                  <c:v>53.253</c:v>
                </c:pt>
                <c:pt idx="65">
                  <c:v>53.0866666667</c:v>
                </c:pt>
                <c:pt idx="66">
                  <c:v>52.651</c:v>
                </c:pt>
                <c:pt idx="67">
                  <c:v>52.7466666667</c:v>
                </c:pt>
                <c:pt idx="68">
                  <c:v>52.6573333333</c:v>
                </c:pt>
                <c:pt idx="69">
                  <c:v>52.632</c:v>
                </c:pt>
                <c:pt idx="70">
                  <c:v>52.7346666667</c:v>
                </c:pt>
                <c:pt idx="71">
                  <c:v>52.473</c:v>
                </c:pt>
                <c:pt idx="72">
                  <c:v>52.181</c:v>
                </c:pt>
                <c:pt idx="73">
                  <c:v>52.164</c:v>
                </c:pt>
                <c:pt idx="74">
                  <c:v>51.804</c:v>
                </c:pt>
                <c:pt idx="75">
                  <c:v>52.248</c:v>
                </c:pt>
                <c:pt idx="76">
                  <c:v>52.2126666667</c:v>
                </c:pt>
                <c:pt idx="77">
                  <c:v>52.5466666667</c:v>
                </c:pt>
                <c:pt idx="78">
                  <c:v>52.66</c:v>
                </c:pt>
                <c:pt idx="79">
                  <c:v>52.722</c:v>
                </c:pt>
                <c:pt idx="80">
                  <c:v>53.075</c:v>
                </c:pt>
                <c:pt idx="81">
                  <c:v>52.826</c:v>
                </c:pt>
                <c:pt idx="82">
                  <c:v>52.7963333333</c:v>
                </c:pt>
                <c:pt idx="83">
                  <c:v>52.5943333333</c:v>
                </c:pt>
                <c:pt idx="84">
                  <c:v>53.1256666667</c:v>
                </c:pt>
                <c:pt idx="85">
                  <c:v>53.2626666667</c:v>
                </c:pt>
                <c:pt idx="86">
                  <c:v>53.431</c:v>
                </c:pt>
                <c:pt idx="87">
                  <c:v>53.307</c:v>
                </c:pt>
                <c:pt idx="88">
                  <c:v>53.0916666667</c:v>
                </c:pt>
                <c:pt idx="89">
                  <c:v>53.405</c:v>
                </c:pt>
                <c:pt idx="90">
                  <c:v>53.4793333333</c:v>
                </c:pt>
                <c:pt idx="91">
                  <c:v>53.629</c:v>
                </c:pt>
                <c:pt idx="92">
                  <c:v>53.3503333333</c:v>
                </c:pt>
                <c:pt idx="93">
                  <c:v>53.7353333333</c:v>
                </c:pt>
                <c:pt idx="94">
                  <c:v>53.5903333333</c:v>
                </c:pt>
                <c:pt idx="95">
                  <c:v>53.7876666667</c:v>
                </c:pt>
                <c:pt idx="96">
                  <c:v>54.4306666667</c:v>
                </c:pt>
                <c:pt idx="97">
                  <c:v>54.2503333333</c:v>
                </c:pt>
                <c:pt idx="98">
                  <c:v>54.1466666667</c:v>
                </c:pt>
                <c:pt idx="99">
                  <c:v>54.1966666667</c:v>
                </c:pt>
                <c:pt idx="100">
                  <c:v>54.186</c:v>
                </c:pt>
                <c:pt idx="101">
                  <c:v>54.1976666667</c:v>
                </c:pt>
                <c:pt idx="102">
                  <c:v>54.3133333333</c:v>
                </c:pt>
                <c:pt idx="103">
                  <c:v>54.2276666667</c:v>
                </c:pt>
                <c:pt idx="104">
                  <c:v>54.4743333333</c:v>
                </c:pt>
                <c:pt idx="105">
                  <c:v>54.382</c:v>
                </c:pt>
                <c:pt idx="106">
                  <c:v>54.607</c:v>
                </c:pt>
                <c:pt idx="107">
                  <c:v>54.1963333333</c:v>
                </c:pt>
                <c:pt idx="108">
                  <c:v>54.1476666667</c:v>
                </c:pt>
                <c:pt idx="109">
                  <c:v>54.2743333333</c:v>
                </c:pt>
                <c:pt idx="110">
                  <c:v>54.116</c:v>
                </c:pt>
                <c:pt idx="111">
                  <c:v>54.508</c:v>
                </c:pt>
                <c:pt idx="112">
                  <c:v>54.7643333333</c:v>
                </c:pt>
                <c:pt idx="113">
                  <c:v>54.5206666667</c:v>
                </c:pt>
                <c:pt idx="114">
                  <c:v>54.175</c:v>
                </c:pt>
                <c:pt idx="115">
                  <c:v>54.2846666667</c:v>
                </c:pt>
                <c:pt idx="116">
                  <c:v>54.3986666667</c:v>
                </c:pt>
                <c:pt idx="117">
                  <c:v>54.2326666667</c:v>
                </c:pt>
                <c:pt idx="118">
                  <c:v>54.2416666667</c:v>
                </c:pt>
                <c:pt idx="119">
                  <c:v>54.1723333333</c:v>
                </c:pt>
                <c:pt idx="120">
                  <c:v>54.1306666667</c:v>
                </c:pt>
                <c:pt idx="121">
                  <c:v>54.075</c:v>
                </c:pt>
                <c:pt idx="122">
                  <c:v>54.3183333333</c:v>
                </c:pt>
                <c:pt idx="123">
                  <c:v>54.0056666667</c:v>
                </c:pt>
                <c:pt idx="124">
                  <c:v>54.3123333333</c:v>
                </c:pt>
                <c:pt idx="125">
                  <c:v>54.2976666667</c:v>
                </c:pt>
                <c:pt idx="126">
                  <c:v>53.848</c:v>
                </c:pt>
                <c:pt idx="127">
                  <c:v>54.3583333333</c:v>
                </c:pt>
                <c:pt idx="128">
                  <c:v>54.566</c:v>
                </c:pt>
                <c:pt idx="129">
                  <c:v>54.385</c:v>
                </c:pt>
                <c:pt idx="130">
                  <c:v>54.6126666667</c:v>
                </c:pt>
                <c:pt idx="131">
                  <c:v>54.743</c:v>
                </c:pt>
                <c:pt idx="132">
                  <c:v>54.897</c:v>
                </c:pt>
                <c:pt idx="133">
                  <c:v>55.3013333333</c:v>
                </c:pt>
                <c:pt idx="134">
                  <c:v>55.12</c:v>
                </c:pt>
                <c:pt idx="135">
                  <c:v>55.468</c:v>
                </c:pt>
                <c:pt idx="136">
                  <c:v>55.3126666667</c:v>
                </c:pt>
                <c:pt idx="137">
                  <c:v>55.6146666667</c:v>
                </c:pt>
                <c:pt idx="138">
                  <c:v>56.0186666667</c:v>
                </c:pt>
                <c:pt idx="139">
                  <c:v>55.8766666667</c:v>
                </c:pt>
                <c:pt idx="140">
                  <c:v>55.9903333333</c:v>
                </c:pt>
                <c:pt idx="141">
                  <c:v>55.8383333333</c:v>
                </c:pt>
                <c:pt idx="142">
                  <c:v>55.519</c:v>
                </c:pt>
                <c:pt idx="143">
                  <c:v>55.808</c:v>
                </c:pt>
                <c:pt idx="144">
                  <c:v>55.8683333333</c:v>
                </c:pt>
                <c:pt idx="145">
                  <c:v>55.9053333333</c:v>
                </c:pt>
                <c:pt idx="146">
                  <c:v>55.9473333333</c:v>
                </c:pt>
                <c:pt idx="147">
                  <c:v>56.1896666667</c:v>
                </c:pt>
                <c:pt idx="148">
                  <c:v>56.6863333333</c:v>
                </c:pt>
                <c:pt idx="149">
                  <c:v>56.5893333333</c:v>
                </c:pt>
                <c:pt idx="150">
                  <c:v>57.0273333333</c:v>
                </c:pt>
                <c:pt idx="151">
                  <c:v>57.124</c:v>
                </c:pt>
                <c:pt idx="152">
                  <c:v>56.9576666667</c:v>
                </c:pt>
                <c:pt idx="153">
                  <c:v>56.9266666667</c:v>
                </c:pt>
                <c:pt idx="154">
                  <c:v>57.0026666667</c:v>
                </c:pt>
                <c:pt idx="155">
                  <c:v>56.9506666667</c:v>
                </c:pt>
                <c:pt idx="156">
                  <c:v>57.223</c:v>
                </c:pt>
                <c:pt idx="157">
                  <c:v>57.0253333333</c:v>
                </c:pt>
                <c:pt idx="158">
                  <c:v>56.9683333333</c:v>
                </c:pt>
                <c:pt idx="159">
                  <c:v>57.06</c:v>
                </c:pt>
                <c:pt idx="160">
                  <c:v>56.7323333333</c:v>
                </c:pt>
                <c:pt idx="161">
                  <c:v>56.8543333333</c:v>
                </c:pt>
                <c:pt idx="162">
                  <c:v>56.9</c:v>
                </c:pt>
                <c:pt idx="163">
                  <c:v>56.777</c:v>
                </c:pt>
                <c:pt idx="164">
                  <c:v>56.7403333333</c:v>
                </c:pt>
                <c:pt idx="165">
                  <c:v>56.643</c:v>
                </c:pt>
                <c:pt idx="166">
                  <c:v>56.6726666667</c:v>
                </c:pt>
                <c:pt idx="167">
                  <c:v>56.4223333333</c:v>
                </c:pt>
                <c:pt idx="168">
                  <c:v>56.1663333333</c:v>
                </c:pt>
                <c:pt idx="169">
                  <c:v>56.251</c:v>
                </c:pt>
                <c:pt idx="170">
                  <c:v>56.2203333333</c:v>
                </c:pt>
                <c:pt idx="171">
                  <c:v>56.4626666667</c:v>
                </c:pt>
                <c:pt idx="172">
                  <c:v>56.7263333333</c:v>
                </c:pt>
                <c:pt idx="173">
                  <c:v>56.954</c:v>
                </c:pt>
                <c:pt idx="174">
                  <c:v>57.107</c:v>
                </c:pt>
                <c:pt idx="175">
                  <c:v>56.8656666667</c:v>
                </c:pt>
                <c:pt idx="176">
                  <c:v>56.6056666667</c:v>
                </c:pt>
                <c:pt idx="177">
                  <c:v>56.7236666667</c:v>
                </c:pt>
                <c:pt idx="178">
                  <c:v>56.6013333333</c:v>
                </c:pt>
                <c:pt idx="179">
                  <c:v>56.7656666667</c:v>
                </c:pt>
                <c:pt idx="180">
                  <c:v>56.9886666667</c:v>
                </c:pt>
                <c:pt idx="181">
                  <c:v>57.014</c:v>
                </c:pt>
                <c:pt idx="182">
                  <c:v>57.3803333333</c:v>
                </c:pt>
                <c:pt idx="183">
                  <c:v>57.752</c:v>
                </c:pt>
                <c:pt idx="184">
                  <c:v>57.8143333333</c:v>
                </c:pt>
                <c:pt idx="185">
                  <c:v>57.8333333333</c:v>
                </c:pt>
                <c:pt idx="186">
                  <c:v>57.875</c:v>
                </c:pt>
                <c:pt idx="187">
                  <c:v>57.7013333333</c:v>
                </c:pt>
                <c:pt idx="188">
                  <c:v>57.7083333333</c:v>
                </c:pt>
                <c:pt idx="189">
                  <c:v>57.803</c:v>
                </c:pt>
                <c:pt idx="190">
                  <c:v>58.1033333333</c:v>
                </c:pt>
                <c:pt idx="191">
                  <c:v>58.598</c:v>
                </c:pt>
                <c:pt idx="192">
                  <c:v>58.1783333333</c:v>
                </c:pt>
                <c:pt idx="193">
                  <c:v>58.291</c:v>
                </c:pt>
                <c:pt idx="194">
                  <c:v>58.264</c:v>
                </c:pt>
                <c:pt idx="195">
                  <c:v>58.1906666667</c:v>
                </c:pt>
                <c:pt idx="196">
                  <c:v>58.3423333333</c:v>
                </c:pt>
                <c:pt idx="197">
                  <c:v>58.5346666667</c:v>
                </c:pt>
                <c:pt idx="198">
                  <c:v>58.3636666667</c:v>
                </c:pt>
                <c:pt idx="199">
                  <c:v>58.269</c:v>
                </c:pt>
                <c:pt idx="200">
                  <c:v>58.607</c:v>
                </c:pt>
                <c:pt idx="201">
                  <c:v>58.4596666667</c:v>
                </c:pt>
                <c:pt idx="202">
                  <c:v>58.4363333333</c:v>
                </c:pt>
                <c:pt idx="203">
                  <c:v>58.2976666667</c:v>
                </c:pt>
                <c:pt idx="204">
                  <c:v>58.0476666667</c:v>
                </c:pt>
                <c:pt idx="205">
                  <c:v>58.6686666667</c:v>
                </c:pt>
                <c:pt idx="206">
                  <c:v>58.965</c:v>
                </c:pt>
                <c:pt idx="207">
                  <c:v>58.576</c:v>
                </c:pt>
                <c:pt idx="208">
                  <c:v>58.5556666667</c:v>
                </c:pt>
                <c:pt idx="209">
                  <c:v>58.3936666667</c:v>
                </c:pt>
                <c:pt idx="210">
                  <c:v>57.928</c:v>
                </c:pt>
                <c:pt idx="211">
                  <c:v>57.735</c:v>
                </c:pt>
                <c:pt idx="212">
                  <c:v>57.561</c:v>
                </c:pt>
                <c:pt idx="213">
                  <c:v>57.5203333333</c:v>
                </c:pt>
                <c:pt idx="214">
                  <c:v>57.5903333333</c:v>
                </c:pt>
                <c:pt idx="215">
                  <c:v>57.477</c:v>
                </c:pt>
                <c:pt idx="216">
                  <c:v>57.329</c:v>
                </c:pt>
                <c:pt idx="217">
                  <c:v>57.413</c:v>
                </c:pt>
                <c:pt idx="218">
                  <c:v>57.3776666667</c:v>
                </c:pt>
                <c:pt idx="219">
                  <c:v>57.787</c:v>
                </c:pt>
                <c:pt idx="220">
                  <c:v>57.875</c:v>
                </c:pt>
                <c:pt idx="221">
                  <c:v>57.3133333333</c:v>
                </c:pt>
                <c:pt idx="222">
                  <c:v>57.812</c:v>
                </c:pt>
                <c:pt idx="223">
                  <c:v>58.0856666667</c:v>
                </c:pt>
                <c:pt idx="224">
                  <c:v>58.561</c:v>
                </c:pt>
                <c:pt idx="225">
                  <c:v>58.4206666667</c:v>
                </c:pt>
                <c:pt idx="226">
                  <c:v>58.1926666667</c:v>
                </c:pt>
                <c:pt idx="227">
                  <c:v>58.4273333333</c:v>
                </c:pt>
                <c:pt idx="228">
                  <c:v>58.523</c:v>
                </c:pt>
                <c:pt idx="229">
                  <c:v>58.7503333333</c:v>
                </c:pt>
                <c:pt idx="230">
                  <c:v>58.8003333333</c:v>
                </c:pt>
                <c:pt idx="231">
                  <c:v>58.802</c:v>
                </c:pt>
                <c:pt idx="232">
                  <c:v>58.7903333333</c:v>
                </c:pt>
                <c:pt idx="233">
                  <c:v>58.277</c:v>
                </c:pt>
                <c:pt idx="234">
                  <c:v>58.249</c:v>
                </c:pt>
                <c:pt idx="235">
                  <c:v>57.884</c:v>
                </c:pt>
                <c:pt idx="236">
                  <c:v>57.6046666667</c:v>
                </c:pt>
                <c:pt idx="237">
                  <c:v>58.2483333333</c:v>
                </c:pt>
                <c:pt idx="238">
                  <c:v>58.013</c:v>
                </c:pt>
                <c:pt idx="239">
                  <c:v>58.0843333333</c:v>
                </c:pt>
                <c:pt idx="240">
                  <c:v>57.9983333333</c:v>
                </c:pt>
                <c:pt idx="241">
                  <c:v>58.4046666667</c:v>
                </c:pt>
                <c:pt idx="242">
                  <c:v>58.2186666667</c:v>
                </c:pt>
                <c:pt idx="243">
                  <c:v>58.3626666667</c:v>
                </c:pt>
                <c:pt idx="244">
                  <c:v>58.2543333333</c:v>
                </c:pt>
                <c:pt idx="245">
                  <c:v>58.3253333333</c:v>
                </c:pt>
                <c:pt idx="246">
                  <c:v>58.4923333333</c:v>
                </c:pt>
                <c:pt idx="247">
                  <c:v>58.639</c:v>
                </c:pt>
                <c:pt idx="248">
                  <c:v>58.6823333333</c:v>
                </c:pt>
                <c:pt idx="249">
                  <c:v>58.434</c:v>
                </c:pt>
                <c:pt idx="250">
                  <c:v>58.3366666667</c:v>
                </c:pt>
                <c:pt idx="251">
                  <c:v>58.6</c:v>
                </c:pt>
                <c:pt idx="252">
                  <c:v>58.5913333333</c:v>
                </c:pt>
                <c:pt idx="253">
                  <c:v>58.5363333333</c:v>
                </c:pt>
                <c:pt idx="254">
                  <c:v>58.192</c:v>
                </c:pt>
                <c:pt idx="255">
                  <c:v>58.835</c:v>
                </c:pt>
                <c:pt idx="256">
                  <c:v>58.6246666667</c:v>
                </c:pt>
                <c:pt idx="257">
                  <c:v>58.4226666667</c:v>
                </c:pt>
                <c:pt idx="258">
                  <c:v>58.673</c:v>
                </c:pt>
                <c:pt idx="259">
                  <c:v>58.6803333333</c:v>
                </c:pt>
                <c:pt idx="260">
                  <c:v>58.4816666667</c:v>
                </c:pt>
                <c:pt idx="261">
                  <c:v>58.6356666667</c:v>
                </c:pt>
                <c:pt idx="262">
                  <c:v>58.5976666667</c:v>
                </c:pt>
                <c:pt idx="263">
                  <c:v>59.0736666667</c:v>
                </c:pt>
                <c:pt idx="264">
                  <c:v>59.4203333333</c:v>
                </c:pt>
                <c:pt idx="265">
                  <c:v>59.556</c:v>
                </c:pt>
                <c:pt idx="266">
                  <c:v>59.6826666667</c:v>
                </c:pt>
                <c:pt idx="267">
                  <c:v>59.5946666667</c:v>
                </c:pt>
                <c:pt idx="268">
                  <c:v>59.9186666667</c:v>
                </c:pt>
                <c:pt idx="269">
                  <c:v>60.1616666667</c:v>
                </c:pt>
                <c:pt idx="270">
                  <c:v>60.279</c:v>
                </c:pt>
                <c:pt idx="271">
                  <c:v>59.935</c:v>
                </c:pt>
                <c:pt idx="272">
                  <c:v>60.1153333333</c:v>
                </c:pt>
                <c:pt idx="273">
                  <c:v>60.0803333333</c:v>
                </c:pt>
                <c:pt idx="274">
                  <c:v>60.2146666667</c:v>
                </c:pt>
                <c:pt idx="275">
                  <c:v>60.409</c:v>
                </c:pt>
                <c:pt idx="276">
                  <c:v>60.3856666667</c:v>
                </c:pt>
                <c:pt idx="277">
                  <c:v>60.5996666667</c:v>
                </c:pt>
                <c:pt idx="278">
                  <c:v>60.6353333333</c:v>
                </c:pt>
                <c:pt idx="279">
                  <c:v>60.749</c:v>
                </c:pt>
                <c:pt idx="280">
                  <c:v>60.8136666667</c:v>
                </c:pt>
                <c:pt idx="281">
                  <c:v>60.7926666667</c:v>
                </c:pt>
                <c:pt idx="282">
                  <c:v>60.8996666667</c:v>
                </c:pt>
                <c:pt idx="283">
                  <c:v>60.807</c:v>
                </c:pt>
                <c:pt idx="284">
                  <c:v>61.1833333333</c:v>
                </c:pt>
                <c:pt idx="285">
                  <c:v>61.0796666667</c:v>
                </c:pt>
                <c:pt idx="286">
                  <c:v>61.4426666667</c:v>
                </c:pt>
                <c:pt idx="287">
                  <c:v>61.6156666667</c:v>
                </c:pt>
                <c:pt idx="288">
                  <c:v>61.5</c:v>
                </c:pt>
                <c:pt idx="289">
                  <c:v>61.5413333333</c:v>
                </c:pt>
                <c:pt idx="290">
                  <c:v>61.6576666667</c:v>
                </c:pt>
                <c:pt idx="291">
                  <c:v>61.7426666667</c:v>
                </c:pt>
                <c:pt idx="292">
                  <c:v>61.9583333333</c:v>
                </c:pt>
                <c:pt idx="293">
                  <c:v>61.9546666667</c:v>
                </c:pt>
                <c:pt idx="294">
                  <c:v>62.196</c:v>
                </c:pt>
                <c:pt idx="295">
                  <c:v>62.0033333333</c:v>
                </c:pt>
                <c:pt idx="296">
                  <c:v>61.9506666667</c:v>
                </c:pt>
                <c:pt idx="297">
                  <c:v>62.028</c:v>
                </c:pt>
                <c:pt idx="298">
                  <c:v>62.143</c:v>
                </c:pt>
                <c:pt idx="299">
                  <c:v>62.1456666667</c:v>
                </c:pt>
                <c:pt idx="300">
                  <c:v>62.1796666667</c:v>
                </c:pt>
                <c:pt idx="301">
                  <c:v>62.35</c:v>
                </c:pt>
                <c:pt idx="302">
                  <c:v>62.328</c:v>
                </c:pt>
                <c:pt idx="303">
                  <c:v>62.2503333333</c:v>
                </c:pt>
                <c:pt idx="304">
                  <c:v>62.07</c:v>
                </c:pt>
                <c:pt idx="305">
                  <c:v>62.27</c:v>
                </c:pt>
                <c:pt idx="306">
                  <c:v>62.2603333333</c:v>
                </c:pt>
                <c:pt idx="307">
                  <c:v>61.944</c:v>
                </c:pt>
                <c:pt idx="308">
                  <c:v>62.023</c:v>
                </c:pt>
                <c:pt idx="309">
                  <c:v>62.035</c:v>
                </c:pt>
                <c:pt idx="310">
                  <c:v>62.009</c:v>
                </c:pt>
                <c:pt idx="311">
                  <c:v>61.9423333333</c:v>
                </c:pt>
                <c:pt idx="312">
                  <c:v>61.8343333333</c:v>
                </c:pt>
                <c:pt idx="313">
                  <c:v>61.772</c:v>
                </c:pt>
                <c:pt idx="314">
                  <c:v>61.586</c:v>
                </c:pt>
                <c:pt idx="315">
                  <c:v>61.3243333333</c:v>
                </c:pt>
                <c:pt idx="316">
                  <c:v>61.394</c:v>
                </c:pt>
                <c:pt idx="317">
                  <c:v>61.0733333333</c:v>
                </c:pt>
                <c:pt idx="318">
                  <c:v>60.925</c:v>
                </c:pt>
                <c:pt idx="319">
                  <c:v>60.7856666667</c:v>
                </c:pt>
                <c:pt idx="320">
                  <c:v>60.806</c:v>
                </c:pt>
                <c:pt idx="321">
                  <c:v>60.876</c:v>
                </c:pt>
                <c:pt idx="322">
                  <c:v>61.057</c:v>
                </c:pt>
                <c:pt idx="323">
                  <c:v>61.3703333333</c:v>
                </c:pt>
                <c:pt idx="324">
                  <c:v>61.0293333333</c:v>
                </c:pt>
                <c:pt idx="325">
                  <c:v>61.228</c:v>
                </c:pt>
                <c:pt idx="326">
                  <c:v>61.2973333333</c:v>
                </c:pt>
                <c:pt idx="327">
                  <c:v>61.1356666667</c:v>
                </c:pt>
                <c:pt idx="328">
                  <c:v>60.9896666667</c:v>
                </c:pt>
                <c:pt idx="329">
                  <c:v>60.9736666667</c:v>
                </c:pt>
                <c:pt idx="330">
                  <c:v>60.7653333333</c:v>
                </c:pt>
                <c:pt idx="331">
                  <c:v>60.8883333333</c:v>
                </c:pt>
                <c:pt idx="332">
                  <c:v>61.3276666667</c:v>
                </c:pt>
                <c:pt idx="333">
                  <c:v>61.331</c:v>
                </c:pt>
                <c:pt idx="334">
                  <c:v>61.545</c:v>
                </c:pt>
                <c:pt idx="335">
                  <c:v>61.532</c:v>
                </c:pt>
                <c:pt idx="336">
                  <c:v>61.5236666667</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Sales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50112"/>
      </c:valAx>
      <c:valAx>
        <c:axId val="48650112"/>
        <c:scaling>
          <c:orientation val="minMax"/>
          <c:max val="366"/>
          <c:min val="1"/>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Day in the supplied data</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Arial"/>
                <a:ea typeface="Arial"/>
                <a:cs typeface="Arial"/>
              </a:defRPr>
            </a:pPr>
          </a:p>
        </c:txPr>
        <c:crossAx val="48672768"/>
        <c:majorUnit val="90"/>
      </c:valAx>
      <c:spPr>
        <a:solidFill xmlns:a="http://schemas.openxmlformats.org/drawingml/2006/main">
          <a:srgbClr val="EEECE1"/>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Arial"/>
              <a:ea typeface="Arial"/>
              <a:cs typeface="Arial"/>
            </a:defRPr>
          </a:pPr>
        </a:p>
      </c:txPr>
    </c:legend>
    <c:plotVisOnly val="1"/>
  </c:chart>
  <c:spPr>
    <a:solidFill xmlns:a="http://schemas.openxmlformats.org/drawingml/2006/main">
      <a:srgbClr val="EEECE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64c0e216b3a4181"/>
          <a:stretch xmlns:a="http://schemas.openxmlformats.org/drawingml/2006/main"/>
        </p:blipFill>
        <p:spPr>
          <a:xfrm xmlns:a="http://schemas.openxmlformats.org/drawingml/2006/main">
            <a:off x="610132" y="514350"/>
            <a:ext cx="3427937" cy="593408"/>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70995B7-FA77-43DB-A8E2-101DD81C16CD}"/>
              </a:ext>
            </a:extLst>
          </p:cNvPr>
          <p:cNvSpPr>
            <a:spLocks xmlns:a="http://schemas.openxmlformats.org/drawingml/2006/main" noGrp="1"/>
          </p:cNvSpPr>
          <p:nvPr/>
        </p:nvSpPr>
        <p:spPr>
          <a:xfrm xmlns:a="http://schemas.openxmlformats.org/drawingml/2006/main">
            <a:off x="609600" y="1990725"/>
            <a:ext cx="1090612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575" b="1">
                <a:solidFill>
                  <a:srgbClr val="CF3338"/>
                </a:solidFill>
                <a:latin typeface="Arial Black"/>
                <a:ea typeface="Arial Black"/>
                <a:cs typeface="Arial Black"/>
              </a:defRPr>
            </a:pPr>
            <a:r>
              <a:rPr sz="4575" b="1">
                <a:solidFill>
                  <a:srgbClr val="CF3338"/>
                </a:solidFill>
                <a:latin typeface="Arial Black"/>
                <a:ea typeface="Arial Black"/>
                <a:cs typeface="Arial Black"/>
              </a:rPr>
              <a:t>Ten thousand “what ifs”</a:t>
            </a:r>
          </a:p>
        </p:txBody>
      </p:sp>
      <p:sp>
        <p:nvSpPr>
          <p:cNvPr id="3" name="">
            <a:extLst xmlns:a="http://schemas.openxmlformats.org/drawingml/2006/main">
              <a:ext uri="{FF2B5EF4-FFF2-40B4-BE49-F238E27FC236}">
                <a16:creationId xmlns:a16="http://schemas.microsoft.com/office/drawing/2014/main" id="{B6340407-F6A4-42E1-AAE4-7414983F995C}"/>
              </a:ext>
            </a:extLst>
          </p:cNvPr>
          <p:cNvSpPr>
            <a:spLocks xmlns:a="http://schemas.openxmlformats.org/drawingml/2006/main" noGrp="1"/>
          </p:cNvSpPr>
          <p:nvPr/>
        </p:nvSpPr>
        <p:spPr>
          <a:xfrm xmlns:a="http://schemas.openxmlformats.org/drawingml/2006/main">
            <a:off x="609600" y="3552825"/>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75" b="1">
                <a:solidFill>
                  <a:srgbClr val="1F2120"/>
                </a:solidFill>
                <a:latin typeface="Arial"/>
                <a:ea typeface="Arial"/>
                <a:cs typeface="Arial"/>
              </a:defRPr>
            </a:pPr>
            <a:r>
              <a:rPr sz="2775" b="1">
                <a:solidFill>
                  <a:srgbClr val="1F2120"/>
                </a:solidFill>
                <a:latin typeface="Arial"/>
                <a:ea typeface="Arial"/>
                <a:cs typeface="Arial"/>
              </a:rPr>
              <a:t>Simulation and useful workbook inputs</a:t>
            </a:r>
          </a:p>
        </p:txBody>
      </p:sp>
      <p:sp>
        <p:nvSpPr>
          <p:cNvPr id="4" name="">
            <a:extLst xmlns:a="http://schemas.openxmlformats.org/drawingml/2006/main">
              <a:ext uri="{FF2B5EF4-FFF2-40B4-BE49-F238E27FC236}">
                <a16:creationId xmlns:a16="http://schemas.microsoft.com/office/drawing/2014/main" id="{FF1ED90D-ED7C-4077-A3FD-EADA612006DD}"/>
              </a:ext>
            </a:extLst>
          </p:cNvPr>
          <p:cNvSpPr>
            <a:spLocks xmlns:a="http://schemas.openxmlformats.org/drawingml/2006/main" noGrp="1"/>
          </p:cNvSpPr>
          <p:nvPr/>
        </p:nvSpPr>
        <p:spPr>
          <a:xfrm xmlns:a="http://schemas.openxmlformats.org/drawingml/2006/main">
            <a:off x="609600" y="4533900"/>
            <a:ext cx="100965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Compare possible profits before choosing how much stock to buy.</a:t>
            </a:r>
          </a:p>
        </p:txBody>
      </p:sp>
      <p:sp>
        <p:nvSpPr>
          <p:cNvPr id="5" name="">
            <a:extLst xmlns:a="http://schemas.openxmlformats.org/drawingml/2006/main">
              <a:ext uri="{FF2B5EF4-FFF2-40B4-BE49-F238E27FC236}">
                <a16:creationId xmlns:a16="http://schemas.microsoft.com/office/drawing/2014/main" id="{48BFBF15-7656-4902-B639-4AC0A3C7A4A9}"/>
              </a:ext>
            </a:extLst>
          </p:cNvPr>
          <p:cNvSpPr>
            <a:spLocks xmlns:a="http://schemas.openxmlformats.org/drawingml/2006/main" noGrp="1"/>
          </p:cNvSpPr>
          <p:nvPr/>
        </p:nvSpPr>
        <p:spPr>
          <a:xfrm xmlns:a="http://schemas.openxmlformats.org/drawingml/2006/main">
            <a:off x="609600" y="6048375"/>
            <a:ext cx="10287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725" b="0">
                <a:solidFill>
                  <a:srgbClr val="707070"/>
                </a:solidFill>
                <a:latin typeface="Arial"/>
                <a:ea typeface="Arial"/>
                <a:cs typeface="Arial"/>
              </a:defRPr>
            </a:pPr>
            <a:r>
              <a:rPr sz="1725" b="0">
                <a:solidFill>
                  <a:srgbClr val="707070"/>
                </a:solidFill>
                <a:latin typeface="Arial"/>
                <a:ea typeface="Arial"/>
                <a:cs typeface="Arial"/>
              </a:rPr>
              <a:t>George Mount  /  Session 4  /  45 minutes</a:t>
            </a:r>
          </a:p>
        </p:txBody>
      </p:sp>
    </p:spTree>
    <p:extLst>
      <p:ext uri="{BB962C8B-B14F-4D97-AF65-F5344CB8AC3E}">
        <p14:creationId xmlns:p14="http://schemas.microsoft.com/office/powerpoint/2010/main" val="1972145813"/>
      </p:ext>
    </p:extLst>
  </p:cSld>
</p:sld>
</file>

<file path=ppt/slides/slide2.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E72A4F-101A-4CD6-8CD2-7FACB32AE152}"/>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One forecast leaves out the range of outcomes</a:t>
            </a:r>
          </a:p>
        </p:txBody>
      </p:sp>
      <p:sp>
        <p:nvSpPr>
          <p:cNvPr id="2" name="">
            <a:extLst xmlns:a="http://schemas.openxmlformats.org/drawingml/2006/main">
              <a:ext uri="{FF2B5EF4-FFF2-40B4-BE49-F238E27FC236}">
                <a16:creationId xmlns:a16="http://schemas.microsoft.com/office/drawing/2014/main" id="{58D27AB1-5539-4243-9AA1-BD3652796760}"/>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42C36BDC-B141-4367-BC39-21CF06FE9871}"/>
              </a:ext>
            </a:extLst>
          </p:cNvPr>
          <p:cNvSpPr>
            <a:spLocks xmlns:a="http://schemas.openxmlformats.org/drawingml/2006/main" noGrp="1"/>
          </p:cNvSpPr>
          <p:nvPr/>
        </p:nvSpPr>
        <p:spPr>
          <a:xfrm xmlns:a="http://schemas.openxmlformats.org/drawingml/2006/main">
            <a:off x="609600" y="2609850"/>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625" b="0">
                <a:solidFill>
                  <a:srgbClr val="1F2120"/>
                </a:solidFill>
                <a:latin typeface="Arial"/>
                <a:ea typeface="Arial"/>
                <a:cs typeface="Arial"/>
              </a:defRPr>
            </a:pPr>
            <a:r>
              <a:rPr sz="2625" b="0">
                <a:solidFill>
                  <a:srgbClr val="1F2120"/>
                </a:solidFill>
                <a:latin typeface="Arial"/>
                <a:ea typeface="Arial"/>
                <a:cs typeface="Arial"/>
              </a:rPr>
              <a:t>You need to order stock before you know demand.</a:t>
            </a:r>
          </a:p>
          <a:p xmlns:a="http://schemas.openxmlformats.org/drawingml/2006/main">
            <a:pPr>
              <a:defRPr sz="2625" b="0">
                <a:solidFill>
                  <a:srgbClr val="1F2120"/>
                </a:solidFill>
                <a:latin typeface="Arial"/>
                <a:ea typeface="Arial"/>
                <a:cs typeface="Arial"/>
              </a:defRPr>
            </a:pPr>
            <a:r>
              <a:rPr sz="2625" b="0">
                <a:solidFill>
                  <a:srgbClr val="1F2120"/>
                </a:solidFill>
                <a:latin typeface="Arial"/>
                <a:ea typeface="Arial"/>
                <a:cs typeface="Arial"/>
              </a:rPr>
              <a:t>Too much stock costs money. Too little limits sales.</a:t>
            </a:r>
          </a:p>
        </p:txBody>
      </p:sp>
      <p:sp>
        <p:nvSpPr>
          <p:cNvPr id="4" name="">
            <a:extLst xmlns:a="http://schemas.openxmlformats.org/drawingml/2006/main">
              <a:ext uri="{FF2B5EF4-FFF2-40B4-BE49-F238E27FC236}">
                <a16:creationId xmlns:a16="http://schemas.microsoft.com/office/drawing/2014/main" id="{83B617C5-4E94-4CE1-89A3-2361D375752A}"/>
              </a:ext>
            </a:extLst>
          </p:cNvPr>
          <p:cNvSpPr>
            <a:spLocks xmlns:a="http://schemas.openxmlformats.org/drawingml/2006/main" noGrp="1"/>
          </p:cNvSpPr>
          <p:nvPr/>
        </p:nvSpPr>
        <p:spPr>
          <a:xfrm xmlns:a="http://schemas.openxmlformats.org/drawingml/2006/main">
            <a:off x="609600" y="5457825"/>
            <a:ext cx="10972800" cy="69532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7AE69D4D-029F-4D5E-803B-52F30CCADFFD}"/>
              </a:ext>
            </a:extLst>
          </p:cNvPr>
          <p:cNvSpPr>
            <a:spLocks xmlns:a="http://schemas.openxmlformats.org/drawingml/2006/main" noGrp="1"/>
          </p:cNvSpPr>
          <p:nvPr/>
        </p:nvSpPr>
        <p:spPr>
          <a:xfrm xmlns:a="http://schemas.openxmlformats.org/drawingml/2006/main">
            <a:off x="828675" y="5638800"/>
            <a:ext cx="10525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Your goal: explain the trade-off using more than an average.</a:t>
            </a:r>
          </a:p>
        </p:txBody>
      </p:sp>
    </p:spTree>
    <p:extLst>
      <p:ext uri="{BB962C8B-B14F-4D97-AF65-F5344CB8AC3E}">
        <p14:creationId xmlns:p14="http://schemas.microsoft.com/office/powerpoint/2010/main" val="2035711125"/>
      </p:ext>
    </p:extLst>
  </p:cSld>
</p:sld>
</file>

<file path=ppt/slides/slide3.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ABE822BD-051C-40A6-86FC-0D1CB4A671EF}"/>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short route through today’s workbook</a:t>
            </a:r>
          </a:p>
        </p:txBody>
      </p:sp>
      <p:sp>
        <p:nvSpPr>
          <p:cNvPr id="2" name="">
            <a:extLst xmlns:a="http://schemas.openxmlformats.org/drawingml/2006/main">
              <a:ext uri="{FF2B5EF4-FFF2-40B4-BE49-F238E27FC236}">
                <a16:creationId xmlns:a16="http://schemas.microsoft.com/office/drawing/2014/main" id="{DEA23AEC-2606-41EE-8D34-A80A0F8989BD}"/>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You bring the question. I’ll guide you through the Python.</a:t>
            </a:r>
          </a:p>
        </p:txBody>
      </p:sp>
      <p:sp>
        <p:nvSpPr>
          <p:cNvPr id="3" name="">
            <a:extLst xmlns:a="http://schemas.openxmlformats.org/drawingml/2006/main">
              <a:ext uri="{FF2B5EF4-FFF2-40B4-BE49-F238E27FC236}">
                <a16:creationId xmlns:a16="http://schemas.microsoft.com/office/drawing/2014/main" id="{0EB8B02E-0379-4979-AECB-5A4F4D2F5E53}"/>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D759E56B-2437-45B9-951F-5A5F8EBBB053}"/>
              </a:ext>
            </a:extLst>
          </p:cNvPr>
          <p:cNvSpPr>
            <a:spLocks xmlns:a="http://schemas.openxmlformats.org/drawingml/2006/main" noGrp="1"/>
          </p:cNvSpPr>
          <p:nvPr/>
        </p:nvSpPr>
        <p:spPr>
          <a:xfrm xmlns:a="http://schemas.openxmlformats.org/drawingml/2006/main">
            <a:off x="609600" y="261937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CF3338"/>
                </a:solidFill>
                <a:latin typeface="Arial"/>
                <a:ea typeface="Arial"/>
                <a:cs typeface="Arial"/>
              </a:defRPr>
            </a:pPr>
            <a:r>
              <a:rPr sz="3525" b="1">
                <a:solidFill>
                  <a:srgbClr val="CF3338"/>
                </a:solidFill>
                <a:latin typeface="Arial"/>
                <a:ea typeface="Arial"/>
                <a:cs typeface="Arial"/>
              </a:rPr>
              <a:t>01</a:t>
            </a:r>
          </a:p>
        </p:txBody>
      </p:sp>
      <p:sp>
        <p:nvSpPr>
          <p:cNvPr id="5" name="">
            <a:extLst xmlns:a="http://schemas.openxmlformats.org/drawingml/2006/main">
              <a:ext uri="{FF2B5EF4-FFF2-40B4-BE49-F238E27FC236}">
                <a16:creationId xmlns:a16="http://schemas.microsoft.com/office/drawing/2014/main" id="{39D24080-0FA7-4A70-A456-6109CC5BE803}"/>
              </a:ext>
            </a:extLst>
          </p:cNvPr>
          <p:cNvSpPr>
            <a:spLocks xmlns:a="http://schemas.openxmlformats.org/drawingml/2006/main" noGrp="1"/>
          </p:cNvSpPr>
          <p:nvPr/>
        </p:nvSpPr>
        <p:spPr>
          <a:xfrm xmlns:a="http://schemas.openxmlformats.org/drawingml/2006/main">
            <a:off x="1971675" y="2619375"/>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F2120"/>
                </a:solidFill>
                <a:latin typeface="Arial"/>
                <a:ea typeface="Arial"/>
                <a:cs typeface="Arial"/>
              </a:defRPr>
            </a:pPr>
            <a:r>
              <a:rPr sz="2400" b="1">
                <a:solidFill>
                  <a:srgbClr val="1F2120"/>
                </a:solidFill>
                <a:latin typeface="Arial"/>
                <a:ea typeface="Arial"/>
                <a:cs typeface="Arial"/>
              </a:rPr>
              <a:t>Try a simulation</a:t>
            </a:r>
          </a:p>
        </p:txBody>
      </p:sp>
      <p:sp>
        <p:nvSpPr>
          <p:cNvPr id="6" name="">
            <a:extLst xmlns:a="http://schemas.openxmlformats.org/drawingml/2006/main">
              <a:ext uri="{FF2B5EF4-FFF2-40B4-BE49-F238E27FC236}">
                <a16:creationId xmlns:a16="http://schemas.microsoft.com/office/drawing/2014/main" id="{FB05D1F2-AC9B-4773-890D-658406F37153}"/>
              </a:ext>
            </a:extLst>
          </p:cNvPr>
          <p:cNvSpPr>
            <a:spLocks xmlns:a="http://schemas.openxmlformats.org/drawingml/2006/main" noGrp="1"/>
          </p:cNvSpPr>
          <p:nvPr/>
        </p:nvSpPr>
        <p:spPr>
          <a:xfrm xmlns:a="http://schemas.openxmlformats.org/drawingml/2006/main">
            <a:off x="1971675" y="3095625"/>
            <a:ext cx="9477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707070"/>
                </a:solidFill>
                <a:latin typeface="Arial"/>
                <a:ea typeface="Arial"/>
                <a:cs typeface="Arial"/>
              </a:defRPr>
            </a:pPr>
            <a:r>
              <a:rPr sz="1950" b="0">
                <a:solidFill>
                  <a:srgbClr val="707070"/>
                </a:solidFill>
                <a:latin typeface="Arial"/>
                <a:ea typeface="Arial"/>
                <a:cs typeface="Arial"/>
              </a:rPr>
              <a:t>Create 10,000 possible demand outcomes.</a:t>
            </a:r>
          </a:p>
        </p:txBody>
      </p:sp>
      <p:sp>
        <p:nvSpPr>
          <p:cNvPr id="7" name="">
            <a:extLst xmlns:a="http://schemas.openxmlformats.org/drawingml/2006/main">
              <a:ext uri="{FF2B5EF4-FFF2-40B4-BE49-F238E27FC236}">
                <a16:creationId xmlns:a16="http://schemas.microsoft.com/office/drawing/2014/main" id="{AD087F4E-9254-472E-A314-FB50809BBE43}"/>
              </a:ext>
            </a:extLst>
          </p:cNvPr>
          <p:cNvSpPr>
            <a:spLocks xmlns:a="http://schemas.openxmlformats.org/drawingml/2006/main" noGrp="1"/>
          </p:cNvSpPr>
          <p:nvPr/>
        </p:nvSpPr>
        <p:spPr>
          <a:xfrm xmlns:a="http://schemas.openxmlformats.org/drawingml/2006/main">
            <a:off x="609600" y="3695700"/>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CF3338"/>
                </a:solidFill>
                <a:latin typeface="Arial"/>
                <a:ea typeface="Arial"/>
                <a:cs typeface="Arial"/>
              </a:defRPr>
            </a:pPr>
            <a:r>
              <a:rPr sz="3525" b="1">
                <a:solidFill>
                  <a:srgbClr val="CF3338"/>
                </a:solidFill>
                <a:latin typeface="Arial"/>
                <a:ea typeface="Arial"/>
                <a:cs typeface="Arial"/>
              </a:rPr>
              <a:t>02</a:t>
            </a:r>
          </a:p>
        </p:txBody>
      </p:sp>
      <p:sp>
        <p:nvSpPr>
          <p:cNvPr id="8" name="">
            <a:extLst xmlns:a="http://schemas.openxmlformats.org/drawingml/2006/main">
              <a:ext uri="{FF2B5EF4-FFF2-40B4-BE49-F238E27FC236}">
                <a16:creationId xmlns:a16="http://schemas.microsoft.com/office/drawing/2014/main" id="{923A6020-7C69-443D-A572-F21E67F6F76C}"/>
              </a:ext>
            </a:extLst>
          </p:cNvPr>
          <p:cNvSpPr>
            <a:spLocks xmlns:a="http://schemas.openxmlformats.org/drawingml/2006/main" noGrp="1"/>
          </p:cNvSpPr>
          <p:nvPr/>
        </p:nvSpPr>
        <p:spPr>
          <a:xfrm xmlns:a="http://schemas.openxmlformats.org/drawingml/2006/main">
            <a:off x="1971675" y="3695700"/>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F2120"/>
                </a:solidFill>
                <a:latin typeface="Arial"/>
                <a:ea typeface="Arial"/>
                <a:cs typeface="Arial"/>
              </a:defRPr>
            </a:pPr>
            <a:r>
              <a:rPr sz="2400" b="1">
                <a:solidFill>
                  <a:srgbClr val="1F2120"/>
                </a:solidFill>
                <a:latin typeface="Arial"/>
                <a:ea typeface="Arial"/>
                <a:cs typeface="Arial"/>
              </a:rPr>
              <a:t>Compare two choices</a:t>
            </a:r>
          </a:p>
        </p:txBody>
      </p:sp>
      <p:sp>
        <p:nvSpPr>
          <p:cNvPr id="9" name="">
            <a:extLst xmlns:a="http://schemas.openxmlformats.org/drawingml/2006/main">
              <a:ext uri="{FF2B5EF4-FFF2-40B4-BE49-F238E27FC236}">
                <a16:creationId xmlns:a16="http://schemas.microsoft.com/office/drawing/2014/main" id="{03EE94A2-DD00-4353-8583-34AE7F948885}"/>
              </a:ext>
            </a:extLst>
          </p:cNvPr>
          <p:cNvSpPr>
            <a:spLocks xmlns:a="http://schemas.openxmlformats.org/drawingml/2006/main" noGrp="1"/>
          </p:cNvSpPr>
          <p:nvPr/>
        </p:nvSpPr>
        <p:spPr>
          <a:xfrm xmlns:a="http://schemas.openxmlformats.org/drawingml/2006/main">
            <a:off x="1971675" y="4171950"/>
            <a:ext cx="9477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707070"/>
                </a:solidFill>
                <a:latin typeface="Arial"/>
                <a:ea typeface="Arial"/>
                <a:cs typeface="Arial"/>
              </a:defRPr>
            </a:pPr>
            <a:r>
              <a:rPr sz="1950" b="0">
                <a:solidFill>
                  <a:srgbClr val="707070"/>
                </a:solidFill>
                <a:latin typeface="Arial"/>
                <a:ea typeface="Arial"/>
                <a:cs typeface="Arial"/>
              </a:rPr>
              <a:t>Read the average, downside and loss rate.</a:t>
            </a:r>
          </a:p>
        </p:txBody>
      </p:sp>
      <p:sp>
        <p:nvSpPr>
          <p:cNvPr id="10" name="">
            <a:extLst xmlns:a="http://schemas.openxmlformats.org/drawingml/2006/main">
              <a:ext uri="{FF2B5EF4-FFF2-40B4-BE49-F238E27FC236}">
                <a16:creationId xmlns:a16="http://schemas.microsoft.com/office/drawing/2014/main" id="{6F0CD815-9E74-42F8-9DF4-EA206CB90D81}"/>
              </a:ext>
            </a:extLst>
          </p:cNvPr>
          <p:cNvSpPr>
            <a:spLocks xmlns:a="http://schemas.openxmlformats.org/drawingml/2006/main" noGrp="1"/>
          </p:cNvSpPr>
          <p:nvPr/>
        </p:nvSpPr>
        <p:spPr>
          <a:xfrm xmlns:a="http://schemas.openxmlformats.org/drawingml/2006/main">
            <a:off x="609600" y="4772025"/>
            <a:ext cx="10001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525" b="1">
                <a:solidFill>
                  <a:srgbClr val="CF3338"/>
                </a:solidFill>
                <a:latin typeface="Arial"/>
                <a:ea typeface="Arial"/>
                <a:cs typeface="Arial"/>
              </a:defRPr>
            </a:pPr>
            <a:r>
              <a:rPr sz="3525" b="1">
                <a:solidFill>
                  <a:srgbClr val="CF3338"/>
                </a:solidFill>
                <a:latin typeface="Arial"/>
                <a:ea typeface="Arial"/>
                <a:cs typeface="Arial"/>
              </a:rPr>
              <a:t>03</a:t>
            </a:r>
          </a:p>
        </p:txBody>
      </p:sp>
      <p:sp>
        <p:nvSpPr>
          <p:cNvPr id="11" name="">
            <a:extLst xmlns:a="http://schemas.openxmlformats.org/drawingml/2006/main">
              <a:ext uri="{FF2B5EF4-FFF2-40B4-BE49-F238E27FC236}">
                <a16:creationId xmlns:a16="http://schemas.microsoft.com/office/drawing/2014/main" id="{39B77A43-81F0-473F-9B51-1730A9C38F10}"/>
              </a:ext>
            </a:extLst>
          </p:cNvPr>
          <p:cNvSpPr>
            <a:spLocks xmlns:a="http://schemas.openxmlformats.org/drawingml/2006/main" noGrp="1"/>
          </p:cNvSpPr>
          <p:nvPr/>
        </p:nvSpPr>
        <p:spPr>
          <a:xfrm xmlns:a="http://schemas.openxmlformats.org/drawingml/2006/main">
            <a:off x="1971675" y="4772025"/>
            <a:ext cx="9525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1">
                <a:solidFill>
                  <a:srgbClr val="1F2120"/>
                </a:solidFill>
                <a:latin typeface="Arial"/>
                <a:ea typeface="Arial"/>
                <a:cs typeface="Arial"/>
              </a:defRPr>
            </a:pPr>
            <a:r>
              <a:rPr sz="2400" b="1">
                <a:solidFill>
                  <a:srgbClr val="1F2120"/>
                </a:solidFill>
                <a:latin typeface="Arial"/>
                <a:ea typeface="Arial"/>
                <a:cs typeface="Arial"/>
              </a:rPr>
              <a:t>Connect an Excel input</a:t>
            </a:r>
          </a:p>
        </p:txBody>
      </p:sp>
      <p:sp>
        <p:nvSpPr>
          <p:cNvPr id="12" name="">
            <a:extLst xmlns:a="http://schemas.openxmlformats.org/drawingml/2006/main">
              <a:ext uri="{FF2B5EF4-FFF2-40B4-BE49-F238E27FC236}">
                <a16:creationId xmlns:a16="http://schemas.microsoft.com/office/drawing/2014/main" id="{C93B7D2C-95B8-45FE-A01E-8FA99A80425B}"/>
              </a:ext>
            </a:extLst>
          </p:cNvPr>
          <p:cNvSpPr>
            <a:spLocks xmlns:a="http://schemas.openxmlformats.org/drawingml/2006/main" noGrp="1"/>
          </p:cNvSpPr>
          <p:nvPr/>
        </p:nvSpPr>
        <p:spPr>
          <a:xfrm xmlns:a="http://schemas.openxmlformats.org/drawingml/2006/main">
            <a:off x="1971675" y="5248275"/>
            <a:ext cx="94773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707070"/>
                </a:solidFill>
                <a:latin typeface="Arial"/>
                <a:ea typeface="Arial"/>
                <a:cs typeface="Arial"/>
              </a:defRPr>
            </a:pPr>
            <a:r>
              <a:rPr sz="1950" b="0">
                <a:solidFill>
                  <a:srgbClr val="707070"/>
                </a:solidFill>
                <a:latin typeface="Arial"/>
                <a:ea typeface="Arial"/>
                <a:cs typeface="Arial"/>
              </a:rPr>
              <a:t>Change a moving average without editing the code.</a:t>
            </a:r>
          </a:p>
        </p:txBody>
      </p:sp>
    </p:spTree>
    <p:extLst>
      <p:ext uri="{BB962C8B-B14F-4D97-AF65-F5344CB8AC3E}">
        <p14:creationId xmlns:p14="http://schemas.microsoft.com/office/powerpoint/2010/main" val="656492631"/>
      </p:ext>
    </p:extLst>
  </p:cSld>
</p:sld>
</file>

<file path=ppt/slides/slide4.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7340798-61B9-4004-974C-48902680D4D5}"/>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Your follow-along setup</a:t>
            </a:r>
          </a:p>
        </p:txBody>
      </p:sp>
      <p:sp>
        <p:nvSpPr>
          <p:cNvPr id="2" name="">
            <a:extLst xmlns:a="http://schemas.openxmlformats.org/drawingml/2006/main">
              <a:ext uri="{FF2B5EF4-FFF2-40B4-BE49-F238E27FC236}">
                <a16:creationId xmlns:a16="http://schemas.microsoft.com/office/drawing/2014/main" id="{11BB773A-CE8B-47D0-88EB-BAB96F734DB8}"/>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Open follow-along.xlsx and the attendee worksheet.</a:t>
            </a:r>
          </a:p>
        </p:txBody>
      </p:sp>
      <p:sp>
        <p:nvSpPr>
          <p:cNvPr id="3" name="">
            <a:extLst xmlns:a="http://schemas.openxmlformats.org/drawingml/2006/main">
              <a:ext uri="{FF2B5EF4-FFF2-40B4-BE49-F238E27FC236}">
                <a16:creationId xmlns:a16="http://schemas.microsoft.com/office/drawing/2014/main" id="{93F4F859-6F8C-4E99-8BA9-96B729FA02C6}"/>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2BAD0C25-701C-4083-B07F-08F38AFF197C}"/>
              </a:ext>
            </a:extLst>
          </p:cNvPr>
          <p:cNvSpPr>
            <a:spLocks xmlns:a="http://schemas.openxmlformats.org/drawingml/2006/main" noGrp="1"/>
          </p:cNvSpPr>
          <p:nvPr/>
        </p:nvSpPr>
        <p:spPr>
          <a:xfrm xmlns:a="http://schemas.openxmlformats.org/drawingml/2006/main">
            <a:off x="609600" y="252412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1  Add a blank sheet named simulation and move it first.</a:t>
            </a:r>
          </a:p>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2  Keep moving-average and mpg in their existing order.</a:t>
            </a:r>
          </a:p>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3  Start at simulation!A3.</a:t>
            </a:r>
          </a:p>
        </p:txBody>
      </p:sp>
      <p:sp>
        <p:nvSpPr>
          <p:cNvPr id="5" name="">
            <a:extLst xmlns:a="http://schemas.openxmlformats.org/drawingml/2006/main">
              <a:ext uri="{FF2B5EF4-FFF2-40B4-BE49-F238E27FC236}">
                <a16:creationId xmlns:a16="http://schemas.microsoft.com/office/drawing/2014/main" id="{D39217DB-FB3E-4FF8-AB29-D995E6076A25}"/>
              </a:ext>
            </a:extLst>
          </p:cNvPr>
          <p:cNvSpPr>
            <a:spLocks xmlns:a="http://schemas.openxmlformats.org/drawingml/2006/main" noGrp="1"/>
          </p:cNvSpPr>
          <p:nvPr/>
        </p:nvSpPr>
        <p:spPr>
          <a:xfrm xmlns:a="http://schemas.openxmlformats.org/drawingml/2006/main">
            <a:off x="609600" y="5486400"/>
            <a:ext cx="10972800" cy="69532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1245445E-B738-4455-84EA-20D74DDA354D}"/>
              </a:ext>
            </a:extLst>
          </p:cNvPr>
          <p:cNvSpPr>
            <a:spLocks xmlns:a="http://schemas.openxmlformats.org/drawingml/2006/main" noGrp="1"/>
          </p:cNvSpPr>
          <p:nvPr/>
        </p:nvSpPr>
        <p:spPr>
          <a:xfrm xmlns:a="http://schemas.openxmlformats.org/drawingml/2006/main">
            <a:off x="828675" y="5667375"/>
            <a:ext cx="10525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Formulas &gt; Insert Python. Ctrl+Enter runs the code.</a:t>
            </a:r>
          </a:p>
        </p:txBody>
      </p:sp>
    </p:spTree>
    <p:extLst>
      <p:ext uri="{BB962C8B-B14F-4D97-AF65-F5344CB8AC3E}">
        <p14:creationId xmlns:p14="http://schemas.microsoft.com/office/powerpoint/2010/main" val="1220543020"/>
      </p:ext>
    </p:extLst>
  </p:cSld>
</p:sld>
</file>

<file path=ppt/slides/slide5.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40F1217-922C-48AF-B6D8-D8C90887B855}"/>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The assumptions behind the profit</a:t>
            </a:r>
          </a:p>
        </p:txBody>
      </p:sp>
      <p:sp>
        <p:nvSpPr>
          <p:cNvPr id="2" name="">
            <a:extLst xmlns:a="http://schemas.openxmlformats.org/drawingml/2006/main">
              <a:ext uri="{FF2B5EF4-FFF2-40B4-BE49-F238E27FC236}">
                <a16:creationId xmlns:a16="http://schemas.microsoft.com/office/drawing/2014/main" id="{A2A9AC94-C4D4-4903-9F30-9584707351EE}"/>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ILLUSTRATION  /  Results depend on these assumptions</a:t>
            </a:r>
          </a:p>
        </p:txBody>
      </p:sp>
      <p:sp>
        <p:nvSpPr>
          <p:cNvPr id="3" name="">
            <a:extLst xmlns:a="http://schemas.openxmlformats.org/drawingml/2006/main">
              <a:ext uri="{FF2B5EF4-FFF2-40B4-BE49-F238E27FC236}">
                <a16:creationId xmlns:a16="http://schemas.microsoft.com/office/drawing/2014/main" id="{24335C37-F732-4987-B6A9-8E12CD527DBE}"/>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05</a:t>
            </a:r>
          </a:p>
        </p:txBody>
      </p:sp>
      <p:graphicFrame>
        <p:nvGraphicFramePr>
          <p:cNvPr id="8" name=""/>
          <p:cNvGraphicFramePr/>
          <p:nvPr/>
        </p:nvGraphicFramePr>
        <p:xfrm>
          <a:off xmlns:a="http://schemas.openxmlformats.org/drawingml/2006/main" x="609600" y="2447925"/>
          <a:ext xmlns:a="http://schemas.openxmlformats.org/drawingml/2006/main" cx="10972800" cy="3333750"/>
        </p:xfrm>
        <a:graphic xmlns:a="http://schemas.openxmlformats.org/drawingml/2006/main">
          <a:graphicData uri="http://schemas.openxmlformats.org/drawingml/2006/table">
            <a:tbl>
              <a:tblPr/>
              <a:tblGrid>
                <a:gridCol w="5486400"/>
                <a:gridCol w="5486400"/>
              </a:tblGrid>
              <a:tr h="666750">
                <a:tc>
                  <a:txBody>
                    <a:bodyPr/>
                    <a:lstStyle/>
                    <a:p>
                      <a:r>
                        <a:rPr sz="2025" b="1">
                          <a:solidFill>
                            <a:srgbClr val="FFFFFF"/>
                          </a:solidFill>
                          <a:latin typeface="Arial"/>
                          <a:ea typeface="Arial"/>
                          <a:cs typeface="Arial"/>
                        </a:rPr>
                        <a:t>Input</a:t>
                      </a:r>
                    </a:p>
                  </a:txBody>
                  <a:tcPr marL="152400" marR="95250" marT="123825" marB="95250">
                    <a:solidFill>
                      <a:srgbClr val="1F2120"/>
                    </a:solidFill>
                  </a:tcPr>
                </a:tc>
                <a:tc>
                  <a:txBody>
                    <a:bodyPr/>
                    <a:lstStyle/>
                    <a:p>
                      <a:r>
                        <a:rPr sz="2025" b="1">
                          <a:solidFill>
                            <a:srgbClr val="FFFFFF"/>
                          </a:solidFill>
                          <a:latin typeface="Arial"/>
                          <a:ea typeface="Arial"/>
                          <a:cs typeface="Arial"/>
                        </a:rPr>
                        <a:t>Assumption</a:t>
                      </a:r>
                    </a:p>
                  </a:txBody>
                  <a:tcPr marL="152400" marR="95250" marT="123825" marB="95250">
                    <a:solidFill>
                      <a:srgbClr val="1F2120"/>
                    </a:solidFill>
                  </a:tcPr>
                </a:tc>
              </a:tr>
              <a:tr h="666750">
                <a:tc>
                  <a:txBody>
                    <a:bodyPr/>
                    <a:lstStyle/>
                    <a:p>
                      <a:r>
                        <a:rPr sz="2025" b="0">
                          <a:solidFill>
                            <a:srgbClr val="1F2120"/>
                          </a:solidFill>
                          <a:latin typeface="Arial"/>
                          <a:ea typeface="Arial"/>
                          <a:cs typeface="Arial"/>
                        </a:rPr>
                        <a:t>Stock / cost / selling price</a:t>
                      </a:r>
                    </a:p>
                  </a:txBody>
                  <a:tcPr marL="152400" marR="95250" marT="123825" marB="95250">
                    <a:solidFill>
                      <a:srgbClr val="EEECE1"/>
                    </a:solidFill>
                  </a:tcPr>
                </a:tc>
                <a:tc>
                  <a:txBody>
                    <a:bodyPr/>
                    <a:lstStyle/>
                    <a:p>
                      <a:r>
                        <a:rPr sz="2025" b="0">
                          <a:solidFill>
                            <a:srgbClr val="1F2120"/>
                          </a:solidFill>
                          <a:latin typeface="Arial"/>
                          <a:ea typeface="Arial"/>
                          <a:cs typeface="Arial"/>
                        </a:rPr>
                        <a:t>1,100 units / $30 / $50</a:t>
                      </a:r>
                    </a:p>
                  </a:txBody>
                  <a:tcPr marL="152400" marR="95250" marT="123825" marB="95250">
                    <a:solidFill>
                      <a:srgbClr val="EEECE1"/>
                    </a:solidFill>
                  </a:tcPr>
                </a:tc>
              </a:tr>
              <a:tr h="666750">
                <a:tc>
                  <a:txBody>
                    <a:bodyPr/>
                    <a:lstStyle/>
                    <a:p>
                      <a:r>
                        <a:rPr sz="2025" b="0">
                          <a:solidFill>
                            <a:srgbClr val="1F2120"/>
                          </a:solidFill>
                          <a:latin typeface="Arial"/>
                          <a:ea typeface="Arial"/>
                          <a:cs typeface="Arial"/>
                        </a:rPr>
                        <a:t>Demand</a:t>
                      </a:r>
                    </a:p>
                  </a:txBody>
                  <a:tcPr marL="152400" marR="95250" marT="123825" marB="95250">
                    <a:solidFill>
                      <a:srgbClr val="EEECE1"/>
                    </a:solidFill>
                  </a:tcPr>
                </a:tc>
                <a:tc>
                  <a:txBody>
                    <a:bodyPr/>
                    <a:lstStyle/>
                    <a:p>
                      <a:r>
                        <a:rPr sz="2025" b="0">
                          <a:solidFill>
                            <a:srgbClr val="1F2120"/>
                          </a:solidFill>
                          <a:latin typeface="Arial"/>
                          <a:ea typeface="Arial"/>
                          <a:cs typeface="Arial"/>
                        </a:rPr>
                        <a:t>Centered at 1,000, standard deviation 200</a:t>
                      </a:r>
                    </a:p>
                  </a:txBody>
                  <a:tcPr marL="152400" marR="95250" marT="123825" marB="95250">
                    <a:solidFill>
                      <a:srgbClr val="EEECE1"/>
                    </a:solidFill>
                  </a:tcPr>
                </a:tc>
              </a:tr>
              <a:tr h="666750">
                <a:tc>
                  <a:txBody>
                    <a:bodyPr/>
                    <a:lstStyle/>
                    <a:p>
                      <a:r>
                        <a:rPr sz="2025" b="0">
                          <a:solidFill>
                            <a:srgbClr val="1F2120"/>
                          </a:solidFill>
                          <a:latin typeface="Arial"/>
                          <a:ea typeface="Arial"/>
                          <a:cs typeface="Arial"/>
                        </a:rPr>
                        <a:t>Unsold stock</a:t>
                      </a:r>
                    </a:p>
                  </a:txBody>
                  <a:tcPr marL="152400" marR="95250" marT="123825" marB="95250">
                    <a:solidFill>
                      <a:srgbClr val="EEECE1"/>
                    </a:solidFill>
                  </a:tcPr>
                </a:tc>
                <a:tc>
                  <a:txBody>
                    <a:bodyPr/>
                    <a:lstStyle/>
                    <a:p>
                      <a:r>
                        <a:rPr sz="2025" b="0">
                          <a:solidFill>
                            <a:srgbClr val="1F2120"/>
                          </a:solidFill>
                          <a:latin typeface="Arial"/>
                          <a:ea typeface="Arial"/>
                          <a:cs typeface="Arial"/>
                        </a:rPr>
                        <a:t>No resale value</a:t>
                      </a:r>
                    </a:p>
                  </a:txBody>
                  <a:tcPr marL="152400" marR="95250" marT="123825" marB="95250">
                    <a:solidFill>
                      <a:srgbClr val="EEECE1"/>
                    </a:solidFill>
                  </a:tcPr>
                </a:tc>
              </a:tr>
              <a:tr h="666750">
                <a:tc>
                  <a:txBody>
                    <a:bodyPr/>
                    <a:lstStyle/>
                    <a:p>
                      <a:r>
                        <a:rPr sz="2025" b="0">
                          <a:solidFill>
                            <a:srgbClr val="1F2120"/>
                          </a:solidFill>
                          <a:latin typeface="Arial"/>
                          <a:ea typeface="Arial"/>
                          <a:cs typeface="Arial"/>
                        </a:rPr>
                        <a:t>Other costs</a:t>
                      </a:r>
                    </a:p>
                  </a:txBody>
                  <a:tcPr marL="152400" marR="95250" marT="123825" marB="95250">
                    <a:solidFill>
                      <a:srgbClr val="EEECE1"/>
                    </a:solidFill>
                  </a:tcPr>
                </a:tc>
                <a:tc>
                  <a:txBody>
                    <a:bodyPr/>
                    <a:lstStyle/>
                    <a:p>
                      <a:r>
                        <a:rPr sz="2025" b="0">
                          <a:solidFill>
                            <a:srgbClr val="1F2120"/>
                          </a:solidFill>
                          <a:latin typeface="Arial"/>
                          <a:ea typeface="Arial"/>
                          <a:cs typeface="Arial"/>
                        </a:rPr>
                        <a:t>Excluded</a:t>
                      </a:r>
                    </a:p>
                  </a:txBody>
                  <a:tcPr marL="152400" marR="95250" marT="123825" marB="95250">
                    <a:solidFill>
                      <a:srgbClr val="EEECE1"/>
                    </a:solidFill>
                  </a:tcPr>
                </a:tc>
              </a:tr>
            </a:tbl>
          </a:graphicData>
        </a:graphic>
      </p:graphicFrame>
    </p:spTree>
    <p:extLst>
      <p:ext uri="{BB962C8B-B14F-4D97-AF65-F5344CB8AC3E}">
        <p14:creationId xmlns:p14="http://schemas.microsoft.com/office/powerpoint/2010/main" val="2128944673"/>
      </p:ext>
    </p:extLst>
  </p:cSld>
</p:sld>
</file>

<file path=ppt/slides/slide6.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DDD48B4-C793-4F3B-B8DA-FBCE25892880}"/>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Ten thousand possible profits</a:t>
            </a:r>
          </a:p>
        </p:txBody>
      </p:sp>
      <p:sp>
        <p:nvSpPr>
          <p:cNvPr id="2" name="">
            <a:extLst xmlns:a="http://schemas.openxmlformats.org/drawingml/2006/main">
              <a:ext uri="{FF2B5EF4-FFF2-40B4-BE49-F238E27FC236}">
                <a16:creationId xmlns:a16="http://schemas.microsoft.com/office/drawing/2014/main" id="{6989376D-C9A1-4D6C-BB2D-200DC19BF3E8}"/>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TRY IT  /  simulation!A3</a:t>
            </a:r>
          </a:p>
        </p:txBody>
      </p:sp>
      <p:sp>
        <p:nvSpPr>
          <p:cNvPr id="3" name="">
            <a:extLst xmlns:a="http://schemas.openxmlformats.org/drawingml/2006/main">
              <a:ext uri="{FF2B5EF4-FFF2-40B4-BE49-F238E27FC236}">
                <a16:creationId xmlns:a16="http://schemas.microsoft.com/office/drawing/2014/main" id="{B2101055-970B-424A-BDAD-90396B2977B5}"/>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24A416D7-8E3F-4AEA-923E-F24AAE928C88}"/>
              </a:ext>
            </a:extLst>
          </p:cNvPr>
          <p:cNvSpPr>
            <a:spLocks xmlns:a="http://schemas.openxmlformats.org/drawingml/2006/main" noGrp="1"/>
          </p:cNvSpPr>
          <p:nvPr/>
        </p:nvSpPr>
        <p:spPr>
          <a:xfrm xmlns:a="http://schemas.openxmlformats.org/drawingml/2006/main">
            <a:off x="609600" y="2457450"/>
            <a:ext cx="10972800" cy="218122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CDBD113A-6286-47B7-930D-43C51C9A7B6A}"/>
              </a:ext>
            </a:extLst>
          </p:cNvPr>
          <p:cNvSpPr>
            <a:spLocks xmlns:a="http://schemas.openxmlformats.org/drawingml/2006/main" noGrp="1"/>
          </p:cNvSpPr>
          <p:nvPr/>
        </p:nvSpPr>
        <p:spPr>
          <a:xfrm xmlns:a="http://schemas.openxmlformats.org/drawingml/2006/main">
            <a:off x="838200" y="2676525"/>
            <a:ext cx="105156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025" b="0">
                <a:solidFill>
                  <a:srgbClr val="FFFFFF"/>
                </a:solidFill>
                <a:latin typeface="Consolas"/>
                <a:ea typeface="Consolas"/>
                <a:cs typeface="Consolas"/>
              </a:defRPr>
            </a:pPr>
            <a:r>
              <a:rPr sz="2025" b="0">
                <a:solidFill>
                  <a:srgbClr val="FFFFFF"/>
                </a:solidFill>
                <a:latin typeface="Consolas"/>
                <a:ea typeface="Consolas"/>
                <a:cs typeface="Consolas"/>
              </a:rPr>
              <a:t>np.random.seed(42)</a:t>
            </a:r>
          </a:p>
          <a:p xmlns:a="http://schemas.openxmlformats.org/drawingml/2006/main">
            <a:pPr>
              <a:defRPr sz="2025" b="0">
                <a:solidFill>
                  <a:srgbClr val="FFFFFF"/>
                </a:solidFill>
                <a:latin typeface="Consolas"/>
                <a:ea typeface="Consolas"/>
                <a:cs typeface="Consolas"/>
              </a:defRPr>
            </a:pPr>
            <a:r>
              <a:rPr sz="2025" b="0">
                <a:solidFill>
                  <a:srgbClr val="FFFFFF"/>
                </a:solidFill>
                <a:latin typeface="Consolas"/>
                <a:ea typeface="Consolas"/>
                <a:cs typeface="Consolas"/>
              </a:rPr>
              <a:t>demand = np.maximum(np.random.normal(1000, 200, 10000), 0)</a:t>
            </a:r>
          </a:p>
          <a:p xmlns:a="http://schemas.openxmlformats.org/drawingml/2006/main">
            <a:pPr>
              <a:defRPr sz="2025" b="0">
                <a:solidFill>
                  <a:srgbClr val="FFFFFF"/>
                </a:solidFill>
                <a:latin typeface="Consolas"/>
                <a:ea typeface="Consolas"/>
                <a:cs typeface="Consolas"/>
              </a:defRPr>
            </a:pPr>
            <a:r>
              <a:rPr sz="2025" b="0">
                <a:solidFill>
                  <a:srgbClr val="FFFFFF"/>
                </a:solidFill>
                <a:latin typeface="Consolas"/>
                <a:ea typeface="Consolas"/>
                <a:cs typeface="Consolas"/>
              </a:rPr>
              <a:t>units_sold = np.minimum(demand, 1100)</a:t>
            </a:r>
          </a:p>
          <a:p xmlns:a="http://schemas.openxmlformats.org/drawingml/2006/main">
            <a:pPr>
              <a:defRPr sz="2025" b="0">
                <a:solidFill>
                  <a:srgbClr val="FFFFFF"/>
                </a:solidFill>
                <a:latin typeface="Consolas"/>
                <a:ea typeface="Consolas"/>
                <a:cs typeface="Consolas"/>
              </a:defRPr>
            </a:pPr>
            <a:r>
              <a:rPr sz="2025" b="0">
                <a:solidFill>
                  <a:srgbClr val="FFFFFF"/>
                </a:solidFill>
                <a:latin typeface="Consolas"/>
                <a:ea typeface="Consolas"/>
                <a:cs typeface="Consolas"/>
              </a:rPr>
              <a:t>profit = units_sold * 50 - 1100 * 30</a:t>
            </a:r>
          </a:p>
          <a:p xmlns:a="http://schemas.openxmlformats.org/drawingml/2006/main">
            <a:pPr>
              <a:defRPr sz="2025" b="0">
                <a:solidFill>
                  <a:srgbClr val="FFFFFF"/>
                </a:solidFill>
                <a:latin typeface="Consolas"/>
                <a:ea typeface="Consolas"/>
                <a:cs typeface="Consolas"/>
              </a:defRPr>
            </a:pPr>
            <a:r>
              <a:rPr sz="2025" b="0">
                <a:solidFill>
                  <a:srgbClr val="FFFFFF"/>
                </a:solidFill>
                <a:latin typeface="Consolas"/>
                <a:ea typeface="Consolas"/>
                <a:cs typeface="Consolas"/>
              </a:rPr>
              <a:t>round(profit.mean())</a:t>
            </a:r>
          </a:p>
        </p:txBody>
      </p:sp>
      <p:sp>
        <p:nvSpPr>
          <p:cNvPr id="6" name="">
            <a:extLst xmlns:a="http://schemas.openxmlformats.org/drawingml/2006/main">
              <a:ext uri="{FF2B5EF4-FFF2-40B4-BE49-F238E27FC236}">
                <a16:creationId xmlns:a16="http://schemas.microsoft.com/office/drawing/2014/main" id="{A3511A30-8F0A-49EB-8615-42CE88C8A534}"/>
              </a:ext>
            </a:extLst>
          </p:cNvPr>
          <p:cNvSpPr>
            <a:spLocks xmlns:a="http://schemas.openxmlformats.org/drawingml/2006/main" noGrp="1"/>
          </p:cNvSpPr>
          <p:nvPr/>
        </p:nvSpPr>
        <p:spPr>
          <a:xfrm xmlns:a="http://schemas.openxmlformats.org/drawingml/2006/main">
            <a:off x="609600" y="511492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00" b="0">
                <a:solidFill>
                  <a:srgbClr val="1F2120"/>
                </a:solidFill>
                <a:latin typeface="Arial"/>
                <a:ea typeface="Arial"/>
                <a:cs typeface="Arial"/>
              </a:defRPr>
            </a:pPr>
            <a:r>
              <a:rPr sz="2400" b="0">
                <a:solidFill>
                  <a:srgbClr val="1F2120"/>
                </a:solidFill>
                <a:latin typeface="Arial"/>
                <a:ea typeface="Arial"/>
                <a:cs typeface="Arial"/>
              </a:rPr>
              <a:t>Check: average profit is about $14,998.</a:t>
            </a:r>
          </a:p>
        </p:txBody>
      </p:sp>
    </p:spTree>
    <p:extLst>
      <p:ext uri="{BB962C8B-B14F-4D97-AF65-F5344CB8AC3E}">
        <p14:creationId xmlns:p14="http://schemas.microsoft.com/office/powerpoint/2010/main" val="747609652"/>
      </p:ext>
    </p:extLst>
  </p:cSld>
</p:sld>
</file>

<file path=ppt/slides/slide7.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CE0AD2-D822-4716-B7F3-F63319E043AA}"/>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The average leaves the downside hidden</a:t>
            </a:r>
          </a:p>
        </p:txBody>
      </p:sp>
      <p:sp>
        <p:nvSpPr>
          <p:cNvPr id="2" name="">
            <a:extLst xmlns:a="http://schemas.openxmlformats.org/drawingml/2006/main">
              <a:ext uri="{FF2B5EF4-FFF2-40B4-BE49-F238E27FC236}">
                <a16:creationId xmlns:a16="http://schemas.microsoft.com/office/drawing/2014/main" id="{3598085A-E631-465C-86DA-BF595CA86089}"/>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TRY IT  /  simulation!A6. Code is on worksheet page 2.</a:t>
            </a:r>
          </a:p>
        </p:txBody>
      </p:sp>
      <p:sp>
        <p:nvSpPr>
          <p:cNvPr id="3" name="">
            <a:extLst xmlns:a="http://schemas.openxmlformats.org/drawingml/2006/main">
              <a:ext uri="{FF2B5EF4-FFF2-40B4-BE49-F238E27FC236}">
                <a16:creationId xmlns:a16="http://schemas.microsoft.com/office/drawing/2014/main" id="{064D0CC1-CD3F-45BF-989F-FF3724D0E07D}"/>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07</a:t>
            </a:r>
          </a:p>
        </p:txBody>
      </p:sp>
      <p:graphicFrame>
        <p:nvGraphicFramePr>
          <p:cNvPr id="10" name="Chart"/>
          <p:cNvGraphicFramePr/>
          <p:nvPr/>
        </p:nvGraphicFramePr>
        <p:xfrm>
          <a:off xmlns:a="http://schemas.openxmlformats.org/drawingml/2006/main" x="609600" y="2457450"/>
          <a:ext xmlns:a="http://schemas.openxmlformats.org/drawingml/2006/main" cx="7924800" cy="3495675"/>
        </p:xfrm>
        <a:graphic xmlns:a="http://schemas.openxmlformats.org/drawingml/2006/main">
          <a:graphicData uri="http://schemas.openxmlformats.org/drawingml/2006/chart">
            <c:chart xmlns:r="http://schemas.openxmlformats.org/officeDocument/2006/relationships" xmlns:c="http://schemas.openxmlformats.org/drawingml/2006/chart" r:id="Rb6c95ed784b64a67"/>
          </a:graphicData>
        </a:graphic>
      </p:graphicFrame>
      <p:sp>
        <p:nvSpPr>
          <p:cNvPr id="5" name="">
            <a:extLst xmlns:a="http://schemas.openxmlformats.org/drawingml/2006/main">
              <a:ext uri="{FF2B5EF4-FFF2-40B4-BE49-F238E27FC236}">
                <a16:creationId xmlns:a16="http://schemas.microsoft.com/office/drawing/2014/main" id="{85E10813-7FB7-412B-B64A-3A2DB6F58E6F}"/>
              </a:ext>
            </a:extLst>
          </p:cNvPr>
          <p:cNvSpPr>
            <a:spLocks xmlns:a="http://schemas.openxmlformats.org/drawingml/2006/main" noGrp="1"/>
          </p:cNvSpPr>
          <p:nvPr/>
        </p:nvSpPr>
        <p:spPr>
          <a:xfrm xmlns:a="http://schemas.openxmlformats.org/drawingml/2006/main">
            <a:off x="8943975" y="2876550"/>
            <a:ext cx="25908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550" b="1">
                <a:solidFill>
                  <a:srgbClr val="CF3338"/>
                </a:solidFill>
                <a:latin typeface="Arial"/>
                <a:ea typeface="Arial"/>
                <a:cs typeface="Arial"/>
              </a:defRPr>
            </a:pPr>
            <a:r>
              <a:rPr sz="2550" b="1">
                <a:solidFill>
                  <a:srgbClr val="CF3338"/>
                </a:solidFill>
                <a:latin typeface="Arial"/>
                <a:ea typeface="Arial"/>
                <a:cs typeface="Arial"/>
              </a:rPr>
              <a:t>Losses sit</a:t>
            </a:r>
          </a:p>
          <a:p xmlns:a="http://schemas.openxmlformats.org/drawingml/2006/main">
            <a:pPr>
              <a:defRPr sz="2550" b="1">
                <a:solidFill>
                  <a:srgbClr val="CF3338"/>
                </a:solidFill>
                <a:latin typeface="Arial"/>
                <a:ea typeface="Arial"/>
                <a:cs typeface="Arial"/>
              </a:defRPr>
            </a:pPr>
            <a:r>
              <a:rPr sz="2550" b="1">
                <a:solidFill>
                  <a:srgbClr val="CF3338"/>
                </a:solidFill>
                <a:latin typeface="Arial"/>
                <a:ea typeface="Arial"/>
                <a:cs typeface="Arial"/>
              </a:rPr>
              <a:t>below $0</a:t>
            </a:r>
          </a:p>
        </p:txBody>
      </p:sp>
      <p:sp>
        <p:nvSpPr>
          <p:cNvPr id="6" name="">
            <a:extLst xmlns:a="http://schemas.openxmlformats.org/drawingml/2006/main">
              <a:ext uri="{FF2B5EF4-FFF2-40B4-BE49-F238E27FC236}">
                <a16:creationId xmlns:a16="http://schemas.microsoft.com/office/drawing/2014/main" id="{99CAFAE2-55D6-405C-8055-600AFB6C304E}"/>
              </a:ext>
            </a:extLst>
          </p:cNvPr>
          <p:cNvSpPr>
            <a:spLocks xmlns:a="http://schemas.openxmlformats.org/drawingml/2006/main" noGrp="1"/>
          </p:cNvSpPr>
          <p:nvPr/>
        </p:nvSpPr>
        <p:spPr>
          <a:xfrm xmlns:a="http://schemas.openxmlformats.org/drawingml/2006/main">
            <a:off x="8943975" y="4552950"/>
            <a:ext cx="25908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950" b="0">
                <a:solidFill>
                  <a:srgbClr val="1F2120"/>
                </a:solidFill>
                <a:latin typeface="Arial"/>
                <a:ea typeface="Arial"/>
                <a:cs typeface="Arial"/>
              </a:defRPr>
            </a:pPr>
            <a:r>
              <a:rPr sz="1950" b="0">
                <a:solidFill>
                  <a:srgbClr val="1F2120"/>
                </a:solidFill>
                <a:latin typeface="Arial"/>
                <a:ea typeface="Arial"/>
                <a:cs typeface="Arial"/>
              </a:rPr>
              <a:t>The tallest bar</a:t>
            </a:r>
          </a:p>
          <a:p xmlns:a="http://schemas.openxmlformats.org/drawingml/2006/main">
            <a:pPr>
              <a:defRPr sz="1950" b="0">
                <a:solidFill>
                  <a:srgbClr val="1F2120"/>
                </a:solidFill>
                <a:latin typeface="Arial"/>
                <a:ea typeface="Arial"/>
                <a:cs typeface="Arial"/>
              </a:defRPr>
            </a:pPr>
            <a:r>
              <a:rPr sz="1950" b="0">
                <a:solidFill>
                  <a:srgbClr val="1F2120"/>
                </a:solidFill>
                <a:latin typeface="Arial"/>
                <a:ea typeface="Arial"/>
                <a:cs typeface="Arial"/>
              </a:rPr>
              <a:t>includes outcomes</a:t>
            </a:r>
          </a:p>
          <a:p xmlns:a="http://schemas.openxmlformats.org/drawingml/2006/main">
            <a:pPr>
              <a:defRPr sz="1950" b="0">
                <a:solidFill>
                  <a:srgbClr val="1F2120"/>
                </a:solidFill>
                <a:latin typeface="Arial"/>
                <a:ea typeface="Arial"/>
                <a:cs typeface="Arial"/>
              </a:defRPr>
            </a:pPr>
            <a:r>
              <a:rPr sz="1950" b="0">
                <a:solidFill>
                  <a:srgbClr val="1F2120"/>
                </a:solidFill>
                <a:latin typeface="Arial"/>
                <a:ea typeface="Arial"/>
                <a:cs typeface="Arial"/>
              </a:rPr>
              <a:t>capped at $22,000.</a:t>
            </a:r>
          </a:p>
        </p:txBody>
      </p:sp>
    </p:spTree>
    <p:extLst>
      <p:ext uri="{BB962C8B-B14F-4D97-AF65-F5344CB8AC3E}">
        <p14:creationId xmlns:p14="http://schemas.microsoft.com/office/powerpoint/2010/main" val="1181829671"/>
      </p:ext>
    </p:extLst>
  </p:cSld>
</p:sld>
</file>

<file path=ppt/slides/slide8.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F37596-4E04-414D-9183-3FC18802E110}"/>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How often do we lose money?</a:t>
            </a:r>
          </a:p>
        </p:txBody>
      </p:sp>
      <p:sp>
        <p:nvSpPr>
          <p:cNvPr id="2" name="">
            <a:extLst xmlns:a="http://schemas.openxmlformats.org/drawingml/2006/main">
              <a:ext uri="{FF2B5EF4-FFF2-40B4-BE49-F238E27FC236}">
                <a16:creationId xmlns:a16="http://schemas.microsoft.com/office/drawing/2014/main" id="{B656E094-1DC8-4696-9822-D230B09EA5A2}"/>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TRY IT  /  simulation!A10</a:t>
            </a:r>
          </a:p>
        </p:txBody>
      </p:sp>
      <p:sp>
        <p:nvSpPr>
          <p:cNvPr id="3" name="">
            <a:extLst xmlns:a="http://schemas.openxmlformats.org/drawingml/2006/main">
              <a:ext uri="{FF2B5EF4-FFF2-40B4-BE49-F238E27FC236}">
                <a16:creationId xmlns:a16="http://schemas.microsoft.com/office/drawing/2014/main" id="{B1BA95DD-EF53-4B2F-AA21-79592E591A15}"/>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08</a:t>
            </a:r>
          </a:p>
        </p:txBody>
      </p:sp>
      <p:sp>
        <p:nvSpPr>
          <p:cNvPr id="4" name="">
            <a:extLst xmlns:a="http://schemas.openxmlformats.org/drawingml/2006/main">
              <a:ext uri="{FF2B5EF4-FFF2-40B4-BE49-F238E27FC236}">
                <a16:creationId xmlns:a16="http://schemas.microsoft.com/office/drawing/2014/main" id="{5E57B3A8-1ACD-4A46-9114-8699B894E65C}"/>
              </a:ext>
            </a:extLst>
          </p:cNvPr>
          <p:cNvSpPr>
            <a:spLocks xmlns:a="http://schemas.openxmlformats.org/drawingml/2006/main" noGrp="1"/>
          </p:cNvSpPr>
          <p:nvPr/>
        </p:nvSpPr>
        <p:spPr>
          <a:xfrm xmlns:a="http://schemas.openxmlformats.org/drawingml/2006/main">
            <a:off x="609600" y="2505075"/>
            <a:ext cx="10972800" cy="1104900"/>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8EEFB68-0D1D-4F40-BF40-CE56E053A309}"/>
              </a:ext>
            </a:extLst>
          </p:cNvPr>
          <p:cNvSpPr>
            <a:spLocks xmlns:a="http://schemas.openxmlformats.org/drawingml/2006/main" noGrp="1"/>
          </p:cNvSpPr>
          <p:nvPr/>
        </p:nvSpPr>
        <p:spPr>
          <a:xfrm xmlns:a="http://schemas.openxmlformats.org/drawingml/2006/main">
            <a:off x="838200" y="2724150"/>
            <a:ext cx="10515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FFFFFF"/>
                </a:solidFill>
                <a:latin typeface="Consolas"/>
                <a:ea typeface="Consolas"/>
                <a:cs typeface="Consolas"/>
              </a:defRPr>
            </a:pPr>
            <a:r>
              <a:rPr sz="2700" b="0">
                <a:solidFill>
                  <a:srgbClr val="FFFFFF"/>
                </a:solidFill>
                <a:latin typeface="Consolas"/>
                <a:ea typeface="Consolas"/>
                <a:cs typeface="Consolas"/>
              </a:rPr>
              <a:t>(profit &lt; 0).mean()</a:t>
            </a:r>
          </a:p>
        </p:txBody>
      </p:sp>
      <p:sp>
        <p:nvSpPr>
          <p:cNvPr id="6" name="">
            <a:extLst xmlns:a="http://schemas.openxmlformats.org/drawingml/2006/main">
              <a:ext uri="{FF2B5EF4-FFF2-40B4-BE49-F238E27FC236}">
                <a16:creationId xmlns:a16="http://schemas.microsoft.com/office/drawing/2014/main" id="{97D054FE-0049-4886-9ABB-7C124ACB9F34}"/>
              </a:ext>
            </a:extLst>
          </p:cNvPr>
          <p:cNvSpPr>
            <a:spLocks xmlns:a="http://schemas.openxmlformats.org/drawingml/2006/main" noGrp="1"/>
          </p:cNvSpPr>
          <p:nvPr/>
        </p:nvSpPr>
        <p:spPr>
          <a:xfrm xmlns:a="http://schemas.openxmlformats.org/drawingml/2006/main">
            <a:off x="609600" y="4105275"/>
            <a:ext cx="10668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4425" b="1">
                <a:solidFill>
                  <a:srgbClr val="CF3338"/>
                </a:solidFill>
                <a:latin typeface="Arial"/>
                <a:ea typeface="Arial"/>
                <a:cs typeface="Arial"/>
              </a:defRPr>
            </a:pPr>
            <a:r>
              <a:rPr sz="4425" b="1">
                <a:solidFill>
                  <a:srgbClr val="CF3338"/>
                </a:solidFill>
                <a:latin typeface="Arial"/>
                <a:ea typeface="Arial"/>
                <a:cs typeface="Arial"/>
              </a:rPr>
              <a:t>0.0465 = 4.65%</a:t>
            </a:r>
          </a:p>
        </p:txBody>
      </p:sp>
      <p:sp>
        <p:nvSpPr>
          <p:cNvPr id="7" name="">
            <a:extLst xmlns:a="http://schemas.openxmlformats.org/drawingml/2006/main">
              <a:ext uri="{FF2B5EF4-FFF2-40B4-BE49-F238E27FC236}">
                <a16:creationId xmlns:a16="http://schemas.microsoft.com/office/drawing/2014/main" id="{F79958A6-9B1C-4C27-A4E2-AC49007C4AA3}"/>
              </a:ext>
            </a:extLst>
          </p:cNvPr>
          <p:cNvSpPr>
            <a:spLocks xmlns:a="http://schemas.openxmlformats.org/drawingml/2006/main" noGrp="1"/>
          </p:cNvSpPr>
          <p:nvPr/>
        </p:nvSpPr>
        <p:spPr>
          <a:xfrm xmlns:a="http://schemas.openxmlformats.org/drawingml/2006/main">
            <a:off x="609600" y="5324475"/>
            <a:ext cx="106680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1F2120"/>
                </a:solidFill>
                <a:latin typeface="Arial"/>
                <a:ea typeface="Arial"/>
                <a:cs typeface="Arial"/>
              </a:defRPr>
            </a:pPr>
            <a:r>
              <a:rPr sz="2250" b="0">
                <a:solidFill>
                  <a:srgbClr val="1F2120"/>
                </a:solidFill>
                <a:latin typeface="Arial"/>
                <a:ea typeface="Arial"/>
                <a:cs typeface="Arial"/>
              </a:rPr>
              <a:t>About 465 of the 10,000 simulated outcomes lose money.</a:t>
            </a:r>
          </a:p>
        </p:txBody>
      </p:sp>
    </p:spTree>
    <p:extLst>
      <p:ext uri="{BB962C8B-B14F-4D97-AF65-F5344CB8AC3E}">
        <p14:creationId xmlns:p14="http://schemas.microsoft.com/office/powerpoint/2010/main" val="460541666"/>
      </p:ext>
    </p:extLst>
  </p:cSld>
</p:sld>
</file>

<file path=ppt/slides/slide9.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7D0A86F-CF90-47C7-94D5-774EBE91F937}"/>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Percentiles describe the range</a:t>
            </a:r>
          </a:p>
        </p:txBody>
      </p:sp>
      <p:sp>
        <p:nvSpPr>
          <p:cNvPr id="2" name="">
            <a:extLst xmlns:a="http://schemas.openxmlformats.org/drawingml/2006/main">
              <a:ext uri="{FF2B5EF4-FFF2-40B4-BE49-F238E27FC236}">
                <a16:creationId xmlns:a16="http://schemas.microsoft.com/office/drawing/2014/main" id="{1AF94E24-C337-4BA4-B254-5F587CE22C4E}"/>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WATCH  /  simulation!A14. Code is on worksheet page 2.</a:t>
            </a:r>
          </a:p>
        </p:txBody>
      </p:sp>
      <p:sp>
        <p:nvSpPr>
          <p:cNvPr id="3" name="">
            <a:extLst xmlns:a="http://schemas.openxmlformats.org/drawingml/2006/main">
              <a:ext uri="{FF2B5EF4-FFF2-40B4-BE49-F238E27FC236}">
                <a16:creationId xmlns:a16="http://schemas.microsoft.com/office/drawing/2014/main" id="{00AE29A4-5312-4359-A75E-9EE6D2830915}"/>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09</a:t>
            </a:r>
          </a:p>
        </p:txBody>
      </p:sp>
      <p:graphicFrame>
        <p:nvGraphicFramePr>
          <p:cNvPr id="9" name=""/>
          <p:cNvGraphicFramePr/>
          <p:nvPr/>
        </p:nvGraphicFramePr>
        <p:xfrm>
          <a:off xmlns:a="http://schemas.openxmlformats.org/drawingml/2006/main" x="609600" y="2552700"/>
          <a:ext xmlns:a="http://schemas.openxmlformats.org/drawingml/2006/main" cx="10972800" cy="2809875"/>
        </p:xfrm>
        <a:graphic xmlns:a="http://schemas.openxmlformats.org/drawingml/2006/main">
          <a:graphicData uri="http://schemas.openxmlformats.org/drawingml/2006/table">
            <a:tbl>
              <a:tblPr/>
              <a:tblGrid>
                <a:gridCol w="3657600"/>
                <a:gridCol w="3657600"/>
                <a:gridCol w="3657600"/>
              </a:tblGrid>
              <a:tr h="702469">
                <a:tc>
                  <a:txBody>
                    <a:bodyPr/>
                    <a:lstStyle/>
                    <a:p>
                      <a:r>
                        <a:rPr sz="2025" b="1">
                          <a:solidFill>
                            <a:srgbClr val="FFFFFF"/>
                          </a:solidFill>
                          <a:latin typeface="Arial"/>
                          <a:ea typeface="Arial"/>
                          <a:cs typeface="Arial"/>
                        </a:rPr>
                        <a:t>Checkpoint</a:t>
                      </a:r>
                    </a:p>
                  </a:txBody>
                  <a:tcPr marL="152400" marR="95250" marT="123825" marB="95250">
                    <a:solidFill>
                      <a:srgbClr val="1F2120"/>
                    </a:solidFill>
                  </a:tcPr>
                </a:tc>
                <a:tc>
                  <a:txBody>
                    <a:bodyPr/>
                    <a:lstStyle/>
                    <a:p>
                      <a:r>
                        <a:rPr sz="2025" b="1">
                          <a:solidFill>
                            <a:srgbClr val="FFFFFF"/>
                          </a:solidFill>
                          <a:latin typeface="Arial"/>
                          <a:ea typeface="Arial"/>
                          <a:cs typeface="Arial"/>
                        </a:rPr>
                        <a:t>Profit</a:t>
                      </a:r>
                    </a:p>
                  </a:txBody>
                  <a:tcPr marL="152400" marR="95250" marT="123825" marB="95250">
                    <a:solidFill>
                      <a:srgbClr val="1F2120"/>
                    </a:solidFill>
                  </a:tcPr>
                </a:tc>
                <a:tc>
                  <a:txBody>
                    <a:bodyPr/>
                    <a:lstStyle/>
                    <a:p>
                      <a:r>
                        <a:rPr sz="2025" b="1">
                          <a:solidFill>
                            <a:srgbClr val="FFFFFF"/>
                          </a:solidFill>
                          <a:latin typeface="Arial"/>
                          <a:ea typeface="Arial"/>
                          <a:cs typeface="Arial"/>
                        </a:rPr>
                        <a:t>Meaning</a:t>
                      </a:r>
                    </a:p>
                  </a:txBody>
                  <a:tcPr marL="152400" marR="95250" marT="123825" marB="95250">
                    <a:solidFill>
                      <a:srgbClr val="1F2120"/>
                    </a:solidFill>
                  </a:tcPr>
                </a:tc>
              </a:tr>
              <a:tr h="702469">
                <a:tc>
                  <a:txBody>
                    <a:bodyPr/>
                    <a:lstStyle/>
                    <a:p>
                      <a:r>
                        <a:rPr sz="2025" b="0">
                          <a:solidFill>
                            <a:srgbClr val="1F2120"/>
                          </a:solidFill>
                          <a:latin typeface="Arial"/>
                          <a:ea typeface="Arial"/>
                          <a:cs typeface="Arial"/>
                        </a:rPr>
                        <a:t>P10</a:t>
                      </a:r>
                    </a:p>
                  </a:txBody>
                  <a:tcPr marL="152400" marR="95250" marT="123825" marB="95250">
                    <a:solidFill>
                      <a:srgbClr val="EEECE1"/>
                    </a:solidFill>
                  </a:tcPr>
                </a:tc>
                <a:tc>
                  <a:txBody>
                    <a:bodyPr/>
                    <a:lstStyle/>
                    <a:p>
                      <a:r>
                        <a:rPr sz="2025" b="0">
                          <a:solidFill>
                            <a:srgbClr val="1F2120"/>
                          </a:solidFill>
                          <a:latin typeface="Arial"/>
                          <a:ea typeface="Arial"/>
                          <a:cs typeface="Arial"/>
                        </a:rPr>
                        <a:t>$4,077</a:t>
                      </a:r>
                    </a:p>
                  </a:txBody>
                  <a:tcPr marL="152400" marR="95250" marT="123825" marB="95250">
                    <a:solidFill>
                      <a:srgbClr val="EEECE1"/>
                    </a:solidFill>
                  </a:tcPr>
                </a:tc>
                <a:tc>
                  <a:txBody>
                    <a:bodyPr/>
                    <a:lstStyle/>
                    <a:p>
                      <a:r>
                        <a:rPr sz="2025" b="0">
                          <a:solidFill>
                            <a:srgbClr val="1F2120"/>
                          </a:solidFill>
                          <a:latin typeface="Arial"/>
                          <a:ea typeface="Arial"/>
                          <a:cs typeface="Arial"/>
                        </a:rPr>
                        <a:t>A lower-end outcome</a:t>
                      </a:r>
                    </a:p>
                  </a:txBody>
                  <a:tcPr marL="152400" marR="95250" marT="123825" marB="95250">
                    <a:solidFill>
                      <a:srgbClr val="EEECE1"/>
                    </a:solidFill>
                  </a:tcPr>
                </a:tc>
              </a:tr>
              <a:tr h="702469">
                <a:tc>
                  <a:txBody>
                    <a:bodyPr/>
                    <a:lstStyle/>
                    <a:p>
                      <a:r>
                        <a:rPr sz="2025" b="0">
                          <a:solidFill>
                            <a:srgbClr val="1F2120"/>
                          </a:solidFill>
                          <a:latin typeface="Arial"/>
                          <a:ea typeface="Arial"/>
                          <a:cs typeface="Arial"/>
                        </a:rPr>
                        <a:t>P50</a:t>
                      </a:r>
                    </a:p>
                  </a:txBody>
                  <a:tcPr marL="152400" marR="95250" marT="123825" marB="95250">
                    <a:solidFill>
                      <a:srgbClr val="EEECE1"/>
                    </a:solidFill>
                  </a:tcPr>
                </a:tc>
                <a:tc>
                  <a:txBody>
                    <a:bodyPr/>
                    <a:lstStyle/>
                    <a:p>
                      <a:r>
                        <a:rPr sz="2025" b="0">
                          <a:solidFill>
                            <a:srgbClr val="1F2120"/>
                          </a:solidFill>
                          <a:latin typeface="Arial"/>
                          <a:ea typeface="Arial"/>
                          <a:cs typeface="Arial"/>
                        </a:rPr>
                        <a:t>$16,974</a:t>
                      </a:r>
                    </a:p>
                  </a:txBody>
                  <a:tcPr marL="152400" marR="95250" marT="123825" marB="95250">
                    <a:solidFill>
                      <a:srgbClr val="EEECE1"/>
                    </a:solidFill>
                  </a:tcPr>
                </a:tc>
                <a:tc>
                  <a:txBody>
                    <a:bodyPr/>
                    <a:lstStyle/>
                    <a:p>
                      <a:r>
                        <a:rPr sz="2025" b="0">
                          <a:solidFill>
                            <a:srgbClr val="1F2120"/>
                          </a:solidFill>
                          <a:latin typeface="Arial"/>
                          <a:ea typeface="Arial"/>
                          <a:cs typeface="Arial"/>
                        </a:rPr>
                        <a:t>The middle outcome</a:t>
                      </a:r>
                    </a:p>
                  </a:txBody>
                  <a:tcPr marL="152400" marR="95250" marT="123825" marB="95250">
                    <a:solidFill>
                      <a:srgbClr val="EEECE1"/>
                    </a:solidFill>
                  </a:tcPr>
                </a:tc>
              </a:tr>
              <a:tr h="702469">
                <a:tc>
                  <a:txBody>
                    <a:bodyPr/>
                    <a:lstStyle/>
                    <a:p>
                      <a:r>
                        <a:rPr sz="2025" b="0">
                          <a:solidFill>
                            <a:srgbClr val="1F2120"/>
                          </a:solidFill>
                          <a:latin typeface="Arial"/>
                          <a:ea typeface="Arial"/>
                          <a:cs typeface="Arial"/>
                        </a:rPr>
                        <a:t>P90</a:t>
                      </a:r>
                    </a:p>
                  </a:txBody>
                  <a:tcPr marL="152400" marR="95250" marT="123825" marB="95250">
                    <a:solidFill>
                      <a:srgbClr val="EEECE1"/>
                    </a:solidFill>
                  </a:tcPr>
                </a:tc>
                <a:tc>
                  <a:txBody>
                    <a:bodyPr/>
                    <a:lstStyle/>
                    <a:p>
                      <a:r>
                        <a:rPr sz="2025" b="0">
                          <a:solidFill>
                            <a:srgbClr val="1F2120"/>
                          </a:solidFill>
                          <a:latin typeface="Arial"/>
                          <a:ea typeface="Arial"/>
                          <a:cs typeface="Arial"/>
                        </a:rPr>
                        <a:t>$22,000</a:t>
                      </a:r>
                    </a:p>
                  </a:txBody>
                  <a:tcPr marL="152400" marR="95250" marT="123825" marB="95250">
                    <a:solidFill>
                      <a:srgbClr val="EEECE1"/>
                    </a:solidFill>
                  </a:tcPr>
                </a:tc>
                <a:tc>
                  <a:txBody>
                    <a:bodyPr/>
                    <a:lstStyle/>
                    <a:p>
                      <a:r>
                        <a:rPr sz="2025" b="0">
                          <a:solidFill>
                            <a:srgbClr val="1F2120"/>
                          </a:solidFill>
                          <a:latin typeface="Arial"/>
                          <a:ea typeface="Arial"/>
                          <a:cs typeface="Arial"/>
                        </a:rPr>
                        <a:t>At the stock-limited maximum</a:t>
                      </a:r>
                    </a:p>
                  </a:txBody>
                  <a:tcPr marL="152400" marR="95250" marT="123825" marB="95250">
                    <a:solidFill>
                      <a:srgbClr val="EEECE1"/>
                    </a:solidFill>
                  </a:tcPr>
                </a:tc>
              </a:tr>
            </a:tbl>
          </a:graphicData>
        </a:graphic>
      </p:graphicFrame>
      <p:sp>
        <p:nvSpPr>
          <p:cNvPr id="5" name="">
            <a:extLst xmlns:a="http://schemas.openxmlformats.org/drawingml/2006/main">
              <a:ext uri="{FF2B5EF4-FFF2-40B4-BE49-F238E27FC236}">
                <a16:creationId xmlns:a16="http://schemas.microsoft.com/office/drawing/2014/main" id="{11817BB0-A6CE-4751-BEB9-6031D6ACBCA7}"/>
              </a:ext>
            </a:extLst>
          </p:cNvPr>
          <p:cNvSpPr>
            <a:spLocks xmlns:a="http://schemas.openxmlformats.org/drawingml/2006/main" noGrp="1"/>
          </p:cNvSpPr>
          <p:nvPr/>
        </p:nvSpPr>
        <p:spPr>
          <a:xfrm xmlns:a="http://schemas.openxmlformats.org/drawingml/2006/main">
            <a:off x="609600" y="5800725"/>
            <a:ext cx="10906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1F2120"/>
                </a:solidFill>
                <a:latin typeface="Arial"/>
                <a:ea typeface="Arial"/>
                <a:cs typeface="Arial"/>
              </a:defRPr>
            </a:pPr>
            <a:r>
              <a:rPr sz="1875" b="0">
                <a:solidFill>
                  <a:srgbClr val="1F2120"/>
                </a:solidFill>
                <a:latin typeface="Arial"/>
                <a:ea typeface="Arial"/>
                <a:cs typeface="Arial"/>
              </a:rPr>
              <a:t>A percentile is a checkpoint in the simulated results, not a guarantee.</a:t>
            </a:r>
          </a:p>
        </p:txBody>
      </p:sp>
    </p:spTree>
    <p:extLst>
      <p:ext uri="{BB962C8B-B14F-4D97-AF65-F5344CB8AC3E}">
        <p14:creationId xmlns:p14="http://schemas.microsoft.com/office/powerpoint/2010/main" val="1093188663"/>
      </p:ext>
    </p:extLst>
  </p:cSld>
</p:sld>
</file>

<file path=ppt/slides/slide10.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394346A-6675-40BA-B79A-37B09F37A928}"/>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The same demand can test a different choice</a:t>
            </a:r>
          </a:p>
        </p:txBody>
      </p:sp>
      <p:sp>
        <p:nvSpPr>
          <p:cNvPr id="2" name="">
            <a:extLst xmlns:a="http://schemas.openxmlformats.org/drawingml/2006/main">
              <a:ext uri="{FF2B5EF4-FFF2-40B4-BE49-F238E27FC236}">
                <a16:creationId xmlns:a16="http://schemas.microsoft.com/office/drawing/2014/main" id="{4ECF0A0F-3239-40C4-B760-936C808D0DE1}"/>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WATCH  /  simulation!A20. Code is on worksheet page 3.</a:t>
            </a:r>
          </a:p>
        </p:txBody>
      </p:sp>
      <p:sp>
        <p:nvSpPr>
          <p:cNvPr id="3" name="">
            <a:extLst xmlns:a="http://schemas.openxmlformats.org/drawingml/2006/main">
              <a:ext uri="{FF2B5EF4-FFF2-40B4-BE49-F238E27FC236}">
                <a16:creationId xmlns:a16="http://schemas.microsoft.com/office/drawing/2014/main" id="{E67130DA-D2FF-42EC-AC9C-3ED49802A1A3}"/>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10</a:t>
            </a:r>
          </a:p>
        </p:txBody>
      </p:sp>
      <p:graphicFrame>
        <p:nvGraphicFramePr>
          <p:cNvPr id="9" name=""/>
          <p:cNvGraphicFramePr/>
          <p:nvPr/>
        </p:nvGraphicFramePr>
        <p:xfrm>
          <a:off xmlns:a="http://schemas.openxmlformats.org/drawingml/2006/main" x="609600" y="2714625"/>
          <a:ext xmlns:a="http://schemas.openxmlformats.org/drawingml/2006/main" cx="10972800" cy="2257425"/>
        </p:xfrm>
        <a:graphic xmlns:a="http://schemas.openxmlformats.org/drawingml/2006/main">
          <a:graphicData uri="http://schemas.openxmlformats.org/drawingml/2006/table">
            <a:tbl>
              <a:tblPr/>
              <a:tblGrid>
                <a:gridCol w="3657600"/>
                <a:gridCol w="3657600"/>
                <a:gridCol w="3657600"/>
              </a:tblGrid>
              <a:tr h="752475">
                <a:tc>
                  <a:txBody>
                    <a:bodyPr/>
                    <a:lstStyle/>
                    <a:p>
                      <a:r>
                        <a:rPr sz="2025" b="1">
                          <a:solidFill>
                            <a:srgbClr val="FFFFFF"/>
                          </a:solidFill>
                          <a:latin typeface="Arial"/>
                          <a:ea typeface="Arial"/>
                          <a:cs typeface="Arial"/>
                        </a:rPr>
                        <a:t>Stock</a:t>
                      </a:r>
                    </a:p>
                  </a:txBody>
                  <a:tcPr marL="152400" marR="95250" marT="123825" marB="95250">
                    <a:solidFill>
                      <a:srgbClr val="1F2120"/>
                    </a:solidFill>
                  </a:tcPr>
                </a:tc>
                <a:tc>
                  <a:txBody>
                    <a:bodyPr/>
                    <a:lstStyle/>
                    <a:p>
                      <a:r>
                        <a:rPr sz="2025" b="1">
                          <a:solidFill>
                            <a:srgbClr val="FFFFFF"/>
                          </a:solidFill>
                          <a:latin typeface="Arial"/>
                          <a:ea typeface="Arial"/>
                          <a:cs typeface="Arial"/>
                        </a:rPr>
                        <a:t>Average profit</a:t>
                      </a:r>
                    </a:p>
                  </a:txBody>
                  <a:tcPr marL="152400" marR="95250" marT="123825" marB="95250">
                    <a:solidFill>
                      <a:srgbClr val="1F2120"/>
                    </a:solidFill>
                  </a:tcPr>
                </a:tc>
                <a:tc>
                  <a:txBody>
                    <a:bodyPr/>
                    <a:lstStyle/>
                    <a:p>
                      <a:r>
                        <a:rPr sz="2025" b="1">
                          <a:solidFill>
                            <a:srgbClr val="FFFFFF"/>
                          </a:solidFill>
                          <a:latin typeface="Arial"/>
                          <a:ea typeface="Arial"/>
                          <a:cs typeface="Arial"/>
                        </a:rPr>
                        <a:t>Loss rate</a:t>
                      </a:r>
                    </a:p>
                  </a:txBody>
                  <a:tcPr marL="152400" marR="95250" marT="123825" marB="95250">
                    <a:solidFill>
                      <a:srgbClr val="1F2120"/>
                    </a:solidFill>
                  </a:tcPr>
                </a:tc>
              </a:tr>
              <a:tr h="752475">
                <a:tc>
                  <a:txBody>
                    <a:bodyPr/>
                    <a:lstStyle/>
                    <a:p>
                      <a:r>
                        <a:rPr sz="2025" b="0">
                          <a:solidFill>
                            <a:srgbClr val="1F2120"/>
                          </a:solidFill>
                          <a:latin typeface="Arial"/>
                          <a:ea typeface="Arial"/>
                          <a:cs typeface="Arial"/>
                        </a:rPr>
                        <a:t>900 units</a:t>
                      </a:r>
                    </a:p>
                  </a:txBody>
                  <a:tcPr marL="152400" marR="95250" marT="123825" marB="95250">
                    <a:solidFill>
                      <a:srgbClr val="EEECE1"/>
                    </a:solidFill>
                  </a:tcPr>
                </a:tc>
                <a:tc>
                  <a:txBody>
                    <a:bodyPr/>
                    <a:lstStyle/>
                    <a:p>
                      <a:r>
                        <a:rPr sz="2025" b="0">
                          <a:solidFill>
                            <a:srgbClr val="1F2120"/>
                          </a:solidFill>
                          <a:latin typeface="Arial"/>
                          <a:ea typeface="Arial"/>
                          <a:cs typeface="Arial"/>
                        </a:rPr>
                        <a:t>$16,007</a:t>
                      </a:r>
                    </a:p>
                  </a:txBody>
                  <a:tcPr marL="152400" marR="95250" marT="123825" marB="95250">
                    <a:solidFill>
                      <a:srgbClr val="EEECE1"/>
                    </a:solidFill>
                  </a:tcPr>
                </a:tc>
                <a:tc>
                  <a:txBody>
                    <a:bodyPr/>
                    <a:lstStyle/>
                    <a:p>
                      <a:r>
                        <a:rPr sz="2025" b="0">
                          <a:solidFill>
                            <a:srgbClr val="1F2120"/>
                          </a:solidFill>
                          <a:latin typeface="Arial"/>
                          <a:ea typeface="Arial"/>
                          <a:cs typeface="Arial"/>
                        </a:rPr>
                        <a:t>1.06%</a:t>
                      </a:r>
                    </a:p>
                  </a:txBody>
                  <a:tcPr marL="152400" marR="95250" marT="123825" marB="95250">
                    <a:solidFill>
                      <a:srgbClr val="EEECE1"/>
                    </a:solidFill>
                  </a:tcPr>
                </a:tc>
              </a:tr>
              <a:tr h="752475">
                <a:tc>
                  <a:txBody>
                    <a:bodyPr/>
                    <a:lstStyle/>
                    <a:p>
                      <a:r>
                        <a:rPr sz="2025" b="0">
                          <a:solidFill>
                            <a:srgbClr val="1F2120"/>
                          </a:solidFill>
                          <a:latin typeface="Arial"/>
                          <a:ea typeface="Arial"/>
                          <a:cs typeface="Arial"/>
                        </a:rPr>
                        <a:t>1,100 units</a:t>
                      </a:r>
                    </a:p>
                  </a:txBody>
                  <a:tcPr marL="152400" marR="95250" marT="123825" marB="95250">
                    <a:solidFill>
                      <a:srgbClr val="EEECE1"/>
                    </a:solidFill>
                  </a:tcPr>
                </a:tc>
                <a:tc>
                  <a:txBody>
                    <a:bodyPr/>
                    <a:lstStyle/>
                    <a:p>
                      <a:r>
                        <a:rPr sz="2025" b="0">
                          <a:solidFill>
                            <a:srgbClr val="1F2120"/>
                          </a:solidFill>
                          <a:latin typeface="Arial"/>
                          <a:ea typeface="Arial"/>
                          <a:cs typeface="Arial"/>
                        </a:rPr>
                        <a:t>$14,998</a:t>
                      </a:r>
                    </a:p>
                  </a:txBody>
                  <a:tcPr marL="152400" marR="95250" marT="123825" marB="95250">
                    <a:solidFill>
                      <a:srgbClr val="EEECE1"/>
                    </a:solidFill>
                  </a:tcPr>
                </a:tc>
                <a:tc>
                  <a:txBody>
                    <a:bodyPr/>
                    <a:lstStyle/>
                    <a:p>
                      <a:r>
                        <a:rPr sz="2025" b="0">
                          <a:solidFill>
                            <a:srgbClr val="1F2120"/>
                          </a:solidFill>
                          <a:latin typeface="Arial"/>
                          <a:ea typeface="Arial"/>
                          <a:cs typeface="Arial"/>
                        </a:rPr>
                        <a:t>4.65%</a:t>
                      </a:r>
                    </a:p>
                  </a:txBody>
                  <a:tcPr marL="152400" marR="95250" marT="123825" marB="95250">
                    <a:solidFill>
                      <a:srgbClr val="EEECE1"/>
                    </a:solidFill>
                  </a:tcPr>
                </a:tc>
              </a:tr>
            </a:tbl>
          </a:graphicData>
        </a:graphic>
      </p:graphicFrame>
      <p:sp>
        <p:nvSpPr>
          <p:cNvPr id="5" name="">
            <a:extLst xmlns:a="http://schemas.openxmlformats.org/drawingml/2006/main">
              <a:ext uri="{FF2B5EF4-FFF2-40B4-BE49-F238E27FC236}">
                <a16:creationId xmlns:a16="http://schemas.microsoft.com/office/drawing/2014/main" id="{43D8E131-264A-44BE-868B-09D5C3D41289}"/>
              </a:ext>
            </a:extLst>
          </p:cNvPr>
          <p:cNvSpPr>
            <a:spLocks xmlns:a="http://schemas.openxmlformats.org/drawingml/2006/main" noGrp="1"/>
          </p:cNvSpPr>
          <p:nvPr/>
        </p:nvSpPr>
        <p:spPr>
          <a:xfrm xmlns:a="http://schemas.openxmlformats.org/drawingml/2006/main">
            <a:off x="609600" y="5486400"/>
            <a:ext cx="107156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1">
                <a:solidFill>
                  <a:srgbClr val="CF3338"/>
                </a:solidFill>
                <a:latin typeface="Arial"/>
                <a:ea typeface="Arial"/>
                <a:cs typeface="Arial"/>
              </a:defRPr>
            </a:pPr>
            <a:r>
              <a:rPr sz="2175" b="1">
                <a:solidFill>
                  <a:srgbClr val="CF3338"/>
                </a:solidFill>
                <a:latin typeface="Arial"/>
                <a:ea typeface="Arial"/>
                <a:cs typeface="Arial"/>
              </a:rPr>
              <a:t>Under these assumptions, 900 has a better average and fewer losses.</a:t>
            </a:r>
          </a:p>
        </p:txBody>
      </p:sp>
    </p:spTree>
    <p:extLst>
      <p:ext uri="{BB962C8B-B14F-4D97-AF65-F5344CB8AC3E}">
        <p14:creationId xmlns:p14="http://schemas.microsoft.com/office/powerpoint/2010/main" val="1171007550"/>
      </p:ext>
    </p:extLst>
  </p:cSld>
</p:sld>
</file>

<file path=ppt/slides/slide11.xml><?xml version="1.0" encoding="utf-8"?>
<p:sld xmlns:p="http://schemas.openxmlformats.org/presentationml/2006/main">
  <p:cSld>
    <p:bg>
      <p:bgPr>
        <a:solidFill xmlns:a="http://schemas.openxmlformats.org/drawingml/2006/main">
          <a:srgbClr val="1F21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41CFC0-9751-4765-8A66-0514E5BB646D}"/>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The choice still needs business judgment</a:t>
            </a:r>
          </a:p>
        </p:txBody>
      </p:sp>
      <p:sp>
        <p:nvSpPr>
          <p:cNvPr id="2" name="">
            <a:extLst xmlns:a="http://schemas.openxmlformats.org/drawingml/2006/main">
              <a:ext uri="{FF2B5EF4-FFF2-40B4-BE49-F238E27FC236}">
                <a16:creationId xmlns:a16="http://schemas.microsoft.com/office/drawing/2014/main" id="{2A4E3A20-8D0A-4D7C-81CD-20250900AE88}"/>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EEECE1"/>
                </a:solidFill>
                <a:latin typeface="Arial"/>
                <a:ea typeface="Arial"/>
                <a:cs typeface="Arial"/>
              </a:defRPr>
            </a:pPr>
            <a:r>
              <a:rPr sz="1875" b="0">
                <a:solidFill>
                  <a:srgbClr val="EEECE1"/>
                </a:solidFill>
                <a:latin typeface="Arial"/>
                <a:ea typeface="Arial"/>
                <a:cs typeface="Arial"/>
              </a:rPr>
              <a:t>YOUR TURN  /  Worksheet page 3</a:t>
            </a:r>
          </a:p>
        </p:txBody>
      </p:sp>
      <p:sp>
        <p:nvSpPr>
          <p:cNvPr id="3" name="">
            <a:extLst xmlns:a="http://schemas.openxmlformats.org/drawingml/2006/main">
              <a:ext uri="{FF2B5EF4-FFF2-40B4-BE49-F238E27FC236}">
                <a16:creationId xmlns:a16="http://schemas.microsoft.com/office/drawing/2014/main" id="{6B3CDBF9-9C0D-4BE2-B392-398A829E466C}"/>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6D35990C-1DA1-4464-8931-717BCBB244F0}"/>
              </a:ext>
            </a:extLst>
          </p:cNvPr>
          <p:cNvSpPr>
            <a:spLocks xmlns:a="http://schemas.openxmlformats.org/drawingml/2006/main" noGrp="1"/>
          </p:cNvSpPr>
          <p:nvPr/>
        </p:nvSpPr>
        <p:spPr>
          <a:xfrm xmlns:a="http://schemas.openxmlformats.org/drawingml/2006/main">
            <a:off x="609600" y="267652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FFFFF"/>
                </a:solidFill>
                <a:latin typeface="Arial"/>
                <a:ea typeface="Arial"/>
                <a:cs typeface="Arial"/>
              </a:defRPr>
            </a:pPr>
            <a:r>
              <a:rPr sz="2925" b="0">
                <a:solidFill>
                  <a:srgbClr val="FFFFFF"/>
                </a:solidFill>
                <a:latin typeface="Arial"/>
                <a:ea typeface="Arial"/>
                <a:cs typeface="Arial"/>
              </a:rPr>
              <a:t>Which stock quantity would you choose?</a:t>
            </a:r>
          </a:p>
          <a:p xmlns:a="http://schemas.openxmlformats.org/drawingml/2006/main">
            <a:pPr>
              <a:defRPr sz="2925" b="0">
                <a:solidFill>
                  <a:srgbClr val="FFFFFF"/>
                </a:solidFill>
                <a:latin typeface="Arial"/>
                <a:ea typeface="Arial"/>
                <a:cs typeface="Arial"/>
              </a:defRPr>
            </a:pPr>
            <a:r>
              <a:rPr sz="2925" b="0">
                <a:solidFill>
                  <a:srgbClr val="FFFFFF"/>
                </a:solidFill>
                <a:latin typeface="Arial"/>
                <a:ea typeface="Arial"/>
                <a:cs typeface="Arial"/>
              </a:rPr>
              <a:t>Which assumption would you check first?</a:t>
            </a:r>
          </a:p>
        </p:txBody>
      </p:sp>
      <p:sp>
        <p:nvSpPr>
          <p:cNvPr id="5" name="">
            <a:extLst xmlns:a="http://schemas.openxmlformats.org/drawingml/2006/main">
              <a:ext uri="{FF2B5EF4-FFF2-40B4-BE49-F238E27FC236}">
                <a16:creationId xmlns:a16="http://schemas.microsoft.com/office/drawing/2014/main" id="{74D1E493-8421-4B0A-BB7B-010D4BBB0123}"/>
              </a:ext>
            </a:extLst>
          </p:cNvPr>
          <p:cNvSpPr>
            <a:spLocks xmlns:a="http://schemas.openxmlformats.org/drawingml/2006/main" noGrp="1"/>
          </p:cNvSpPr>
          <p:nvPr/>
        </p:nvSpPr>
        <p:spPr>
          <a:xfrm xmlns:a="http://schemas.openxmlformats.org/drawingml/2006/main">
            <a:off x="609600" y="4933950"/>
            <a:ext cx="10744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EEECE1"/>
                </a:solidFill>
                <a:latin typeface="Arial"/>
                <a:ea typeface="Arial"/>
                <a:cs typeface="Arial"/>
              </a:defRPr>
            </a:pPr>
            <a:r>
              <a:rPr sz="2175" b="0">
                <a:solidFill>
                  <a:srgbClr val="EEECE1"/>
                </a:solidFill>
                <a:latin typeface="Arial"/>
                <a:ea typeface="Arial"/>
                <a:cs typeface="Arial"/>
              </a:rPr>
              <a:t>Possible next check: resale value, demand pattern or the cost of lost sales.</a:t>
            </a:r>
          </a:p>
        </p:txBody>
      </p:sp>
    </p:spTree>
    <p:extLst>
      <p:ext uri="{BB962C8B-B14F-4D97-AF65-F5344CB8AC3E}">
        <p14:creationId xmlns:p14="http://schemas.microsoft.com/office/powerpoint/2010/main" val="1808952285"/>
      </p:ext>
    </p:extLst>
  </p:cSld>
</p:sld>
</file>

<file path=ppt/slides/slide12.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52BF694-4CD2-4A91-8F93-C646175F74B0}"/>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moving average smooths daily sales</a:t>
            </a:r>
          </a:p>
        </p:txBody>
      </p:sp>
      <p:sp>
        <p:nvSpPr>
          <p:cNvPr id="2" name="">
            <a:extLst xmlns:a="http://schemas.openxmlformats.org/drawingml/2006/main">
              <a:ext uri="{FF2B5EF4-FFF2-40B4-BE49-F238E27FC236}">
                <a16:creationId xmlns:a16="http://schemas.microsoft.com/office/drawing/2014/main" id="{91988F7A-9E2D-45DE-AC47-BD55B80B4DB4}"/>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TRY IT  /  moving-average!G1. Code is on worksheet page 4.</a:t>
            </a:r>
          </a:p>
        </p:txBody>
      </p:sp>
      <p:sp>
        <p:nvSpPr>
          <p:cNvPr id="3" name="">
            <a:extLst xmlns:a="http://schemas.openxmlformats.org/drawingml/2006/main">
              <a:ext uri="{FF2B5EF4-FFF2-40B4-BE49-F238E27FC236}">
                <a16:creationId xmlns:a16="http://schemas.microsoft.com/office/drawing/2014/main" id="{642D2E8D-2673-47F6-8C8E-3F7B81971CBF}"/>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6D674932-3AD6-43CB-BBA8-E44EFD2E733D}"/>
              </a:ext>
            </a:extLst>
          </p:cNvPr>
          <p:cNvSpPr>
            <a:spLocks xmlns:a="http://schemas.openxmlformats.org/drawingml/2006/main" noGrp="1"/>
          </p:cNvSpPr>
          <p:nvPr/>
        </p:nvSpPr>
        <p:spPr>
          <a:xfrm xmlns:a="http://schemas.openxmlformats.org/drawingml/2006/main">
            <a:off x="609600" y="2628900"/>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0">
                <a:solidFill>
                  <a:srgbClr val="1F2120"/>
                </a:solidFill>
                <a:latin typeface="Arial"/>
                <a:ea typeface="Arial"/>
                <a:cs typeface="Arial"/>
              </a:defRPr>
            </a:pPr>
            <a:r>
              <a:rPr sz="2700" b="0">
                <a:solidFill>
                  <a:srgbClr val="1F2120"/>
                </a:solidFill>
                <a:latin typeface="Arial"/>
                <a:ea typeface="Arial"/>
                <a:cs typeface="Arial"/>
              </a:rPr>
              <a:t>Daily sales can jump around.</a:t>
            </a:r>
          </a:p>
          <a:p xmlns:a="http://schemas.openxmlformats.org/drawingml/2006/main">
            <a:pPr>
              <a:defRPr sz="2700" b="0">
                <a:solidFill>
                  <a:srgbClr val="1F2120"/>
                </a:solidFill>
                <a:latin typeface="Arial"/>
                <a:ea typeface="Arial"/>
                <a:cs typeface="Arial"/>
              </a:defRPr>
            </a:pPr>
            <a:r>
              <a:rPr sz="2700" b="0">
                <a:solidFill>
                  <a:srgbClr val="1F2120"/>
                </a:solidFill>
                <a:latin typeface="Arial"/>
                <a:ea typeface="Arial"/>
                <a:cs typeface="Arial"/>
              </a:rPr>
              <a:t>A seven-day average makes the recent pattern easier to see.</a:t>
            </a:r>
          </a:p>
        </p:txBody>
      </p:sp>
      <p:sp>
        <p:nvSpPr>
          <p:cNvPr id="5" name="">
            <a:extLst xmlns:a="http://schemas.openxmlformats.org/drawingml/2006/main">
              <a:ext uri="{FF2B5EF4-FFF2-40B4-BE49-F238E27FC236}">
                <a16:creationId xmlns:a16="http://schemas.microsoft.com/office/drawing/2014/main" id="{FE614EA9-5933-4427-A4D7-7D723F38D0FF}"/>
              </a:ext>
            </a:extLst>
          </p:cNvPr>
          <p:cNvSpPr>
            <a:spLocks xmlns:a="http://schemas.openxmlformats.org/drawingml/2006/main" noGrp="1"/>
          </p:cNvSpPr>
          <p:nvPr/>
        </p:nvSpPr>
        <p:spPr>
          <a:xfrm xmlns:a="http://schemas.openxmlformats.org/drawingml/2006/main">
            <a:off x="609600" y="5457825"/>
            <a:ext cx="10972800" cy="69532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8820ED8-81F2-4414-A5BB-78CB270B431A}"/>
              </a:ext>
            </a:extLst>
          </p:cNvPr>
          <p:cNvSpPr>
            <a:spLocks xmlns:a="http://schemas.openxmlformats.org/drawingml/2006/main" noGrp="1"/>
          </p:cNvSpPr>
          <p:nvPr/>
        </p:nvSpPr>
        <p:spPr>
          <a:xfrm xmlns:a="http://schemas.openxmlformats.org/drawingml/2006/main">
            <a:off x="828675" y="5638800"/>
            <a:ext cx="10525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Seven daily rows make the first complete seven-day average.</a:t>
            </a:r>
          </a:p>
        </p:txBody>
      </p:sp>
    </p:spTree>
    <p:extLst>
      <p:ext uri="{BB962C8B-B14F-4D97-AF65-F5344CB8AC3E}">
        <p14:creationId xmlns:p14="http://schemas.microsoft.com/office/powerpoint/2010/main" val="1272827594"/>
      </p:ext>
    </p:extLst>
  </p:cSld>
</p:sld>
</file>

<file path=ppt/slides/slide13.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10C172-E987-41CB-B158-483932AFCE42}"/>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longer window makes a smoother line</a:t>
            </a:r>
          </a:p>
        </p:txBody>
      </p:sp>
      <p:sp>
        <p:nvSpPr>
          <p:cNvPr id="2" name="">
            <a:extLst xmlns:a="http://schemas.openxmlformats.org/drawingml/2006/main">
              <a:ext uri="{FF2B5EF4-FFF2-40B4-BE49-F238E27FC236}">
                <a16:creationId xmlns:a16="http://schemas.microsoft.com/office/drawing/2014/main" id="{8B25AF5C-7754-478B-93F7-3B8D3E8CBBBC}"/>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WATCH  /  Daily sales, seven-day average and thirty-day average</a:t>
            </a:r>
          </a:p>
        </p:txBody>
      </p:sp>
      <p:sp>
        <p:nvSpPr>
          <p:cNvPr id="3" name="">
            <a:extLst xmlns:a="http://schemas.openxmlformats.org/drawingml/2006/main">
              <a:ext uri="{FF2B5EF4-FFF2-40B4-BE49-F238E27FC236}">
                <a16:creationId xmlns:a16="http://schemas.microsoft.com/office/drawing/2014/main" id="{3C018606-DC84-4608-85B1-4A1C38B57550}"/>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13</a:t>
            </a:r>
          </a:p>
        </p:txBody>
      </p:sp>
      <p:graphicFrame>
        <p:nvGraphicFramePr>
          <p:cNvPr id="8" name="Chart"/>
          <p:cNvGraphicFramePr/>
          <p:nvPr/>
        </p:nvGraphicFramePr>
        <p:xfrm>
          <a:off xmlns:a="http://schemas.openxmlformats.org/drawingml/2006/main" x="609600" y="2457450"/>
          <a:ext xmlns:a="http://schemas.openxmlformats.org/drawingml/2006/main" cx="10972800" cy="3524250"/>
        </p:xfrm>
        <a:graphic xmlns:a="http://schemas.openxmlformats.org/drawingml/2006/main">
          <a:graphicData uri="http://schemas.openxmlformats.org/drawingml/2006/chart">
            <c:chart xmlns:r="http://schemas.openxmlformats.org/officeDocument/2006/relationships" xmlns:c="http://schemas.openxmlformats.org/drawingml/2006/chart" r:id="R78a4b615a3b64712"/>
          </a:graphicData>
        </a:graphic>
      </p:graphicFrame>
    </p:spTree>
    <p:extLst>
      <p:ext uri="{BB962C8B-B14F-4D97-AF65-F5344CB8AC3E}">
        <p14:creationId xmlns:p14="http://schemas.microsoft.com/office/powerpoint/2010/main" val="380218221"/>
      </p:ext>
    </p:extLst>
  </p:cSld>
</p:sld>
</file>

<file path=ppt/slides/slide14.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F6236FF-5DC2-40BF-8573-E4A8FAED25CC}"/>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One Excel cell becomes a useful control</a:t>
            </a:r>
          </a:p>
        </p:txBody>
      </p:sp>
      <p:sp>
        <p:nvSpPr>
          <p:cNvPr id="2" name="">
            <a:extLst xmlns:a="http://schemas.openxmlformats.org/drawingml/2006/main">
              <a:ext uri="{FF2B5EF4-FFF2-40B4-BE49-F238E27FC236}">
                <a16:creationId xmlns:a16="http://schemas.microsoft.com/office/drawing/2014/main" id="{4D0599CC-B189-4A43-97CF-9D6BB9067640}"/>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TRY IT  /  moving-average!E1 and G20</a:t>
            </a:r>
          </a:p>
        </p:txBody>
      </p:sp>
      <p:sp>
        <p:nvSpPr>
          <p:cNvPr id="3" name="">
            <a:extLst xmlns:a="http://schemas.openxmlformats.org/drawingml/2006/main">
              <a:ext uri="{FF2B5EF4-FFF2-40B4-BE49-F238E27FC236}">
                <a16:creationId xmlns:a16="http://schemas.microsoft.com/office/drawing/2014/main" id="{074CC41E-EFBD-445E-A977-818FB8275F16}"/>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60CB3FDE-C21F-46DF-B1E3-768851077A31}"/>
              </a:ext>
            </a:extLst>
          </p:cNvPr>
          <p:cNvSpPr>
            <a:spLocks xmlns:a="http://schemas.openxmlformats.org/drawingml/2006/main" noGrp="1"/>
          </p:cNvSpPr>
          <p:nvPr/>
        </p:nvSpPr>
        <p:spPr>
          <a:xfrm xmlns:a="http://schemas.openxmlformats.org/drawingml/2006/main">
            <a:off x="609600" y="2609850"/>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E1: enter 7, then allow whole numbers from 1 to 60.</a:t>
            </a:r>
          </a:p>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G20: run the worksheet code.</a:t>
            </a:r>
          </a:p>
          <a:p xmlns:a="http://schemas.openxmlformats.org/drawingml/2006/main">
            <a:pPr>
              <a:defRPr sz="2325" b="0">
                <a:solidFill>
                  <a:srgbClr val="1F2120"/>
                </a:solidFill>
                <a:latin typeface="Arial"/>
                <a:ea typeface="Arial"/>
                <a:cs typeface="Arial"/>
              </a:defRPr>
            </a:pPr>
            <a:r>
              <a:rPr sz="2325" b="0">
                <a:solidFill>
                  <a:srgbClr val="1F2120"/>
                </a:solidFill>
                <a:latin typeface="Arial"/>
                <a:ea typeface="Arial"/>
                <a:cs typeface="Arial"/>
              </a:rPr>
              <a:t>E1: change 7 to 30 and watch the chart update.</a:t>
            </a:r>
          </a:p>
        </p:txBody>
      </p:sp>
      <p:sp>
        <p:nvSpPr>
          <p:cNvPr id="5" name="">
            <a:extLst xmlns:a="http://schemas.openxmlformats.org/drawingml/2006/main">
              <a:ext uri="{FF2B5EF4-FFF2-40B4-BE49-F238E27FC236}">
                <a16:creationId xmlns:a16="http://schemas.microsoft.com/office/drawing/2014/main" id="{208D79E1-EBF3-4AFC-A823-F40A51EF73B1}"/>
              </a:ext>
            </a:extLst>
          </p:cNvPr>
          <p:cNvSpPr>
            <a:spLocks xmlns:a="http://schemas.openxmlformats.org/drawingml/2006/main" noGrp="1"/>
          </p:cNvSpPr>
          <p:nvPr/>
        </p:nvSpPr>
        <p:spPr>
          <a:xfrm xmlns:a="http://schemas.openxmlformats.org/drawingml/2006/main">
            <a:off x="609600" y="5457825"/>
            <a:ext cx="10972800" cy="695325"/>
          </a:xfrm>
          <a:prstGeom xmlns:a="http://schemas.openxmlformats.org/drawingml/2006/main" prst="rect">
            <a:avLst/>
          </a:prstGeom>
          <a:solidFill xmlns:a="http://schemas.openxmlformats.org/drawingml/2006/main">
            <a:srgbClr val="1F2120"/>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EF60E02-04AB-4E46-BD04-27A8A448C2A2}"/>
              </a:ext>
            </a:extLst>
          </p:cNvPr>
          <p:cNvSpPr>
            <a:spLocks xmlns:a="http://schemas.openxmlformats.org/drawingml/2006/main" noGrp="1"/>
          </p:cNvSpPr>
          <p:nvPr/>
        </p:nvSpPr>
        <p:spPr>
          <a:xfrm xmlns:a="http://schemas.openxmlformats.org/drawingml/2006/main">
            <a:off x="828675" y="5638800"/>
            <a:ext cx="105251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FFFFFF"/>
                </a:solidFill>
                <a:latin typeface="Arial"/>
                <a:ea typeface="Arial"/>
                <a:cs typeface="Arial"/>
              </a:defRPr>
            </a:pPr>
            <a:r>
              <a:rPr sz="1875" b="0">
                <a:solidFill>
                  <a:srgbClr val="FFFFFF"/>
                </a:solidFill>
                <a:latin typeface="Arial"/>
                <a:ea typeface="Arial"/>
                <a:cs typeface="Arial"/>
              </a:rPr>
              <a:t>The person using your workbook changes a cell, not the Python code.</a:t>
            </a:r>
          </a:p>
        </p:txBody>
      </p:sp>
    </p:spTree>
    <p:extLst>
      <p:ext uri="{BB962C8B-B14F-4D97-AF65-F5344CB8AC3E}">
        <p14:creationId xmlns:p14="http://schemas.microsoft.com/office/powerpoint/2010/main" val="1725389942"/>
      </p:ext>
    </p:extLst>
  </p:cSld>
</p:sld>
</file>

<file path=ppt/slides/slide15.xml><?xml version="1.0" encoding="utf-8"?>
<p:sld xmlns:p="http://schemas.openxmlformats.org/presentationml/2006/main">
  <p:cSld>
    <p:bg>
      <p:bgPr>
        <a:solidFill xmlns:a="http://schemas.openxmlformats.org/drawingml/2006/main">
          <a:srgbClr val="1F212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CF92B09-0FF4-4891-A970-DE2C9736BC59}"/>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A workbook someone else can use</a:t>
            </a:r>
          </a:p>
        </p:txBody>
      </p:sp>
      <p:sp>
        <p:nvSpPr>
          <p:cNvPr id="2" name="">
            <a:extLst xmlns:a="http://schemas.openxmlformats.org/drawingml/2006/main">
              <a:ext uri="{FF2B5EF4-FFF2-40B4-BE49-F238E27FC236}">
                <a16:creationId xmlns:a16="http://schemas.microsoft.com/office/drawing/2014/main" id="{C706CCBA-099A-4377-8C0A-94770BEF777F}"/>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EEECE1"/>
                </a:solidFill>
                <a:latin typeface="Arial"/>
                <a:ea typeface="Arial"/>
                <a:cs typeface="Arial"/>
              </a:defRPr>
            </a:pPr>
            <a:r>
              <a:rPr sz="1875" b="0">
                <a:solidFill>
                  <a:srgbClr val="EEECE1"/>
                </a:solidFill>
                <a:latin typeface="Arial"/>
                <a:ea typeface="Arial"/>
                <a:cs typeface="Arial"/>
              </a:rPr>
              <a:t>YOUR TURN  /  Final worksheet page</a:t>
            </a:r>
          </a:p>
        </p:txBody>
      </p:sp>
      <p:sp>
        <p:nvSpPr>
          <p:cNvPr id="3" name="">
            <a:extLst xmlns:a="http://schemas.openxmlformats.org/drawingml/2006/main">
              <a:ext uri="{FF2B5EF4-FFF2-40B4-BE49-F238E27FC236}">
                <a16:creationId xmlns:a16="http://schemas.microsoft.com/office/drawing/2014/main" id="{14F4E7AD-57DA-4681-BBA0-F0F6BC1F0B83}"/>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8F76CEE4-0BBF-4F6E-A399-A9405CE3816B}"/>
              </a:ext>
            </a:extLst>
          </p:cNvPr>
          <p:cNvSpPr>
            <a:spLocks xmlns:a="http://schemas.openxmlformats.org/drawingml/2006/main" noGrp="1"/>
          </p:cNvSpPr>
          <p:nvPr/>
        </p:nvSpPr>
        <p:spPr>
          <a:xfrm xmlns:a="http://schemas.openxmlformats.org/drawingml/2006/main">
            <a:off x="609600" y="2676525"/>
            <a:ext cx="108585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925" b="0">
                <a:solidFill>
                  <a:srgbClr val="FFFFFF"/>
                </a:solidFill>
                <a:latin typeface="Arial"/>
                <a:ea typeface="Arial"/>
                <a:cs typeface="Arial"/>
              </a:defRPr>
            </a:pPr>
            <a:r>
              <a:rPr sz="2925" b="0">
                <a:solidFill>
                  <a:srgbClr val="FFFFFF"/>
                </a:solidFill>
                <a:latin typeface="Arial"/>
                <a:ea typeface="Arial"/>
                <a:cs typeface="Arial"/>
              </a:rPr>
              <a:t>What should the user be able to change?</a:t>
            </a:r>
          </a:p>
          <a:p xmlns:a="http://schemas.openxmlformats.org/drawingml/2006/main">
            <a:pPr>
              <a:defRPr sz="2925" b="0">
                <a:solidFill>
                  <a:srgbClr val="FFFFFF"/>
                </a:solidFill>
                <a:latin typeface="Arial"/>
                <a:ea typeface="Arial"/>
                <a:cs typeface="Arial"/>
              </a:defRPr>
            </a:pPr>
            <a:r>
              <a:rPr sz="2925" b="0">
                <a:solidFill>
                  <a:srgbClr val="FFFFFF"/>
                </a:solidFill>
                <a:latin typeface="Arial"/>
                <a:ea typeface="Arial"/>
                <a:cs typeface="Arial"/>
              </a:rPr>
              <a:t>What values should that input allow?</a:t>
            </a:r>
          </a:p>
        </p:txBody>
      </p:sp>
      <p:sp>
        <p:nvSpPr>
          <p:cNvPr id="5" name="">
            <a:extLst xmlns:a="http://schemas.openxmlformats.org/drawingml/2006/main">
              <a:ext uri="{FF2B5EF4-FFF2-40B4-BE49-F238E27FC236}">
                <a16:creationId xmlns:a16="http://schemas.microsoft.com/office/drawing/2014/main" id="{C2F11AFC-FDEB-4953-94EE-8C4511009F47}"/>
              </a:ext>
            </a:extLst>
          </p:cNvPr>
          <p:cNvSpPr>
            <a:spLocks xmlns:a="http://schemas.openxmlformats.org/drawingml/2006/main" noGrp="1"/>
          </p:cNvSpPr>
          <p:nvPr/>
        </p:nvSpPr>
        <p:spPr>
          <a:xfrm xmlns:a="http://schemas.openxmlformats.org/drawingml/2006/main">
            <a:off x="609600" y="4943475"/>
            <a:ext cx="107442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250" b="0">
                <a:solidFill>
                  <a:srgbClr val="EEECE1"/>
                </a:solidFill>
                <a:latin typeface="Arial"/>
                <a:ea typeface="Arial"/>
                <a:cs typeface="Arial"/>
              </a:defRPr>
            </a:pPr>
            <a:r>
              <a:rPr sz="2250" b="0">
                <a:solidFill>
                  <a:srgbClr val="EEECE1"/>
                </a:solidFill>
                <a:latin typeface="Arial"/>
                <a:ea typeface="Arial"/>
                <a:cs typeface="Arial"/>
              </a:rPr>
              <a:t>A clear input and a checked result make the analysis easier to repeat.</a:t>
            </a:r>
          </a:p>
        </p:txBody>
      </p:sp>
    </p:spTree>
    <p:extLst>
      <p:ext uri="{BB962C8B-B14F-4D97-AF65-F5344CB8AC3E}">
        <p14:creationId xmlns:p14="http://schemas.microsoft.com/office/powerpoint/2010/main" val="866714247"/>
      </p:ext>
    </p:extLst>
  </p:cSld>
</p:sld>
</file>

<file path=ppt/slides/slide16.xml><?xml version="1.0" encoding="utf-8"?>
<p:sld xmlns:p="http://schemas.openxmlformats.org/presentationml/2006/main">
  <p:cSld>
    <p:bg>
      <p:bgPr>
        <a:solidFill xmlns:a="http://schemas.openxmlformats.org/drawingml/2006/main">
          <a:srgbClr val="EEECE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8083B9F-7385-497F-849B-29F092082C03}"/>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1F2120"/>
                </a:solidFill>
                <a:latin typeface="Arial Black"/>
                <a:ea typeface="Arial Black"/>
                <a:cs typeface="Arial Black"/>
              </a:defRPr>
            </a:pPr>
            <a:r>
              <a:rPr sz="3300" b="1">
                <a:solidFill>
                  <a:srgbClr val="1F2120"/>
                </a:solidFill>
                <a:latin typeface="Arial Black"/>
                <a:ea typeface="Arial Black"/>
                <a:cs typeface="Arial Black"/>
              </a:rPr>
              <a:t>A book to help you keep going</a:t>
            </a:r>
          </a:p>
        </p:txBody>
      </p:sp>
      <p:sp>
        <p:nvSpPr>
          <p:cNvPr id="2" name="">
            <a:extLst xmlns:a="http://schemas.openxmlformats.org/drawingml/2006/main">
              <a:ext uri="{FF2B5EF4-FFF2-40B4-BE49-F238E27FC236}">
                <a16:creationId xmlns:a16="http://schemas.microsoft.com/office/drawing/2014/main" id="{7FFEB4F2-1A62-4179-9A76-21F5B382F658}"/>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707070"/>
                </a:solidFill>
                <a:latin typeface="Arial"/>
                <a:ea typeface="Arial"/>
                <a:cs typeface="Arial"/>
              </a:defRPr>
            </a:pPr>
            <a:r>
              <a:rPr sz="1875" b="0">
                <a:solidFill>
                  <a:srgbClr val="707070"/>
                </a:solidFill>
                <a:latin typeface="Arial"/>
                <a:ea typeface="Arial"/>
                <a:cs typeface="Arial"/>
              </a:rPr>
              <a:t>Python in Excel for Data Analytics  /  George Mount  /  Packt</a:t>
            </a:r>
          </a:p>
        </p:txBody>
      </p:sp>
      <p:sp>
        <p:nvSpPr>
          <p:cNvPr id="3" name="">
            <a:extLst xmlns:a="http://schemas.openxmlformats.org/drawingml/2006/main">
              <a:ext uri="{FF2B5EF4-FFF2-40B4-BE49-F238E27FC236}">
                <a16:creationId xmlns:a16="http://schemas.microsoft.com/office/drawing/2014/main" id="{F0D07806-FA31-4A03-A5AA-7BF0A4D9FB6F}"/>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707070"/>
                </a:solidFill>
                <a:latin typeface="Arial"/>
                <a:ea typeface="Arial"/>
                <a:cs typeface="Arial"/>
              </a:defRPr>
            </a:pPr>
            <a:r>
              <a:rPr sz="1200" b="0">
                <a:solidFill>
                  <a:srgbClr val="707070"/>
                </a:solidFill>
                <a:latin typeface="Arial"/>
                <a:ea typeface="Arial"/>
                <a:cs typeface="Arial"/>
              </a:rPr>
              <a:t>16</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a4b005f5fb5448ab"/>
          <a:stretch xmlns:a="http://schemas.openxmlformats.org/drawingml/2006/main"/>
        </p:blipFill>
        <p:spPr>
          <a:xfrm xmlns:a="http://schemas.openxmlformats.org/drawingml/2006/main">
            <a:off x="8140117" y="2314575"/>
            <a:ext cx="3226965" cy="39814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FD8C11F-0FD0-4AE4-90C6-C308A017BCC4}"/>
              </a:ext>
            </a:extLst>
          </p:cNvPr>
          <p:cNvSpPr>
            <a:spLocks xmlns:a="http://schemas.openxmlformats.org/drawingml/2006/main" noGrp="1"/>
          </p:cNvSpPr>
          <p:nvPr/>
        </p:nvSpPr>
        <p:spPr>
          <a:xfrm xmlns:a="http://schemas.openxmlformats.org/drawingml/2006/main">
            <a:off x="609600" y="2609850"/>
            <a:ext cx="6953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CF3338"/>
                </a:solidFill>
                <a:latin typeface="Arial"/>
                <a:ea typeface="Arial"/>
                <a:cs typeface="Arial"/>
              </a:defRPr>
            </a:pPr>
            <a:r>
              <a:rPr sz="2475" b="1">
                <a:solidFill>
                  <a:srgbClr val="CF3338"/>
                </a:solidFill>
                <a:latin typeface="Arial"/>
                <a:ea typeface="Arial"/>
                <a:cs typeface="Arial"/>
              </a:rPr>
              <a:t>Build on today’s examples</a:t>
            </a:r>
          </a:p>
        </p:txBody>
      </p:sp>
      <p:sp>
        <p:nvSpPr>
          <p:cNvPr id="6" name="">
            <a:extLst xmlns:a="http://schemas.openxmlformats.org/drawingml/2006/main">
              <a:ext uri="{FF2B5EF4-FFF2-40B4-BE49-F238E27FC236}">
                <a16:creationId xmlns:a16="http://schemas.microsoft.com/office/drawing/2014/main" id="{C5559F86-332C-4125-99D1-806A3C4053BC}"/>
              </a:ext>
            </a:extLst>
          </p:cNvPr>
          <p:cNvSpPr>
            <a:spLocks xmlns:a="http://schemas.openxmlformats.org/drawingml/2006/main" noGrp="1"/>
          </p:cNvSpPr>
          <p:nvPr/>
        </p:nvSpPr>
        <p:spPr>
          <a:xfrm xmlns:a="http://schemas.openxmlformats.org/drawingml/2006/main">
            <a:off x="609600" y="3209925"/>
            <a:ext cx="6905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1F2120"/>
                </a:solidFill>
                <a:latin typeface="Arial"/>
                <a:ea typeface="Arial"/>
                <a:cs typeface="Arial"/>
              </a:defRPr>
            </a:pPr>
            <a:r>
              <a:rPr sz="2175" b="0">
                <a:solidFill>
                  <a:srgbClr val="1F2120"/>
                </a:solidFill>
                <a:latin typeface="Arial"/>
                <a:ea typeface="Arial"/>
                <a:cs typeface="Arial"/>
              </a:rPr>
              <a:t>Chapters 8 and 10 cover simulation and Excel integration.</a:t>
            </a:r>
          </a:p>
        </p:txBody>
      </p:sp>
      <p:sp>
        <p:nvSpPr>
          <p:cNvPr id="7" name="">
            <a:extLst xmlns:a="http://schemas.openxmlformats.org/drawingml/2006/main">
              <a:ext uri="{FF2B5EF4-FFF2-40B4-BE49-F238E27FC236}">
                <a16:creationId xmlns:a16="http://schemas.microsoft.com/office/drawing/2014/main" id="{6EB15EF5-48A8-423F-A848-2A3EDCEA1CFD}"/>
              </a:ext>
            </a:extLst>
          </p:cNvPr>
          <p:cNvSpPr>
            <a:spLocks xmlns:a="http://schemas.openxmlformats.org/drawingml/2006/main" noGrp="1"/>
          </p:cNvSpPr>
          <p:nvPr/>
        </p:nvSpPr>
        <p:spPr>
          <a:xfrm xmlns:a="http://schemas.openxmlformats.org/drawingml/2006/main">
            <a:off x="609600" y="470535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475" b="1">
                <a:solidFill>
                  <a:srgbClr val="CF3338"/>
                </a:solidFill>
                <a:latin typeface="Arial"/>
                <a:ea typeface="Arial"/>
                <a:cs typeface="Arial"/>
              </a:defRPr>
            </a:pPr>
            <a:r>
              <a:rPr sz="2475" b="1">
                <a:solidFill>
                  <a:srgbClr val="CF3338"/>
                </a:solidFill>
                <a:latin typeface="Arial"/>
                <a:ea typeface="Arial"/>
                <a:cs typeface="Arial"/>
              </a:rPr>
              <a:t>A path you can practice</a:t>
            </a:r>
          </a:p>
        </p:txBody>
      </p:sp>
      <p:sp>
        <p:nvSpPr>
          <p:cNvPr id="8" name="">
            <a:extLst xmlns:a="http://schemas.openxmlformats.org/drawingml/2006/main">
              <a:ext uri="{FF2B5EF4-FFF2-40B4-BE49-F238E27FC236}">
                <a16:creationId xmlns:a16="http://schemas.microsoft.com/office/drawing/2014/main" id="{16329EE7-EC0B-43E5-9B62-D3C82F2542FD}"/>
              </a:ext>
            </a:extLst>
          </p:cNvPr>
          <p:cNvSpPr>
            <a:spLocks xmlns:a="http://schemas.openxmlformats.org/drawingml/2006/main" noGrp="1"/>
          </p:cNvSpPr>
          <p:nvPr/>
        </p:nvSpPr>
        <p:spPr>
          <a:xfrm xmlns:a="http://schemas.openxmlformats.org/drawingml/2006/main">
            <a:off x="609600" y="5276850"/>
            <a:ext cx="695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00" b="0">
                <a:solidFill>
                  <a:srgbClr val="1F2120"/>
                </a:solidFill>
                <a:latin typeface="Arial"/>
                <a:ea typeface="Arial"/>
                <a:cs typeface="Arial"/>
              </a:defRPr>
            </a:pPr>
            <a:r>
              <a:rPr sz="2100" b="0">
                <a:solidFill>
                  <a:srgbClr val="1F2120"/>
                </a:solidFill>
                <a:latin typeface="Arial"/>
                <a:ea typeface="Arial"/>
                <a:cs typeface="Arial"/>
              </a:rPr>
              <a:t>Build examples with assumptions you can explain and workbook inputs you can reuse.</a:t>
            </a:r>
          </a:p>
        </p:txBody>
      </p:sp>
    </p:spTree>
    <p:extLst>
      <p:ext uri="{BB962C8B-B14F-4D97-AF65-F5344CB8AC3E}">
        <p14:creationId xmlns:p14="http://schemas.microsoft.com/office/powerpoint/2010/main" val="1360559624"/>
      </p:ext>
    </p:extLst>
  </p:cSld>
</p:sld>
</file>

<file path=ppt/slides/slide17.xml><?xml version="1.0" encoding="utf-8"?>
<p:sld xmlns:p="http://schemas.openxmlformats.org/presentationml/2006/main">
  <p:cSld>
    <p:bg>
      <p:bgPr>
        <a:solidFill xmlns:a="http://schemas.openxmlformats.org/drawingml/2006/main">
          <a:srgbClr val="CF3338"/>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C33CA12-B8E0-4F79-A736-67C617B34B37}"/>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Preorder your copy</a:t>
            </a:r>
          </a:p>
        </p:txBody>
      </p:sp>
      <p:sp>
        <p:nvSpPr>
          <p:cNvPr id="2" name="">
            <a:extLst xmlns:a="http://schemas.openxmlformats.org/drawingml/2006/main">
              <a:ext uri="{FF2B5EF4-FFF2-40B4-BE49-F238E27FC236}">
                <a16:creationId xmlns:a16="http://schemas.microsoft.com/office/drawing/2014/main" id="{6A4E79D0-C9E2-47E7-BABE-23F728966CBC}"/>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17</a:t>
            </a:r>
          </a:p>
        </p:txBody>
      </p:sp>
      <p:sp>
        <p:nvSpPr>
          <p:cNvPr id="3" name="">
            <a:extLst xmlns:a="http://schemas.openxmlformats.org/drawingml/2006/main">
              <a:ext uri="{FF2B5EF4-FFF2-40B4-BE49-F238E27FC236}">
                <a16:creationId xmlns:a16="http://schemas.microsoft.com/office/drawing/2014/main" id="{74CD2332-4E05-44C0-B55C-A90F7582D506}"/>
              </a:ext>
            </a:extLst>
          </p:cNvPr>
          <p:cNvSpPr>
            <a:spLocks xmlns:a="http://schemas.openxmlformats.org/drawingml/2006/main" noGrp="1"/>
          </p:cNvSpPr>
          <p:nvPr/>
        </p:nvSpPr>
        <p:spPr>
          <a:xfrm xmlns:a="http://schemas.openxmlformats.org/drawingml/2006/main">
            <a:off x="609600" y="2171700"/>
            <a:ext cx="71437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225" b="1">
                <a:solidFill>
                  <a:srgbClr val="FFFFFF"/>
                </a:solidFill>
                <a:latin typeface="Arial Black"/>
                <a:ea typeface="Arial Black"/>
                <a:cs typeface="Arial Black"/>
              </a:defRPr>
            </a:pPr>
            <a:r>
              <a:rPr sz="3225" b="1">
                <a:solidFill>
                  <a:srgbClr val="FFFFFF"/>
                </a:solidFill>
                <a:latin typeface="Arial Black"/>
                <a:ea typeface="Arial Black"/>
                <a:cs typeface="Arial Black"/>
              </a:rPr>
              <a:t>Python in Excel</a:t>
            </a:r>
          </a:p>
          <a:p xmlns:a="http://schemas.openxmlformats.org/drawingml/2006/main">
            <a:pPr>
              <a:defRPr sz="3225" b="1">
                <a:solidFill>
                  <a:srgbClr val="FFFFFF"/>
                </a:solidFill>
                <a:latin typeface="Arial Black"/>
                <a:ea typeface="Arial Black"/>
                <a:cs typeface="Arial Black"/>
              </a:defRPr>
            </a:pPr>
            <a:r>
              <a:rPr sz="3225" b="1">
                <a:solidFill>
                  <a:srgbClr val="FFFFFF"/>
                </a:solidFill>
                <a:latin typeface="Arial Black"/>
                <a:ea typeface="Arial Black"/>
                <a:cs typeface="Arial Black"/>
              </a:rPr>
              <a:t>for Data Analytics</a:t>
            </a:r>
          </a:p>
        </p:txBody>
      </p:sp>
      <p:sp>
        <p:nvSpPr>
          <p:cNvPr id="4" name="">
            <a:extLst xmlns:a="http://schemas.openxmlformats.org/drawingml/2006/main">
              <a:ext uri="{FF2B5EF4-FFF2-40B4-BE49-F238E27FC236}">
                <a16:creationId xmlns:a16="http://schemas.microsoft.com/office/drawing/2014/main" id="{A0B21F26-B8DB-4B10-9F84-24386D5809C3}"/>
              </a:ext>
            </a:extLst>
          </p:cNvPr>
          <p:cNvSpPr>
            <a:spLocks xmlns:a="http://schemas.openxmlformats.org/drawingml/2006/main" noGrp="1"/>
          </p:cNvSpPr>
          <p:nvPr/>
        </p:nvSpPr>
        <p:spPr>
          <a:xfrm xmlns:a="http://schemas.openxmlformats.org/drawingml/2006/main">
            <a:off x="609600" y="4067175"/>
            <a:ext cx="68770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Open the book page.</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Choose your bookseller.</a:t>
            </a:r>
          </a:p>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Reserve your preferred format.</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eb61ba0c00134d82"/>
          <a:stretch xmlns:a="http://schemas.openxmlformats.org/drawingml/2006/main"/>
        </p:blipFill>
        <p:spPr>
          <a:xfrm xmlns:a="http://schemas.openxmlformats.org/drawingml/2006/main">
            <a:off x="8601075" y="2238375"/>
            <a:ext cx="2800350" cy="28003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25A0906-96B0-4E59-B126-7C41C9E4FF4E}"/>
              </a:ext>
            </a:extLst>
          </p:cNvPr>
          <p:cNvSpPr>
            <a:spLocks xmlns:a="http://schemas.openxmlformats.org/drawingml/2006/main" noGrp="1"/>
          </p:cNvSpPr>
          <p:nvPr/>
        </p:nvSpPr>
        <p:spPr>
          <a:xfrm xmlns:a="http://schemas.openxmlformats.org/drawingml/2006/main">
            <a:off x="609600" y="5915025"/>
            <a:ext cx="106680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FFFFFF"/>
                </a:solidFill>
                <a:latin typeface="Arial"/>
                <a:ea typeface="Arial"/>
                <a:cs typeface="Arial"/>
              </a:defRPr>
            </a:pPr>
            <a:r>
              <a:rPr>
                <a:hlinkClick xmlns:r="http://schemas.openxmlformats.org/officeDocument/2006/relationships" r:id="R8ea009e549da48eb"/>
              </a:rPr>
              <a:t>stringfestanalytics.com/pyxlda</a:t>
            </a:r>
          </a:p>
        </p:txBody>
      </p:sp>
    </p:spTree>
    <p:extLst>
      <p:ext uri="{BB962C8B-B14F-4D97-AF65-F5344CB8AC3E}">
        <p14:creationId xmlns:p14="http://schemas.microsoft.com/office/powerpoint/2010/main" val="1808995601"/>
      </p:ext>
    </p:extLst>
  </p:cSld>
</p:sld>
</file>

<file path=ppt/slides/slide18.xml><?xml version="1.0" encoding="utf-8"?>
<p:sld xmlns:p="http://schemas.openxmlformats.org/presentationml/2006/main">
  <p:cSld>
    <p:bg>
      <p:bgPr>
        <a:solidFill xmlns:a="http://schemas.openxmlformats.org/drawingml/2006/main">
          <a:srgbClr val="1F212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E60D56B-B46B-442F-9240-0D23694D259B}"/>
              </a:ext>
            </a:extLst>
          </p:cNvPr>
          <p:cNvSpPr>
            <a:spLocks xmlns:a="http://schemas.openxmlformats.org/drawingml/2006/main" noGrp="1"/>
          </p:cNvSpPr>
          <p:nvPr/>
        </p:nvSpPr>
        <p:spPr>
          <a:xfrm xmlns:a="http://schemas.openxmlformats.org/drawingml/2006/main">
            <a:off x="609600" y="514350"/>
            <a:ext cx="1095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FFFFFF"/>
                </a:solidFill>
                <a:latin typeface="Arial Black"/>
                <a:ea typeface="Arial Black"/>
                <a:cs typeface="Arial Black"/>
              </a:defRPr>
            </a:pPr>
            <a:r>
              <a:rPr sz="3300" b="1">
                <a:solidFill>
                  <a:srgbClr val="FFFFFF"/>
                </a:solidFill>
                <a:latin typeface="Arial Black"/>
                <a:ea typeface="Arial Black"/>
                <a:cs typeface="Arial Black"/>
              </a:rPr>
              <a:t>What would you try in your own workbook?</a:t>
            </a:r>
          </a:p>
        </p:txBody>
      </p:sp>
      <p:sp>
        <p:nvSpPr>
          <p:cNvPr id="2" name="">
            <a:extLst xmlns:a="http://schemas.openxmlformats.org/drawingml/2006/main">
              <a:ext uri="{FF2B5EF4-FFF2-40B4-BE49-F238E27FC236}">
                <a16:creationId xmlns:a16="http://schemas.microsoft.com/office/drawing/2014/main" id="{49ED1A5C-3504-4B02-833B-1648AFF28372}"/>
              </a:ext>
            </a:extLst>
          </p:cNvPr>
          <p:cNvSpPr>
            <a:spLocks xmlns:a="http://schemas.openxmlformats.org/drawingml/2006/main" noGrp="1"/>
          </p:cNvSpPr>
          <p:nvPr/>
        </p:nvSpPr>
        <p:spPr>
          <a:xfrm xmlns:a="http://schemas.openxmlformats.org/drawingml/2006/main">
            <a:off x="609600" y="1647825"/>
            <a:ext cx="109061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75" b="0">
                <a:solidFill>
                  <a:srgbClr val="EEECE1"/>
                </a:solidFill>
                <a:latin typeface="Arial"/>
                <a:ea typeface="Arial"/>
                <a:cs typeface="Arial"/>
              </a:defRPr>
            </a:pPr>
            <a:r>
              <a:rPr sz="1875" b="0">
                <a:solidFill>
                  <a:srgbClr val="EEECE1"/>
                </a:solidFill>
                <a:latin typeface="Arial"/>
                <a:ea typeface="Arial"/>
                <a:cs typeface="Arial"/>
              </a:rPr>
              <a:t>Questions and your next step</a:t>
            </a:r>
          </a:p>
        </p:txBody>
      </p:sp>
      <p:sp>
        <p:nvSpPr>
          <p:cNvPr id="3" name="">
            <a:extLst xmlns:a="http://schemas.openxmlformats.org/drawingml/2006/main">
              <a:ext uri="{FF2B5EF4-FFF2-40B4-BE49-F238E27FC236}">
                <a16:creationId xmlns:a16="http://schemas.microsoft.com/office/drawing/2014/main" id="{34E4E127-C23D-4F36-9013-4D8E5E5A741D}"/>
              </a:ext>
            </a:extLst>
          </p:cNvPr>
          <p:cNvSpPr>
            <a:spLocks xmlns:a="http://schemas.openxmlformats.org/drawingml/2006/main" noGrp="1"/>
          </p:cNvSpPr>
          <p:nvPr/>
        </p:nvSpPr>
        <p:spPr>
          <a:xfrm xmlns:a="http://schemas.openxmlformats.org/drawingml/2006/main">
            <a:off x="11258550" y="6419850"/>
            <a:ext cx="361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200" b="0">
                <a:solidFill>
                  <a:srgbClr val="EEECE1"/>
                </a:solidFill>
                <a:latin typeface="Arial"/>
                <a:ea typeface="Arial"/>
                <a:cs typeface="Arial"/>
              </a:defRPr>
            </a:pPr>
            <a:r>
              <a:rPr sz="1200" b="0">
                <a:solidFill>
                  <a:srgbClr val="EEECE1"/>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6B63706F-71CE-4699-A2C4-C29432A948B2}"/>
              </a:ext>
            </a:extLst>
          </p:cNvPr>
          <p:cNvSpPr>
            <a:spLocks xmlns:a="http://schemas.openxmlformats.org/drawingml/2006/main" noGrp="1"/>
          </p:cNvSpPr>
          <p:nvPr/>
        </p:nvSpPr>
        <p:spPr>
          <a:xfrm xmlns:a="http://schemas.openxmlformats.org/drawingml/2006/main">
            <a:off x="609600" y="2790825"/>
            <a:ext cx="1038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700" b="1">
                <a:solidFill>
                  <a:srgbClr val="FFFFFF"/>
                </a:solidFill>
                <a:latin typeface="Arial"/>
                <a:ea typeface="Arial"/>
                <a:cs typeface="Arial"/>
              </a:defRPr>
            </a:pPr>
            <a:r>
              <a:rPr sz="2700" b="1">
                <a:solidFill>
                  <a:srgbClr val="FFFFFF"/>
                </a:solidFill>
                <a:latin typeface="Arial"/>
                <a:ea typeface="Arial"/>
                <a:cs typeface="Arial"/>
              </a:rPr>
              <a:t>One question. One small example you can check.</a:t>
            </a:r>
          </a:p>
        </p:txBody>
      </p:sp>
      <p:sp>
        <p:nvSpPr>
          <p:cNvPr id="5" name="">
            <a:extLst xmlns:a="http://schemas.openxmlformats.org/drawingml/2006/main">
              <a:ext uri="{FF2B5EF4-FFF2-40B4-BE49-F238E27FC236}">
                <a16:creationId xmlns:a16="http://schemas.microsoft.com/office/drawing/2014/main" id="{5B6049EA-E302-4B87-8674-502529FC0573}"/>
              </a:ext>
            </a:extLst>
          </p:cNvPr>
          <p:cNvSpPr>
            <a:spLocks xmlns:a="http://schemas.openxmlformats.org/drawingml/2006/main" noGrp="1"/>
          </p:cNvSpPr>
          <p:nvPr/>
        </p:nvSpPr>
        <p:spPr>
          <a:xfrm xmlns:a="http://schemas.openxmlformats.org/drawingml/2006/main">
            <a:off x="609600" y="4333875"/>
            <a:ext cx="1085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325" b="1">
                <a:solidFill>
                  <a:srgbClr val="FFFFFF"/>
                </a:solidFill>
                <a:latin typeface="Arial"/>
                <a:ea typeface="Arial"/>
                <a:cs typeface="Arial"/>
              </a:defRPr>
            </a:pPr>
            <a:r>
              <a:rPr>
                <a:hlinkClick xmlns:r="http://schemas.openxmlformats.org/officeDocument/2006/relationships" r:id="Ra52251e0464b43b3"/>
              </a:rPr>
              <a:t>Preorder: stringfestanalytics.com/pyxlda</a:t>
            </a:r>
          </a:p>
        </p:txBody>
      </p:sp>
      <p:sp>
        <p:nvSpPr>
          <p:cNvPr id="6" name="">
            <a:extLst xmlns:a="http://schemas.openxmlformats.org/drawingml/2006/main">
              <a:ext uri="{FF2B5EF4-FFF2-40B4-BE49-F238E27FC236}">
                <a16:creationId xmlns:a16="http://schemas.microsoft.com/office/drawing/2014/main" id="{F38DDAC3-2051-4725-991F-536DAE6F84B0}"/>
              </a:ext>
            </a:extLst>
          </p:cNvPr>
          <p:cNvSpPr>
            <a:spLocks xmlns:a="http://schemas.openxmlformats.org/drawingml/2006/main" noGrp="1"/>
          </p:cNvSpPr>
          <p:nvPr/>
        </p:nvSpPr>
        <p:spPr>
          <a:xfrm xmlns:a="http://schemas.openxmlformats.org/drawingml/2006/main">
            <a:off x="609600" y="5543550"/>
            <a:ext cx="10858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EEECE1"/>
                </a:solidFill>
                <a:latin typeface="Arial"/>
                <a:ea typeface="Arial"/>
                <a:cs typeface="Arial"/>
              </a:defRPr>
            </a:pPr>
            <a:r>
              <a:rPr>
                <a:hlinkClick xmlns:r="http://schemas.openxmlformats.org/officeDocument/2006/relationships" r:id="R6045921b061e4c7b"/>
              </a:rPr>
              <a:t>Files and replay: stringfestdata.gumroad.com/l/pxlaf</a:t>
            </a:r>
          </a:p>
        </p:txBody>
      </p:sp>
    </p:spTree>
    <p:extLst>
      <p:ext uri="{BB962C8B-B14F-4D97-AF65-F5344CB8AC3E}">
        <p14:creationId xmlns:p14="http://schemas.microsoft.com/office/powerpoint/2010/main" val="102287745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2026-09-20T21:36:27.9220000Z</dcterms:created>
  <dcterms:modified xsi:type="dcterms:W3CDTF">2026-09-20T21:36:27.9220000Z</dcterms:modified>
</coreProperties>
</file>