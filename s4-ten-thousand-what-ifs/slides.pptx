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everybody. I am George Mount from Stringfest Analytics, and this is the fourth and final session in the free Python in Excel series: ten thousand what-ifs. If you were at the earlier sessions, you already know the three keys, Ctrl+Alt+Shift+P, Ctrl+Enter, Ctrl+Alt+Shift+M. If this is your first one, you will pick them up in the first five minutes, and everything today is typed together in short cells. Today is about decisions under uncertainty: Monte Carlo simulation, then a worksheet cell that drives a Python chart, then using the simulation to actually choose between two orders. All of it comes from Chapters 8 and 10 of my book, and there is no AI in this session; just you, Excel, and a few lines of Python. Let's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run of show. Part one, twelve minutes, is the headline: Monte Carlo simulation in three short cells, a profit model, its histogram, and a one-line 'how often' question. Part two, nine minutes, is Python a manager can use: a moving average, and then the same chart driven by a worksheet cell so someone who never touches code can change it. Part three, nine minutes, turns the simulation into a decision: percentiles, and two order sizes compared on the same ten thousand futures. Then what it can't do yet, what else is in the book, and questions. Every cell is a few lines and we type them together; the code is printed in your follow-along workbook if you fall behind.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housekeeping. This is recorded, and the recording and workbook go on the free sessions page on Gumroad next to sessions one, two and three; the link is on the slide and in your registration email. Grab the follow-along workbook now if you have not: every table we use today is already in it as an Excel table, and the code is printed next to where it goes. You need Microsoft 365 with Python in Excel; look for the Python group on the Formulas tab. If you do not have it, stay anyway, everything is in the recording and the book. Questions in the chat any time; I pause after each part. And the three keys: Ctrl+Alt+Shift+P for a new Python cell, Ctrl+Enter to run, Ctrl+Alt+Shift+M to spill the result into the grid.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We are going to build a Monte Carlo simulation, and it is three short cells. First the model: buy 1,100 units at 30 dollars, sell at 50, demand is normally around 1,000 with a spread of 200, run it ten thousand times, sell no more than you stocked. Second the histogram: all ten thousand profits at once, with a mean line and a break-even line. Third, any 'how often' question in one line. Excel's Scenario Manager gives you three cases; this gives you all of them. Add a blank sheet called simulation, click A3, and let's type.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type, the comparison that motivates the whole part. On the left, the Excel way. Scenario Manager, which some of you love: three scenarios you pick by hand, and the answer is three numbers. A Data Table, which is better: a grid over one or two inputs, but everything else stays frozen. And the heroic version, which I have seen in the wild: NORM.INV of RAND, filled down ten thousand rows, with a PivotTable on top and a workbook that takes a minute to recalculate. On the right, the simulation way. One line draws ten thousand demands. One line caps them at inventory, which is MIN for ten thousand rows at once. Then a summary table, a histogram, and any how-often question in a single line. Same idea as the heroic sheet, but it lives in a cell, it is readable, and it recalculates instantly. Let's start with the coin flips.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business problem, same rhythm. Click A3, Ctrl+Alt+Shift+P, into the Editor pane. Seed forty-two again; the runtime seeds per cell, so every cell that draws random numbers re-seeds. num_simulations ten thousand. Then the three business numbers: selling_price fifty, cost_per_unit thirty, inventory_available eleven hundred. Now demand. np dot maximum of np dot random dot normal, one thousand, two hundred, num_simulations, comma zero. Demand is usually around a thousand with a swing of two hundred; a normal distribution encodes that assumption, and the maximum floors it at zero because you cannot have negative demand. units_sold is np dot minimum of demand and inventory_available: MIN for ten thousand rows. revenue, total_cost, and profit equals revenue minus total_cost. Ctrl+Enter. You get a Python Object card, or None, because the last line is an assignment. That is expected. Notice you paid for all eleven hundred units whether they sold or not.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picture. Click A7, Ctrl+Alt+Shift+P, Editor pane. plt dot figure with figsize ten by five. sns dot histplot of profit, fifty bins, kde False, steelblue with black edges. Then two reference lines. plt dot axvline at mean_profit, red, dashed, linewidth two, and the label builds the text: Mean colon dollar sign plus str of round of mean_profit. A second axvline at zero, black, solid, labelled Break-even. Axis labels, a title, and plt dot legend. Ctrl+Enter, Ctrl+Alt+Shift+M, then click the small picture icon beside the cell, Create Reference, and drag the corner big. Look at the shape. A bell with a wall on the right at twenty-two thousand, a tall spike at the cap, and a long left tail crossing zero. Demand was a normal bell; profit is not. The cap piles outcomes at the right edge while the left tail keeps falling. That spike is real, not a bug. Go back to A3, change eleven hundred to nine hundred, re-run, and watch it move.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and it is tiny. Click A9, Ctrl+Alt+Shift+P. Your manager asks: how often do we clear eighteen thousand? prob_high_profit equals profit greater than eighteen thousand, in parentheses, dot sum, divided by num_simulations. Then an f-string: Probability of profit greater than eighteen thousand dollars, colon, prob_high_profit times one hundred, colon dot one f, percent sign. Ctrl+Enter. About forty-five point nine percent. Swap the threshold for whatever number matters in your business and the pattern is identical. And that is the whole method on one slide: sample, calculate, summarize, visualize. Change the distribution if demand is not normal, add a second uncertain input like price, add another constraint, and nothing about the shape of the code changes. Questions in chat before we move to the workbook part? Let me look.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and this is the part that turns a clever cell into a workbook someone else can use. Everything we have built across four sessions has a number buried in the code: a window of seven, an inventory of eleven hundred. A manager is never going to open a Python cell to change it. So we do what every good Excel model does: put the input in a labeled cell and point the code at it. First a rolling mean chart with the window hard-coded, then the same chart reading its window from E1, and then, on the finished workbook, two dropdowns turning Python into a dynamic measure with a native Excel chart on top. Click over to the moving-average sheet with me. Table daily_sales in A and B, a label in D1 and the number five in E1.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moving-average sheet, click G2, to the right of the input cell, Ctrl+Alt+Shift+P, Editor pane. sales_df equals xl daily_sales hash All headers True; click-drag the table to get it. Then a new column: sales_df bracket Sales smoothed, in quotes, equals sales_df bracket Sales dot rolling, window equals seven, min_periods equals one, dot mean, dot round two. min_periods one means the first few rows average whatever is available instead of coming back blank. Then two lineplots from sales_df: Date against Sales labelled Sales, Date against Sales smoothed labelled Sales smoothed. A title. Ctrl+Enter, Ctrl+Alt+Shift+M, Create Reference, drag it big. An upward trend with jagged daily noise, and the smoothed line riding through it. Now the question: is seven the right window? Five or ten shows detail; twenty or fifty shows the long trend. Right now, changing it means editing code. Let's fix that.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G20, Ctrl+Alt+Shift+P, Editor pane. First line: moving_n equals xl, and inside the double quotes, single quote, moving-average, single quote, exclamation mark, E1. The single quotes are there because the sheet name has a hyphen, the same rule as an Excel formula, and this fully qualified form works from any sheet in the workbook. Then the same load, and the same rolling line, but window equals moving_n. Then the two lineplots, and the raw one gets alpha equals point four so it fades. The label on the smoothed line is an f-string: moving_n dash Period Average. And the title is an f-string too: Sales Moving Average, moving_n Periods in parentheses. Ctrl+Enter, Ctrl+Alt+Shift+M, Create Reference. Title says five periods, legend says five-period average. Now click E1, type three, Enter. Wigglier. Type thirty. Smoother. Excel is the interface, Python is the engine. Last touch: Data, Data Validation on E1, whole number one to thirty, Ignore blank unticked.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and this is where simulation earns its keep. Knowing the distribution is nice; using it to choose is the point. Two cells, typed together. First, percentiles: instead of one number, three, a bad-but-plausible outcome, the middle, and a good-but-plausible one. That is PERCENTILE.INC in Excel, np dot percentile here. Second, a comparison: rerun the same ten thousand demands against a smaller order of 900 units and put the two mean profits side by side. Same futures, two decisions, one table. Chapter 8 does this for three options with the whole distributions overlaid. Click A9.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A9, Ctrl+Alt+Shift+P. One line: np dot percentile of profit, and a list, ten, fifty, ninety, then dot round. Ctrl+Enter. Three numbers spill: about four thousand one hundred, seventeen thousand, and twenty-two thousand. Read them as: a bad-but-plausible year, a typical year, a good-but-plausible year. Notice the top one is exactly twenty-two thousand: that is the ceiling, eleven hundred units times a twenty dollar margin, because you cannot sell what you did not stock. In Excel this is PERCENTILE dot INC three times; here it is one line. Chapter 8 turns this into a full summary table with probability of loss.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A11, Ctrl+Alt+Shift+P, Editor pane. Now the question a manager actually asks: should we order less? profit underscore 900 equals np dot minimum of demand and 900, times 50, minus 900 times 30. Same ten thousand demands, a smaller order. Then a one-row DataFrame with the two mean profits side by side. Ctrl+Enter, Ctrl+Alt+Shift+M. Ordering 900 earns more on average, because leftover stock is a sure cost and extra demand is only a maybe. That is a real decision made on the same set of futures, which Scenario Manager cannot do. Chapter 8 compares three options on mean, percentiles and probability of loss and overlays the distributions.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honest slide, and I say this at every session because it is what makes the rest credible. A simulation is only as honest as its assumptions: I told you demand is normal around a thousand with a swing of two hundred, and that is a guess you have to own; the whole distribution is the assumption. Input cells need Data Validation, or someone types text into E1 and the Python cell errors on them; the book shows how to lock it down. Dropdown-driven charts take a little wiring, a helper table, an XLOOKUP, a spilled list; today was one input cell, and Chapter 10 does the whole build. And our comparison used the mean only; a real decision weighs the downside too, which is why Chapter 8 compares percentiles and probability of loss, not just averages.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session on one slide. Seven cells, all typed by you. Ten thousand simulated futures in a five-line model and a four-line histogram. One worksheet cell driving a Python chart, which is the seed of every interactive workbook in Chapter 10. And two decisions compared on exactly the same ten thousand futures, which is something Scenario Manager has never been able to do. Chapters 8 and 10 of the book take each of these the rest of the way.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show you the book itself, here is the honest map. On the left is what you actually typed today. On the right is what is waiting in the book that we did not have time for. The most common question after a session like this is 'okay, but how do I do X on my data', and X is almost always on this list. Every technique on the right is a full chapter with a companion workbook, written for exactly the person in this room: comfortable in Excel, new to Python. The next slide has the link.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you saw today comes straight out of my book, Python in Excel for Data Analytics, from Packt, and specifically Chapters 8 and 10. Chapter 8 is the full simulation chapter: the summary table with probability of loss, three inventory options compared with the distributions overlaid, and how to read a distribution for planning. Chapter 10 is the workbook chapter: Power Query feeding Python, Data Validation on the input cell, and dropdown-driven measures with a native Excel chart on top. The link is on the slide, and it is in the free sessions page too.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the last of the four free sessions, and thank you for coming to any or all of them. All four recordings now live in one place, with every follow-along workbook, every solution workbook and the setup guide: stringfestdata dot gumroad dot com slash pxlaf. Free. If you missed sessions one through three, the working tour, charts and exploration, and trendline to forecast, they are all there. And one more thing, for the people who have been typing along all four weeks and want to build all of this end to end on their own data, not the book's: the full paid course, Python in Excel for Analysts, is in early access right now. It takes every module you have seen a slice of in this series, including the assumptions sheet, the dropdown build and the AI audit, and turns each one into a workbook you build yourself, with the files and a course handbook. Details are on the same Gumroad page and in chat.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series. Thank you for typing along, and thank you for the questions in chat; I will stay on for a few minutes for anything I missed. Two asks before you go. Open the follow-along workbook this week and re-run the profit model with your own numbers: your price, your cost, your best guess at demand and how much it swings. Then read the histogram, not the mean. And take one Python cell you already have and point it at an input cell, so somebody else can use it. If it clicked, pick up the book, and if you want to build all of it, the course is there. I am George Mount, this was Stringfest Analytics, and the next time somebody shows you three scenarios, you will know how to show them all of them. Thanks, everybody.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1737360"/>
            <a:ext cx="7223760" cy="3840480"/>
          </a:xfrm>
          <a:prstGeom prst="rect">
            <a:avLst/>
          </a:prstGeom>
          <a:noFill/>
        </p:spPr>
        <p:txBody>
          <a:bodyPr wrap="square" lIns="0" rIns="0" tIns="0" bIns="0">
            <a:spAutoFit/>
          </a:bodyPr>
          <a:lstStyle/>
          <a:p>
            <a:r>
              <a:rPr sz="1400" b="1" i="0">
                <a:solidFill>
                  <a:srgbClr val="CF3338"/>
                </a:solidFill>
                <a:latin typeface="Arial Black"/>
              </a:rPr>
              <a:t>FREE LIVE SESSION</a:t>
            </a:r>
          </a:p>
          <a:p>
            <a:r>
              <a:rPr sz="1500" b="0" i="1">
                <a:solidFill>
                  <a:srgbClr val="707070"/>
                </a:solidFill>
                <a:latin typeface="Arial"/>
              </a:rPr>
              <a:t>Scenario Manager gives you three cases. Simulation gives you all of them.</a:t>
            </a:r>
          </a:p>
          <a:p>
            <a:pPr>
              <a:spcBef>
                <a:spcPts val="1000"/>
              </a:spcBef>
            </a:pPr>
            <a:r>
              <a:rPr sz="3000" b="1" i="0">
                <a:solidFill>
                  <a:srgbClr val="CF3338"/>
                </a:solidFill>
                <a:latin typeface="Arial Black"/>
              </a:rPr>
              <a:t>Python in Excel:</a:t>
            </a:r>
          </a:p>
          <a:p>
            <a:r>
              <a:rPr sz="3400" b="1" i="0">
                <a:solidFill>
                  <a:srgbClr val="1F2120"/>
                </a:solidFill>
                <a:latin typeface="Arial Black"/>
              </a:rPr>
              <a:t>10,000 what-ifs</a:t>
            </a:r>
          </a:p>
          <a:p>
            <a:pPr>
              <a:spcBef>
                <a:spcPts val="1400"/>
              </a:spcBef>
            </a:pPr>
            <a:r>
              <a:rPr sz="1800" b="0" i="0">
                <a:solidFill>
                  <a:srgbClr val="707070"/>
                </a:solidFill>
                <a:latin typeface="Arial"/>
              </a:rPr>
              <a:t>Monte Carlo simulation, worksheet cells that drive Python, and comparing decisions on the same futures.</a:t>
            </a:r>
          </a:p>
        </p:txBody>
      </p:sp>
      <p:sp>
        <p:nvSpPr>
          <p:cNvPr id="3" name="TextBox 2"/>
          <p:cNvSpPr txBox="1"/>
          <p:nvPr/>
        </p:nvSpPr>
        <p:spPr>
          <a:xfrm>
            <a:off x="640080" y="6172200"/>
            <a:ext cx="7498079" cy="457200"/>
          </a:xfrm>
          <a:prstGeom prst="rect">
            <a:avLst/>
          </a:prstGeom>
          <a:noFill/>
        </p:spPr>
        <p:txBody>
          <a:bodyPr wrap="square" lIns="0" rIns="0" tIns="0" bIns="0">
            <a:spAutoFit/>
          </a:bodyPr>
          <a:lstStyle/>
          <a:p>
            <a:r>
              <a:rPr sz="1100" b="0" i="1">
                <a:solidFill>
                  <a:srgbClr val="707070"/>
                </a:solidFill>
                <a:latin typeface="Arial"/>
              </a:rPr>
              <a:t>45 minutes  ·  recorded and posted to the free sessions on Gumroad  ·  George Mount, Stringfest Analytics</a:t>
            </a:r>
          </a:p>
        </p:txBody>
      </p:sp>
      <p:pic>
        <p:nvPicPr>
          <p:cNvPr id="4" name="Picture 3" descr="book-cover.png"/>
          <p:cNvPicPr>
            <a:picLocks noChangeAspect="1"/>
          </p:cNvPicPr>
          <p:nvPr/>
        </p:nvPicPr>
        <p:blipFill>
          <a:blip r:embed="rId2"/>
          <a:stretch>
            <a:fillRect/>
          </a:stretch>
        </p:blipFill>
        <p:spPr>
          <a:xfrm>
            <a:off x="7458120" y="960120"/>
            <a:ext cx="4002054" cy="4937760"/>
          </a:xfrm>
          <a:prstGeom prst="rect">
            <a:avLst/>
          </a:prstGeom>
        </p:spPr>
      </p:pic>
      <p:sp>
        <p:nvSpPr>
          <p:cNvPr id="5" name="TextBox 4"/>
          <p:cNvSpPr txBox="1"/>
          <p:nvPr/>
        </p:nvSpPr>
        <p:spPr>
          <a:xfrm>
            <a:off x="7458120" y="5989320"/>
            <a:ext cx="4002054" cy="457200"/>
          </a:xfrm>
          <a:prstGeom prst="rect">
            <a:avLst/>
          </a:prstGeom>
          <a:noFill/>
        </p:spPr>
        <p:txBody>
          <a:bodyPr wrap="square" lIns="0" rIns="0" tIns="0" bIns="0">
            <a:spAutoFit/>
          </a:bodyPr>
          <a:lstStyle/>
          <a:p>
            <a:pPr algn="l"/>
            <a:r>
              <a:rPr sz="1100" b="0" i="1">
                <a:solidFill>
                  <a:srgbClr val="707070"/>
                </a:solidFill>
                <a:latin typeface="Arial"/>
              </a:rPr>
              <a:t>built around the book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457200"/>
            <a:ext cx="10881360" cy="1188720"/>
          </a:xfrm>
          <a:prstGeom prst="rect">
            <a:avLst/>
          </a:prstGeom>
          <a:noFill/>
        </p:spPr>
        <p:txBody>
          <a:bodyPr wrap="square" lIns="0" rIns="0" tIns="0" bIns="0">
            <a:spAutoFit/>
          </a:bodyPr>
          <a:lstStyle/>
          <a:p>
            <a:r>
              <a:rPr sz="3000" b="1" i="0">
                <a:solidFill>
                  <a:srgbClr val="1F2120"/>
                </a:solidFill>
                <a:latin typeface="Arial Black"/>
              </a:rPr>
              <a:t>What we'll do today</a:t>
            </a:r>
          </a:p>
          <a:p>
            <a:pPr>
              <a:spcBef>
                <a:spcPts val="400"/>
              </a:spcBef>
            </a:pPr>
            <a:r>
              <a:rPr sz="1500" b="0" i="1">
                <a:solidFill>
                  <a:srgbClr val="CF3338"/>
                </a:solidFill>
                <a:latin typeface="Arial"/>
              </a:rPr>
              <a:t>One cell for every future, then a workbook someone else can use</a:t>
            </a:r>
          </a:p>
        </p:txBody>
      </p:sp>
      <p:sp>
        <p:nvSpPr>
          <p:cNvPr id="3" name="TextBox 2"/>
          <p:cNvSpPr txBox="1"/>
          <p:nvPr/>
        </p:nvSpPr>
        <p:spPr>
          <a:xfrm>
            <a:off x="640080" y="1783080"/>
            <a:ext cx="10881360" cy="4846320"/>
          </a:xfrm>
          <a:prstGeom prst="rect">
            <a:avLst/>
          </a:prstGeom>
          <a:noFill/>
        </p:spPr>
        <p:txBody>
          <a:bodyPr wrap="square" lIns="0" rIns="0" tIns="0" bIns="0">
            <a:spAutoFit/>
          </a:bodyPr>
          <a:lstStyle/>
          <a:p>
            <a:pPr>
              <a:spcAft>
                <a:spcPts val="700"/>
              </a:spcAft>
            </a:pPr>
            <a:r>
              <a:rPr sz="1200" b="1" i="0">
                <a:solidFill>
                  <a:srgbClr val="CF3338"/>
                </a:solidFill>
                <a:latin typeface="Arial"/>
              </a:rPr>
              <a:t>▶  </a:t>
            </a:r>
            <a:r>
              <a:rPr sz="1600" b="0" i="0">
                <a:solidFill>
                  <a:srgbClr val="1F2120"/>
                </a:solidFill>
                <a:latin typeface="Arial"/>
              </a:rPr>
              <a:t>Part 1: 10,000 what-ifs: Monte Carlo in one cell (12 min, 3 short cells, we type them together)</a:t>
            </a:r>
          </a:p>
          <a:p>
            <a:pPr>
              <a:spcAft>
                <a:spcPts val="700"/>
              </a:spcAft>
            </a:pPr>
            <a:r>
              <a:rPr sz="1200" b="1" i="0">
                <a:solidFill>
                  <a:srgbClr val="CF3338"/>
                </a:solidFill>
                <a:latin typeface="Arial"/>
              </a:rPr>
              <a:t>▶  </a:t>
            </a:r>
            <a:r>
              <a:rPr sz="1600" b="0" i="0">
                <a:solidFill>
                  <a:srgbClr val="1F2120"/>
                </a:solidFill>
                <a:latin typeface="Arial"/>
              </a:rPr>
              <a:t>Part 2: Python that a manager can use: input cells and dropdowns (9 min, 2 short cells, we type them together)</a:t>
            </a:r>
          </a:p>
          <a:p>
            <a:pPr>
              <a:spcAft>
                <a:spcPts val="700"/>
              </a:spcAft>
            </a:pPr>
            <a:r>
              <a:rPr sz="1200" b="1" i="0">
                <a:solidFill>
                  <a:srgbClr val="CF3338"/>
                </a:solidFill>
                <a:latin typeface="Arial"/>
              </a:rPr>
              <a:t>▶  </a:t>
            </a:r>
            <a:r>
              <a:rPr sz="1600" b="0" i="0">
                <a:solidFill>
                  <a:srgbClr val="1F2120"/>
                </a:solidFill>
                <a:latin typeface="Arial"/>
              </a:rPr>
              <a:t>Part 3: Which decision? Percentiles and a comparison (9 min, 2 short cells, we type them together)</a:t>
            </a:r>
          </a:p>
          <a:p>
            <a:pPr>
              <a:spcAft>
                <a:spcPts val="700"/>
              </a:spcAft>
            </a:pPr>
            <a:r>
              <a:rPr sz="1200" b="1" i="0">
                <a:solidFill>
                  <a:srgbClr val="CF3338"/>
                </a:solidFill>
                <a:latin typeface="Arial"/>
              </a:rPr>
              <a:t>▶  </a:t>
            </a:r>
            <a:r>
              <a:rPr sz="1600" b="0" i="0">
                <a:solidFill>
                  <a:srgbClr val="1F2120"/>
                </a:solidFill>
                <a:latin typeface="Arial"/>
              </a:rPr>
              <a:t>Every cell is one idea and a few lines; the code is printed in your follow-along workbook if you fall behind</a:t>
            </a:r>
          </a:p>
          <a:p>
            <a:pPr>
              <a:spcAft>
                <a:spcPts val="700"/>
              </a:spcAft>
            </a:pPr>
            <a:r>
              <a:rPr sz="1200" b="1" i="0">
                <a:solidFill>
                  <a:srgbClr val="CF3338"/>
                </a:solidFill>
                <a:latin typeface="Arial"/>
              </a:rPr>
              <a:t>▶  </a:t>
            </a:r>
            <a:r>
              <a:rPr sz="1600" b="0" i="0">
                <a:solidFill>
                  <a:srgbClr val="1F2120"/>
                </a:solidFill>
                <a:latin typeface="Arial"/>
              </a:rPr>
              <a:t>What it can't do yet, what else is in the book, where to go next</a:t>
            </a:r>
          </a:p>
          <a:p>
            <a:pPr>
              <a:spcAft>
                <a:spcPts val="700"/>
              </a:spcAft>
            </a:pPr>
            <a:r>
              <a:rPr sz="1200" b="1" i="0">
                <a:solidFill>
                  <a:srgbClr val="CF3338"/>
                </a:solidFill>
                <a:latin typeface="Arial"/>
              </a:rPr>
              <a:t>▶  </a:t>
            </a:r>
            <a:r>
              <a:rPr sz="1600" b="0" i="0">
                <a:solidFill>
                  <a:srgbClr val="1F2120"/>
                </a:solidFill>
                <a:latin typeface="Arial"/>
              </a:rPr>
              <a:t>Questions any time in the chat; I pause after each part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457200"/>
            <a:ext cx="10881360" cy="1188720"/>
          </a:xfrm>
          <a:prstGeom prst="rect">
            <a:avLst/>
          </a:prstGeom>
          <a:noFill/>
        </p:spPr>
        <p:txBody>
          <a:bodyPr wrap="square" lIns="0" rIns="0" tIns="0" bIns="0">
            <a:spAutoFit/>
          </a:bodyPr>
          <a:lstStyle/>
          <a:p>
            <a:r>
              <a:rPr sz="3000" b="1" i="0">
                <a:solidFill>
                  <a:srgbClr val="1F2120"/>
                </a:solidFill>
                <a:latin typeface="Arial Black"/>
              </a:rPr>
              <a:t>Housekeeping</a:t>
            </a:r>
          </a:p>
        </p:txBody>
      </p:sp>
      <p:sp>
        <p:nvSpPr>
          <p:cNvPr id="3" name="TextBox 2"/>
          <p:cNvSpPr txBox="1"/>
          <p:nvPr/>
        </p:nvSpPr>
        <p:spPr>
          <a:xfrm>
            <a:off x="640080" y="1554480"/>
            <a:ext cx="10881360" cy="4846320"/>
          </a:xfrm>
          <a:prstGeom prst="rect">
            <a:avLst/>
          </a:prstGeom>
          <a:noFill/>
        </p:spPr>
        <p:txBody>
          <a:bodyPr wrap="square" lIns="0" rIns="0" tIns="0" bIns="0">
            <a:spAutoFit/>
          </a:bodyPr>
          <a:lstStyle/>
          <a:p>
            <a:pPr>
              <a:spcAft>
                <a:spcPts val="700"/>
              </a:spcAft>
            </a:pPr>
            <a:r>
              <a:rPr sz="1200" b="1" i="0">
                <a:solidFill>
                  <a:srgbClr val="CF3338"/>
                </a:solidFill>
                <a:latin typeface="Arial"/>
              </a:rPr>
              <a:t>▶  </a:t>
            </a:r>
            <a:r>
              <a:rPr sz="1600" b="0" i="0">
                <a:solidFill>
                  <a:srgbClr val="1F2120"/>
                </a:solidFill>
                <a:latin typeface="Arial"/>
              </a:rPr>
              <a:t>This session is recorded and posted to the free sessions page on Gumroad, next to sessions one to three</a:t>
            </a:r>
          </a:p>
          <a:p>
            <a:pPr>
              <a:spcAft>
                <a:spcPts val="700"/>
              </a:spcAft>
            </a:pPr>
            <a:r>
              <a:rPr sz="1200" b="1" i="0">
                <a:solidFill>
                  <a:srgbClr val="CF3338"/>
                </a:solidFill>
                <a:latin typeface="Arial"/>
              </a:rPr>
              <a:t>▶  </a:t>
            </a:r>
            <a:r>
              <a:rPr sz="1600" b="0" i="0">
                <a:solidFill>
                  <a:srgbClr val="1F2120"/>
                </a:solidFill>
                <a:latin typeface="Arial"/>
              </a:rPr>
              <a:t>The follow-along workbook is at stringfestdata.gumroad.com/l/pxlaf (free); every data table is already in it</a:t>
            </a:r>
          </a:p>
          <a:p>
            <a:pPr>
              <a:spcAft>
                <a:spcPts val="700"/>
              </a:spcAft>
            </a:pPr>
            <a:r>
              <a:rPr sz="1200" b="1" i="0">
                <a:solidFill>
                  <a:srgbClr val="CF3338"/>
                </a:solidFill>
                <a:latin typeface="Arial"/>
              </a:rPr>
              <a:t>▶  </a:t>
            </a:r>
            <a:r>
              <a:rPr sz="1600" b="0" i="0">
                <a:solidFill>
                  <a:srgbClr val="1F2120"/>
                </a:solidFill>
                <a:latin typeface="Arial"/>
              </a:rPr>
              <a:t>You need Microsoft 365 with Python in Excel: check for the Python group on the Formulas tab</a:t>
            </a:r>
          </a:p>
          <a:p>
            <a:pPr>
              <a:spcAft>
                <a:spcPts val="700"/>
              </a:spcAft>
            </a:pPr>
            <a:r>
              <a:rPr sz="1200" b="1" i="0">
                <a:solidFill>
                  <a:srgbClr val="CF3338"/>
                </a:solidFill>
                <a:latin typeface="Arial"/>
              </a:rPr>
              <a:t>▶  </a:t>
            </a:r>
            <a:r>
              <a:rPr sz="1600" b="0" i="0">
                <a:solidFill>
                  <a:srgbClr val="1F2120"/>
                </a:solidFill>
                <a:latin typeface="Arial"/>
              </a:rPr>
              <a:t>Ask questions in the chat any time; I will pause after each part</a:t>
            </a:r>
          </a:p>
          <a:p>
            <a:pPr>
              <a:spcAft>
                <a:spcPts val="700"/>
              </a:spcAft>
            </a:pPr>
            <a:r>
              <a:rPr sz="1200" b="1" i="0">
                <a:solidFill>
                  <a:srgbClr val="CF3338"/>
                </a:solidFill>
                <a:latin typeface="Arial"/>
              </a:rPr>
              <a:t>▶  </a:t>
            </a:r>
            <a:r>
              <a:rPr sz="1600" b="0" i="0">
                <a:solidFill>
                  <a:srgbClr val="1F2120"/>
                </a:solidFill>
                <a:latin typeface="Arial"/>
              </a:rPr>
              <a:t>Three keys to remember: Ctrl+Alt+Shift+P (new Python cell), Ctrl+Enter (run), Ctrl+Alt+Shift+M (spill)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C00000"/>
        </a:solidFill>
        <a:effectLst/>
      </p:bgPr>
    </p:bg>
    <p:spTree>
      <p:nvGrpSpPr>
        <p:cNvPr id="1" name=""/>
        <p:cNvGrpSpPr/>
        <p:nvPr/>
      </p:nvGrpSpPr>
      <p:grpSpPr/>
      <p:sp>
        <p:nvSpPr>
          <p:cNvPr id="2" name="TextBox 1"/>
          <p:cNvSpPr txBox="1"/>
          <p:nvPr/>
        </p:nvSpPr>
        <p:spPr>
          <a:xfrm>
            <a:off x="822960" y="2286000"/>
            <a:ext cx="10332720" cy="2743200"/>
          </a:xfrm>
          <a:prstGeom prst="rect">
            <a:avLst/>
          </a:prstGeom>
          <a:noFill/>
        </p:spPr>
        <p:txBody>
          <a:bodyPr wrap="square" lIns="0" rIns="0" tIns="0" bIns="0">
            <a:spAutoFit/>
          </a:bodyPr>
          <a:lstStyle/>
          <a:p>
            <a:r>
              <a:rPr sz="1600" b="1" i="0">
                <a:solidFill>
                  <a:srgbClr val="FFFFFF"/>
                </a:solidFill>
                <a:latin typeface="Arial Black"/>
              </a:rPr>
              <a:t>PART 1</a:t>
            </a:r>
          </a:p>
          <a:p>
            <a:pPr>
              <a:spcBef>
                <a:spcPts val="800"/>
              </a:spcBef>
            </a:pPr>
            <a:r>
              <a:rPr sz="3600" b="1" i="0">
                <a:solidFill>
                  <a:srgbClr val="FFFFFF"/>
                </a:solidFill>
                <a:latin typeface="Arial Black"/>
              </a:rPr>
              <a:t>10,000 what-ifs: Monte Carlo in one cell</a:t>
            </a:r>
          </a:p>
          <a:p>
            <a:pPr>
              <a:spcBef>
                <a:spcPts val="1400"/>
              </a:spcBef>
            </a:pPr>
            <a:r>
              <a:rPr sz="1800" b="0" i="0">
                <a:solidFill>
                  <a:srgbClr val="FFFFFF"/>
                </a:solidFill>
                <a:latin typeface="Arial"/>
              </a:rPr>
              <a:t>Model, distribution, question. Three cells, typed together.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457200"/>
            <a:ext cx="10881360" cy="1005840"/>
          </a:xfrm>
          <a:prstGeom prst="rect">
            <a:avLst/>
          </a:prstGeom>
          <a:noFill/>
        </p:spPr>
        <p:txBody>
          <a:bodyPr wrap="square" lIns="0" rIns="0" tIns="0" bIns="0">
            <a:spAutoFit/>
          </a:bodyPr>
          <a:lstStyle/>
          <a:p>
            <a:r>
              <a:rPr sz="3000" b="1" i="0">
                <a:solidFill>
                  <a:srgbClr val="1F2120"/>
                </a:solidFill>
                <a:latin typeface="Arial Black"/>
              </a:rPr>
              <a:t>Three cases, or every case</a:t>
            </a:r>
          </a:p>
        </p:txBody>
      </p:sp>
      <p:sp>
        <p:nvSpPr>
          <p:cNvPr id="3" name="Rounded Rectangle 2"/>
          <p:cNvSpPr/>
          <p:nvPr/>
        </p:nvSpPr>
        <p:spPr>
          <a:xfrm>
            <a:off x="640080" y="1828800"/>
            <a:ext cx="5212080" cy="4389120"/>
          </a:xfrm>
          <a:prstGeom prst="roundRect">
            <a:avLst/>
          </a:prstGeom>
          <a:solidFill>
            <a:srgbClr val="FFFFFF"/>
          </a:solidFill>
          <a:ln w="19050">
            <a:solidFill>
              <a:srgbClr val="CF33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057400"/>
            <a:ext cx="4617720" cy="3931920"/>
          </a:xfrm>
          <a:prstGeom prst="rect">
            <a:avLst/>
          </a:prstGeom>
          <a:noFill/>
        </p:spPr>
        <p:txBody>
          <a:bodyPr wrap="square" lIns="0" rIns="0" tIns="0" bIns="0">
            <a:spAutoFit/>
          </a:bodyPr>
          <a:lstStyle/>
          <a:p>
            <a:r>
              <a:rPr sz="1800" b="1" i="0">
                <a:solidFill>
                  <a:srgbClr val="CF3338"/>
                </a:solidFill>
                <a:latin typeface="Arial Black"/>
              </a:rPr>
              <a:t>The Excel way</a:t>
            </a:r>
          </a:p>
          <a:p>
            <a:pPr>
              <a:spcBef>
                <a:spcPts val="700"/>
              </a:spcBef>
            </a:pPr>
            <a:r>
              <a:rPr sz="1100" b="1" i="0">
                <a:solidFill>
                  <a:srgbClr val="CF3338"/>
                </a:solidFill>
                <a:latin typeface="Arial"/>
              </a:rPr>
              <a:t>▶  </a:t>
            </a:r>
            <a:r>
              <a:rPr sz="1400" b="0" i="0">
                <a:solidFill>
                  <a:srgbClr val="1F2120"/>
                </a:solidFill>
                <a:latin typeface="Arial"/>
              </a:rPr>
              <a:t>Scenario Manager: three hand-picked cases, best, base, worst</a:t>
            </a:r>
          </a:p>
          <a:p>
            <a:pPr>
              <a:spcBef>
                <a:spcPts val="700"/>
              </a:spcBef>
            </a:pPr>
            <a:r>
              <a:rPr sz="1100" b="1" i="0">
                <a:solidFill>
                  <a:srgbClr val="CF3338"/>
                </a:solidFill>
                <a:latin typeface="Arial"/>
              </a:rPr>
              <a:t>▶  </a:t>
            </a:r>
            <a:r>
              <a:rPr sz="1400" b="0" i="0">
                <a:solidFill>
                  <a:srgbClr val="1F2120"/>
                </a:solidFill>
                <a:latin typeface="Arial"/>
              </a:rPr>
              <a:t>Data Table: a grid over one or two inputs, every other input frozen</a:t>
            </a:r>
          </a:p>
          <a:p>
            <a:pPr>
              <a:spcBef>
                <a:spcPts val="700"/>
              </a:spcBef>
            </a:pPr>
            <a:r>
              <a:rPr sz="1100" b="1" i="0">
                <a:solidFill>
                  <a:srgbClr val="CF3338"/>
                </a:solidFill>
                <a:latin typeface="Arial"/>
              </a:rPr>
              <a:t>▶  </a:t>
            </a:r>
            <a:r>
              <a:rPr sz="1400" b="0" i="0">
                <a:solidFill>
                  <a:srgbClr val="1F2120"/>
                </a:solidFill>
                <a:latin typeface="Arial"/>
              </a:rPr>
              <a:t>NORM.INV(RAND(), 1000, 200) filled down 10,000 rows, then a PivotTable</a:t>
            </a:r>
          </a:p>
        </p:txBody>
      </p:sp>
      <p:sp>
        <p:nvSpPr>
          <p:cNvPr id="5" name="Rounded Rectangle 4"/>
          <p:cNvSpPr/>
          <p:nvPr/>
        </p:nvSpPr>
        <p:spPr>
          <a:xfrm>
            <a:off x="6400800" y="1828800"/>
            <a:ext cx="5212080" cy="4389120"/>
          </a:xfrm>
          <a:prstGeom prst="roundRect">
            <a:avLst/>
          </a:prstGeom>
          <a:solidFill>
            <a:srgbClr val="FFFFFF"/>
          </a:solidFill>
          <a:ln w="19050">
            <a:solidFill>
              <a:srgbClr val="CF33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20840" y="2057400"/>
            <a:ext cx="4617720" cy="3931920"/>
          </a:xfrm>
          <a:prstGeom prst="rect">
            <a:avLst/>
          </a:prstGeom>
          <a:noFill/>
        </p:spPr>
        <p:txBody>
          <a:bodyPr wrap="square" lIns="0" rIns="0" tIns="0" bIns="0">
            <a:spAutoFit/>
          </a:bodyPr>
          <a:lstStyle/>
          <a:p>
            <a:r>
              <a:rPr sz="1800" b="1" i="0">
                <a:solidFill>
                  <a:srgbClr val="CF3338"/>
                </a:solidFill>
                <a:latin typeface="Arial Black"/>
              </a:rPr>
              <a:t>The simulation way</a:t>
            </a:r>
          </a:p>
          <a:p>
            <a:pPr>
              <a:spcBef>
                <a:spcPts val="700"/>
              </a:spcBef>
            </a:pPr>
            <a:r>
              <a:rPr sz="1100" b="1" i="0">
                <a:solidFill>
                  <a:srgbClr val="CF3338"/>
                </a:solidFill>
                <a:latin typeface="Arial"/>
              </a:rPr>
              <a:t>▶  </a:t>
            </a:r>
            <a:r>
              <a:rPr sz="1400" b="0" i="0">
                <a:solidFill>
                  <a:srgbClr val="1F2120"/>
                </a:solidFill>
                <a:latin typeface="Arial"/>
              </a:rPr>
              <a:t>np.random.normal(1000, 200, 10000): all ten thousand draws in one line</a:t>
            </a:r>
          </a:p>
          <a:p>
            <a:pPr>
              <a:spcBef>
                <a:spcPts val="700"/>
              </a:spcBef>
            </a:pPr>
            <a:r>
              <a:rPr sz="1100" b="1" i="0">
                <a:solidFill>
                  <a:srgbClr val="CF3338"/>
                </a:solidFill>
                <a:latin typeface="Arial"/>
              </a:rPr>
              <a:t>▶  </a:t>
            </a:r>
            <a:r>
              <a:rPr sz="1400" b="0" i="0">
                <a:solidFill>
                  <a:srgbClr val="1F2120"/>
                </a:solidFill>
                <a:latin typeface="Arial"/>
              </a:rPr>
              <a:t>np.minimum(demand, inventory): MIN for ten thousand rows at once</a:t>
            </a:r>
          </a:p>
          <a:p>
            <a:pPr>
              <a:spcBef>
                <a:spcPts val="700"/>
              </a:spcBef>
            </a:pPr>
            <a:r>
              <a:rPr sz="1100" b="1" i="0">
                <a:solidFill>
                  <a:srgbClr val="CF3338"/>
                </a:solidFill>
                <a:latin typeface="Arial"/>
              </a:rPr>
              <a:t>▶  </a:t>
            </a:r>
            <a:r>
              <a:rPr sz="1400" b="0" i="0">
                <a:solidFill>
                  <a:srgbClr val="1F2120"/>
                </a:solidFill>
                <a:latin typeface="Arial"/>
              </a:rPr>
              <a:t>One summary table, one histogram, one line for any 'how often' question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The profit model: demand in, profit out</a:t>
            </a:r>
          </a:p>
          <a:p>
            <a:pPr>
              <a:spcBef>
                <a:spcPts val="300"/>
              </a:spcBef>
            </a:pPr>
            <a:r>
              <a:rPr sz="1450" b="0" i="1">
                <a:solidFill>
                  <a:srgbClr val="707070"/>
                </a:solidFill>
                <a:latin typeface="Arial"/>
              </a:rPr>
              <a:t>Type along:  Click A3 on the simulation sheet, Ctrl+Alt+Shift+P, Editor pane. Seed, 10,000 random demands around 1,000, sell no more than the 1,100 you stocked, profit at $50 in and $30 out, mean. Ctrl+Enter.</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np.random.seed(42)</a:t>
            </a:r>
          </a:p>
          <a:p>
            <a:pPr algn="l">
              <a:spcAft>
                <a:spcPts val="100"/>
              </a:spcAft>
            </a:pPr>
            <a:r>
              <a:rPr sz="1300" b="0" i="0">
                <a:solidFill>
                  <a:srgbClr val="F5F5F5"/>
                </a:solidFill>
                <a:latin typeface="Consolas"/>
              </a:rPr>
              <a:t>demand = np.random.normal(1000, 200, 10000)</a:t>
            </a:r>
          </a:p>
          <a:p>
            <a:pPr algn="l">
              <a:spcAft>
                <a:spcPts val="100"/>
              </a:spcAft>
            </a:pPr>
            <a:r>
              <a:rPr sz="1300" b="0" i="0">
                <a:solidFill>
                  <a:srgbClr val="F5F5F5"/>
                </a:solidFill>
                <a:latin typeface="Consolas"/>
              </a:rPr>
              <a:t>units_sold = np.minimum(demand, 1100)</a:t>
            </a:r>
          </a:p>
          <a:p>
            <a:pPr algn="l">
              <a:spcAft>
                <a:spcPts val="100"/>
              </a:spcAft>
            </a:pPr>
            <a:r>
              <a:rPr sz="1300" b="0" i="0">
                <a:solidFill>
                  <a:srgbClr val="F5F5F5"/>
                </a:solidFill>
                <a:latin typeface="Consolas"/>
              </a:rPr>
              <a:t>profit = units_sold * 50 - 1100 * 30</a:t>
            </a:r>
          </a:p>
          <a:p>
            <a:pPr algn="l">
              <a:spcAft>
                <a:spcPts val="100"/>
              </a:spcAft>
            </a:pPr>
            <a:r>
              <a:rPr sz="1300" b="0" i="0">
                <a:solidFill>
                  <a:srgbClr val="F5F5F5"/>
                </a:solidFill>
                <a:latin typeface="Consolas"/>
              </a:rPr>
              <a:t>round(profit.mean())</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np.minimum(demand, inventory) is MIN for 10,000 rows at once, and it makes profit lopsided.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The whole distribution: a histogram with mean and break-even lines</a:t>
            </a:r>
          </a:p>
          <a:p>
            <a:pPr>
              <a:spcBef>
                <a:spcPts val="300"/>
              </a:spcBef>
            </a:pPr>
            <a:r>
              <a:rPr sz="1450" b="0" i="1">
                <a:solidFill>
                  <a:srgbClr val="707070"/>
                </a:solidFill>
                <a:latin typeface="Arial"/>
              </a:rPr>
              <a:t>Type along:  The Excel way: three scenarios, or a Data Table over one input. This is every future at once.</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sns.histplot(profit, bins=50)</a:t>
            </a:r>
          </a:p>
          <a:p>
            <a:pPr algn="l">
              <a:spcAft>
                <a:spcPts val="100"/>
              </a:spcAft>
            </a:pPr>
            <a:r>
              <a:rPr sz="1300" b="0" i="0">
                <a:solidFill>
                  <a:srgbClr val="F5F5F5"/>
                </a:solidFill>
                <a:latin typeface="Consolas"/>
              </a:rPr>
              <a:t>plt.axvline(profit.mean(), color="red", linestyle="--")</a:t>
            </a:r>
          </a:p>
          <a:p>
            <a:pPr algn="l">
              <a:spcAft>
                <a:spcPts val="100"/>
              </a:spcAft>
            </a:pPr>
            <a:r>
              <a:rPr sz="1300" b="0" i="0">
                <a:solidFill>
                  <a:srgbClr val="F5F5F5"/>
                </a:solidFill>
                <a:latin typeface="Consolas"/>
              </a:rPr>
              <a:t>plt.axvline(0, color="black")</a:t>
            </a:r>
          </a:p>
          <a:p>
            <a:pPr algn="l">
              <a:spcAft>
                <a:spcPts val="100"/>
              </a:spcAft>
            </a:pPr>
            <a:r>
              <a:rPr sz="1300" b="0" i="0">
                <a:solidFill>
                  <a:srgbClr val="F5F5F5"/>
                </a:solidFill>
                <a:latin typeface="Consolas"/>
              </a:rPr>
              <a:t>plt.title("Profit across 10,000 simulations")</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Demand was normal; profit is not. You only see that with the whole distribution.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Any 'how often' question is one line</a:t>
            </a:r>
          </a:p>
          <a:p>
            <a:pPr>
              <a:spcBef>
                <a:spcPts val="300"/>
              </a:spcBef>
            </a:pPr>
            <a:r>
              <a:rPr sz="1450" b="0" i="1">
                <a:solidFill>
                  <a:srgbClr val="707070"/>
                </a:solidFill>
                <a:latin typeface="Arial"/>
              </a:rPr>
              <a:t>Type along:  Click A7, Ctrl+Alt+Shift+P. One line: the share of futures with profit above $18,000. Ctrl+Enter.</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(profit &gt; 18000).mean()</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Any question that starts with 'how often' is one line now.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C00000"/>
        </a:solidFill>
        <a:effectLst/>
      </p:bgPr>
    </p:bg>
    <p:spTree>
      <p:nvGrpSpPr>
        <p:cNvPr id="1" name=""/>
        <p:cNvGrpSpPr/>
        <p:nvPr/>
      </p:nvGrpSpPr>
      <p:grpSpPr/>
      <p:sp>
        <p:nvSpPr>
          <p:cNvPr id="2" name="TextBox 1"/>
          <p:cNvSpPr txBox="1"/>
          <p:nvPr/>
        </p:nvSpPr>
        <p:spPr>
          <a:xfrm>
            <a:off x="822960" y="2286000"/>
            <a:ext cx="10332720" cy="2743200"/>
          </a:xfrm>
          <a:prstGeom prst="rect">
            <a:avLst/>
          </a:prstGeom>
          <a:noFill/>
        </p:spPr>
        <p:txBody>
          <a:bodyPr wrap="square" lIns="0" rIns="0" tIns="0" bIns="0">
            <a:spAutoFit/>
          </a:bodyPr>
          <a:lstStyle/>
          <a:p>
            <a:r>
              <a:rPr sz="1600" b="1" i="0">
                <a:solidFill>
                  <a:srgbClr val="FFFFFF"/>
                </a:solidFill>
                <a:latin typeface="Arial Black"/>
              </a:rPr>
              <a:t>PART 2</a:t>
            </a:r>
          </a:p>
          <a:p>
            <a:pPr>
              <a:spcBef>
                <a:spcPts val="800"/>
              </a:spcBef>
            </a:pPr>
            <a:r>
              <a:rPr sz="3600" b="1" i="0">
                <a:solidFill>
                  <a:srgbClr val="FFFFFF"/>
                </a:solidFill>
                <a:latin typeface="Arial Black"/>
              </a:rPr>
              <a:t>Python that a manager can use: input cells and dropdowns</a:t>
            </a:r>
          </a:p>
          <a:p>
            <a:pPr>
              <a:spcBef>
                <a:spcPts val="1400"/>
              </a:spcBef>
            </a:pPr>
            <a:r>
              <a:rPr sz="1800" b="0" i="0">
                <a:solidFill>
                  <a:srgbClr val="FFFFFF"/>
                </a:solidFill>
                <a:latin typeface="Arial"/>
              </a:rPr>
              <a:t>Excel is the interface, Python is the engine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A moving average over a noisy daily series</a:t>
            </a:r>
          </a:p>
          <a:p>
            <a:pPr>
              <a:spcBef>
                <a:spcPts val="300"/>
              </a:spcBef>
            </a:pPr>
            <a:r>
              <a:rPr sz="1450" b="0" i="1">
                <a:solidFill>
                  <a:srgbClr val="707070"/>
                </a:solidFill>
                <a:latin typeface="Arial"/>
              </a:rPr>
              <a:t>Type along:  On the moving-average sheet, click G1, Ctrl+Alt+Shift+P, Editor pane. Load daily_sales, add a 7-day rolling mean, draw both lines. Ctrl+Enter, Ctrl+Alt+Shift+M.</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sales_df = xl("daily_sales[#All]", headers=True)</a:t>
            </a:r>
          </a:p>
          <a:p>
            <a:pPr algn="l">
              <a:spcAft>
                <a:spcPts val="100"/>
              </a:spcAft>
            </a:pPr>
            <a:r>
              <a:rPr sz="1300" b="0" i="0">
                <a:solidFill>
                  <a:srgbClr val="F5F5F5"/>
                </a:solidFill>
                <a:latin typeface="Consolas"/>
              </a:rPr>
              <a:t>sales_df['smoothed'] = sales_df['Sales'].rolling(7).mean()</a:t>
            </a:r>
          </a:p>
          <a:p>
            <a:pPr algn="l">
              <a:spcAft>
                <a:spcPts val="100"/>
              </a:spcAft>
            </a:pPr>
            <a:r>
              <a:rPr sz="1300" b="0" i="0">
                <a:solidFill>
                  <a:srgbClr val="F5F5F5"/>
                </a:solidFill>
                <a:latin typeface="Consolas"/>
              </a:rPr>
              <a:t>sns.lineplot(data=sales_df, x='Date', y='Sales', alpha=.4)</a:t>
            </a:r>
          </a:p>
          <a:p>
            <a:pPr algn="l">
              <a:spcAft>
                <a:spcPts val="100"/>
              </a:spcAft>
            </a:pPr>
            <a:r>
              <a:rPr sz="1300" b="0" i="0">
                <a:solidFill>
                  <a:srgbClr val="F5F5F5"/>
                </a:solidFill>
                <a:latin typeface="Consolas"/>
              </a:rPr>
              <a:t>sns.lineplot(data=sales_df, x='Date', y='smoothed')</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Is 7 the right window? Nobody knows, and right now changing it means opening the code.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Let a worksheet cell drive the window</a:t>
            </a:r>
          </a:p>
          <a:p>
            <a:pPr>
              <a:spcBef>
                <a:spcPts val="300"/>
              </a:spcBef>
            </a:pPr>
            <a:r>
              <a:rPr sz="1450" b="0" i="1">
                <a:solidFill>
                  <a:srgbClr val="707070"/>
                </a:solidFill>
                <a:latin typeface="Arial"/>
              </a:rPr>
              <a:t>Type along:  The Excel way: a formula that points at an input cell. Same idea, Python on the other end.</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moving_n = xl("'moving-average'!E1")</a:t>
            </a:r>
          </a:p>
          <a:p>
            <a:pPr algn="l">
              <a:spcAft>
                <a:spcPts val="100"/>
              </a:spcAft>
            </a:pPr>
            <a:r>
              <a:rPr sz="1300" b="0" i="0">
                <a:solidFill>
                  <a:srgbClr val="F5F5F5"/>
                </a:solidFill>
                <a:latin typeface="Consolas"/>
              </a:rPr>
              <a:t>sales_df['smoothed'] = sales_df['Sales'].rolling(moving_n).mean()</a:t>
            </a:r>
          </a:p>
          <a:p>
            <a:pPr algn="l">
              <a:spcAft>
                <a:spcPts val="100"/>
              </a:spcAft>
            </a:pPr>
            <a:r>
              <a:rPr sz="1300" b="0" i="0">
                <a:solidFill>
                  <a:srgbClr val="F5F5F5"/>
                </a:solidFill>
                <a:latin typeface="Consolas"/>
              </a:rPr>
              <a:t>sns.lineplot(data=sales_df, x='Date', y='Sales', alpha=.4)</a:t>
            </a:r>
          </a:p>
          <a:p>
            <a:pPr algn="l">
              <a:spcAft>
                <a:spcPts val="100"/>
              </a:spcAft>
            </a:pPr>
            <a:r>
              <a:rPr sz="1300" b="0" i="0">
                <a:solidFill>
                  <a:srgbClr val="F5F5F5"/>
                </a:solidFill>
                <a:latin typeface="Consolas"/>
              </a:rPr>
              <a:t>sns.lineplot(data=sales_df, x='Date', y='smoothed')</a:t>
            </a:r>
          </a:p>
          <a:p>
            <a:pPr algn="l">
              <a:spcAft>
                <a:spcPts val="100"/>
              </a:spcAft>
            </a:pPr>
            <a:r>
              <a:rPr sz="1300" b="0" i="0">
                <a:solidFill>
                  <a:srgbClr val="F5F5F5"/>
                </a:solidFill>
                <a:latin typeface="Consolas"/>
              </a:rPr>
              <a:t>plt.title(f'{moving_n}-day moving average')</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Change E1, press Enter, the chart redraws. Nobody opens the code.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C00000"/>
        </a:solidFill>
        <a:effectLst/>
      </p:bgPr>
    </p:bg>
    <p:spTree>
      <p:nvGrpSpPr>
        <p:cNvPr id="1" name=""/>
        <p:cNvGrpSpPr/>
        <p:nvPr/>
      </p:nvGrpSpPr>
      <p:grpSpPr/>
      <p:sp>
        <p:nvSpPr>
          <p:cNvPr id="2" name="TextBox 1"/>
          <p:cNvSpPr txBox="1"/>
          <p:nvPr/>
        </p:nvSpPr>
        <p:spPr>
          <a:xfrm>
            <a:off x="822960" y="2286000"/>
            <a:ext cx="10332720" cy="2743200"/>
          </a:xfrm>
          <a:prstGeom prst="rect">
            <a:avLst/>
          </a:prstGeom>
          <a:noFill/>
        </p:spPr>
        <p:txBody>
          <a:bodyPr wrap="square" lIns="0" rIns="0" tIns="0" bIns="0">
            <a:spAutoFit/>
          </a:bodyPr>
          <a:lstStyle/>
          <a:p>
            <a:r>
              <a:rPr sz="1600" b="1" i="0">
                <a:solidFill>
                  <a:srgbClr val="FFFFFF"/>
                </a:solidFill>
                <a:latin typeface="Arial Black"/>
              </a:rPr>
              <a:t>PART 3</a:t>
            </a:r>
          </a:p>
          <a:p>
            <a:pPr>
              <a:spcBef>
                <a:spcPts val="800"/>
              </a:spcBef>
            </a:pPr>
            <a:r>
              <a:rPr sz="3600" b="1" i="0">
                <a:solidFill>
                  <a:srgbClr val="FFFFFF"/>
                </a:solidFill>
                <a:latin typeface="Arial Black"/>
              </a:rPr>
              <a:t>Which decision? Percentiles and a comparison</a:t>
            </a:r>
          </a:p>
          <a:p>
            <a:pPr>
              <a:spcBef>
                <a:spcPts val="1400"/>
              </a:spcBef>
            </a:pPr>
            <a:r>
              <a:rPr sz="1800" b="0" i="0">
                <a:solidFill>
                  <a:srgbClr val="FFFFFF"/>
                </a:solidFill>
                <a:latin typeface="Arial"/>
              </a:rPr>
              <a:t>Two cells, typed together. From 'what could happen' to 'what should we do'.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Percentiles for planning</a:t>
            </a:r>
          </a:p>
          <a:p>
            <a:pPr>
              <a:spcBef>
                <a:spcPts val="300"/>
              </a:spcBef>
            </a:pPr>
            <a:r>
              <a:rPr sz="1450" b="0" i="1">
                <a:solidFill>
                  <a:srgbClr val="707070"/>
                </a:solidFill>
                <a:latin typeface="Arial"/>
              </a:rPr>
              <a:t>Type along:  Click A9, Ctrl+Alt+Shift+P. Three numbers instead of one: a bad-but-plausible outcome, the middle, a good-but-plausible outcome. PERCENTILE.INC in Excel, np.percentile here. Ctrl+Enter.</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np.percentile(profit, [10, 50, 90]).round()</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Seed 42: about 4,100 / 17,000 / 22,000. The 90th is exactly the cap: 1,100 units times a $20 margin. Chapter 8 turns this into a full summary table with probability of loss.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Which decision? Compare two inventory levels</a:t>
            </a:r>
          </a:p>
          <a:p>
            <a:pPr>
              <a:spcBef>
                <a:spcPts val="300"/>
              </a:spcBef>
            </a:pPr>
            <a:r>
              <a:rPr sz="1450" b="0" i="1">
                <a:solidFill>
                  <a:srgbClr val="707070"/>
                </a:solidFill>
                <a:latin typeface="Arial"/>
              </a:rPr>
              <a:t>Type along:  Click A11, Ctrl+Alt+Shift+P, Editor pane. Same demand, a smaller order: 900 units. Put the two mean profits side by side. Ctrl+Enter, Ctrl+Alt+Shift+M.</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profit_900 = np.minimum(demand, 900) * 50 - 900 * 30</a:t>
            </a:r>
          </a:p>
          <a:p>
            <a:pPr algn="l">
              <a:spcAft>
                <a:spcPts val="100"/>
              </a:spcAft>
            </a:pPr>
            <a:r>
              <a:rPr sz="1300" b="0" i="0">
                <a:solidFill>
                  <a:srgbClr val="F5F5F5"/>
                </a:solidFill>
                <a:latin typeface="Consolas"/>
              </a:rPr>
              <a:t>pd.DataFrame({'Stock 900': [round(profit_900.mean())],</a:t>
            </a:r>
          </a:p>
          <a:p>
            <a:pPr algn="l">
              <a:spcAft>
                <a:spcPts val="100"/>
              </a:spcAft>
            </a:pPr>
            <a:r>
              <a:rPr sz="1300" b="0" i="0">
                <a:solidFill>
                  <a:srgbClr val="F5F5F5"/>
                </a:solidFill>
                <a:latin typeface="Consolas"/>
              </a:rPr>
              <a:t>              'Stock 1,100': [round(profit.mean())]})</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Ordering less earns more on average here, because leftover stock is a sure cost and extra demand is only a maybe. Chapter 8 compares three options on mean, percentiles and probability of loss, with the distributions overlaid.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457200"/>
            <a:ext cx="10881360" cy="1188720"/>
          </a:xfrm>
          <a:prstGeom prst="rect">
            <a:avLst/>
          </a:prstGeom>
          <a:noFill/>
        </p:spPr>
        <p:txBody>
          <a:bodyPr wrap="square" lIns="0" rIns="0" tIns="0" bIns="0">
            <a:spAutoFit/>
          </a:bodyPr>
          <a:lstStyle/>
          <a:p>
            <a:r>
              <a:rPr sz="3000" b="1" i="0">
                <a:solidFill>
                  <a:srgbClr val="1F2120"/>
                </a:solidFill>
                <a:latin typeface="Arial Black"/>
              </a:rPr>
              <a:t>What it can't do (yet)</a:t>
            </a:r>
          </a:p>
          <a:p>
            <a:pPr>
              <a:spcBef>
                <a:spcPts val="400"/>
              </a:spcBef>
            </a:pPr>
            <a:r>
              <a:rPr sz="1500" b="0" i="1">
                <a:solidFill>
                  <a:srgbClr val="CF3338"/>
                </a:solidFill>
                <a:latin typeface="Arial"/>
              </a:rPr>
              <a:t>Honest limits, so nothing surprises you on Monday</a:t>
            </a:r>
          </a:p>
        </p:txBody>
      </p:sp>
      <p:sp>
        <p:nvSpPr>
          <p:cNvPr id="3" name="TextBox 2"/>
          <p:cNvSpPr txBox="1"/>
          <p:nvPr/>
        </p:nvSpPr>
        <p:spPr>
          <a:xfrm>
            <a:off x="640080" y="1783080"/>
            <a:ext cx="10881360" cy="4846320"/>
          </a:xfrm>
          <a:prstGeom prst="rect">
            <a:avLst/>
          </a:prstGeom>
          <a:noFill/>
        </p:spPr>
        <p:txBody>
          <a:bodyPr wrap="square" lIns="0" rIns="0" tIns="0" bIns="0">
            <a:spAutoFit/>
          </a:bodyPr>
          <a:lstStyle/>
          <a:p>
            <a:pPr>
              <a:spcAft>
                <a:spcPts val="700"/>
              </a:spcAft>
            </a:pPr>
            <a:r>
              <a:rPr sz="1200" b="1" i="0">
                <a:solidFill>
                  <a:srgbClr val="CF3338"/>
                </a:solidFill>
                <a:latin typeface="Arial"/>
              </a:rPr>
              <a:t>▶  </a:t>
            </a:r>
            <a:r>
              <a:rPr sz="1600" b="0" i="0">
                <a:solidFill>
                  <a:srgbClr val="1F2120"/>
                </a:solidFill>
                <a:latin typeface="Arial"/>
              </a:rPr>
              <a:t>A simulation is only as honest as its assumptions: normal demand with a mean of 1,000 and a swing of 200 is a guess you must own, and the distribution is the assumption.</a:t>
            </a:r>
          </a:p>
          <a:p>
            <a:pPr>
              <a:spcAft>
                <a:spcPts val="700"/>
              </a:spcAft>
            </a:pPr>
            <a:r>
              <a:rPr sz="1200" b="1" i="0">
                <a:solidFill>
                  <a:srgbClr val="CF3338"/>
                </a:solidFill>
                <a:latin typeface="Arial"/>
              </a:rPr>
              <a:t>▶  </a:t>
            </a:r>
            <a:r>
              <a:rPr sz="1600" b="0" i="0">
                <a:solidFill>
                  <a:srgbClr val="1F2120"/>
                </a:solidFill>
                <a:latin typeface="Arial"/>
              </a:rPr>
              <a:t>Input cells need Data Validation, or people type text, decimals and blanks into them and the Python cell errors.</a:t>
            </a:r>
          </a:p>
          <a:p>
            <a:pPr>
              <a:spcAft>
                <a:spcPts val="700"/>
              </a:spcAft>
            </a:pPr>
            <a:r>
              <a:rPr sz="1200" b="1" i="0">
                <a:solidFill>
                  <a:srgbClr val="CF3338"/>
                </a:solidFill>
                <a:latin typeface="Arial"/>
              </a:rPr>
              <a:t>▶  </a:t>
            </a:r>
            <a:r>
              <a:rPr sz="1600" b="0" i="0">
                <a:solidFill>
                  <a:srgbClr val="1F2120"/>
                </a:solidFill>
                <a:latin typeface="Arial"/>
              </a:rPr>
              <a:t>Dropdown-driven charts take helper tables, an XLOOKUP and a spilled list: today was one input cell; the full build is Chapter 10.</a:t>
            </a:r>
          </a:p>
          <a:p>
            <a:pPr>
              <a:spcAft>
                <a:spcPts val="700"/>
              </a:spcAft>
            </a:pPr>
            <a:r>
              <a:rPr sz="1200" b="1" i="0">
                <a:solidFill>
                  <a:srgbClr val="CF3338"/>
                </a:solidFill>
                <a:latin typeface="Arial"/>
              </a:rPr>
              <a:t>▶  </a:t>
            </a:r>
            <a:r>
              <a:rPr sz="1600" b="0" i="0">
                <a:solidFill>
                  <a:srgbClr val="1F2120"/>
                </a:solidFill>
                <a:latin typeface="Arial"/>
              </a:rPr>
              <a:t>The comparison used the mean only; a real decision also weighs the downside, which is why Chapter 8 compares percentiles and probability of loss.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640080"/>
            <a:ext cx="10881360" cy="914400"/>
          </a:xfrm>
          <a:prstGeom prst="rect">
            <a:avLst/>
          </a:prstGeom>
          <a:noFill/>
        </p:spPr>
        <p:txBody>
          <a:bodyPr wrap="square" lIns="0" rIns="0" tIns="0" bIns="0">
            <a:spAutoFit/>
          </a:bodyPr>
          <a:lstStyle/>
          <a:p>
            <a:r>
              <a:rPr sz="2900" b="1" i="0">
                <a:solidFill>
                  <a:srgbClr val="1F2120"/>
                </a:solidFill>
                <a:latin typeface="Arial Black"/>
              </a:rPr>
              <a:t>What you just saw</a:t>
            </a:r>
          </a:p>
        </p:txBody>
      </p:sp>
      <p:sp>
        <p:nvSpPr>
          <p:cNvPr id="3" name="TextBox 2"/>
          <p:cNvSpPr txBox="1"/>
          <p:nvPr/>
        </p:nvSpPr>
        <p:spPr>
          <a:xfrm>
            <a:off x="640080" y="2468880"/>
            <a:ext cx="2446020" cy="2560320"/>
          </a:xfrm>
          <a:prstGeom prst="rect">
            <a:avLst/>
          </a:prstGeom>
          <a:noFill/>
        </p:spPr>
        <p:txBody>
          <a:bodyPr wrap="square" lIns="0" rIns="0" tIns="0" bIns="0">
            <a:spAutoFit/>
          </a:bodyPr>
          <a:lstStyle/>
          <a:p>
            <a:r>
              <a:rPr sz="5800" b="1" i="0">
                <a:solidFill>
                  <a:srgbClr val="CF3338"/>
                </a:solidFill>
                <a:latin typeface="Arial Black"/>
              </a:rPr>
              <a:t>7</a:t>
            </a:r>
          </a:p>
          <a:p>
            <a:pPr>
              <a:spcBef>
                <a:spcPts val="600"/>
              </a:spcBef>
            </a:pPr>
            <a:r>
              <a:rPr sz="1500" b="0" i="0">
                <a:solidFill>
                  <a:srgbClr val="707070"/>
                </a:solidFill>
                <a:latin typeface="Arial"/>
              </a:rPr>
              <a:t>cells, all typed by you</a:t>
            </a:r>
          </a:p>
        </p:txBody>
      </p:sp>
      <p:sp>
        <p:nvSpPr>
          <p:cNvPr id="4" name="TextBox 3"/>
          <p:cNvSpPr txBox="1"/>
          <p:nvPr/>
        </p:nvSpPr>
        <p:spPr>
          <a:xfrm>
            <a:off x="3360420" y="2468880"/>
            <a:ext cx="2446020" cy="2560320"/>
          </a:xfrm>
          <a:prstGeom prst="rect">
            <a:avLst/>
          </a:prstGeom>
          <a:noFill/>
        </p:spPr>
        <p:txBody>
          <a:bodyPr wrap="square" lIns="0" rIns="0" tIns="0" bIns="0">
            <a:spAutoFit/>
          </a:bodyPr>
          <a:lstStyle/>
          <a:p>
            <a:r>
              <a:rPr sz="3800" b="1" i="0">
                <a:solidFill>
                  <a:srgbClr val="CF3338"/>
                </a:solidFill>
                <a:latin typeface="Arial Black"/>
              </a:rPr>
              <a:t>10,000</a:t>
            </a:r>
          </a:p>
          <a:p>
            <a:pPr>
              <a:spcBef>
                <a:spcPts val="600"/>
              </a:spcBef>
            </a:pPr>
            <a:r>
              <a:rPr sz="1500" b="0" i="0">
                <a:solidFill>
                  <a:srgbClr val="707070"/>
                </a:solidFill>
                <a:latin typeface="Arial"/>
              </a:rPr>
              <a:t>simulated futures</a:t>
            </a:r>
          </a:p>
        </p:txBody>
      </p:sp>
      <p:sp>
        <p:nvSpPr>
          <p:cNvPr id="5" name="TextBox 4"/>
          <p:cNvSpPr txBox="1"/>
          <p:nvPr/>
        </p:nvSpPr>
        <p:spPr>
          <a:xfrm>
            <a:off x="6080760" y="2468880"/>
            <a:ext cx="2446020" cy="2560320"/>
          </a:xfrm>
          <a:prstGeom prst="rect">
            <a:avLst/>
          </a:prstGeom>
          <a:noFill/>
        </p:spPr>
        <p:txBody>
          <a:bodyPr wrap="square" lIns="0" rIns="0" tIns="0" bIns="0">
            <a:spAutoFit/>
          </a:bodyPr>
          <a:lstStyle/>
          <a:p>
            <a:r>
              <a:rPr sz="5800" b="1" i="0">
                <a:solidFill>
                  <a:srgbClr val="CF3338"/>
                </a:solidFill>
                <a:latin typeface="Arial Black"/>
              </a:rPr>
              <a:t>1</a:t>
            </a:r>
          </a:p>
          <a:p>
            <a:pPr>
              <a:spcBef>
                <a:spcPts val="600"/>
              </a:spcBef>
            </a:pPr>
            <a:r>
              <a:rPr sz="1500" b="0" i="0">
                <a:solidFill>
                  <a:srgbClr val="707070"/>
                </a:solidFill>
                <a:latin typeface="Arial"/>
              </a:rPr>
              <a:t>worksheet cell driving Python</a:t>
            </a:r>
          </a:p>
        </p:txBody>
      </p:sp>
      <p:sp>
        <p:nvSpPr>
          <p:cNvPr id="6" name="TextBox 5"/>
          <p:cNvSpPr txBox="1"/>
          <p:nvPr/>
        </p:nvSpPr>
        <p:spPr>
          <a:xfrm>
            <a:off x="8801100" y="2468880"/>
            <a:ext cx="2446020" cy="2560320"/>
          </a:xfrm>
          <a:prstGeom prst="rect">
            <a:avLst/>
          </a:prstGeom>
          <a:noFill/>
        </p:spPr>
        <p:txBody>
          <a:bodyPr wrap="square" lIns="0" rIns="0" tIns="0" bIns="0">
            <a:spAutoFit/>
          </a:bodyPr>
          <a:lstStyle/>
          <a:p>
            <a:r>
              <a:rPr sz="5800" b="1" i="0">
                <a:solidFill>
                  <a:srgbClr val="CF3338"/>
                </a:solidFill>
                <a:latin typeface="Arial Black"/>
              </a:rPr>
              <a:t>2</a:t>
            </a:r>
          </a:p>
          <a:p>
            <a:pPr>
              <a:spcBef>
                <a:spcPts val="600"/>
              </a:spcBef>
            </a:pPr>
            <a:r>
              <a:rPr sz="1500" b="0" i="0">
                <a:solidFill>
                  <a:srgbClr val="707070"/>
                </a:solidFill>
                <a:latin typeface="Arial"/>
              </a:rPr>
              <a:t>decisions compared on the same futures</a:t>
            </a:r>
          </a:p>
        </p:txBody>
      </p:sp>
      <p:sp>
        <p:nvSpPr>
          <p:cNvPr id="7" name="TextBox 6"/>
          <p:cNvSpPr txBox="1"/>
          <p:nvPr/>
        </p:nvSpPr>
        <p:spPr>
          <a:xfrm>
            <a:off x="640080" y="5486400"/>
            <a:ext cx="10881360" cy="822960"/>
          </a:xfrm>
          <a:prstGeom prst="rect">
            <a:avLst/>
          </a:prstGeom>
          <a:noFill/>
        </p:spPr>
        <p:txBody>
          <a:bodyPr wrap="square" lIns="0" rIns="0" tIns="0" bIns="0">
            <a:spAutoFit/>
          </a:bodyPr>
          <a:lstStyle/>
          <a:p>
            <a:r>
              <a:rPr sz="1500" b="0" i="1">
                <a:solidFill>
                  <a:srgbClr val="1F2120"/>
                </a:solidFill>
                <a:latin typeface="Arial"/>
              </a:rPr>
              <a:t>Sample, calculate, summarize, visualize. Excel is the interface, Python is the engine.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457200"/>
            <a:ext cx="10881360" cy="1005840"/>
          </a:xfrm>
          <a:prstGeom prst="rect">
            <a:avLst/>
          </a:prstGeom>
          <a:noFill/>
        </p:spPr>
        <p:txBody>
          <a:bodyPr wrap="square" lIns="0" rIns="0" tIns="0" bIns="0">
            <a:spAutoFit/>
          </a:bodyPr>
          <a:lstStyle/>
          <a:p>
            <a:r>
              <a:rPr sz="3000" b="1" i="0">
                <a:solidFill>
                  <a:srgbClr val="1F2120"/>
                </a:solidFill>
                <a:latin typeface="Arial Black"/>
              </a:rPr>
              <a:t>What else is in the book</a:t>
            </a:r>
          </a:p>
          <a:p>
            <a:pPr>
              <a:spcBef>
                <a:spcPts val="300"/>
              </a:spcBef>
            </a:pPr>
            <a:r>
              <a:rPr sz="1500" b="0" i="1">
                <a:solidFill>
                  <a:srgbClr val="CF3338"/>
                </a:solidFill>
                <a:latin typeface="Arial"/>
              </a:rPr>
              <a:t>Every item on the right is a full chapter with a companion workbook</a:t>
            </a:r>
          </a:p>
        </p:txBody>
      </p:sp>
      <p:sp>
        <p:nvSpPr>
          <p:cNvPr id="3" name="Rounded Rectangle 2"/>
          <p:cNvSpPr/>
          <p:nvPr/>
        </p:nvSpPr>
        <p:spPr>
          <a:xfrm>
            <a:off x="640080" y="1828800"/>
            <a:ext cx="5212080" cy="4389120"/>
          </a:xfrm>
          <a:prstGeom prst="roundRect">
            <a:avLst/>
          </a:prstGeom>
          <a:solidFill>
            <a:srgbClr val="FFFFFF"/>
          </a:solidFill>
          <a:ln w="19050">
            <a:solidFill>
              <a:srgbClr val="CF33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057400"/>
            <a:ext cx="4617720" cy="3931920"/>
          </a:xfrm>
          <a:prstGeom prst="rect">
            <a:avLst/>
          </a:prstGeom>
          <a:noFill/>
        </p:spPr>
        <p:txBody>
          <a:bodyPr wrap="square" lIns="0" rIns="0" tIns="0" bIns="0">
            <a:spAutoFit/>
          </a:bodyPr>
          <a:lstStyle/>
          <a:p>
            <a:r>
              <a:rPr sz="1800" b="1" i="0">
                <a:solidFill>
                  <a:srgbClr val="CF3338"/>
                </a:solidFill>
                <a:latin typeface="Arial Black"/>
              </a:rPr>
              <a:t>What you saw today</a:t>
            </a:r>
          </a:p>
          <a:p>
            <a:pPr>
              <a:spcBef>
                <a:spcPts val="700"/>
              </a:spcBef>
            </a:pPr>
            <a:r>
              <a:rPr sz="1100" b="1" i="0">
                <a:solidFill>
                  <a:srgbClr val="CF3338"/>
                </a:solidFill>
                <a:latin typeface="Arial"/>
              </a:rPr>
              <a:t>▶  </a:t>
            </a:r>
            <a:r>
              <a:rPr sz="1400" b="0" i="0">
                <a:solidFill>
                  <a:srgbClr val="1F2120"/>
                </a:solidFill>
                <a:latin typeface="Arial"/>
              </a:rPr>
              <a:t>A profit model, its histogram, and a 'how often' question (Ch 8)</a:t>
            </a:r>
          </a:p>
          <a:p>
            <a:pPr>
              <a:spcBef>
                <a:spcPts val="700"/>
              </a:spcBef>
            </a:pPr>
            <a:r>
              <a:rPr sz="1100" b="1" i="0">
                <a:solidFill>
                  <a:srgbClr val="CF3338"/>
                </a:solidFill>
                <a:latin typeface="Arial"/>
              </a:rPr>
              <a:t>▶  </a:t>
            </a:r>
            <a:r>
              <a:rPr sz="1400" b="0" i="0">
                <a:solidFill>
                  <a:srgbClr val="1F2120"/>
                </a:solidFill>
                <a:latin typeface="Arial"/>
              </a:rPr>
              <a:t>A moving average, then a worksheet cell driving it (Ch 10)</a:t>
            </a:r>
          </a:p>
          <a:p>
            <a:pPr>
              <a:spcBef>
                <a:spcPts val="700"/>
              </a:spcBef>
            </a:pPr>
            <a:r>
              <a:rPr sz="1100" b="1" i="0">
                <a:solidFill>
                  <a:srgbClr val="CF3338"/>
                </a:solidFill>
                <a:latin typeface="Arial"/>
              </a:rPr>
              <a:t>▶  </a:t>
            </a:r>
            <a:r>
              <a:rPr sz="1400" b="0" i="0">
                <a:solidFill>
                  <a:srgbClr val="1F2120"/>
                </a:solidFill>
                <a:latin typeface="Arial"/>
              </a:rPr>
              <a:t>Percentiles, and two inventory decisions side by side (Ch 8)</a:t>
            </a:r>
          </a:p>
        </p:txBody>
      </p:sp>
      <p:sp>
        <p:nvSpPr>
          <p:cNvPr id="5" name="Rounded Rectangle 4"/>
          <p:cNvSpPr/>
          <p:nvPr/>
        </p:nvSpPr>
        <p:spPr>
          <a:xfrm>
            <a:off x="6400800" y="1828800"/>
            <a:ext cx="5212080" cy="4389120"/>
          </a:xfrm>
          <a:prstGeom prst="roundRect">
            <a:avLst/>
          </a:prstGeom>
          <a:solidFill>
            <a:srgbClr val="FFFFFF"/>
          </a:solidFill>
          <a:ln w="19050">
            <a:solidFill>
              <a:srgbClr val="CF33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20840" y="2057400"/>
            <a:ext cx="4617720" cy="3931920"/>
          </a:xfrm>
          <a:prstGeom prst="rect">
            <a:avLst/>
          </a:prstGeom>
          <a:noFill/>
        </p:spPr>
        <p:txBody>
          <a:bodyPr wrap="square" lIns="0" rIns="0" tIns="0" bIns="0">
            <a:spAutoFit/>
          </a:bodyPr>
          <a:lstStyle/>
          <a:p>
            <a:r>
              <a:rPr sz="1800" b="1" i="0">
                <a:solidFill>
                  <a:srgbClr val="CF3338"/>
                </a:solidFill>
                <a:latin typeface="Arial Black"/>
              </a:rPr>
              <a:t>What's waiting in the book</a:t>
            </a:r>
          </a:p>
          <a:p>
            <a:pPr>
              <a:spcBef>
                <a:spcPts val="700"/>
              </a:spcBef>
            </a:pPr>
            <a:r>
              <a:rPr sz="1100" b="1" i="0">
                <a:solidFill>
                  <a:srgbClr val="CF3338"/>
                </a:solidFill>
                <a:latin typeface="Arial"/>
              </a:rPr>
              <a:t>▶  </a:t>
            </a:r>
            <a:r>
              <a:rPr sz="1400" b="0" i="0">
                <a:solidFill>
                  <a:srgbClr val="1F2120"/>
                </a:solidFill>
                <a:latin typeface="Arial"/>
              </a:rPr>
              <a:t>A full summary table with probability of loss, and three options compared with overlaid distributions (Ch 8)</a:t>
            </a:r>
          </a:p>
          <a:p>
            <a:pPr>
              <a:spcBef>
                <a:spcPts val="700"/>
              </a:spcBef>
            </a:pPr>
            <a:r>
              <a:rPr sz="1100" b="1" i="0">
                <a:solidFill>
                  <a:srgbClr val="CF3338"/>
                </a:solidFill>
                <a:latin typeface="Arial"/>
              </a:rPr>
              <a:t>▶  </a:t>
            </a:r>
            <a:r>
              <a:rPr sz="1400" b="0" i="0">
                <a:solidFill>
                  <a:srgbClr val="1F2120"/>
                </a:solidFill>
                <a:latin typeface="Arial"/>
              </a:rPr>
              <a:t>Power Query feeding Python, Data Validation on inputs, dropdown-driven dynamic measures with a native Excel chart (Ch 10)</a:t>
            </a:r>
          </a:p>
          <a:p>
            <a:pPr>
              <a:spcBef>
                <a:spcPts val="700"/>
              </a:spcBef>
            </a:pPr>
            <a:r>
              <a:rPr sz="1100" b="1" i="0">
                <a:solidFill>
                  <a:srgbClr val="CF3338"/>
                </a:solidFill>
                <a:latin typeface="Arial"/>
              </a:rPr>
              <a:t>▶  </a:t>
            </a:r>
            <a:r>
              <a:rPr sz="1400" b="0" i="0">
                <a:solidFill>
                  <a:srgbClr val="1F2120"/>
                </a:solidFill>
                <a:latin typeface="Arial"/>
              </a:rPr>
              <a:t>Statistical tests, regression and forecasting done properly (Ch 5 to 7)</a:t>
            </a:r>
          </a:p>
          <a:p>
            <a:pPr>
              <a:spcBef>
                <a:spcPts val="700"/>
              </a:spcBef>
            </a:pPr>
            <a:r>
              <a:rPr sz="1100" b="1" i="0">
                <a:solidFill>
                  <a:srgbClr val="CF3338"/>
                </a:solidFill>
                <a:latin typeface="Arial"/>
              </a:rPr>
              <a:t>▶  </a:t>
            </a:r>
            <a:r>
              <a:rPr sz="1400" b="0" i="0">
                <a:solidFill>
                  <a:srgbClr val="1F2120"/>
                </a:solidFill>
                <a:latin typeface="Arial"/>
              </a:rPr>
              <a:t>Text and sentiment analysis on product reviews (Ch 9)</a:t>
            </a:r>
          </a:p>
          <a:p>
            <a:pPr>
              <a:spcBef>
                <a:spcPts val="700"/>
              </a:spcBef>
            </a:pPr>
            <a:r>
              <a:rPr sz="1100" b="1" i="0">
                <a:solidFill>
                  <a:srgbClr val="CF3338"/>
                </a:solidFill>
                <a:latin typeface="Arial"/>
              </a:rPr>
              <a:t>▶  </a:t>
            </a:r>
            <a:r>
              <a:rPr sz="1400" b="0" i="0">
                <a:solidFill>
                  <a:srgbClr val="1F2120"/>
                </a:solidFill>
                <a:latin typeface="Arial"/>
              </a:rPr>
              <a:t>Where to go next: more libraries, local Python, Office Scripts and Power Automate (Ch 12)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548640"/>
            <a:ext cx="6949440" cy="1097280"/>
          </a:xfrm>
          <a:prstGeom prst="rect">
            <a:avLst/>
          </a:prstGeom>
          <a:noFill/>
        </p:spPr>
        <p:txBody>
          <a:bodyPr wrap="square" lIns="0" rIns="0" tIns="0" bIns="0">
            <a:spAutoFit/>
          </a:bodyPr>
          <a:lstStyle/>
          <a:p>
            <a:r>
              <a:rPr sz="1500" b="1" i="0">
                <a:solidFill>
                  <a:srgbClr val="CF3338"/>
                </a:solidFill>
                <a:latin typeface="Arial Black"/>
              </a:rPr>
              <a:t>THE BOOK</a:t>
            </a:r>
          </a:p>
          <a:p>
            <a:pPr>
              <a:spcBef>
                <a:spcPts val="600"/>
              </a:spcBef>
            </a:pPr>
            <a:r>
              <a:rPr sz="3000" b="1" i="0">
                <a:solidFill>
                  <a:srgbClr val="1F2120"/>
                </a:solidFill>
                <a:latin typeface="Arial Black"/>
              </a:rPr>
              <a:t>Python in Excel for Data Analytics</a:t>
            </a:r>
          </a:p>
        </p:txBody>
      </p:sp>
      <p:sp>
        <p:nvSpPr>
          <p:cNvPr id="3" name="TextBox 2"/>
          <p:cNvSpPr txBox="1"/>
          <p:nvPr/>
        </p:nvSpPr>
        <p:spPr>
          <a:xfrm>
            <a:off x="640080" y="1920240"/>
            <a:ext cx="6766560" cy="4023360"/>
          </a:xfrm>
          <a:prstGeom prst="rect">
            <a:avLst/>
          </a:prstGeom>
          <a:noFill/>
        </p:spPr>
        <p:txBody>
          <a:bodyPr wrap="square" lIns="0" rIns="0" tIns="0" bIns="0">
            <a:spAutoFit/>
          </a:bodyPr>
          <a:lstStyle/>
          <a:p>
            <a:pPr>
              <a:spcAft>
                <a:spcPts val="900"/>
              </a:spcAft>
            </a:pPr>
            <a:r>
              <a:rPr sz="1200" b="1" i="0">
                <a:solidFill>
                  <a:srgbClr val="CF3338"/>
                </a:solidFill>
                <a:latin typeface="Arial"/>
              </a:rPr>
              <a:t>▶  </a:t>
            </a:r>
            <a:r>
              <a:rPr sz="1600" b="0" i="0">
                <a:solidFill>
                  <a:srgbClr val="1F2120"/>
                </a:solidFill>
                <a:latin typeface="Arial"/>
              </a:rPr>
              <a:t>Everything you saw today, with the how and the why: Chapters 8, 10 and 11.</a:t>
            </a:r>
          </a:p>
          <a:p>
            <a:pPr>
              <a:spcAft>
                <a:spcPts val="900"/>
              </a:spcAft>
            </a:pPr>
            <a:r>
              <a:rPr sz="1200" b="1" i="0">
                <a:solidFill>
                  <a:srgbClr val="CF3338"/>
                </a:solidFill>
                <a:latin typeface="Arial"/>
              </a:rPr>
              <a:t>▶  </a:t>
            </a:r>
            <a:r>
              <a:rPr sz="1600" b="0" i="0">
                <a:solidFill>
                  <a:srgbClr val="1F2120"/>
                </a:solidFill>
                <a:latin typeface="Arial"/>
              </a:rPr>
              <a:t>Twelve chapters from your first =PY() cell to forecasting, simulation, text analytics and AI-assisted analysis.</a:t>
            </a:r>
          </a:p>
          <a:p>
            <a:pPr>
              <a:spcAft>
                <a:spcPts val="900"/>
              </a:spcAft>
            </a:pPr>
            <a:r>
              <a:rPr sz="1200" b="1" i="0">
                <a:solidFill>
                  <a:srgbClr val="CF3338"/>
                </a:solidFill>
                <a:latin typeface="Arial"/>
              </a:rPr>
              <a:t>▶  </a:t>
            </a:r>
            <a:r>
              <a:rPr sz="1600" b="0" i="0">
                <a:solidFill>
                  <a:srgbClr val="1F2120"/>
                </a:solidFill>
                <a:latin typeface="Arial"/>
              </a:rPr>
              <a:t>Companion workbooks for every chapter.</a:t>
            </a:r>
          </a:p>
          <a:p>
            <a:pPr>
              <a:spcAft>
                <a:spcPts val="900"/>
              </a:spcAft>
            </a:pPr>
            <a:r>
              <a:rPr sz="1600" b="1" i="0">
                <a:solidFill>
                  <a:srgbClr val="CF3338"/>
                </a:solidFill>
                <a:latin typeface="Arial"/>
              </a:rPr>
              <a:t>https://stringfestanalytics.com/pyxlda/</a:t>
            </a:r>
          </a:p>
        </p:txBody>
      </p:sp>
      <p:pic>
        <p:nvPicPr>
          <p:cNvPr id="4" name="Picture 3" descr="book-cover.png"/>
          <p:cNvPicPr>
            <a:picLocks noChangeAspect="1"/>
          </p:cNvPicPr>
          <p:nvPr/>
        </p:nvPicPr>
        <p:blipFill>
          <a:blip r:embed="rId2"/>
          <a:stretch>
            <a:fillRect/>
          </a:stretch>
        </p:blipFill>
        <p:spPr>
          <a:xfrm>
            <a:off x="7528255" y="946976"/>
            <a:ext cx="4023360" cy="496404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548640"/>
            <a:ext cx="7315200" cy="1188720"/>
          </a:xfrm>
          <a:prstGeom prst="rect">
            <a:avLst/>
          </a:prstGeom>
          <a:noFill/>
        </p:spPr>
        <p:txBody>
          <a:bodyPr wrap="square" lIns="0" rIns="0" tIns="0" bIns="0">
            <a:spAutoFit/>
          </a:bodyPr>
          <a:lstStyle/>
          <a:p>
            <a:r>
              <a:rPr sz="1500" b="1" i="0">
                <a:solidFill>
                  <a:srgbClr val="CF3338"/>
                </a:solidFill>
                <a:latin typeface="Arial Black"/>
              </a:rPr>
              <a:t>FILES, RECORDING, AND WHAT'S NEXT</a:t>
            </a:r>
          </a:p>
          <a:p>
            <a:pPr>
              <a:spcBef>
                <a:spcPts val="600"/>
              </a:spcBef>
            </a:pPr>
            <a:r>
              <a:rPr sz="2600" b="1" i="0">
                <a:solidFill>
                  <a:srgbClr val="1F2120"/>
                </a:solidFill>
                <a:latin typeface="Arial Black"/>
              </a:rPr>
              <a:t>Python in Excel for Analysts: The Free Sessions</a:t>
            </a:r>
          </a:p>
        </p:txBody>
      </p:sp>
      <p:sp>
        <p:nvSpPr>
          <p:cNvPr id="3" name="TextBox 2"/>
          <p:cNvSpPr txBox="1"/>
          <p:nvPr/>
        </p:nvSpPr>
        <p:spPr>
          <a:xfrm>
            <a:off x="640080" y="2011680"/>
            <a:ext cx="7315200" cy="4023360"/>
          </a:xfrm>
          <a:prstGeom prst="rect">
            <a:avLst/>
          </a:prstGeom>
          <a:noFill/>
        </p:spPr>
        <p:txBody>
          <a:bodyPr wrap="square" lIns="0" rIns="0" tIns="0" bIns="0">
            <a:spAutoFit/>
          </a:bodyPr>
          <a:lstStyle/>
          <a:p>
            <a:pPr>
              <a:spcAft>
                <a:spcPts val="1000"/>
              </a:spcAft>
            </a:pPr>
            <a:r>
              <a:rPr sz="1200" b="1" i="0">
                <a:solidFill>
                  <a:srgbClr val="CF3338"/>
                </a:solidFill>
                <a:latin typeface="Arial"/>
              </a:rPr>
              <a:t>▶  </a:t>
            </a:r>
            <a:r>
              <a:rPr sz="1600" b="0" i="0">
                <a:solidFill>
                  <a:srgbClr val="1F2120"/>
                </a:solidFill>
                <a:latin typeface="Arial"/>
              </a:rPr>
              <a:t>Today's recording, workbook and code land here within a few days: https://stringfestdata.gumroad.com/l/pxlaf</a:t>
            </a:r>
          </a:p>
          <a:p>
            <a:pPr>
              <a:spcAft>
                <a:spcPts val="1000"/>
              </a:spcAft>
            </a:pPr>
            <a:r>
              <a:rPr sz="1200" b="1" i="0">
                <a:solidFill>
                  <a:srgbClr val="CF3338"/>
                </a:solidFill>
                <a:latin typeface="Arial"/>
              </a:rPr>
              <a:t>▶  </a:t>
            </a:r>
            <a:r>
              <a:rPr sz="1600" b="0" i="0">
                <a:solidFill>
                  <a:srgbClr val="1F2120"/>
                </a:solidFill>
                <a:latin typeface="Arial"/>
              </a:rPr>
              <a:t>Grab it now (it's free) and Gumroad notifies you as each session posts.</a:t>
            </a:r>
          </a:p>
          <a:p>
            <a:pPr>
              <a:spcAft>
                <a:spcPts val="1000"/>
              </a:spcAft>
            </a:pPr>
            <a:r>
              <a:rPr sz="1200" b="1" i="0">
                <a:solidFill>
                  <a:srgbClr val="CF3338"/>
                </a:solidFill>
                <a:latin typeface="Arial"/>
              </a:rPr>
              <a:t>▶  </a:t>
            </a:r>
            <a:r>
              <a:rPr sz="1600" b="0" i="0">
                <a:solidFill>
                  <a:srgbClr val="1F2120"/>
                </a:solidFill>
                <a:latin typeface="Arial"/>
              </a:rPr>
              <a:t>All files are also on GitHub: https://github.com/stringfestdata/python-excel-analysts-free</a:t>
            </a:r>
          </a:p>
          <a:p>
            <a:pPr>
              <a:spcAft>
                <a:spcPts val="1000"/>
              </a:spcAft>
            </a:pPr>
            <a:r>
              <a:rPr sz="1200" b="1" i="0">
                <a:solidFill>
                  <a:srgbClr val="CF3338"/>
                </a:solidFill>
                <a:latin typeface="Arial"/>
              </a:rPr>
              <a:t>▶  </a:t>
            </a:r>
            <a:r>
              <a:rPr sz="1600" b="0" i="0">
                <a:solidFill>
                  <a:srgbClr val="1F2120"/>
                </a:solidFill>
                <a:latin typeface="Arial"/>
              </a:rPr>
              <a:t>This was the last of four. All four recordings live in the free sessions.</a:t>
            </a:r>
          </a:p>
        </p:txBody>
      </p:sp>
      <p:pic>
        <p:nvPicPr>
          <p:cNvPr id="4" name="Picture 3" descr="free-sessions.png"/>
          <p:cNvPicPr>
            <a:picLocks noChangeAspect="1"/>
          </p:cNvPicPr>
          <p:nvPr/>
        </p:nvPicPr>
        <p:blipFill>
          <a:blip r:embed="rId2"/>
          <a:stretch>
            <a:fillRect/>
          </a:stretch>
        </p:blipFill>
        <p:spPr>
          <a:xfrm>
            <a:off x="7528255" y="2296828"/>
            <a:ext cx="4023360" cy="2264343"/>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C00000"/>
        </a:solidFill>
        <a:effectLst/>
      </p:bgPr>
    </p:bg>
    <p:spTree>
      <p:nvGrpSpPr>
        <p:cNvPr id="1" name=""/>
        <p:cNvGrpSpPr/>
        <p:nvPr/>
      </p:nvGrpSpPr>
      <p:grpSpPr/>
      <p:sp>
        <p:nvSpPr>
          <p:cNvPr id="2" name="TextBox 1"/>
          <p:cNvSpPr txBox="1"/>
          <p:nvPr/>
        </p:nvSpPr>
        <p:spPr>
          <a:xfrm>
            <a:off x="822960" y="2286000"/>
            <a:ext cx="10332720" cy="2743200"/>
          </a:xfrm>
          <a:prstGeom prst="rect">
            <a:avLst/>
          </a:prstGeom>
          <a:noFill/>
        </p:spPr>
        <p:txBody>
          <a:bodyPr wrap="square" lIns="0" rIns="0" tIns="0" bIns="0">
            <a:spAutoFit/>
          </a:bodyPr>
          <a:lstStyle/>
          <a:p>
            <a:r>
              <a:rPr sz="1600" b="1" i="0">
                <a:solidFill>
                  <a:srgbClr val="FFFFFF"/>
                </a:solidFill>
                <a:latin typeface="Arial Black"/>
              </a:rPr>
              <a:t>THANK YOU</a:t>
            </a:r>
          </a:p>
          <a:p>
            <a:pPr>
              <a:spcBef>
                <a:spcPts val="800"/>
              </a:spcBef>
            </a:pPr>
            <a:r>
              <a:rPr sz="3600" b="1" i="0">
                <a:solidFill>
                  <a:srgbClr val="FFFFFF"/>
                </a:solidFill>
                <a:latin typeface="Arial Black"/>
              </a:rPr>
              <a:t>Questions?</a:t>
            </a:r>
          </a:p>
          <a:p>
            <a:pPr>
              <a:spcBef>
                <a:spcPts val="1400"/>
              </a:spcBef>
            </a:pPr>
            <a:r>
              <a:rPr sz="1800" b="0" i="0">
                <a:solidFill>
                  <a:srgbClr val="FFFFFF"/>
                </a:solidFill>
                <a:latin typeface="Arial"/>
              </a:rPr>
              <a:t>george@stringfestanalytics.com  ·  stringfestanalytics.com  ·  https://stringfestanalytics.com/pyxlda/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