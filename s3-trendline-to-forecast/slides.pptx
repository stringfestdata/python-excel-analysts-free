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everybody. I am George Mount from Stringfest Analytics, and this is session three of the free Python in Excel series: from trendline to real forecast. Here is the idea behind the title. Almost everyone in this room has right-clicked a chart and added a trendline. Excel drew a line and maybe printed an equation and an R-squared, and you nodded and moved on. Today I want to show you what that line was actually doing, and then go two steps further: a statistical test that tells you whether a difference is real, a regression you can read as a table, and a seasonal forecast you can look inside. And for each one, how to tell if it is any good. That last part is the theme. Sixty minutes, three parts, follow along if Excel is open. Let me share the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run of show. Part one is twelve minutes and it answers one question: is the gap between two groups real, or could it be chance? We describe fuel economy by region, run a t-test, and wrap the numbers in a table that lives in the grid, then one line for effect size. Part two, eighteen minutes, is where the trendline gets taken apart. We draw the regplot you already know, then fit the same line as a model and read the coefficient table, add predictors, predict for a penguin that does not exist, and score the model on rows it never saw. Part three is the big one, twenty-two minutes: airline passengers, decomposed into trend, season and noise, then a Holt-Winters forecast, then the part Forecast Sheet never shows you, a time-ordered holdout and a naive baseline. Then the honest slide, the book, and session four. Chat is open throughout.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housekeeping. This is recorded, and the recording and workbook go on the free sessions page on Gumroad; link on the slide and in chat now. The follow-along workbook has three tabs today, mpg, penguins and AirPassengers, each already an Excel table, so nobody has to import anything. If you were here for sessions one or two, the routine is identical. If you are new, the only requirement is Microsoft 365 with Python in Excel switched on; look for the Python group on the Formulas tab, and if it is not there, watch today and set it up afterward with the guide in the download. Chat is open and I read it after each part. And the same three keys as always: Ctrl+Alt+Shift+P for a new Python cell, Ctrl+Enter to run, Ctrl+Alt+Shift+M to spill. Today we also live in the Editor pane a lot; open it from Formulas, Python group, Editor, and dock it on the right. Let's go.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Exploration shows you a pattern; inference asks how much weight to put on it. In session two we saw the box plots: Japanese and European cars look a bit different on fuel economy. Different by how much, and could that be chance? The Excel way is the Analysis ToolPak t-Test dialog, or T.TEST, and the output is a static block that never updates. Here we do it in two cells and the results live in the grid. Along the way you pick up the display habit for the whole session: statistics functions return numbers Excel cannot show on its own, so you wrap the ones you care about in a DataFrame and they spill as a tidy table. Click the mpg sheet with me: 398 cars, three regions, and origin is lowercase.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mpg sheet, click K1, well to the right of the table. Ctrl+Alt+Shift+P. First line: from scipy import stats. SciPy is already in the sandbox; we import just its stats module, so every test is stats dot something, like a sheet-qualified reference that tells you where the function lives. Skip a line, then mpg_df equals xl mpg hash All headers True; click and drag the table if you like. Skip a line, then the PivotTable in one line from session one, with describe on the end: mpg_df group by origin, the mpg column, describe. Ctrl+Enter, Ctrl+Alt+Shift+M. Three rows. Read the means: Japan about thirty and a half, Europe about twenty-eight, US about twenty. But look at std: six or seven in every group, and the counts are lopsided, two hundred forty-nine US cars against seventy-odd for the others. So there is a visible gap and no idea yet how much to trust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K8, Ctrl+Alt+Shift+P, and click into the Editor pane. Two filters first: japan is mpg_df where origin double-equals japan, then the mpg column in single brackets, which gives a Series, not a one-column table. Europe the same. Skip a line: t_stat comma p_value equals stats dot ttest_ind of japan comma europe. Two values come back and land in two names in one go. Then the display habit: pd dot DataFrame, open brace, five entries, each value wrapped in square brackets. Test statistic, p-value, Japan mean, Europe mean, difference. Ctrl+Enter, Ctrl+Alt+Shift+M. One row, five columns. t about two point four four: that is signal over noise, the gap between the means relative to the spread inside the groups. p about point oh one six: if there were truly no difference, a gap this big would show up less than two percent of the time. Under point oh five, we call it unlikely to be chance. And unlike the ToolPak, change a value in the table and this recalculates.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type, one slide on the title of the session. When you right-click a scatter and add a linear trendline, Excel runs an ordinary least squares regression: it finds the line that minimises the squared vertical distances to the points. Tick a box and it prints the equation; tick another and it prints R-squared. And that is where it stops. It will not tell you how uncertain the slope is, whether the relationship is distinguishable from zero, or how the line does on points it has never seen. It also cannot hold one thing constant while it looks at another. On the right is the same regression from statsmodels: same line, same maths, but the output is a table with a standard error and a p-value per coefficient, a predict method, and the ability to add predictors. And then we will hold rows back to score it. That is the whole of part two: from a picture to a model you can read and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and a new dataset: Palmer Penguins. Three hundred forty-four birds from three islands, with bill length and depth, flipper length, body mass, species and sex. The question is simple: can body mass predict flipper length, and how well? Three cells, all typed together: load the data and drop incomplete rows, look at it with regplot, then fit the line and read the coefficient table. Prediction for new cases, more predictors and scoring the model on held-out rows are in Chapter 6; today is the core loop. Click the penguins sheet, then I1.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penguins, click I1, Ctrl+Alt+Shift+P. First line: import statsmodels dot api as sm. sm is the conventional alias and you will see it in every example online. Skip a line, then penguins_df equals xl penguins hash All headers True; drag the table to get it. Skip a line, then penguins_df equals penguins_df dot dropna. Ctrl+Enter. You get the DataFrame card. Click it, or add penguins_df dot head as a last line and spill, and you will see the seven columns. Three hundred forty-four rows came in and three hundred thirty-three remain. Regression cannot work with a missing measurement in a row, and with only eleven incomplete rows out of three hundred forty-four, dropping them is the simplest honest choice. In session two we talked about fill versus drop; this is a drop case.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first, always. Click I4, Ctrl+Alt+Shift+P, Editor pane. plt dot figure, figsize eight by five. Then sns dot regplot, x body_mass_g, y flipper_length_mm, data penguins_df, and scatter_kws with alpha point five so overlapping dots go translucent. Title, x label, y label. Ctrl+Enter, Ctrl+Alt+Shift+M, then click the small picture icon beside the cell, Create Reference, and drag the image large. An upward-sloping cloud with a line through it and a shaded band around the line. Heavier birds, longer flippers. This is exactly your Excel trendline, plus a confidence band Excel does not draw. And here is the limit: the picture tells you there is a relationship. It does not tell you the slope, how sure we are about it, or how much of the variation it explains. For that we fit the model.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I6, Ctrl+Alt+Shift+P, Editor pane. Three moves. First, X and y. Capital X is the predictors, and it is a DataFrame, so double brackets around body_mass_g. Lowercase y is the outcome, a Series, single brackets around flipper_length_mm. Second, X equals sm dot add_constant of X. That bolts on a column of ones for the intercept. A trendline adds the intercept silently; statsmodels makes you say so, and if you forget, the line goes through the origin and every number looks wrong. Third, model equals sm dot OLS of y comma X dot fit. OLS is ordinary least squares, fit does the maths. Then results_df equals model dot summary2 dot tables bracket one, the coefficient table, and results_df on the last line. Ctrl+Enter, Ctrl+Alt+Shift+M. Two rows. Slope about point oh one five three: each extra gram adds about point oh one five millimetres of flipper. Standard error, t, and P greater than t effectively zero. That is the ToolPak Regression output, live, in a table you can reference.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time series. Airline passengers, 1949 to 1960, one number a month. Three cells, typed together: make the date the index, decompose the series into trend, season and residual, then fit Holt-Winters and forecast 24 months. Excel's Forecast Sheet does the last step and hides the first two; here you see all of it. Chapter 7 shows how to hold out the last two years and score the forecast against a naive baseline, which is how you know whether to trust it. Click the AirPassengers sheet, then D1.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AirPassengers, click D1, Ctrl+Alt+Shift+P, Editor pane. passengers_df equals xl passengers hash All headers True. Skip a line. passengers_df bracket date equals pd dot to_datetime of passengers_df bracket date. Excel dates arrive as true dates or as text that looks like dates; this forces real timestamps either way. Skip a line. passengers_df equals passengers_df dot set_index date. Up to now the index was row numbers; for time series the time is the index, which is what lets pandas resample, shift and compare by when. Last line, passengers_df dot head. Ctrl+Enter, Ctrl+Alt+Shift+M. Five rows: dates in the unlabeled first column, passengers beside. If the dates spill as serial numbers, format column D as a date; that is presentation, Excel's job. One gotcha: if you re-run this cell after set_index has already run, it errors because date is no longer a column. Re-run from the top of the cell and it is fine.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D8, Ctrl+Alt+Shift+P, Editor pane. from statsmodels dot tsa dot seasonal import seasonal_decompose. Skip a line. decomposition equals seasonal_decompose of the passengers column, model additive, period twelve. Period twelve means look for a pattern that repeats every twelve rows, and additive means the three parts add up to what you see. Then decomposition dot plot, a suptitle, tight_layout. Do not put plt dot figure in front of it, or you get an empty second image. Ctrl+Enter, Ctrl+Alt+Shift+M, Create Reference, and stretch it tall. Four panels. Observed is the raw data. Trend is smooth, rising, and slightly curved: growth accelerates. Seasonal dips early in the year, peaks in summer, and is identical every year, so it is stable and predictable. Residual scatters around zero with no pattern, so trend and season explain most of what is going on. Conclusion, and it is the whole point: any forecast here must handle both trend and season. Ignore trend and you go flat; ignore season and you miss every peak.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D40, Ctrl+Alt+Shift+P, Editor pane. Exponential smoothing: recent points count more, old ones fade rather than drop. Simple is level only, Holt adds trend, Holt-Winters adds season, and our decomposition says both, so Holt-Winters. Import ExponentialSmoothing from statsmodels dot tsa dot holtwinters. hw_model equals ExponentialSmoothing of the passengers column, trend add, seasonal add, seasonal_periods twelve. hw_fit equals hw_model dot fit. forecast_periods twenty-four, forecast equals hw_fit dot forecast steps forecast_periods. forecast_dates is a date_range from the last index date, twenty-five month starts, and bracket one colon drops the first so we do not duplicate the last actual. Two lineplots: history in blue, forecast dashed red. Title. Ctrl+Enter, Ctrl+Alt+Shift+M, Create Reference. Look at the red line. It does not go straight. Higher months stay higher, lower months lower, and the level keeps climbing. A trendline would be straight; simple smoothing would be flat. Excel's Forecast Sheet is this same family, and it hides the fitted values and residuals. A warning about missing frequency is harmless.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slide. First, a statistical test does not fix bad data. If the groups are mislabeled, the sample is biased, or there are typos in the numbers, you get a confident p-value on the wrong question. Session two's data-quality table comes before any of this. Second, regression has assumptions: the relationship should be roughly linear, wild outliers pull the line, and predictors that are highly correlated with each other make the coefficients unstable. Today was mechanics; check those before you put a model in front of a decision. Third, a forecast is only as good as its holdout check. If someone shows you a forecast without a time-ordered split and a baseline, you have no idea whether it is any good, and neither do they. Fourth, the airline series is really a little multiplicative, the swings widen as it grows; we stayed additive because the panels are easier to read. And fifth, we skipped a lot on purpose: ARIMA, the bootstrap, ANOVA, chi-square, logistic regression. All of it is in the book.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session on one slide. Eight cells, and you typed every one. One p-value you can explain: is the Japan versus Europe difference noise, or real. One coefficient you can read: about 0.0153 millimetres of flipper per gram of body mass, with a p-value beside it. Twenty-four months of forecast built from parts you could see. Chapters 5, 6 and 7 of the book take each of these the rest of the way: effect sizes and more tests, prediction and evaluation, holdouts and baselines.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show you the book itself, here is the honest map. On the left is what you actually typed today. On the right is what is waiting in the book that we did not have time for. The most common question after a session like this is 'okay, but how do I do X on my data', and X is almost always on this list. Every technique on the right is a full chapter with a companion workbook, written for exactly the person in this room: comfortable in Excel, new to Python. The next slide has the link.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 saw today comes straight out of my book, Python in Excel for Data Analysis, from Packt, and specifically Chapters 5, 6 and 7. Chapter 5 is the statistical tests chapter: the t-test and Cohen's d you did, then the bootstrap confidence interval with a for loop inside a cell, ANOVA and Tukey for three or more groups, and chi-square for two categories. Chapter 6 is regression: everything from today's part two, the predicted-versus-actual plot I skipped, and logistic regression for yes-or-no outcomes. Chapter 7 is forecasting: resampling and rolling means, the decomposition, Holt-Winters, the holdout and the baseline, a second messier series and how to choose the method, plus stationarity and the ARIMA note. If today felt like the highlights, the book is the full workflow with the exercises and explanations I raced past. Link on the slide and in chat: stringfestanalytics dot com slash pyxlda.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session three of four free sessions. Session four is called ten thousand what-ifs, and it is the one Excel people love most: instead of one line forward, thousands of possible futures. Monte Carlo simulation, a profit distribution with a probability of loss, and then wiring inputs, code and outputs into a workbook a manager can actually use. Everything is free, everything is recorded, and the follow-along workbooks are all in one place: stringfestdata dot gumroad dot com slash pxlaf. Today's finished workbook with every cell solved is there too. Register for session four from that page. And one more thing for the people who have been typing along and want to build all of this on their own data, not the book's: the full paid course, Python in Excel for Analysts, is in early access right now, and it takes every module in this series and turns it into a workbook you build yourself. Details on the same page. See you at session four.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session. Thank you for typing along, and thank you for the questions in chat; I will stay on for a few minutes for anything I missed. Two asks before you go. Open the follow-along workbook this week and re-run just one of the three parts on a table of your own: two groups you have always assumed are different, a scatter you have put a trendline on, or a monthly series you forecast by eye. Then do the holdout check. It will not be perfect, and that is exactly the point. And if it clicked, pick up the book and come to session four for the ten thousand what-ifs. I am George Mount, this was Stringfest Analytics, and the next time someone adds a trendline in a meeting, you will know exactly what it was doing. Thanks, everybody.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1737360"/>
            <a:ext cx="7223760" cy="3840480"/>
          </a:xfrm>
          <a:prstGeom prst="rect">
            <a:avLst/>
          </a:prstGeom>
          <a:noFill/>
        </p:spPr>
        <p:txBody>
          <a:bodyPr wrap="square" lIns="0" rIns="0" tIns="0" bIns="0">
            <a:spAutoFit/>
          </a:bodyPr>
          <a:lstStyle/>
          <a:p>
            <a:r>
              <a:rPr sz="1400" b="1" i="0">
                <a:solidFill>
                  <a:srgbClr val="CF3338"/>
                </a:solidFill>
                <a:latin typeface="Arial Black"/>
              </a:rPr>
              <a:t>FREE LIVE SESSION</a:t>
            </a:r>
          </a:p>
          <a:p>
            <a:r>
              <a:rPr sz="1500" b="0" i="1">
                <a:solidFill>
                  <a:srgbClr val="707070"/>
                </a:solidFill>
                <a:latin typeface="Arial"/>
              </a:rPr>
              <a:t>You've added a trendline. Here's what it was doing.</a:t>
            </a:r>
          </a:p>
          <a:p>
            <a:pPr>
              <a:spcBef>
                <a:spcPts val="1000"/>
              </a:spcBef>
            </a:pPr>
            <a:r>
              <a:rPr sz="3000" b="1" i="0">
                <a:solidFill>
                  <a:srgbClr val="CF3338"/>
                </a:solidFill>
                <a:latin typeface="Arial Black"/>
              </a:rPr>
              <a:t>Python in Excel:</a:t>
            </a:r>
          </a:p>
          <a:p>
            <a:r>
              <a:rPr sz="3400" b="1" i="0">
                <a:solidFill>
                  <a:srgbClr val="1F2120"/>
                </a:solidFill>
                <a:latin typeface="Arial Black"/>
              </a:rPr>
              <a:t>From trendline to real forecast</a:t>
            </a:r>
          </a:p>
          <a:p>
            <a:pPr>
              <a:spcBef>
                <a:spcPts val="1400"/>
              </a:spcBef>
            </a:pPr>
            <a:r>
              <a:rPr sz="1800" b="0" i="0">
                <a:solidFill>
                  <a:srgbClr val="707070"/>
                </a:solidFill>
                <a:latin typeface="Arial"/>
              </a:rPr>
              <a:t>A statistical test, a regression, and a seasonal forecast, and how to tell if they're any good.</a:t>
            </a:r>
          </a:p>
        </p:txBody>
      </p:sp>
      <p:sp>
        <p:nvSpPr>
          <p:cNvPr id="3" name="TextBox 2"/>
          <p:cNvSpPr txBox="1"/>
          <p:nvPr/>
        </p:nvSpPr>
        <p:spPr>
          <a:xfrm>
            <a:off x="640080" y="6172200"/>
            <a:ext cx="7498079" cy="457200"/>
          </a:xfrm>
          <a:prstGeom prst="rect">
            <a:avLst/>
          </a:prstGeom>
          <a:noFill/>
        </p:spPr>
        <p:txBody>
          <a:bodyPr wrap="square" lIns="0" rIns="0" tIns="0" bIns="0">
            <a:spAutoFit/>
          </a:bodyPr>
          <a:lstStyle/>
          <a:p>
            <a:r>
              <a:rPr sz="1100" b="0" i="1">
                <a:solidFill>
                  <a:srgbClr val="707070"/>
                </a:solidFill>
                <a:latin typeface="Arial"/>
              </a:rPr>
              <a:t>45 minutes  ·  recorded and posted to the free sessions on Gumroad  ·  George Mount, Stringfest Analytics</a:t>
            </a:r>
          </a:p>
        </p:txBody>
      </p:sp>
      <p:pic>
        <p:nvPicPr>
          <p:cNvPr id="4" name="Picture 3" descr="book-cover.png"/>
          <p:cNvPicPr>
            <a:picLocks noChangeAspect="1"/>
          </p:cNvPicPr>
          <p:nvPr/>
        </p:nvPicPr>
        <p:blipFill>
          <a:blip r:embed="rId2"/>
          <a:stretch>
            <a:fillRect/>
          </a:stretch>
        </p:blipFill>
        <p:spPr>
          <a:xfrm>
            <a:off x="7458120" y="960120"/>
            <a:ext cx="4002054" cy="4937760"/>
          </a:xfrm>
          <a:prstGeom prst="rect">
            <a:avLst/>
          </a:prstGeom>
        </p:spPr>
      </p:pic>
      <p:sp>
        <p:nvSpPr>
          <p:cNvPr id="5" name="TextBox 4"/>
          <p:cNvSpPr txBox="1"/>
          <p:nvPr/>
        </p:nvSpPr>
        <p:spPr>
          <a:xfrm>
            <a:off x="7458120" y="5989320"/>
            <a:ext cx="4002054" cy="457200"/>
          </a:xfrm>
          <a:prstGeom prst="rect">
            <a:avLst/>
          </a:prstGeom>
          <a:noFill/>
        </p:spPr>
        <p:txBody>
          <a:bodyPr wrap="square" lIns="0" rIns="0" tIns="0" bIns="0">
            <a:spAutoFit/>
          </a:bodyPr>
          <a:lstStyle/>
          <a:p>
            <a:pPr algn="l"/>
            <a:r>
              <a:rPr sz="1100" b="0" i="1">
                <a:solidFill>
                  <a:srgbClr val="707070"/>
                </a:solidFill>
                <a:latin typeface="Arial"/>
              </a:rPr>
              <a:t>built around the 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What we'll do today</a:t>
            </a:r>
          </a:p>
          <a:p>
            <a:pPr>
              <a:spcBef>
                <a:spcPts val="400"/>
              </a:spcBef>
            </a:pPr>
            <a:r>
              <a:rPr sz="1500" b="0" i="1">
                <a:solidFill>
                  <a:srgbClr val="CF3338"/>
                </a:solidFill>
                <a:latin typeface="Arial"/>
              </a:rPr>
              <a:t>Three questions, three answers you can check</a:t>
            </a:r>
          </a:p>
        </p:txBody>
      </p:sp>
      <p:sp>
        <p:nvSpPr>
          <p:cNvPr id="3" name="TextBox 2"/>
          <p:cNvSpPr txBox="1"/>
          <p:nvPr/>
        </p:nvSpPr>
        <p:spPr>
          <a:xfrm>
            <a:off x="640080" y="17830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Part 1: Is the difference real? One t-test (8 min, 2 short cells, we type them together)</a:t>
            </a:r>
          </a:p>
          <a:p>
            <a:pPr>
              <a:spcAft>
                <a:spcPts val="700"/>
              </a:spcAft>
            </a:pPr>
            <a:r>
              <a:rPr sz="1200" b="1" i="0">
                <a:solidFill>
                  <a:srgbClr val="CF3338"/>
                </a:solidFill>
                <a:latin typeface="Arial"/>
              </a:rPr>
              <a:t>▶  </a:t>
            </a:r>
            <a:r>
              <a:rPr sz="1600" b="0" i="0">
                <a:solidFill>
                  <a:srgbClr val="1F2120"/>
                </a:solidFill>
                <a:latin typeface="Arial"/>
              </a:rPr>
              <a:t>Part 2: From trendline to a model you can read (11 min, 3 short cells, we type them together)</a:t>
            </a:r>
          </a:p>
          <a:p>
            <a:pPr>
              <a:spcAft>
                <a:spcPts val="700"/>
              </a:spcAft>
            </a:pPr>
            <a:r>
              <a:rPr sz="1200" b="1" i="0">
                <a:solidFill>
                  <a:srgbClr val="CF3338"/>
                </a:solidFill>
                <a:latin typeface="Arial"/>
              </a:rPr>
              <a:t>▶  </a:t>
            </a:r>
            <a:r>
              <a:rPr sz="1600" b="0" i="0">
                <a:solidFill>
                  <a:srgbClr val="1F2120"/>
                </a:solidFill>
                <a:latin typeface="Arial"/>
              </a:rPr>
              <a:t>Part 3: A forecast you can see inside (13 min, 3 short cells, we type them together)</a:t>
            </a:r>
          </a:p>
          <a:p>
            <a:pPr>
              <a:spcAft>
                <a:spcPts val="700"/>
              </a:spcAft>
            </a:pPr>
            <a:r>
              <a:rPr sz="1200" b="1" i="0">
                <a:solidFill>
                  <a:srgbClr val="CF3338"/>
                </a:solidFill>
                <a:latin typeface="Arial"/>
              </a:rPr>
              <a:t>▶  </a:t>
            </a:r>
            <a:r>
              <a:rPr sz="1600" b="0" i="0">
                <a:solidFill>
                  <a:srgbClr val="1F2120"/>
                </a:solidFill>
                <a:latin typeface="Arial"/>
              </a:rPr>
              <a:t>Every cell is one idea and a few lines; the code is printed in your follow-along workbook if you fall behind</a:t>
            </a:r>
          </a:p>
          <a:p>
            <a:pPr>
              <a:spcAft>
                <a:spcPts val="700"/>
              </a:spcAft>
            </a:pPr>
            <a:r>
              <a:rPr sz="1200" b="1" i="0">
                <a:solidFill>
                  <a:srgbClr val="CF3338"/>
                </a:solidFill>
                <a:latin typeface="Arial"/>
              </a:rPr>
              <a:t>▶  </a:t>
            </a:r>
            <a:r>
              <a:rPr sz="1600" b="0" i="0">
                <a:solidFill>
                  <a:srgbClr val="1F2120"/>
                </a:solidFill>
                <a:latin typeface="Arial"/>
              </a:rPr>
              <a:t>What it can't do yet, what else is in the book, where to go next</a:t>
            </a:r>
          </a:p>
          <a:p>
            <a:pPr>
              <a:spcAft>
                <a:spcPts val="700"/>
              </a:spcAft>
            </a:pPr>
            <a:r>
              <a:rPr sz="1200" b="1" i="0">
                <a:solidFill>
                  <a:srgbClr val="CF3338"/>
                </a:solidFill>
                <a:latin typeface="Arial"/>
              </a:rPr>
              <a:t>▶  </a:t>
            </a:r>
            <a:r>
              <a:rPr sz="1600" b="0" i="0">
                <a:solidFill>
                  <a:srgbClr val="1F2120"/>
                </a:solidFill>
                <a:latin typeface="Arial"/>
              </a:rPr>
              <a:t>Questions any time in the chat; I pause after each part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Housekeeping</a:t>
            </a:r>
          </a:p>
        </p:txBody>
      </p:sp>
      <p:sp>
        <p:nvSpPr>
          <p:cNvPr id="3" name="TextBox 2"/>
          <p:cNvSpPr txBox="1"/>
          <p:nvPr/>
        </p:nvSpPr>
        <p:spPr>
          <a:xfrm>
            <a:off x="640080" y="15544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This session is recorded and posted to the free sessions page on Gumroad</a:t>
            </a:r>
          </a:p>
          <a:p>
            <a:pPr>
              <a:spcAft>
                <a:spcPts val="700"/>
              </a:spcAft>
            </a:pPr>
            <a:r>
              <a:rPr sz="1200" b="1" i="0">
                <a:solidFill>
                  <a:srgbClr val="CF3338"/>
                </a:solidFill>
                <a:latin typeface="Arial"/>
              </a:rPr>
              <a:t>▶  </a:t>
            </a:r>
            <a:r>
              <a:rPr sz="1600" b="0" i="0">
                <a:solidFill>
                  <a:srgbClr val="1F2120"/>
                </a:solidFill>
                <a:latin typeface="Arial"/>
              </a:rPr>
              <a:t>The follow-along workbook is at stringfestdata.gumroad.com/l/pxlaf (free; mpg, penguins and AirPassengers are already in it as tables)</a:t>
            </a:r>
          </a:p>
          <a:p>
            <a:pPr>
              <a:spcAft>
                <a:spcPts val="700"/>
              </a:spcAft>
            </a:pPr>
            <a:r>
              <a:rPr sz="1200" b="1" i="0">
                <a:solidFill>
                  <a:srgbClr val="CF3338"/>
                </a:solidFill>
                <a:latin typeface="Arial"/>
              </a:rPr>
              <a:t>▶  </a:t>
            </a:r>
            <a:r>
              <a:rPr sz="1600" b="0" i="0">
                <a:solidFill>
                  <a:srgbClr val="1F2120"/>
                </a:solidFill>
                <a:latin typeface="Arial"/>
              </a:rPr>
              <a:t>You need Microsoft 365 with Python in Excel: check for the Python group on the Formulas tab</a:t>
            </a:r>
          </a:p>
          <a:p>
            <a:pPr>
              <a:spcAft>
                <a:spcPts val="700"/>
              </a:spcAft>
            </a:pPr>
            <a:r>
              <a:rPr sz="1200" b="1" i="0">
                <a:solidFill>
                  <a:srgbClr val="CF3338"/>
                </a:solidFill>
                <a:latin typeface="Arial"/>
              </a:rPr>
              <a:t>▶  </a:t>
            </a:r>
            <a:r>
              <a:rPr sz="1600" b="0" i="0">
                <a:solidFill>
                  <a:srgbClr val="1F2120"/>
                </a:solidFill>
                <a:latin typeface="Arial"/>
              </a:rPr>
              <a:t>Ask questions in the chat any time; I will pause after each part</a:t>
            </a:r>
          </a:p>
          <a:p>
            <a:pPr>
              <a:spcAft>
                <a:spcPts val="700"/>
              </a:spcAft>
            </a:pPr>
            <a:r>
              <a:rPr sz="1200" b="1" i="0">
                <a:solidFill>
                  <a:srgbClr val="CF3338"/>
                </a:solidFill>
                <a:latin typeface="Arial"/>
              </a:rPr>
              <a:t>▶  </a:t>
            </a:r>
            <a:r>
              <a:rPr sz="1600" b="0" i="0">
                <a:solidFill>
                  <a:srgbClr val="1F2120"/>
                </a:solidFill>
                <a:latin typeface="Arial"/>
              </a:rPr>
              <a:t>Three keys, same as always: Ctrl+Alt+Shift+P (new Python cell), Ctrl+Enter (run), Ctrl+Alt+Shift+M (spill)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1</a:t>
            </a:r>
          </a:p>
          <a:p>
            <a:pPr>
              <a:spcBef>
                <a:spcPts val="800"/>
              </a:spcBef>
            </a:pPr>
            <a:r>
              <a:rPr sz="3600" b="1" i="0">
                <a:solidFill>
                  <a:srgbClr val="FFFFFF"/>
                </a:solidFill>
                <a:latin typeface="Arial Black"/>
              </a:rPr>
              <a:t>Is the difference real? One t-test</a:t>
            </a:r>
          </a:p>
          <a:p>
            <a:pPr>
              <a:spcBef>
                <a:spcPts val="1400"/>
              </a:spcBef>
            </a:pPr>
            <a:r>
              <a:rPr sz="1800" b="0" i="0">
                <a:solidFill>
                  <a:srgbClr val="FFFFFF"/>
                </a:solidFill>
                <a:latin typeface="Arial"/>
              </a:rPr>
              <a:t>From 'the bar chart looks different' to a p-value and an effect size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Describe mpg by origin</a:t>
            </a:r>
          </a:p>
          <a:p>
            <a:pPr>
              <a:spcBef>
                <a:spcPts val="300"/>
              </a:spcBef>
            </a:pPr>
            <a:r>
              <a:rPr sz="1450" b="0" i="1">
                <a:solidFill>
                  <a:srgbClr val="707070"/>
                </a:solidFill>
                <a:latin typeface="Arial"/>
              </a:rPr>
              <a:t>Type along:  On the mpg sheet, click K1 (right of the table). Ctrl+Alt+Shift+P. Import SciPy's stats module, load the table, average mpg by origin. Ctrl+Enter, Ctrl+Alt+Shift+M.</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from scipy import stats</a:t>
            </a:r>
          </a:p>
          <a:p>
            <a:pPr algn="l">
              <a:spcAft>
                <a:spcPts val="100"/>
              </a:spcAft>
            </a:pPr>
            <a:r>
              <a:rPr sz="1300" b="0" i="0">
                <a:solidFill>
                  <a:srgbClr val="F5F5F5"/>
                </a:solidFill>
                <a:latin typeface="Consolas"/>
              </a:rPr>
              <a:t>mpg_df = xl("mpg[#All]", headers=True)</a:t>
            </a:r>
          </a:p>
          <a:p>
            <a:pPr algn="l">
              <a:spcAft>
                <a:spcPts val="100"/>
              </a:spcAft>
            </a:pPr>
            <a:r>
              <a:rPr sz="1300" b="0" i="0">
                <a:solidFill>
                  <a:srgbClr val="F5F5F5"/>
                </a:solidFill>
                <a:latin typeface="Consolas"/>
              </a:rPr>
              <a:t>mpg_df.groupby('origin')['mpg'].mean()</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Visible difference, unknown confidence. That gap is what a test fills.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The t-test, with results in the grid</a:t>
            </a:r>
          </a:p>
          <a:p>
            <a:pPr>
              <a:spcBef>
                <a:spcPts val="300"/>
              </a:spcBef>
            </a:pPr>
            <a:r>
              <a:rPr sz="1450" b="0" i="1">
                <a:solidFill>
                  <a:srgbClr val="707070"/>
                </a:solidFill>
                <a:latin typeface="Arial"/>
              </a:rPr>
              <a:t>Type along:  The Excel way: the ToolPak t-Test dialog, with output pasted as static values.</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japan = mpg_df[mpg_df['origin'] == 'japan']['mpg']</a:t>
            </a:r>
          </a:p>
          <a:p>
            <a:pPr algn="l">
              <a:spcAft>
                <a:spcPts val="100"/>
              </a:spcAft>
            </a:pPr>
            <a:r>
              <a:rPr sz="1300" b="0" i="0">
                <a:solidFill>
                  <a:srgbClr val="F5F5F5"/>
                </a:solidFill>
                <a:latin typeface="Consolas"/>
              </a:rPr>
              <a:t>europe = mpg_df[mpg_df['origin'] == 'europe']['mpg']</a:t>
            </a:r>
          </a:p>
          <a:p>
            <a:pPr algn="l">
              <a:spcAft>
                <a:spcPts val="100"/>
              </a:spcAft>
            </a:pPr>
            <a:r>
              <a:rPr sz="1300" b="0" i="0">
                <a:solidFill>
                  <a:srgbClr val="F5F5F5"/>
                </a:solidFill>
                <a:latin typeface="Consolas"/>
              </a:rPr>
              <a:t>t_stat, p_value = stats.ttest_ind(japan, europe)</a:t>
            </a:r>
          </a:p>
          <a:p>
            <a:pPr algn="l">
              <a:spcAft>
                <a:spcPts val="100"/>
              </a:spcAft>
            </a:pPr>
            <a:r>
              <a:rPr sz="1300" b="0" i="0">
                <a:solidFill>
                  <a:srgbClr val="F5F5F5"/>
                </a:solidFill>
                <a:latin typeface="Consolas"/>
              </a:rPr>
              <a:t>pd.DataFrame({'t': [round(t_stat, 3)], 'p-value': [round(p_value, 4)]})</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Wrap results in pd.DataFrame({column: [value]}) and they spill as a 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005840"/>
          </a:xfrm>
          <a:prstGeom prst="rect">
            <a:avLst/>
          </a:prstGeom>
          <a:noFill/>
        </p:spPr>
        <p:txBody>
          <a:bodyPr wrap="square" lIns="0" rIns="0" tIns="0" bIns="0">
            <a:spAutoFit/>
          </a:bodyPr>
          <a:lstStyle/>
          <a:p>
            <a:r>
              <a:rPr sz="3000" b="1" i="0">
                <a:solidFill>
                  <a:srgbClr val="1F2120"/>
                </a:solidFill>
                <a:latin typeface="Arial Black"/>
              </a:rPr>
              <a:t>What a trendline gives you, and what it hides</a:t>
            </a:r>
          </a:p>
        </p:txBody>
      </p:sp>
      <p:sp>
        <p:nvSpPr>
          <p:cNvPr id="3" name="Rounded Rectangle 2"/>
          <p:cNvSpPr/>
          <p:nvPr/>
        </p:nvSpPr>
        <p:spPr>
          <a:xfrm>
            <a:off x="64008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57400"/>
            <a:ext cx="4617720" cy="3931920"/>
          </a:xfrm>
          <a:prstGeom prst="rect">
            <a:avLst/>
          </a:prstGeom>
          <a:noFill/>
        </p:spPr>
        <p:txBody>
          <a:bodyPr wrap="square" lIns="0" rIns="0" tIns="0" bIns="0">
            <a:spAutoFit/>
          </a:bodyPr>
          <a:lstStyle/>
          <a:p>
            <a:r>
              <a:rPr sz="1800" b="1" i="0">
                <a:solidFill>
                  <a:srgbClr val="CF3338"/>
                </a:solidFill>
                <a:latin typeface="Arial Black"/>
              </a:rPr>
              <a:t>Add Trendline, Linear</a:t>
            </a:r>
          </a:p>
          <a:p>
            <a:pPr>
              <a:spcBef>
                <a:spcPts val="700"/>
              </a:spcBef>
            </a:pPr>
            <a:r>
              <a:rPr sz="1100" b="1" i="0">
                <a:solidFill>
                  <a:srgbClr val="CF3338"/>
                </a:solidFill>
                <a:latin typeface="Arial"/>
              </a:rPr>
              <a:t>▶  </a:t>
            </a:r>
            <a:r>
              <a:rPr sz="1400" b="0" i="0">
                <a:solidFill>
                  <a:srgbClr val="1F2120"/>
                </a:solidFill>
                <a:latin typeface="Arial"/>
              </a:rPr>
              <a:t>A line through the scatter</a:t>
            </a:r>
          </a:p>
          <a:p>
            <a:pPr>
              <a:spcBef>
                <a:spcPts val="700"/>
              </a:spcBef>
            </a:pPr>
            <a:r>
              <a:rPr sz="1100" b="1" i="0">
                <a:solidFill>
                  <a:srgbClr val="CF3338"/>
                </a:solidFill>
                <a:latin typeface="Arial"/>
              </a:rPr>
              <a:t>▶  </a:t>
            </a:r>
            <a:r>
              <a:rPr sz="1400" b="0" i="0">
                <a:solidFill>
                  <a:srgbClr val="1F2120"/>
                </a:solidFill>
                <a:latin typeface="Arial"/>
              </a:rPr>
              <a:t>An equation, if you tick the box</a:t>
            </a:r>
          </a:p>
          <a:p>
            <a:pPr>
              <a:spcBef>
                <a:spcPts val="700"/>
              </a:spcBef>
            </a:pPr>
            <a:r>
              <a:rPr sz="1100" b="1" i="0">
                <a:solidFill>
                  <a:srgbClr val="CF3338"/>
                </a:solidFill>
                <a:latin typeface="Arial"/>
              </a:rPr>
              <a:t>▶  </a:t>
            </a:r>
            <a:r>
              <a:rPr sz="1400" b="0" i="0">
                <a:solidFill>
                  <a:srgbClr val="1F2120"/>
                </a:solidFill>
                <a:latin typeface="Arial"/>
              </a:rPr>
              <a:t>An R-squared, if you tick the other box</a:t>
            </a:r>
          </a:p>
          <a:p>
            <a:pPr>
              <a:spcBef>
                <a:spcPts val="700"/>
              </a:spcBef>
            </a:pPr>
            <a:r>
              <a:rPr sz="1100" b="1" i="0">
                <a:solidFill>
                  <a:srgbClr val="CF3338"/>
                </a:solidFill>
                <a:latin typeface="Arial"/>
              </a:rPr>
              <a:t>▶  </a:t>
            </a:r>
            <a:r>
              <a:rPr sz="1400" b="0" i="0">
                <a:solidFill>
                  <a:srgbClr val="1F2120"/>
                </a:solidFill>
                <a:latin typeface="Arial"/>
              </a:rPr>
              <a:t>Nothing about the uncertainty on the slope</a:t>
            </a:r>
          </a:p>
          <a:p>
            <a:pPr>
              <a:spcBef>
                <a:spcPts val="700"/>
              </a:spcBef>
            </a:pPr>
            <a:r>
              <a:rPr sz="1100" b="1" i="0">
                <a:solidFill>
                  <a:srgbClr val="CF3338"/>
                </a:solidFill>
                <a:latin typeface="Arial"/>
              </a:rPr>
              <a:t>▶  </a:t>
            </a:r>
            <a:r>
              <a:rPr sz="1400" b="0" i="0">
                <a:solidFill>
                  <a:srgbClr val="1F2120"/>
                </a:solidFill>
                <a:latin typeface="Arial"/>
              </a:rPr>
              <a:t>Nothing about how it does on new data</a:t>
            </a:r>
          </a:p>
        </p:txBody>
      </p:sp>
      <p:sp>
        <p:nvSpPr>
          <p:cNvPr id="5" name="Rounded Rectangle 4"/>
          <p:cNvSpPr/>
          <p:nvPr/>
        </p:nvSpPr>
        <p:spPr>
          <a:xfrm>
            <a:off x="640080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2057400"/>
            <a:ext cx="4617720" cy="3931920"/>
          </a:xfrm>
          <a:prstGeom prst="rect">
            <a:avLst/>
          </a:prstGeom>
          <a:noFill/>
        </p:spPr>
        <p:txBody>
          <a:bodyPr wrap="square" lIns="0" rIns="0" tIns="0" bIns="0">
            <a:spAutoFit/>
          </a:bodyPr>
          <a:lstStyle/>
          <a:p>
            <a:r>
              <a:rPr sz="1800" b="1" i="0">
                <a:solidFill>
                  <a:srgbClr val="CF3338"/>
                </a:solidFill>
                <a:latin typeface="Arial Black"/>
              </a:rPr>
              <a:t>sm.OLS(y, X).fit()</a:t>
            </a:r>
          </a:p>
          <a:p>
            <a:pPr>
              <a:spcBef>
                <a:spcPts val="700"/>
              </a:spcBef>
            </a:pPr>
            <a:r>
              <a:rPr sz="1100" b="1" i="0">
                <a:solidFill>
                  <a:srgbClr val="CF3338"/>
                </a:solidFill>
                <a:latin typeface="Arial"/>
              </a:rPr>
              <a:t>▶  </a:t>
            </a:r>
            <a:r>
              <a:rPr sz="1400" b="0" i="0">
                <a:solidFill>
                  <a:srgbClr val="1F2120"/>
                </a:solidFill>
                <a:latin typeface="Arial"/>
              </a:rPr>
              <a:t>The same line, fitted the same way</a:t>
            </a:r>
          </a:p>
          <a:p>
            <a:pPr>
              <a:spcBef>
                <a:spcPts val="700"/>
              </a:spcBef>
            </a:pPr>
            <a:r>
              <a:rPr sz="1100" b="1" i="0">
                <a:solidFill>
                  <a:srgbClr val="CF3338"/>
                </a:solidFill>
                <a:latin typeface="Arial"/>
              </a:rPr>
              <a:t>▶  </a:t>
            </a:r>
            <a:r>
              <a:rPr sz="1400" b="0" i="0">
                <a:solidFill>
                  <a:srgbClr val="1F2120"/>
                </a:solidFill>
                <a:latin typeface="Arial"/>
              </a:rPr>
              <a:t>A coefficient table: slope, standard error, t, p, confidence interval</a:t>
            </a:r>
          </a:p>
          <a:p>
            <a:pPr>
              <a:spcBef>
                <a:spcPts val="700"/>
              </a:spcBef>
            </a:pPr>
            <a:r>
              <a:rPr sz="1100" b="1" i="0">
                <a:solidFill>
                  <a:srgbClr val="CF3338"/>
                </a:solidFill>
                <a:latin typeface="Arial"/>
              </a:rPr>
              <a:t>▶  </a:t>
            </a:r>
            <a:r>
              <a:rPr sz="1400" b="0" i="0">
                <a:solidFill>
                  <a:srgbClr val="1F2120"/>
                </a:solidFill>
                <a:latin typeface="Arial"/>
              </a:rPr>
              <a:t>R-squared, plus more predictors when you want them</a:t>
            </a:r>
          </a:p>
          <a:p>
            <a:pPr>
              <a:spcBef>
                <a:spcPts val="700"/>
              </a:spcBef>
            </a:pPr>
            <a:r>
              <a:rPr sz="1100" b="1" i="0">
                <a:solidFill>
                  <a:srgbClr val="CF3338"/>
                </a:solidFill>
                <a:latin typeface="Arial"/>
              </a:rPr>
              <a:t>▶  </a:t>
            </a:r>
            <a:r>
              <a:rPr sz="1400" b="0" i="0">
                <a:solidFill>
                  <a:srgbClr val="1F2120"/>
                </a:solidFill>
                <a:latin typeface="Arial"/>
              </a:rPr>
              <a:t>A predict() you can call for a new row</a:t>
            </a:r>
          </a:p>
          <a:p>
            <a:pPr>
              <a:spcBef>
                <a:spcPts val="700"/>
              </a:spcBef>
            </a:pPr>
            <a:r>
              <a:rPr sz="1100" b="1" i="0">
                <a:solidFill>
                  <a:srgbClr val="CF3338"/>
                </a:solidFill>
                <a:latin typeface="Arial"/>
              </a:rPr>
              <a:t>▶  </a:t>
            </a:r>
            <a:r>
              <a:rPr sz="1400" b="0" i="0">
                <a:solidFill>
                  <a:srgbClr val="1F2120"/>
                </a:solidFill>
                <a:latin typeface="Arial"/>
              </a:rPr>
              <a:t>A train/test score that tells you the typical miss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2</a:t>
            </a:r>
          </a:p>
          <a:p>
            <a:pPr>
              <a:spcBef>
                <a:spcPts val="800"/>
              </a:spcBef>
            </a:pPr>
            <a:r>
              <a:rPr sz="3600" b="1" i="0">
                <a:solidFill>
                  <a:srgbClr val="FFFFFF"/>
                </a:solidFill>
                <a:latin typeface="Arial Black"/>
              </a:rPr>
              <a:t>From trendline to a model you can read</a:t>
            </a:r>
          </a:p>
          <a:p>
            <a:pPr>
              <a:spcBef>
                <a:spcPts val="1400"/>
              </a:spcBef>
            </a:pPr>
            <a:r>
              <a:rPr sz="1800" b="0" i="0">
                <a:solidFill>
                  <a:srgbClr val="FFFFFF"/>
                </a:solidFill>
                <a:latin typeface="Arial"/>
              </a:rPr>
              <a:t>Look, fit, 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Load the penguins and drop incomplete rows</a:t>
            </a:r>
          </a:p>
          <a:p>
            <a:pPr>
              <a:spcBef>
                <a:spcPts val="300"/>
              </a:spcBef>
            </a:pPr>
            <a:r>
              <a:rPr sz="1450" b="0" i="1">
                <a:solidFill>
                  <a:srgbClr val="707070"/>
                </a:solidFill>
                <a:latin typeface="Arial"/>
              </a:rPr>
              <a:t>Type along:  Click the penguins sheet, then I1. Ctrl+Alt+Shift+P. Import statsmodels as sm, load the table and drop rows with any missing value in one line, peek. Ctrl+Enter, Ctrl+Alt+Shift+M.</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import statsmodels.api as sm</a:t>
            </a:r>
          </a:p>
          <a:p>
            <a:pPr algn="l">
              <a:spcAft>
                <a:spcPts val="100"/>
              </a:spcAft>
            </a:pPr>
            <a:r>
              <a:rPr sz="1300" b="0" i="0">
                <a:solidFill>
                  <a:srgbClr val="F5F5F5"/>
                </a:solidFill>
                <a:latin typeface="Consolas"/>
              </a:rPr>
              <a:t>penguins_df = xl("penguins[#All]", headers=True).dropna()</a:t>
            </a:r>
          </a:p>
          <a:p>
            <a:pPr algn="l">
              <a:spcAft>
                <a:spcPts val="100"/>
              </a:spcAft>
            </a:pPr>
            <a:r>
              <a:rPr sz="1300" b="0" i="0">
                <a:solidFill>
                  <a:srgbClr val="F5F5F5"/>
                </a:solidFill>
                <a:latin typeface="Consolas"/>
              </a:rPr>
              <a:t>penguins_df.head()</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Regression needs complete rows; dropna() is the simplest honest choice 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Look first: regplot</a:t>
            </a:r>
          </a:p>
          <a:p>
            <a:pPr>
              <a:spcBef>
                <a:spcPts val="300"/>
              </a:spcBef>
            </a:pPr>
            <a:r>
              <a:rPr sz="1450" b="0" i="1">
                <a:solidFill>
                  <a:srgbClr val="707070"/>
                </a:solidFill>
                <a:latin typeface="Arial"/>
              </a:rPr>
              <a:t>Type along:  The Excel way: scatter chart, right-click, Add Trendline.</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sns.regplot(x="body_mass_g", y="flipper_length_mm", data=penguins_df)</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The chart says there is a relationship. It does not say how strong or how sure.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Fit the line and read the coefficient table</a:t>
            </a:r>
          </a:p>
          <a:p>
            <a:pPr>
              <a:spcBef>
                <a:spcPts val="300"/>
              </a:spcBef>
            </a:pPr>
            <a:r>
              <a:rPr sz="1450" b="0" i="1">
                <a:solidFill>
                  <a:srgbClr val="707070"/>
                </a:solidFill>
                <a:latin typeface="Arial"/>
              </a:rPr>
              <a:t>Type along:  The Excel way: the ToolPak Regression output block, or LINEST.</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X = sm.add_constant(penguins_df[["body_mass_g"]])</a:t>
            </a:r>
          </a:p>
          <a:p>
            <a:pPr algn="l">
              <a:spcAft>
                <a:spcPts val="100"/>
              </a:spcAft>
            </a:pPr>
            <a:r>
              <a:rPr sz="1300" b="0" i="0">
                <a:solidFill>
                  <a:srgbClr val="F5F5F5"/>
                </a:solidFill>
                <a:latin typeface="Consolas"/>
              </a:rPr>
              <a:t>y = penguins_df["flipper_length_mm"]</a:t>
            </a:r>
          </a:p>
          <a:p>
            <a:pPr algn="l">
              <a:spcAft>
                <a:spcPts val="100"/>
              </a:spcAft>
            </a:pPr>
            <a:r>
              <a:rPr sz="1300" b="0" i="0">
                <a:solidFill>
                  <a:srgbClr val="F5F5F5"/>
                </a:solidFill>
                <a:latin typeface="Consolas"/>
              </a:rPr>
              <a:t>model = sm.OLS(y, X).fit()</a:t>
            </a:r>
          </a:p>
          <a:p>
            <a:pPr algn="l">
              <a:spcAft>
                <a:spcPts val="100"/>
              </a:spcAft>
            </a:pPr>
            <a:r>
              <a:rPr sz="1300" b="0" i="0">
                <a:solidFill>
                  <a:srgbClr val="F5F5F5"/>
                </a:solidFill>
                <a:latin typeface="Consolas"/>
              </a:rPr>
              <a:t>model.summary2().tables[1]</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Slope, standard error, t, p and a confidence interval, as a table you can reuse.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PART 3</a:t>
            </a:r>
          </a:p>
          <a:p>
            <a:pPr>
              <a:spcBef>
                <a:spcPts val="800"/>
              </a:spcBef>
            </a:pPr>
            <a:r>
              <a:rPr sz="3600" b="1" i="0">
                <a:solidFill>
                  <a:srgbClr val="FFFFFF"/>
                </a:solidFill>
                <a:latin typeface="Arial Black"/>
              </a:rPr>
              <a:t>A forecast you can see inside</a:t>
            </a:r>
          </a:p>
          <a:p>
            <a:pPr>
              <a:spcBef>
                <a:spcPts val="1400"/>
              </a:spcBef>
            </a:pPr>
            <a:r>
              <a:rPr sz="1800" b="0" i="0">
                <a:solidFill>
                  <a:srgbClr val="FFFFFF"/>
                </a:solidFill>
                <a:latin typeface="Arial"/>
              </a:rPr>
              <a:t>Index, decompose, forecast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Make the date the index</a:t>
            </a:r>
          </a:p>
          <a:p>
            <a:pPr>
              <a:spcBef>
                <a:spcPts val="300"/>
              </a:spcBef>
            </a:pPr>
            <a:r>
              <a:rPr sz="1450" b="0" i="1">
                <a:solidFill>
                  <a:srgbClr val="707070"/>
                </a:solidFill>
                <a:latin typeface="Arial"/>
              </a:rPr>
              <a:t>Type along:  Click the AirPassengers sheet, then D1. Ctrl+Alt+Shift+P. Load the table, force real timestamps, and make the date the index. Ctrl+Enter, Ctrl+Alt+Shift+M.</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passengers_df = xl("passengers[#All]", headers=True)</a:t>
            </a:r>
          </a:p>
          <a:p>
            <a:pPr algn="l">
              <a:spcAft>
                <a:spcPts val="100"/>
              </a:spcAft>
            </a:pPr>
            <a:r>
              <a:rPr sz="1300" b="0" i="0">
                <a:solidFill>
                  <a:srgbClr val="F5F5F5"/>
                </a:solidFill>
                <a:latin typeface="Consolas"/>
              </a:rPr>
              <a:t>passengers_df['date'] = pd.to_datetime(passengers_df['date'])</a:t>
            </a:r>
          </a:p>
          <a:p>
            <a:pPr algn="l">
              <a:spcAft>
                <a:spcPts val="100"/>
              </a:spcAft>
            </a:pPr>
            <a:r>
              <a:rPr sz="1300" b="0" i="0">
                <a:solidFill>
                  <a:srgbClr val="F5F5F5"/>
                </a:solidFill>
                <a:latin typeface="Consolas"/>
              </a:rPr>
              <a:t>passengers_df = passengers_df.set_index('date')</a:t>
            </a:r>
          </a:p>
          <a:p>
            <a:pPr algn="l">
              <a:spcAft>
                <a:spcPts val="100"/>
              </a:spcAft>
            </a:pPr>
            <a:r>
              <a:rPr sz="1300" b="0" i="0">
                <a:solidFill>
                  <a:srgbClr val="F5F5F5"/>
                </a:solidFill>
                <a:latin typeface="Consolas"/>
              </a:rPr>
              <a:t>passengers_df.head()</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Load, to_datetime, set_index: three moves for every time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Decompose: trend, season, residual</a:t>
            </a:r>
          </a:p>
          <a:p>
            <a:pPr>
              <a:spcBef>
                <a:spcPts val="300"/>
              </a:spcBef>
            </a:pPr>
            <a:r>
              <a:rPr sz="1450" b="0" i="1">
                <a:solidFill>
                  <a:srgbClr val="707070"/>
                </a:solidFill>
                <a:latin typeface="Arial"/>
              </a:rPr>
              <a:t>Type along:  The Excel way: there isn't one. Excel has no built-in decomposition.</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from statsmodels.tsa.seasonal import seasonal_decompose</a:t>
            </a:r>
          </a:p>
          <a:p>
            <a:pPr algn="l">
              <a:spcAft>
                <a:spcPts val="100"/>
              </a:spcAft>
            </a:pPr>
            <a:r>
              <a:rPr sz="1300" b="0" i="0">
                <a:solidFill>
                  <a:srgbClr val="F5F5F5"/>
                </a:solidFill>
                <a:latin typeface="Consolas"/>
              </a:rPr>
              <a:t>decomposition = seasonal_decompose(passengers_df['passengers'], period=12)</a:t>
            </a:r>
          </a:p>
          <a:p>
            <a:pPr algn="l">
              <a:spcAft>
                <a:spcPts val="100"/>
              </a:spcAft>
            </a:pPr>
            <a:r>
              <a:rPr sz="1300" b="0" i="0">
                <a:solidFill>
                  <a:srgbClr val="F5F5F5"/>
                </a:solidFill>
                <a:latin typeface="Consolas"/>
              </a:rPr>
              <a:t>decomposition.plot()</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Trend plus season plus residual. Now you know what a forecast has to handle.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Rectangle 1"/>
          <p:cNvSpPr/>
          <p:nvPr/>
        </p:nvSpPr>
        <p:spPr>
          <a:xfrm>
            <a:off x="9082735" y="0"/>
            <a:ext cx="3108960" cy="6858000"/>
          </a:xfrm>
          <a:prstGeom prst="rect">
            <a:avLst/>
          </a:prstGeom>
          <a:solidFill>
            <a:srgbClr val="CF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11335" y="640080"/>
            <a:ext cx="2468880" cy="1828800"/>
          </a:xfrm>
          <a:prstGeom prst="rect">
            <a:avLst/>
          </a:prstGeom>
          <a:noFill/>
        </p:spPr>
        <p:txBody>
          <a:bodyPr wrap="square" lIns="0" rIns="0" tIns="0" bIns="0">
            <a:spAutoFit/>
          </a:bodyPr>
          <a:lstStyle/>
          <a:p>
            <a:r>
              <a:rPr sz="2600" b="1" i="0">
                <a:solidFill>
                  <a:srgbClr val="FFFFFF"/>
                </a:solidFill>
                <a:latin typeface="Arial Black"/>
              </a:rPr>
              <a:t>LIVE</a:t>
            </a:r>
          </a:p>
          <a:p>
            <a:r>
              <a:rPr sz="2600" b="1" i="0">
                <a:solidFill>
                  <a:srgbClr val="FFFFFF"/>
                </a:solidFill>
                <a:latin typeface="Arial Black"/>
              </a:rPr>
              <a:t>DEMO</a:t>
            </a:r>
          </a:p>
        </p:txBody>
      </p:sp>
      <p:sp>
        <p:nvSpPr>
          <p:cNvPr id="4" name="TextBox 3"/>
          <p:cNvSpPr txBox="1"/>
          <p:nvPr/>
        </p:nvSpPr>
        <p:spPr>
          <a:xfrm>
            <a:off x="548640" y="411480"/>
            <a:ext cx="8229600" cy="1097280"/>
          </a:xfrm>
          <a:prstGeom prst="rect">
            <a:avLst/>
          </a:prstGeom>
          <a:noFill/>
        </p:spPr>
        <p:txBody>
          <a:bodyPr wrap="square" lIns="0" rIns="0" tIns="0" bIns="0">
            <a:spAutoFit/>
          </a:bodyPr>
          <a:lstStyle/>
          <a:p>
            <a:r>
              <a:rPr sz="2500" b="1" i="0">
                <a:solidFill>
                  <a:srgbClr val="CF3338"/>
                </a:solidFill>
                <a:latin typeface="Arial Black"/>
              </a:rPr>
              <a:t>Holt-Winters: fit and forecast 24 months</a:t>
            </a:r>
          </a:p>
          <a:p>
            <a:pPr>
              <a:spcBef>
                <a:spcPts val="300"/>
              </a:spcBef>
            </a:pPr>
            <a:r>
              <a:rPr sz="1450" b="0" i="1">
                <a:solidFill>
                  <a:srgbClr val="707070"/>
                </a:solidFill>
                <a:latin typeface="Arial"/>
              </a:rPr>
              <a:t>Type along:  The Excel way: Forecast Sheet, the same family, but nothing under the hood.</a:t>
            </a:r>
          </a:p>
        </p:txBody>
      </p:sp>
      <p:sp>
        <p:nvSpPr>
          <p:cNvPr id="5" name="Rounded Rectangle 4"/>
          <p:cNvSpPr/>
          <p:nvPr/>
        </p:nvSpPr>
        <p:spPr>
          <a:xfrm>
            <a:off x="548640" y="1600200"/>
            <a:ext cx="8229600" cy="4023360"/>
          </a:xfrm>
          <a:prstGeom prst="round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82880" bIns="109728"/>
          <a:lstStyle/>
          <a:p>
            <a:pPr algn="l">
              <a:spcAft>
                <a:spcPts val="100"/>
              </a:spcAft>
            </a:pPr>
            <a:r>
              <a:rPr sz="1300" b="0" i="0">
                <a:solidFill>
                  <a:srgbClr val="F5F5F5"/>
                </a:solidFill>
                <a:latin typeface="Consolas"/>
              </a:rPr>
              <a:t>from statsmodels.tsa.holtwinters import ExponentialSmoothing</a:t>
            </a:r>
          </a:p>
          <a:p>
            <a:pPr algn="l">
              <a:spcAft>
                <a:spcPts val="100"/>
              </a:spcAft>
            </a:pPr>
            <a:r>
              <a:rPr sz="1300" b="0" i="0">
                <a:solidFill>
                  <a:srgbClr val="F5F5F5"/>
                </a:solidFill>
                <a:latin typeface="Consolas"/>
              </a:rPr>
              <a:t>hw_fit = ExponentialSmoothing(passengers_df['passengers'],</a:t>
            </a:r>
          </a:p>
          <a:p>
            <a:pPr algn="l">
              <a:spcAft>
                <a:spcPts val="100"/>
              </a:spcAft>
            </a:pPr>
            <a:r>
              <a:rPr sz="1300" b="0" i="0">
                <a:solidFill>
                  <a:srgbClr val="F5F5F5"/>
                </a:solidFill>
                <a:latin typeface="Consolas"/>
              </a:rPr>
              <a:t>        trend='add', seasonal='add', seasonal_periods=12).fit()</a:t>
            </a:r>
          </a:p>
          <a:p>
            <a:pPr algn="l">
              <a:spcAft>
                <a:spcPts val="100"/>
              </a:spcAft>
            </a:pPr>
            <a:r>
              <a:rPr sz="1300" b="0" i="0">
                <a:solidFill>
                  <a:srgbClr val="F5F5F5"/>
                </a:solidFill>
                <a:latin typeface="Consolas"/>
              </a:rPr>
              <a:t>forecast = hw_fit.forecast(24)</a:t>
            </a:r>
          </a:p>
          <a:p>
            <a:pPr algn="l">
              <a:spcAft>
                <a:spcPts val="100"/>
              </a:spcAft>
            </a:pPr>
            <a:r>
              <a:rPr sz="1300" b="0" i="0">
                <a:solidFill>
                  <a:srgbClr val="F5F5F5"/>
                </a:solidFill>
                <a:latin typeface="Consolas"/>
              </a:rPr>
              <a:t>sns.lineplot(x=passengers_df.index, y=passengers_df['passengers'])</a:t>
            </a:r>
          </a:p>
          <a:p>
            <a:pPr algn="l">
              <a:spcAft>
                <a:spcPts val="100"/>
              </a:spcAft>
            </a:pPr>
            <a:r>
              <a:rPr sz="1300" b="0" i="0">
                <a:solidFill>
                  <a:srgbClr val="F5F5F5"/>
                </a:solidFill>
                <a:latin typeface="Consolas"/>
              </a:rPr>
              <a:t>sns.lineplot(x=forecast.index, y=forecast.values, color='red')</a:t>
            </a:r>
          </a:p>
        </p:txBody>
      </p:sp>
      <p:sp>
        <p:nvSpPr>
          <p:cNvPr id="6" name="TextBox 5"/>
          <p:cNvSpPr txBox="1"/>
          <p:nvPr/>
        </p:nvSpPr>
        <p:spPr>
          <a:xfrm>
            <a:off x="548640" y="5806440"/>
            <a:ext cx="8229600" cy="777240"/>
          </a:xfrm>
          <a:prstGeom prst="rect">
            <a:avLst/>
          </a:prstGeom>
          <a:noFill/>
        </p:spPr>
        <p:txBody>
          <a:bodyPr wrap="square" lIns="0" rIns="0" tIns="0" bIns="0">
            <a:spAutoFit/>
          </a:bodyPr>
          <a:lstStyle/>
          <a:p>
            <a:r>
              <a:rPr sz="1300" b="1" i="0">
                <a:solidFill>
                  <a:srgbClr val="CF3338"/>
                </a:solidFill>
                <a:latin typeface="Arial"/>
              </a:rPr>
              <a:t>▶  The red line does not go straight: it keeps the trend and the yearly wave.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188720"/>
          </a:xfrm>
          <a:prstGeom prst="rect">
            <a:avLst/>
          </a:prstGeom>
          <a:noFill/>
        </p:spPr>
        <p:txBody>
          <a:bodyPr wrap="square" lIns="0" rIns="0" tIns="0" bIns="0">
            <a:spAutoFit/>
          </a:bodyPr>
          <a:lstStyle/>
          <a:p>
            <a:r>
              <a:rPr sz="3000" b="1" i="0">
                <a:solidFill>
                  <a:srgbClr val="1F2120"/>
                </a:solidFill>
                <a:latin typeface="Arial Black"/>
              </a:rPr>
              <a:t>What it can't do (and what we skipped)</a:t>
            </a:r>
          </a:p>
          <a:p>
            <a:pPr>
              <a:spcBef>
                <a:spcPts val="400"/>
              </a:spcBef>
            </a:pPr>
            <a:r>
              <a:rPr sz="1500" b="0" i="1">
                <a:solidFill>
                  <a:srgbClr val="CF3338"/>
                </a:solidFill>
                <a:latin typeface="Arial"/>
              </a:rPr>
              <a:t>Honest limits, so nothing surprises you on Monday</a:t>
            </a:r>
          </a:p>
        </p:txBody>
      </p:sp>
      <p:sp>
        <p:nvSpPr>
          <p:cNvPr id="3" name="TextBox 2"/>
          <p:cNvSpPr txBox="1"/>
          <p:nvPr/>
        </p:nvSpPr>
        <p:spPr>
          <a:xfrm>
            <a:off x="640080" y="1783080"/>
            <a:ext cx="10881360" cy="4846320"/>
          </a:xfrm>
          <a:prstGeom prst="rect">
            <a:avLst/>
          </a:prstGeom>
          <a:noFill/>
        </p:spPr>
        <p:txBody>
          <a:bodyPr wrap="square" lIns="0" rIns="0" tIns="0" bIns="0">
            <a:spAutoFit/>
          </a:bodyPr>
          <a:lstStyle/>
          <a:p>
            <a:pPr>
              <a:spcAft>
                <a:spcPts val="700"/>
              </a:spcAft>
            </a:pPr>
            <a:r>
              <a:rPr sz="1200" b="1" i="0">
                <a:solidFill>
                  <a:srgbClr val="CF3338"/>
                </a:solidFill>
                <a:latin typeface="Arial"/>
              </a:rPr>
              <a:t>▶  </a:t>
            </a:r>
            <a:r>
              <a:rPr sz="1600" b="0" i="0">
                <a:solidFill>
                  <a:srgbClr val="1F2120"/>
                </a:solidFill>
                <a:latin typeface="Arial"/>
              </a:rPr>
              <a:t>A statistical test does not fix bad data: wrong groups, biased samples or typos give you a confident p-value on the wrong question</a:t>
            </a:r>
          </a:p>
          <a:p>
            <a:pPr>
              <a:spcAft>
                <a:spcPts val="700"/>
              </a:spcAft>
            </a:pPr>
            <a:r>
              <a:rPr sz="1200" b="1" i="0">
                <a:solidFill>
                  <a:srgbClr val="CF3338"/>
                </a:solidFill>
                <a:latin typeface="Arial"/>
              </a:rPr>
              <a:t>▶  </a:t>
            </a:r>
            <a:r>
              <a:rPr sz="1600" b="0" i="0">
                <a:solidFill>
                  <a:srgbClr val="1F2120"/>
                </a:solidFill>
                <a:latin typeface="Arial"/>
              </a:rPr>
              <a:t>Regression has assumptions: linearity, no wild outliers, predictors not too correlated. Check them before a real decision, not after</a:t>
            </a:r>
          </a:p>
          <a:p>
            <a:pPr>
              <a:spcAft>
                <a:spcPts val="700"/>
              </a:spcAft>
            </a:pPr>
            <a:r>
              <a:rPr sz="1200" b="1" i="0">
                <a:solidFill>
                  <a:srgbClr val="CF3338"/>
                </a:solidFill>
                <a:latin typeface="Arial"/>
              </a:rPr>
              <a:t>▶  </a:t>
            </a:r>
            <a:r>
              <a:rPr sz="1600" b="0" i="0">
                <a:solidFill>
                  <a:srgbClr val="1F2120"/>
                </a:solidFill>
                <a:latin typeface="Arial"/>
              </a:rPr>
              <a:t>A forecast is only as good as its holdout check: no time-ordered train/test split and a baseline, no forecast you should trust</a:t>
            </a:r>
          </a:p>
          <a:p>
            <a:pPr>
              <a:spcAft>
                <a:spcPts val="700"/>
              </a:spcAft>
            </a:pPr>
            <a:r>
              <a:rPr sz="1200" b="1" i="0">
                <a:solidFill>
                  <a:srgbClr val="CF3338"/>
                </a:solidFill>
                <a:latin typeface="Arial"/>
              </a:rPr>
              <a:t>▶  </a:t>
            </a:r>
            <a:r>
              <a:rPr sz="1600" b="0" i="0">
                <a:solidFill>
                  <a:srgbClr val="1F2120"/>
                </a:solidFill>
                <a:latin typeface="Arial"/>
              </a:rPr>
              <a:t>The airline series is a little multiplicative: the swings widen as it grows. We stayed additive for readability; switch when your December spike keeps doubling</a:t>
            </a:r>
          </a:p>
          <a:p>
            <a:pPr>
              <a:spcAft>
                <a:spcPts val="700"/>
              </a:spcAft>
            </a:pPr>
            <a:r>
              <a:rPr sz="1200" b="1" i="0">
                <a:solidFill>
                  <a:srgbClr val="CF3338"/>
                </a:solidFill>
                <a:latin typeface="Arial"/>
              </a:rPr>
              <a:t>▶  </a:t>
            </a:r>
            <a:r>
              <a:rPr sz="1600" b="0" i="0">
                <a:solidFill>
                  <a:srgbClr val="1F2120"/>
                </a:solidFill>
                <a:latin typeface="Arial"/>
              </a:rPr>
              <a:t>No ARIMA today, and no bootstrap, ANOVA, chi-square or logistic regression: they are all in the book, Chapters 5 to 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640080"/>
            <a:ext cx="10881360" cy="914400"/>
          </a:xfrm>
          <a:prstGeom prst="rect">
            <a:avLst/>
          </a:prstGeom>
          <a:noFill/>
        </p:spPr>
        <p:txBody>
          <a:bodyPr wrap="square" lIns="0" rIns="0" tIns="0" bIns="0">
            <a:spAutoFit/>
          </a:bodyPr>
          <a:lstStyle/>
          <a:p>
            <a:r>
              <a:rPr sz="2900" b="1" i="0">
                <a:solidFill>
                  <a:srgbClr val="1F2120"/>
                </a:solidFill>
                <a:latin typeface="Arial Black"/>
              </a:rPr>
              <a:t>What you just saw</a:t>
            </a:r>
          </a:p>
        </p:txBody>
      </p:sp>
      <p:sp>
        <p:nvSpPr>
          <p:cNvPr id="3" name="TextBox 2"/>
          <p:cNvSpPr txBox="1"/>
          <p:nvPr/>
        </p:nvSpPr>
        <p:spPr>
          <a:xfrm>
            <a:off x="640080" y="2468880"/>
            <a:ext cx="2446020" cy="2560320"/>
          </a:xfrm>
          <a:prstGeom prst="rect">
            <a:avLst/>
          </a:prstGeom>
          <a:noFill/>
        </p:spPr>
        <p:txBody>
          <a:bodyPr wrap="square" lIns="0" rIns="0" tIns="0" bIns="0">
            <a:spAutoFit/>
          </a:bodyPr>
          <a:lstStyle/>
          <a:p>
            <a:r>
              <a:rPr sz="5800" b="1" i="0">
                <a:solidFill>
                  <a:srgbClr val="CF3338"/>
                </a:solidFill>
                <a:latin typeface="Arial Black"/>
              </a:rPr>
              <a:t>8</a:t>
            </a:r>
          </a:p>
          <a:p>
            <a:pPr>
              <a:spcBef>
                <a:spcPts val="600"/>
              </a:spcBef>
            </a:pPr>
            <a:r>
              <a:rPr sz="1500" b="0" i="0">
                <a:solidFill>
                  <a:srgbClr val="707070"/>
                </a:solidFill>
                <a:latin typeface="Arial"/>
              </a:rPr>
              <a:t>cells, all typed by you</a:t>
            </a:r>
          </a:p>
        </p:txBody>
      </p:sp>
      <p:sp>
        <p:nvSpPr>
          <p:cNvPr id="4" name="TextBox 3"/>
          <p:cNvSpPr txBox="1"/>
          <p:nvPr/>
        </p:nvSpPr>
        <p:spPr>
          <a:xfrm>
            <a:off x="3360420" y="2468880"/>
            <a:ext cx="2446020" cy="2560320"/>
          </a:xfrm>
          <a:prstGeom prst="rect">
            <a:avLst/>
          </a:prstGeom>
          <a:noFill/>
        </p:spPr>
        <p:txBody>
          <a:bodyPr wrap="square" lIns="0" rIns="0" tIns="0" bIns="0">
            <a:spAutoFit/>
          </a:bodyPr>
          <a:lstStyle/>
          <a:p>
            <a:r>
              <a:rPr sz="5800" b="1" i="0">
                <a:solidFill>
                  <a:srgbClr val="CF3338"/>
                </a:solidFill>
                <a:latin typeface="Arial Black"/>
              </a:rPr>
              <a:t>1</a:t>
            </a:r>
          </a:p>
          <a:p>
            <a:pPr>
              <a:spcBef>
                <a:spcPts val="600"/>
              </a:spcBef>
            </a:pPr>
            <a:r>
              <a:rPr sz="1500" b="0" i="0">
                <a:solidFill>
                  <a:srgbClr val="707070"/>
                </a:solidFill>
                <a:latin typeface="Arial"/>
              </a:rPr>
              <a:t>p-value you can explain</a:t>
            </a:r>
          </a:p>
        </p:txBody>
      </p:sp>
      <p:sp>
        <p:nvSpPr>
          <p:cNvPr id="5" name="TextBox 4"/>
          <p:cNvSpPr txBox="1"/>
          <p:nvPr/>
        </p:nvSpPr>
        <p:spPr>
          <a:xfrm>
            <a:off x="6080760" y="2468880"/>
            <a:ext cx="2446020" cy="2560320"/>
          </a:xfrm>
          <a:prstGeom prst="rect">
            <a:avLst/>
          </a:prstGeom>
          <a:noFill/>
        </p:spPr>
        <p:txBody>
          <a:bodyPr wrap="square" lIns="0" rIns="0" tIns="0" bIns="0">
            <a:spAutoFit/>
          </a:bodyPr>
          <a:lstStyle/>
          <a:p>
            <a:r>
              <a:rPr sz="3800" b="1" i="0">
                <a:solidFill>
                  <a:srgbClr val="CF3338"/>
                </a:solidFill>
                <a:latin typeface="Arial Black"/>
              </a:rPr>
              <a:t>0.0153</a:t>
            </a:r>
          </a:p>
          <a:p>
            <a:pPr>
              <a:spcBef>
                <a:spcPts val="600"/>
              </a:spcBef>
            </a:pPr>
            <a:r>
              <a:rPr sz="1500" b="0" i="0">
                <a:solidFill>
                  <a:srgbClr val="707070"/>
                </a:solidFill>
                <a:latin typeface="Arial"/>
              </a:rPr>
              <a:t>mm of flipper per gram</a:t>
            </a:r>
          </a:p>
        </p:txBody>
      </p:sp>
      <p:sp>
        <p:nvSpPr>
          <p:cNvPr id="6" name="TextBox 5"/>
          <p:cNvSpPr txBox="1"/>
          <p:nvPr/>
        </p:nvSpPr>
        <p:spPr>
          <a:xfrm>
            <a:off x="8801100" y="2468880"/>
            <a:ext cx="2446020" cy="2560320"/>
          </a:xfrm>
          <a:prstGeom prst="rect">
            <a:avLst/>
          </a:prstGeom>
          <a:noFill/>
        </p:spPr>
        <p:txBody>
          <a:bodyPr wrap="square" lIns="0" rIns="0" tIns="0" bIns="0">
            <a:spAutoFit/>
          </a:bodyPr>
          <a:lstStyle/>
          <a:p>
            <a:r>
              <a:rPr sz="5800" b="1" i="0">
                <a:solidFill>
                  <a:srgbClr val="CF3338"/>
                </a:solidFill>
                <a:latin typeface="Arial Black"/>
              </a:rPr>
              <a:t>24</a:t>
            </a:r>
          </a:p>
          <a:p>
            <a:pPr>
              <a:spcBef>
                <a:spcPts val="600"/>
              </a:spcBef>
            </a:pPr>
            <a:r>
              <a:rPr sz="1500" b="0" i="0">
                <a:solidFill>
                  <a:srgbClr val="707070"/>
                </a:solidFill>
                <a:latin typeface="Arial"/>
              </a:rPr>
              <a:t>months forecast</a:t>
            </a:r>
          </a:p>
        </p:txBody>
      </p:sp>
      <p:sp>
        <p:nvSpPr>
          <p:cNvPr id="7" name="TextBox 6"/>
          <p:cNvSpPr txBox="1"/>
          <p:nvPr/>
        </p:nvSpPr>
        <p:spPr>
          <a:xfrm>
            <a:off x="640080" y="5486400"/>
            <a:ext cx="10881360" cy="822960"/>
          </a:xfrm>
          <a:prstGeom prst="rect">
            <a:avLst/>
          </a:prstGeom>
          <a:noFill/>
        </p:spPr>
        <p:txBody>
          <a:bodyPr wrap="square" lIns="0" rIns="0" tIns="0" bIns="0">
            <a:spAutoFit/>
          </a:bodyPr>
          <a:lstStyle/>
          <a:p>
            <a:r>
              <a:rPr sz="1500" b="0" i="1">
                <a:solidFill>
                  <a:srgbClr val="1F2120"/>
                </a:solidFill>
                <a:latin typeface="Arial"/>
              </a:rPr>
              <a:t>Fit on train, score on test, beat the baseline. Every model, every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457200"/>
            <a:ext cx="10881360" cy="1005840"/>
          </a:xfrm>
          <a:prstGeom prst="rect">
            <a:avLst/>
          </a:prstGeom>
          <a:noFill/>
        </p:spPr>
        <p:txBody>
          <a:bodyPr wrap="square" lIns="0" rIns="0" tIns="0" bIns="0">
            <a:spAutoFit/>
          </a:bodyPr>
          <a:lstStyle/>
          <a:p>
            <a:r>
              <a:rPr sz="3000" b="1" i="0">
                <a:solidFill>
                  <a:srgbClr val="1F2120"/>
                </a:solidFill>
                <a:latin typeface="Arial Black"/>
              </a:rPr>
              <a:t>What else is in the book</a:t>
            </a:r>
          </a:p>
          <a:p>
            <a:pPr>
              <a:spcBef>
                <a:spcPts val="300"/>
              </a:spcBef>
            </a:pPr>
            <a:r>
              <a:rPr sz="1500" b="0" i="1">
                <a:solidFill>
                  <a:srgbClr val="CF3338"/>
                </a:solidFill>
                <a:latin typeface="Arial"/>
              </a:rPr>
              <a:t>Every item on the right is a full chapter with a companion workbook</a:t>
            </a:r>
          </a:p>
        </p:txBody>
      </p:sp>
      <p:sp>
        <p:nvSpPr>
          <p:cNvPr id="3" name="Rounded Rectangle 2"/>
          <p:cNvSpPr/>
          <p:nvPr/>
        </p:nvSpPr>
        <p:spPr>
          <a:xfrm>
            <a:off x="64008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57400"/>
            <a:ext cx="4617720" cy="3931920"/>
          </a:xfrm>
          <a:prstGeom prst="rect">
            <a:avLst/>
          </a:prstGeom>
          <a:noFill/>
        </p:spPr>
        <p:txBody>
          <a:bodyPr wrap="square" lIns="0" rIns="0" tIns="0" bIns="0">
            <a:spAutoFit/>
          </a:bodyPr>
          <a:lstStyle/>
          <a:p>
            <a:r>
              <a:rPr sz="1800" b="1" i="0">
                <a:solidFill>
                  <a:srgbClr val="CF3338"/>
                </a:solidFill>
                <a:latin typeface="Arial Black"/>
              </a:rPr>
              <a:t>What you saw today</a:t>
            </a:r>
          </a:p>
          <a:p>
            <a:pPr>
              <a:spcBef>
                <a:spcPts val="700"/>
              </a:spcBef>
            </a:pPr>
            <a:r>
              <a:rPr sz="1100" b="1" i="0">
                <a:solidFill>
                  <a:srgbClr val="CF3338"/>
                </a:solidFill>
                <a:latin typeface="Arial"/>
              </a:rPr>
              <a:t>▶  </a:t>
            </a:r>
            <a:r>
              <a:rPr sz="1400" b="0" i="0">
                <a:solidFill>
                  <a:srgbClr val="1F2120"/>
                </a:solidFill>
                <a:latin typeface="Arial"/>
              </a:rPr>
              <a:t>A t-test with the result in the grid (Ch 5)</a:t>
            </a:r>
          </a:p>
          <a:p>
            <a:pPr>
              <a:spcBef>
                <a:spcPts val="700"/>
              </a:spcBef>
            </a:pPr>
            <a:r>
              <a:rPr sz="1100" b="1" i="0">
                <a:solidFill>
                  <a:srgbClr val="CF3338"/>
                </a:solidFill>
                <a:latin typeface="Arial"/>
              </a:rPr>
              <a:t>▶  </a:t>
            </a:r>
            <a:r>
              <a:rPr sz="1400" b="0" i="0">
                <a:solidFill>
                  <a:srgbClr val="1F2120"/>
                </a:solidFill>
                <a:latin typeface="Arial"/>
              </a:rPr>
              <a:t>regplot, an OLS fit, and reading the coefficient table (Ch 6)</a:t>
            </a:r>
          </a:p>
          <a:p>
            <a:pPr>
              <a:spcBef>
                <a:spcPts val="700"/>
              </a:spcBef>
            </a:pPr>
            <a:r>
              <a:rPr sz="1100" b="1" i="0">
                <a:solidFill>
                  <a:srgbClr val="CF3338"/>
                </a:solidFill>
                <a:latin typeface="Arial"/>
              </a:rPr>
              <a:t>▶  </a:t>
            </a:r>
            <a:r>
              <a:rPr sz="1400" b="0" i="0">
                <a:solidFill>
                  <a:srgbClr val="1F2120"/>
                </a:solidFill>
                <a:latin typeface="Arial"/>
              </a:rPr>
              <a:t>A time index, a decomposition, and a Holt-Winters forecast (Ch 7)</a:t>
            </a:r>
          </a:p>
        </p:txBody>
      </p:sp>
      <p:sp>
        <p:nvSpPr>
          <p:cNvPr id="5" name="Rounded Rectangle 4"/>
          <p:cNvSpPr/>
          <p:nvPr/>
        </p:nvSpPr>
        <p:spPr>
          <a:xfrm>
            <a:off x="6400800" y="1828800"/>
            <a:ext cx="5212080" cy="4389120"/>
          </a:xfrm>
          <a:prstGeom prst="roundRect">
            <a:avLst/>
          </a:prstGeom>
          <a:solidFill>
            <a:srgbClr val="FFFFFF"/>
          </a:solidFill>
          <a:ln w="19050">
            <a:solidFill>
              <a:srgbClr val="CF33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2057400"/>
            <a:ext cx="4617720" cy="3931920"/>
          </a:xfrm>
          <a:prstGeom prst="rect">
            <a:avLst/>
          </a:prstGeom>
          <a:noFill/>
        </p:spPr>
        <p:txBody>
          <a:bodyPr wrap="square" lIns="0" rIns="0" tIns="0" bIns="0">
            <a:spAutoFit/>
          </a:bodyPr>
          <a:lstStyle/>
          <a:p>
            <a:r>
              <a:rPr sz="1800" b="1" i="0">
                <a:solidFill>
                  <a:srgbClr val="CF3338"/>
                </a:solidFill>
                <a:latin typeface="Arial Black"/>
              </a:rPr>
              <a:t>What's waiting in the book</a:t>
            </a:r>
          </a:p>
          <a:p>
            <a:pPr>
              <a:spcBef>
                <a:spcPts val="700"/>
              </a:spcBef>
            </a:pPr>
            <a:r>
              <a:rPr sz="1100" b="1" i="0">
                <a:solidFill>
                  <a:srgbClr val="CF3338"/>
                </a:solidFill>
                <a:latin typeface="Arial"/>
              </a:rPr>
              <a:t>▶  </a:t>
            </a:r>
            <a:r>
              <a:rPr sz="1400" b="0" i="0">
                <a:solidFill>
                  <a:srgbClr val="1F2120"/>
                </a:solidFill>
                <a:latin typeface="Arial"/>
              </a:rPr>
              <a:t>Effect sizes, ANOVA with Tukey, chi-square, and bootstrapping your own confidence interval (Ch 5)</a:t>
            </a:r>
          </a:p>
          <a:p>
            <a:pPr>
              <a:spcBef>
                <a:spcPts val="700"/>
              </a:spcBef>
            </a:pPr>
            <a:r>
              <a:rPr sz="1100" b="1" i="0">
                <a:solidFill>
                  <a:srgbClr val="CF3338"/>
                </a:solidFill>
                <a:latin typeface="Arial"/>
              </a:rPr>
              <a:t>▶  </a:t>
            </a:r>
            <a:r>
              <a:rPr sz="1400" b="0" i="0">
                <a:solidFill>
                  <a:srgbClr val="1F2120"/>
                </a:solidFill>
                <a:latin typeface="Arial"/>
              </a:rPr>
              <a:t>More predictors, prediction for new cases, logistic regression, train/test splits (Ch 6)</a:t>
            </a:r>
          </a:p>
          <a:p>
            <a:pPr>
              <a:spcBef>
                <a:spcPts val="700"/>
              </a:spcBef>
            </a:pPr>
            <a:r>
              <a:rPr sz="1100" b="1" i="0">
                <a:solidFill>
                  <a:srgbClr val="CF3338"/>
                </a:solidFill>
                <a:latin typeface="Arial"/>
              </a:rPr>
              <a:t>▶  </a:t>
            </a:r>
            <a:r>
              <a:rPr sz="1400" b="0" i="0">
                <a:solidFill>
                  <a:srgbClr val="1F2120"/>
                </a:solidFill>
                <a:latin typeface="Arial"/>
              </a:rPr>
              <a:t>Resampling, rolling means, holdout evaluation against a naive baseline, choosing a smoothing method, ARIMA (Ch 7)</a:t>
            </a:r>
          </a:p>
          <a:p>
            <a:pPr>
              <a:spcBef>
                <a:spcPts val="700"/>
              </a:spcBef>
            </a:pPr>
            <a:r>
              <a:rPr sz="1100" b="1" i="0">
                <a:solidFill>
                  <a:srgbClr val="CF3338"/>
                </a:solidFill>
                <a:latin typeface="Arial"/>
              </a:rPr>
              <a:t>▶  </a:t>
            </a:r>
            <a:r>
              <a:rPr sz="1400" b="0" i="0">
                <a:solidFill>
                  <a:srgbClr val="1F2120"/>
                </a:solidFill>
                <a:latin typeface="Arial"/>
              </a:rPr>
              <a:t>Monte Carlo simulation and comparing decisions under uncertainty (Ch 8)</a:t>
            </a:r>
          </a:p>
          <a:p>
            <a:pPr>
              <a:spcBef>
                <a:spcPts val="700"/>
              </a:spcBef>
            </a:pPr>
            <a:r>
              <a:rPr sz="1100" b="1" i="0">
                <a:solidFill>
                  <a:srgbClr val="CF3338"/>
                </a:solidFill>
                <a:latin typeface="Arial"/>
              </a:rPr>
              <a:t>▶  </a:t>
            </a:r>
            <a:r>
              <a:rPr sz="1400" b="0" i="0">
                <a:solidFill>
                  <a:srgbClr val="1F2120"/>
                </a:solidFill>
                <a:latin typeface="Arial"/>
              </a:rPr>
              <a:t>Building all of it into a workbook a manager can use (Ch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548640"/>
            <a:ext cx="6949440" cy="1097280"/>
          </a:xfrm>
          <a:prstGeom prst="rect">
            <a:avLst/>
          </a:prstGeom>
          <a:noFill/>
        </p:spPr>
        <p:txBody>
          <a:bodyPr wrap="square" lIns="0" rIns="0" tIns="0" bIns="0">
            <a:spAutoFit/>
          </a:bodyPr>
          <a:lstStyle/>
          <a:p>
            <a:r>
              <a:rPr sz="1500" b="1" i="0">
                <a:solidFill>
                  <a:srgbClr val="CF3338"/>
                </a:solidFill>
                <a:latin typeface="Arial Black"/>
              </a:rPr>
              <a:t>THE BOOK</a:t>
            </a:r>
          </a:p>
          <a:p>
            <a:pPr>
              <a:spcBef>
                <a:spcPts val="600"/>
              </a:spcBef>
            </a:pPr>
            <a:r>
              <a:rPr sz="3000" b="1" i="0">
                <a:solidFill>
                  <a:srgbClr val="1F2120"/>
                </a:solidFill>
                <a:latin typeface="Arial Black"/>
              </a:rPr>
              <a:t>Python in Excel for Data Analytics</a:t>
            </a:r>
          </a:p>
        </p:txBody>
      </p:sp>
      <p:sp>
        <p:nvSpPr>
          <p:cNvPr id="3" name="TextBox 2"/>
          <p:cNvSpPr txBox="1"/>
          <p:nvPr/>
        </p:nvSpPr>
        <p:spPr>
          <a:xfrm>
            <a:off x="640080" y="1920240"/>
            <a:ext cx="6766560" cy="4023360"/>
          </a:xfrm>
          <a:prstGeom prst="rect">
            <a:avLst/>
          </a:prstGeom>
          <a:noFill/>
        </p:spPr>
        <p:txBody>
          <a:bodyPr wrap="square" lIns="0" rIns="0" tIns="0" bIns="0">
            <a:spAutoFit/>
          </a:bodyPr>
          <a:lstStyle/>
          <a:p>
            <a:pPr>
              <a:spcAft>
                <a:spcPts val="900"/>
              </a:spcAft>
            </a:pPr>
            <a:r>
              <a:rPr sz="1200" b="1" i="0">
                <a:solidFill>
                  <a:srgbClr val="CF3338"/>
                </a:solidFill>
                <a:latin typeface="Arial"/>
              </a:rPr>
              <a:t>▶  </a:t>
            </a:r>
            <a:r>
              <a:rPr sz="1600" b="0" i="0">
                <a:solidFill>
                  <a:srgbClr val="1F2120"/>
                </a:solidFill>
                <a:latin typeface="Arial"/>
              </a:rPr>
              <a:t>Everything you saw today, with the how and the why: Chapters 5, 6 and 7.</a:t>
            </a:r>
          </a:p>
          <a:p>
            <a:pPr>
              <a:spcAft>
                <a:spcPts val="900"/>
              </a:spcAft>
            </a:pPr>
            <a:r>
              <a:rPr sz="1200" b="1" i="0">
                <a:solidFill>
                  <a:srgbClr val="CF3338"/>
                </a:solidFill>
                <a:latin typeface="Arial"/>
              </a:rPr>
              <a:t>▶  </a:t>
            </a:r>
            <a:r>
              <a:rPr sz="1600" b="0" i="0">
                <a:solidFill>
                  <a:srgbClr val="1F2120"/>
                </a:solidFill>
                <a:latin typeface="Arial"/>
              </a:rPr>
              <a:t>Twelve chapters from your first =PY() cell to forecasting, simulation, text analytics and AI-assisted analysis.</a:t>
            </a:r>
          </a:p>
          <a:p>
            <a:pPr>
              <a:spcAft>
                <a:spcPts val="900"/>
              </a:spcAft>
            </a:pPr>
            <a:r>
              <a:rPr sz="1200" b="1" i="0">
                <a:solidFill>
                  <a:srgbClr val="CF3338"/>
                </a:solidFill>
                <a:latin typeface="Arial"/>
              </a:rPr>
              <a:t>▶  </a:t>
            </a:r>
            <a:r>
              <a:rPr sz="1600" b="0" i="0">
                <a:solidFill>
                  <a:srgbClr val="1F2120"/>
                </a:solidFill>
                <a:latin typeface="Arial"/>
              </a:rPr>
              <a:t>Companion workbooks for every chapter.</a:t>
            </a:r>
          </a:p>
          <a:p>
            <a:pPr>
              <a:spcAft>
                <a:spcPts val="900"/>
              </a:spcAft>
            </a:pPr>
            <a:r>
              <a:rPr sz="1600" b="1" i="0">
                <a:solidFill>
                  <a:srgbClr val="CF3338"/>
                </a:solidFill>
                <a:latin typeface="Arial"/>
              </a:rPr>
              <a:t>https://stringfestanalytics.com/pyxlda/</a:t>
            </a:r>
          </a:p>
        </p:txBody>
      </p:sp>
      <p:pic>
        <p:nvPicPr>
          <p:cNvPr id="4" name="Picture 3" descr="book-cover.png"/>
          <p:cNvPicPr>
            <a:picLocks noChangeAspect="1"/>
          </p:cNvPicPr>
          <p:nvPr/>
        </p:nvPicPr>
        <p:blipFill>
          <a:blip r:embed="rId2"/>
          <a:stretch>
            <a:fillRect/>
          </a:stretch>
        </p:blipFill>
        <p:spPr>
          <a:xfrm>
            <a:off x="7528255" y="946976"/>
            <a:ext cx="4023360" cy="496404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EECE1"/>
        </a:solidFill>
        <a:effectLst/>
      </p:bgPr>
    </p:bg>
    <p:spTree>
      <p:nvGrpSpPr>
        <p:cNvPr id="1" name=""/>
        <p:cNvGrpSpPr/>
        <p:nvPr/>
      </p:nvGrpSpPr>
      <p:grpSpPr/>
      <p:sp>
        <p:nvSpPr>
          <p:cNvPr id="2" name="TextBox 1"/>
          <p:cNvSpPr txBox="1"/>
          <p:nvPr/>
        </p:nvSpPr>
        <p:spPr>
          <a:xfrm>
            <a:off x="640080" y="548640"/>
            <a:ext cx="7315200" cy="1188720"/>
          </a:xfrm>
          <a:prstGeom prst="rect">
            <a:avLst/>
          </a:prstGeom>
          <a:noFill/>
        </p:spPr>
        <p:txBody>
          <a:bodyPr wrap="square" lIns="0" rIns="0" tIns="0" bIns="0">
            <a:spAutoFit/>
          </a:bodyPr>
          <a:lstStyle/>
          <a:p>
            <a:r>
              <a:rPr sz="1500" b="1" i="0">
                <a:solidFill>
                  <a:srgbClr val="CF3338"/>
                </a:solidFill>
                <a:latin typeface="Arial Black"/>
              </a:rPr>
              <a:t>FILES, RECORDING, AND WHAT'S NEXT</a:t>
            </a:r>
          </a:p>
          <a:p>
            <a:pPr>
              <a:spcBef>
                <a:spcPts val="600"/>
              </a:spcBef>
            </a:pPr>
            <a:r>
              <a:rPr sz="2600" b="1" i="0">
                <a:solidFill>
                  <a:srgbClr val="1F2120"/>
                </a:solidFill>
                <a:latin typeface="Arial Black"/>
              </a:rPr>
              <a:t>Python in Excel for Analysts: The Free Sessions</a:t>
            </a:r>
          </a:p>
        </p:txBody>
      </p:sp>
      <p:sp>
        <p:nvSpPr>
          <p:cNvPr id="3" name="TextBox 2"/>
          <p:cNvSpPr txBox="1"/>
          <p:nvPr/>
        </p:nvSpPr>
        <p:spPr>
          <a:xfrm>
            <a:off x="640080" y="2011680"/>
            <a:ext cx="7315200" cy="4023360"/>
          </a:xfrm>
          <a:prstGeom prst="rect">
            <a:avLst/>
          </a:prstGeom>
          <a:noFill/>
        </p:spPr>
        <p:txBody>
          <a:bodyPr wrap="square" lIns="0" rIns="0" tIns="0" bIns="0">
            <a:spAutoFit/>
          </a:bodyPr>
          <a:lstStyle/>
          <a:p>
            <a:pPr>
              <a:spcAft>
                <a:spcPts val="1000"/>
              </a:spcAft>
            </a:pPr>
            <a:r>
              <a:rPr sz="1200" b="1" i="0">
                <a:solidFill>
                  <a:srgbClr val="CF3338"/>
                </a:solidFill>
                <a:latin typeface="Arial"/>
              </a:rPr>
              <a:t>▶  </a:t>
            </a:r>
            <a:r>
              <a:rPr sz="1600" b="0" i="0">
                <a:solidFill>
                  <a:srgbClr val="1F2120"/>
                </a:solidFill>
                <a:latin typeface="Arial"/>
              </a:rPr>
              <a:t>Today's recording, workbook and code land here within a few days: https://stringfestdata.gumroad.com/l/pxlaf</a:t>
            </a:r>
          </a:p>
          <a:p>
            <a:pPr>
              <a:spcAft>
                <a:spcPts val="1000"/>
              </a:spcAft>
            </a:pPr>
            <a:r>
              <a:rPr sz="1200" b="1" i="0">
                <a:solidFill>
                  <a:srgbClr val="CF3338"/>
                </a:solidFill>
                <a:latin typeface="Arial"/>
              </a:rPr>
              <a:t>▶  </a:t>
            </a:r>
            <a:r>
              <a:rPr sz="1600" b="0" i="0">
                <a:solidFill>
                  <a:srgbClr val="1F2120"/>
                </a:solidFill>
                <a:latin typeface="Arial"/>
              </a:rPr>
              <a:t>Grab it now (it's free) and Gumroad notifies you as each session posts.</a:t>
            </a:r>
          </a:p>
          <a:p>
            <a:pPr>
              <a:spcAft>
                <a:spcPts val="1000"/>
              </a:spcAft>
            </a:pPr>
            <a:r>
              <a:rPr sz="1200" b="1" i="0">
                <a:solidFill>
                  <a:srgbClr val="CF3338"/>
                </a:solidFill>
                <a:latin typeface="Arial"/>
              </a:rPr>
              <a:t>▶  </a:t>
            </a:r>
            <a:r>
              <a:rPr sz="1600" b="0" i="0">
                <a:solidFill>
                  <a:srgbClr val="1F2120"/>
                </a:solidFill>
                <a:latin typeface="Arial"/>
              </a:rPr>
              <a:t>All files are also on GitHub: https://github.com/stringfestdata/python-excel-analysts-free</a:t>
            </a:r>
          </a:p>
          <a:p>
            <a:pPr>
              <a:spcAft>
                <a:spcPts val="1000"/>
              </a:spcAft>
            </a:pPr>
            <a:r>
              <a:rPr sz="1200" b="1" i="0">
                <a:solidFill>
                  <a:srgbClr val="CF3338"/>
                </a:solidFill>
                <a:latin typeface="Arial"/>
              </a:rPr>
              <a:t>▶  </a:t>
            </a:r>
            <a:r>
              <a:rPr sz="1600" b="0" i="0">
                <a:solidFill>
                  <a:srgbClr val="1F2120"/>
                </a:solidFill>
                <a:latin typeface="Arial"/>
              </a:rPr>
              <a:t>Next: Session 4, 10,000 what-ifs. Register at https://stringfestanalytics.com/events</a:t>
            </a:r>
          </a:p>
        </p:txBody>
      </p:sp>
      <p:pic>
        <p:nvPicPr>
          <p:cNvPr id="4" name="Picture 3" descr="free-sessions.png"/>
          <p:cNvPicPr>
            <a:picLocks noChangeAspect="1"/>
          </p:cNvPicPr>
          <p:nvPr/>
        </p:nvPicPr>
        <p:blipFill>
          <a:blip r:embed="rId2"/>
          <a:stretch>
            <a:fillRect/>
          </a:stretch>
        </p:blipFill>
        <p:spPr>
          <a:xfrm>
            <a:off x="7528255" y="2296828"/>
            <a:ext cx="4023360" cy="226434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C00000"/>
        </a:solidFill>
        <a:effectLst/>
      </p:bgPr>
    </p:bg>
    <p:spTree>
      <p:nvGrpSpPr>
        <p:cNvPr id="1" name=""/>
        <p:cNvGrpSpPr/>
        <p:nvPr/>
      </p:nvGrpSpPr>
      <p:grpSpPr/>
      <p:sp>
        <p:nvSpPr>
          <p:cNvPr id="2" name="TextBox 1"/>
          <p:cNvSpPr txBox="1"/>
          <p:nvPr/>
        </p:nvSpPr>
        <p:spPr>
          <a:xfrm>
            <a:off x="822960" y="2286000"/>
            <a:ext cx="10332720" cy="2743200"/>
          </a:xfrm>
          <a:prstGeom prst="rect">
            <a:avLst/>
          </a:prstGeom>
          <a:noFill/>
        </p:spPr>
        <p:txBody>
          <a:bodyPr wrap="square" lIns="0" rIns="0" tIns="0" bIns="0">
            <a:spAutoFit/>
          </a:bodyPr>
          <a:lstStyle/>
          <a:p>
            <a:r>
              <a:rPr sz="1600" b="1" i="0">
                <a:solidFill>
                  <a:srgbClr val="FFFFFF"/>
                </a:solidFill>
                <a:latin typeface="Arial Black"/>
              </a:rPr>
              <a:t>THANK YOU</a:t>
            </a:r>
          </a:p>
          <a:p>
            <a:pPr>
              <a:spcBef>
                <a:spcPts val="800"/>
              </a:spcBef>
            </a:pPr>
            <a:r>
              <a:rPr sz="3600" b="1" i="0">
                <a:solidFill>
                  <a:srgbClr val="FFFFFF"/>
                </a:solidFill>
                <a:latin typeface="Arial Black"/>
              </a:rPr>
              <a:t>Questions?</a:t>
            </a:r>
          </a:p>
          <a:p>
            <a:pPr>
              <a:spcBef>
                <a:spcPts val="1400"/>
              </a:spcBef>
            </a:pPr>
            <a:r>
              <a:rPr sz="1800" b="0" i="0">
                <a:solidFill>
                  <a:srgbClr val="FFFFFF"/>
                </a:solidFill>
                <a:latin typeface="Arial"/>
              </a:rPr>
              <a:t>george@stringfestanalytics.com  ·  stringfestanalytics.com  ·  https://stringfestanalytics.com/pyxlda/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