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c407594c9e04184" /><Relationship Type="http://schemas.openxmlformats.org/officeDocument/2006/relationships/extended-properties" Target="/docProps/app.xml" Id="Re277048a5ce14a7e" /><Relationship Type="http://schemas.openxmlformats.org/officeDocument/2006/relationships/officeDocument" Target="/ppt/presentation.xml" Id="Ra72419f1586a4c37" /></Relationships>
</file>

<file path=ppt/presentation.xml><?xml version="1.0" encoding="utf-8"?>
<p:presentation xmlns:p="http://schemas.openxmlformats.org/presentationml/2006/main">
  <p:sldMasterIdLst>
    <p:sldMasterId xmlns:r="http://schemas.openxmlformats.org/officeDocument/2006/relationships" id="2147483648" r:id="Rf99d164a2bd74348"/>
  </p:sldMasterIdLst>
  <p:notesMasterIdLst>
    <p:notesMasterId xmlns:r="http://schemas.openxmlformats.org/officeDocument/2006/relationships" r:id="Ra58e007473c949e6"/>
  </p:notesMasterIdLst>
  <p:sldIdLst>
    <p:sldId xmlns:r="http://schemas.openxmlformats.org/officeDocument/2006/relationships" id="256" r:id="R58886b78b2b644b2"/>
    <p:sldId xmlns:r="http://schemas.openxmlformats.org/officeDocument/2006/relationships" id="257" r:id="R7ccbc347daa849de"/>
    <p:sldId xmlns:r="http://schemas.openxmlformats.org/officeDocument/2006/relationships" id="258" r:id="Rc9f9ff3f4f4d44ee"/>
    <p:sldId xmlns:r="http://schemas.openxmlformats.org/officeDocument/2006/relationships" id="259" r:id="Rdf65ab20320d4d4e"/>
    <p:sldId xmlns:r="http://schemas.openxmlformats.org/officeDocument/2006/relationships" id="260" r:id="R824c137e52914d6b"/>
    <p:sldId xmlns:r="http://schemas.openxmlformats.org/officeDocument/2006/relationships" id="261" r:id="R602262322b774897"/>
    <p:sldId xmlns:r="http://schemas.openxmlformats.org/officeDocument/2006/relationships" id="262" r:id="Rbcded8163d7246d8"/>
    <p:sldId xmlns:r="http://schemas.openxmlformats.org/officeDocument/2006/relationships" id="263" r:id="R4a605b43f3104c21"/>
    <p:sldId xmlns:r="http://schemas.openxmlformats.org/officeDocument/2006/relationships" id="264" r:id="R7efb4a15c01145f8"/>
    <p:sldId xmlns:r="http://schemas.openxmlformats.org/officeDocument/2006/relationships" id="265" r:id="R5ae1c854448b4aa2"/>
    <p:sldId xmlns:r="http://schemas.openxmlformats.org/officeDocument/2006/relationships" id="266" r:id="R15cc549b8e644210"/>
    <p:sldId xmlns:r="http://schemas.openxmlformats.org/officeDocument/2006/relationships" id="267" r:id="R82f2d56657ff4300"/>
    <p:sldId xmlns:r="http://schemas.openxmlformats.org/officeDocument/2006/relationships" id="268" r:id="R1bd881c9862f479a"/>
    <p:sldId xmlns:r="http://schemas.openxmlformats.org/officeDocument/2006/relationships" id="269" r:id="R2ae6f4d70f634099"/>
    <p:sldId xmlns:r="http://schemas.openxmlformats.org/officeDocument/2006/relationships" id="270" r:id="R5ccd6624f1fe4510"/>
    <p:sldId xmlns:r="http://schemas.openxmlformats.org/officeDocument/2006/relationships" id="271" r:id="Red37e506c4484eca"/>
    <p:sldId xmlns:r="http://schemas.openxmlformats.org/officeDocument/2006/relationships" id="272" r:id="R3a373395d92c4c4d"/>
    <p:sldId xmlns:r="http://schemas.openxmlformats.org/officeDocument/2006/relationships" id="273" r:id="R1fc4c9bb0cb84cc0"/>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747a3728644b79" /><Relationship Type="http://schemas.openxmlformats.org/officeDocument/2006/relationships/slideMaster" Target="/ppt/slideMasters/slideMaster1.xml" Id="Rf99d164a2bd74348" /><Relationship Type="http://schemas.openxmlformats.org/officeDocument/2006/relationships/notesMaster" Target="/ppt/notesMasters/notesMaster1.xml" Id="Ra58e007473c949e6" /><Relationship Type="http://schemas.openxmlformats.org/officeDocument/2006/relationships/presProps" Target="/ppt/presProps.xml" Id="Rad229d0b7dc44f10" /><Relationship Type="http://schemas.openxmlformats.org/officeDocument/2006/relationships/tableStyles" Target="/ppt/tableStyles.xml" Id="Rc7aa44a063e04678" /><Relationship Type="http://schemas.openxmlformats.org/officeDocument/2006/relationships/slide" Target="/ppt/slides/slide1.xml" Id="R58886b78b2b644b2" /><Relationship Type="http://schemas.openxmlformats.org/officeDocument/2006/relationships/slide" Target="/ppt/slides/slide2.xml" Id="R7ccbc347daa849de" /><Relationship Type="http://schemas.openxmlformats.org/officeDocument/2006/relationships/slide" Target="/ppt/slides/slide3.xml" Id="Rc9f9ff3f4f4d44ee" /><Relationship Type="http://schemas.openxmlformats.org/officeDocument/2006/relationships/slide" Target="/ppt/slides/slide4.xml" Id="Rdf65ab20320d4d4e" /><Relationship Type="http://schemas.openxmlformats.org/officeDocument/2006/relationships/slide" Target="/ppt/slides/slide5.xml" Id="R824c137e52914d6b" /><Relationship Type="http://schemas.openxmlformats.org/officeDocument/2006/relationships/slide" Target="/ppt/slides/slide6.xml" Id="R602262322b774897" /><Relationship Type="http://schemas.openxmlformats.org/officeDocument/2006/relationships/slide" Target="/ppt/slides/slide7.xml" Id="Rbcded8163d7246d8" /><Relationship Type="http://schemas.openxmlformats.org/officeDocument/2006/relationships/slide" Target="/ppt/slides/slide8.xml" Id="R4a605b43f3104c21" /><Relationship Type="http://schemas.openxmlformats.org/officeDocument/2006/relationships/slide" Target="/ppt/slides/slide9.xml" Id="R7efb4a15c01145f8" /><Relationship Type="http://schemas.openxmlformats.org/officeDocument/2006/relationships/slide" Target="/ppt/slides/slide10.xml" Id="R5ae1c854448b4aa2" /><Relationship Type="http://schemas.openxmlformats.org/officeDocument/2006/relationships/slide" Target="/ppt/slides/slide11.xml" Id="R15cc549b8e644210" /><Relationship Type="http://schemas.openxmlformats.org/officeDocument/2006/relationships/slide" Target="/ppt/slides/slide12.xml" Id="R82f2d56657ff4300" /><Relationship Type="http://schemas.openxmlformats.org/officeDocument/2006/relationships/slide" Target="/ppt/slides/slide13.xml" Id="R1bd881c9862f479a" /><Relationship Type="http://schemas.openxmlformats.org/officeDocument/2006/relationships/slide" Target="/ppt/slides/slide14.xml" Id="R2ae6f4d70f634099" /><Relationship Type="http://schemas.openxmlformats.org/officeDocument/2006/relationships/slide" Target="/ppt/slides/slide15.xml" Id="R5ccd6624f1fe4510" /><Relationship Type="http://schemas.openxmlformats.org/officeDocument/2006/relationships/slide" Target="/ppt/slides/slide16.xml" Id="Red37e506c4484eca" /><Relationship Type="http://schemas.openxmlformats.org/officeDocument/2006/relationships/slide" Target="/ppt/slides/slide17.xml" Id="R3a373395d92c4c4d" /><Relationship Type="http://schemas.openxmlformats.org/officeDocument/2006/relationships/slide" Target="/ppt/slides/slide18.xml" Id="R1fc4c9bb0cb84c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866460631646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98bc35c9404bdb" /><Relationship Type="http://schemas.openxmlformats.org/officeDocument/2006/relationships/notesMaster" Target="/ppt/notesMasters/notesMaster1.xml" Id="R6ad567464c9a4e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241b6772f94de5" /><Relationship Type="http://schemas.openxmlformats.org/officeDocument/2006/relationships/notesMaster" Target="/ppt/notesMasters/notesMaster1.xml" Id="Re4f27e9661df44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71bafaadf44d2d" /><Relationship Type="http://schemas.openxmlformats.org/officeDocument/2006/relationships/notesMaster" Target="/ppt/notesMasters/notesMaster1.xml" Id="Ra5f37fa98e8548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abe6a3343d4f83" /><Relationship Type="http://schemas.openxmlformats.org/officeDocument/2006/relationships/notesMaster" Target="/ppt/notesMasters/notesMaster1.xml" Id="R24a9d30d7a3c4b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00e1910e449ae" /><Relationship Type="http://schemas.openxmlformats.org/officeDocument/2006/relationships/notesMaster" Target="/ppt/notesMasters/notesMaster1.xml" Id="Rd67a7fda3fba4a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5448c0e22c484c" /><Relationship Type="http://schemas.openxmlformats.org/officeDocument/2006/relationships/notesMaster" Target="/ppt/notesMasters/notesMaster1.xml" Id="R3186cd9295fa40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1f5ae0e94e4bc7" /><Relationship Type="http://schemas.openxmlformats.org/officeDocument/2006/relationships/notesMaster" Target="/ppt/notesMasters/notesMaster1.xml" Id="Ra9e82251940141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062351a6e944e7" /><Relationship Type="http://schemas.openxmlformats.org/officeDocument/2006/relationships/notesMaster" Target="/ppt/notesMasters/notesMaster1.xml" Id="R5ca300b327a747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91ec2f88254151" /><Relationship Type="http://schemas.openxmlformats.org/officeDocument/2006/relationships/notesMaster" Target="/ppt/notesMasters/notesMaster1.xml" Id="R97b88d6df11b41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ee6c56c6884edb" /><Relationship Type="http://schemas.openxmlformats.org/officeDocument/2006/relationships/notesMaster" Target="/ppt/notesMasters/notesMaster1.xml" Id="Re231bc3c990449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8558af78814c70" /><Relationship Type="http://schemas.openxmlformats.org/officeDocument/2006/relationships/notesMaster" Target="/ppt/notesMasters/notesMaster1.xml" Id="R145010092f3f4f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b5fdca8b66452d" /><Relationship Type="http://schemas.openxmlformats.org/officeDocument/2006/relationships/notesMaster" Target="/ppt/notesMasters/notesMaster1.xml" Id="Rc6e165bc4c0f4a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30f216bb94cdf" /><Relationship Type="http://schemas.openxmlformats.org/officeDocument/2006/relationships/notesMaster" Target="/ppt/notesMasters/notesMaster1.xml" Id="R58560e106e974a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a20455181146bb" /><Relationship Type="http://schemas.openxmlformats.org/officeDocument/2006/relationships/notesMaster" Target="/ppt/notesMasters/notesMaster1.xml" Id="Rc8b93bfa20f743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b9d140661b4145" /><Relationship Type="http://schemas.openxmlformats.org/officeDocument/2006/relationships/notesMaster" Target="/ppt/notesMasters/notesMaster1.xml" Id="R53039e6b625c49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ff03b7de1345d9" /><Relationship Type="http://schemas.openxmlformats.org/officeDocument/2006/relationships/notesMaster" Target="/ppt/notesMasters/notesMaster1.xml" Id="R1f4e52277fbd4d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e26d0421d041a3" /><Relationship Type="http://schemas.openxmlformats.org/officeDocument/2006/relationships/notesMaster" Target="/ppt/notesMasters/notesMaster1.xml" Id="R79cf15fafcad45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198460d4c44479" /><Relationship Type="http://schemas.openxmlformats.org/officeDocument/2006/relationships/notesMaster" Target="/ppt/notesMasters/notesMaster1.xml" Id="Rab52ebc615a143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00:00-01:00. Welcome back. You bring the Excel experience and the business question. Today we will explain what the data suggests and what to check next. You can type the marked steps or watch and complete the worksheet checkpoints. I am George Mount, founder of Stringfest Analytics, Microsoft Excel MVP and author of Python in Excel for Data Analytics. This session connects to the book's step-by-step learning path. Author and book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01:00-02:00. Ask attendees to think of a forecast or comparison they have presented. A line can look persuasive even when the evidence is weak. Today we will connect each tool to a question and a check. Write one question on worksheet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02:00-04:00. Two hands-on steps anchor the session: group averages and a fitted line. The test, regression output and forecasting are guided demonstrations with complete code in the worksheet. We will spend time interpreting, not typing every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04:00-06:00. Worksheet page 1. Session 3 contains 398 cars, 344 penguins and 144 monthly passenger observations. The penguin chart uses 342 rows with both required measurements. Keep the supplied sheet order. Windows instructions. Python calculates across each row, then down, and follows sheet order. Code names must be defined before later cells use them. The supplied workbook's opening tab contains a longer route. Use this worksheet's locations today. If Insert Python is unavailable, watch and answer the checkpoints. Sources: https://support.microsoft.com/en-us/excel/python/get-started-with-python-in-excel;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06:00-09:00. Worksheet page 1. In mpg K1 insert Python and run the two lines. Choose Excel Value in the Python output menu. groupby splits cars by origin and mean averages MPG within each group. Japan is about 30.45 and Europe 27.89. Today we compare these two groups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09:00-11:00. The difference is approximately 2.56 MPG. Ask attendees to record it. A difference in a sample does not automatically tell us the population difference. These are historical practice data, not a randomized experiment or a current vehicle ranking. Source: supplied session 3 mpg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11:00-14:00. Worksheet page 1. Watch mpg K8. The code selects Japan and Europe, removes missing MPG values and runs a Welch two-sample t-test with equal_var=False. This avoids assuming equal group variances. It still relies on independent observations and a suitable sampling model. We use the result as a teaching example, not a population claim about today’s cars. Source: https://docs.scipy.org/doc/scipy/reference/generated/scipy.stats.ttest_ind.html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14:00-18:00. Worksheet page 2. In penguins I1 insert Python and run this block. Drop only rows missing body mass or flipper length so we retain 342 of 344 records. Each dot is a penguin. regplot fits a straight line; ci=None hides the interval to keep the first example simple. Ask what direction the line slopes.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18:00-20:00. Ask attendees to write the direction on worksheet page 2. The chart combines penguin species and sexes, which may account for part of the pattern. It shows association, not evidence that changing body mass causes flippers to grow. The red dots are all 342 complete pairs. The dark line is the same fitted relationship shown by regplot in the live demo. Source: supplied penguins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20:00-23:00. Worksheet page 2. Watch penguins I12. OLS fits the line numerically. add_constant supplies the intercept. The result is about 1.53 millimeters of fitted flipper length per extra 100 grams of body mass, within these data. R-squared is about 0.759: the fitted line accounts for about 76% of the observed variation in flipper length in this sample. It is not a claim that future predictions are 76% accurate. Source: https://www.statsmodels.org/stable/generated/statsmodels.regression.linear_model.OLS.html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23:00-25:00. Worksheet page 3. Watch AirPassengers D1. Run the history block to make a monthly time series. The table contains international airline passengers in thousands, January 1949 through December 1960. Month-start frequency keeps the dates regular. Point to upward trend and the repeated yearly rises and falls. This historical series is a teaching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25:00-27:00. Before forecasting unknown months, hold out the last twelve known months. Train on 1949 through 1959 and predict 1960 without using its answers. Compare with a simple baseline that repeats each corresponding month from 1959. A model should earn its extra complexity. Worksheet page 3 contains the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27:00-30:00. Watch AirPassengers D8. Run the backtest block. The additive Holt-Winters model uses a trend and a twelve-month seasonal pattern. MAE means mean absolute error: average size of the misses, ignoring their sign. Baseline MAE is about 47.8 thousand passengers; model MAE about 13.4 thousand. Lower is better. This is one historical test and does not guarantee future accuracy. Optimization may produce small numerical differences across environments. Source: supplied passenger data and https://www.statsmodels.org/stable/generated/statsmodels.tsa.holtwinters.ExponentialSmoothing.html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30:00-33:00. Worksheet page 4. Watch AirPassengers D20. Refit the same model using all available history, then forecast 24 months. The red line is a set of point estimates for 1961 and 1962. It does not include an uncertainty interval. The additive seasonal pattern is deliberately simple; other seasonal models can be compared later. The book builds the forecasting workflow in more depth. Source: supplied data; statsmodels ExponentialSmoothing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33:00-35:00. Worksheet page 4. Ask attendees to choose a result and explain it to someone who does not use Python. They should give the result, its unit and a check or limitation. A p-value is not the probability the null hypothesis is true. R-squared is not future prediction accuracy. The best forecast on one test can still fail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35:00-37:00. You have a useful example you can repeat. The next step is learning how to adapt it to a question from your own work. Python in Excel for Data Analytics introduces the code gradually for people comfortable in Excel. Chapters 5–7 cover statistical tests, regression and forecasting.. It includes practical business examples and downloadable Excel workbooks. Follow worked examples and learn how to interpret and check your results. Preordering reserves the book; do not promise immediate workbook access or unannounced bonuses.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37:00-38:00. Make the ask directly. If you want to keep building on today's work, preorder Python in Excel for Data Analytics. Open the book page, choose a bookseller and reserve your preferred format. Pause for twenty seconds for scanning. The author page carries current ordering details. Source checked September 20, 2026: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38:00-45:00. Ask attendees to record one small practice task and when they will do it on the final worksheet page. Take questions with the book link visible. Return to the task they wrote at the beginning. If asked where to practice, the free sessions page has files and replay when posted: https://stringfestdata.gumroad.com/l/pxlaf. If asked what comes next, point to chapters 5–7 cover statistical tests, regression and forecasting.. Close with a direct invitation: for the step-by-step path, preorder the book. Thank everyone for joining.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f6084830a743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59f47c01444c1e" /><Relationship Type="http://schemas.openxmlformats.org/officeDocument/2006/relationships/slideLayout" Target="/ppt/slideLayouts/slideLayout1.xml" Id="R673ace5d9a2146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3ace5d9a2146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96c2e6a73444e1" /><Relationship Type="http://schemas.openxmlformats.org/officeDocument/2006/relationships/image" Target="/ppt/media/image.png" Id="Rdc5c47f4f1904179" /><Relationship Type="http://schemas.openxmlformats.org/officeDocument/2006/relationships/notesSlide" Target="/ppt/notesSlides/notesSlide1.xml" Id="R4098085802684e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1c4591dae04501" /><Relationship Type="http://schemas.openxmlformats.org/officeDocument/2006/relationships/notesSlide" Target="/ppt/notesSlides/notesSlide2.xml" Id="R9e108bde6e3340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1089cf2c7e43f1" /><Relationship Type="http://schemas.openxmlformats.org/officeDocument/2006/relationships/notesSlide" Target="/ppt/notesSlides/notesSlide3.xml" Id="R02469d9bf4e045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a59c2a0b994386" /><Relationship Type="http://schemas.openxmlformats.org/officeDocument/2006/relationships/notesSlide" Target="/ppt/notesSlides/notesSlide4.xml" Id="Rdb49a84860cf40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f22ba5882944ff" /><Relationship Type="http://schemas.openxmlformats.org/officeDocument/2006/relationships/notesSlide" Target="/ppt/notesSlides/notesSlide5.xml" Id="R36c95afb310548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bc34f96f15499c" /><Relationship Type="http://schemas.openxmlformats.org/officeDocument/2006/relationships/chart" Target="/ppt/slides/charts/chart1.xml" Id="Re64106440dcd4f3a" /><Relationship Type="http://schemas.openxmlformats.org/officeDocument/2006/relationships/notesSlide" Target="/ppt/notesSlides/notesSlide6.xml" Id="R0a47fca8d6f746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2a554900ab441d" /><Relationship Type="http://schemas.openxmlformats.org/officeDocument/2006/relationships/notesSlide" Target="/ppt/notesSlides/notesSlide7.xml" Id="R19ef3fb000664b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63969562204df2" /><Relationship Type="http://schemas.openxmlformats.org/officeDocument/2006/relationships/notesSlide" Target="/ppt/notesSlides/notesSlide8.xml" Id="R76aea7da8b874d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66e1c10b1b4e2f" /><Relationship Type="http://schemas.openxmlformats.org/officeDocument/2006/relationships/chart" Target="/ppt/slides/charts/chart2.xml" Id="R56eebb09fa3e4a33" /><Relationship Type="http://schemas.openxmlformats.org/officeDocument/2006/relationships/notesSlide" Target="/ppt/notesSlides/notesSlide9.xml" Id="R20e02bd608cd41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ca990277644dd3" /><Relationship Type="http://schemas.openxmlformats.org/officeDocument/2006/relationships/notesSlide" Target="/ppt/notesSlides/notesSlide10.xml" Id="Rd3820d78bbd541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c7be37bdef4dc4" /><Relationship Type="http://schemas.openxmlformats.org/officeDocument/2006/relationships/chart" Target="/ppt/slides/charts/chart3.xml" Id="Rc751fa86b85c4731" /><Relationship Type="http://schemas.openxmlformats.org/officeDocument/2006/relationships/notesSlide" Target="/ppt/notesSlides/notesSlide11.xml" Id="R2464ff8bd69c49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48133ce1124032" /><Relationship Type="http://schemas.openxmlformats.org/officeDocument/2006/relationships/notesSlide" Target="/ppt/notesSlides/notesSlide12.xml" Id="R9aecd67b68d444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bae05d7f640454b" /><Relationship Type="http://schemas.openxmlformats.org/officeDocument/2006/relationships/chart" Target="/ppt/slides/charts/chart4.xml" Id="R11b4f33fd17d494b" /><Relationship Type="http://schemas.openxmlformats.org/officeDocument/2006/relationships/notesSlide" Target="/ppt/notesSlides/notesSlide13.xml" Id="R17ebe1bee75d48c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f9da71879a4e84" /><Relationship Type="http://schemas.openxmlformats.org/officeDocument/2006/relationships/chart" Target="/ppt/slides/charts/chart5.xml" Id="R7cdef3ebefc24607" /><Relationship Type="http://schemas.openxmlformats.org/officeDocument/2006/relationships/notesSlide" Target="/ppt/notesSlides/notesSlide14.xml" Id="R9a9d9aec246b40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c03c70c59f148c3" /><Relationship Type="http://schemas.openxmlformats.org/officeDocument/2006/relationships/notesSlide" Target="/ppt/notesSlides/notesSlide15.xml" Id="Rfc00050c47a74c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699b0b5980d4967" /><Relationship Type="http://schemas.openxmlformats.org/officeDocument/2006/relationships/image" Target="/ppt/media/image2.png" Id="R23ba31c05be74d28" /><Relationship Type="http://schemas.openxmlformats.org/officeDocument/2006/relationships/notesSlide" Target="/ppt/notesSlides/notesSlide16.xml" Id="R414b59a2321349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7840fd916448e7" /><Relationship Type="http://schemas.openxmlformats.org/officeDocument/2006/relationships/image" Target="/ppt/media/image3.png" Id="R92b443a398c24069" /><Relationship Type="http://schemas.openxmlformats.org/officeDocument/2006/relationships/hyperlink" Target="https://stringfestanalytics.com/pyxlda/" TargetMode="External" Id="R3b1997d9323e497c" /><Relationship Type="http://schemas.openxmlformats.org/officeDocument/2006/relationships/notesSlide" Target="/ppt/notesSlides/notesSlide17.xml" Id="R365d4fb7970449d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40376503a514da0" /><Relationship Type="http://schemas.openxmlformats.org/officeDocument/2006/relationships/hyperlink" Target="https://stringfestanalytics.com/pyxlda/" TargetMode="External" Id="Ra7b83fa0d001400c" /><Relationship Type="http://schemas.openxmlformats.org/officeDocument/2006/relationships/hyperlink" Target="https://stringfestdata.gumroad.com/l/pxlaf" TargetMode="External" Id="Ra9caa52af36c4122" /><Relationship Type="http://schemas.openxmlformats.org/officeDocument/2006/relationships/notesSlide" Target="/ppt/notesSlides/notesSlide18.xml" Id="R14f83d707a4144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Mean MPG</c:v>
          </c:tx>
          <c:spPr>
            <a:solidFill xmlns:a="http://schemas.openxmlformats.org/drawingml/2006/main">
              <a:srgbClr val="CF3338"/>
            </a:solidFill>
          </c:spPr>
          <c:cat>
            <c:strRef>
              <c:f>'Chart Data'!$A$2:$A$3</c:f>
              <c:strCache>
                <c:ptCount val="2"/>
                <c:pt idx="0">
                  <c:v>Europe</c:v>
                </c:pt>
                <c:pt idx="1">
                  <c:v>Japan</c:v>
                </c:pt>
              </c:strCache>
            </c:strRef>
          </c:cat>
          <c:val>
            <c:numRef>
              <c:f>'Chart Data'!$B$2:$B$3</c:f>
              <c:numCache>
                <c:formatCode>General</c:formatCode>
                <c:ptCount val="2"/>
                <c:pt idx="0">
                  <c:v>27.8914285714</c:v>
                </c:pt>
                <c:pt idx="1">
                  <c:v>30.4506329114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Origin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4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Average MPG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1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Penguins</c:v>
          </c:tx>
          <c:spPr>
            <a:solidFill xmlns:a="http://schemas.openxmlformats.org/drawingml/2006/main">
              <a:srgbClr val="CF3338"/>
            </a:solidFill>
            <a:ln xmlns:a="http://schemas.openxmlformats.org/drawingml/2006/main" w="0">
              <a:noFill/>
            </a:ln>
          </c:spPr>
          <c:marker>
            <c:symbol val="circle"/>
            <c:size val="4"/>
            <c:spPr>
              <a:noFill xmlns:a="http://schemas.openxmlformats.org/drawingml/2006/main"/>
            </c:spPr>
          </c:marker>
          <c:xVal>
            <c:numRef>
              <c:f>'Chart Data'!$A$2:$A$343</c:f>
              <c:numCache>
                <c:formatCode>General</c:formatCode>
                <c:ptCount val="342"/>
                <c:pt idx="0">
                  <c:v>3750</c:v>
                </c:pt>
                <c:pt idx="1">
                  <c:v>3800</c:v>
                </c:pt>
                <c:pt idx="2">
                  <c:v>3250</c:v>
                </c:pt>
                <c:pt idx="3">
                  <c:v>3450</c:v>
                </c:pt>
                <c:pt idx="4">
                  <c:v>3650</c:v>
                </c:pt>
                <c:pt idx="5">
                  <c:v>3625</c:v>
                </c:pt>
                <c:pt idx="6">
                  <c:v>4675</c:v>
                </c:pt>
                <c:pt idx="7">
                  <c:v>3475</c:v>
                </c:pt>
                <c:pt idx="8">
                  <c:v>4250</c:v>
                </c:pt>
                <c:pt idx="9">
                  <c:v>3300</c:v>
                </c:pt>
                <c:pt idx="10">
                  <c:v>3700</c:v>
                </c:pt>
                <c:pt idx="11">
                  <c:v>3200</c:v>
                </c:pt>
                <c:pt idx="12">
                  <c:v>3800</c:v>
                </c:pt>
                <c:pt idx="13">
                  <c:v>4400</c:v>
                </c:pt>
                <c:pt idx="14">
                  <c:v>3700</c:v>
                </c:pt>
                <c:pt idx="15">
                  <c:v>3450</c:v>
                </c:pt>
                <c:pt idx="16">
                  <c:v>4500</c:v>
                </c:pt>
                <c:pt idx="17">
                  <c:v>3325</c:v>
                </c:pt>
                <c:pt idx="18">
                  <c:v>4200</c:v>
                </c:pt>
                <c:pt idx="19">
                  <c:v>3400</c:v>
                </c:pt>
                <c:pt idx="20">
                  <c:v>3600</c:v>
                </c:pt>
                <c:pt idx="21">
                  <c:v>3800</c:v>
                </c:pt>
                <c:pt idx="22">
                  <c:v>3950</c:v>
                </c:pt>
                <c:pt idx="23">
                  <c:v>3800</c:v>
                </c:pt>
                <c:pt idx="24">
                  <c:v>3800</c:v>
                </c:pt>
                <c:pt idx="25">
                  <c:v>3550</c:v>
                </c:pt>
                <c:pt idx="26">
                  <c:v>3200</c:v>
                </c:pt>
                <c:pt idx="27">
                  <c:v>3150</c:v>
                </c:pt>
                <c:pt idx="28">
                  <c:v>3950</c:v>
                </c:pt>
                <c:pt idx="29">
                  <c:v>3250</c:v>
                </c:pt>
                <c:pt idx="30">
                  <c:v>3900</c:v>
                </c:pt>
                <c:pt idx="31">
                  <c:v>3300</c:v>
                </c:pt>
                <c:pt idx="32">
                  <c:v>3900</c:v>
                </c:pt>
                <c:pt idx="33">
                  <c:v>3325</c:v>
                </c:pt>
                <c:pt idx="34">
                  <c:v>4150</c:v>
                </c:pt>
                <c:pt idx="35">
                  <c:v>3950</c:v>
                </c:pt>
                <c:pt idx="36">
                  <c:v>3550</c:v>
                </c:pt>
                <c:pt idx="37">
                  <c:v>3300</c:v>
                </c:pt>
                <c:pt idx="38">
                  <c:v>4650</c:v>
                </c:pt>
                <c:pt idx="39">
                  <c:v>3150</c:v>
                </c:pt>
                <c:pt idx="40">
                  <c:v>3900</c:v>
                </c:pt>
                <c:pt idx="41">
                  <c:v>3100</c:v>
                </c:pt>
                <c:pt idx="42">
                  <c:v>4400</c:v>
                </c:pt>
                <c:pt idx="43">
                  <c:v>3000</c:v>
                </c:pt>
                <c:pt idx="44">
                  <c:v>4600</c:v>
                </c:pt>
                <c:pt idx="45">
                  <c:v>3425</c:v>
                </c:pt>
                <c:pt idx="46">
                  <c:v>2975</c:v>
                </c:pt>
                <c:pt idx="47">
                  <c:v>3450</c:v>
                </c:pt>
                <c:pt idx="48">
                  <c:v>4150</c:v>
                </c:pt>
                <c:pt idx="49">
                  <c:v>3500</c:v>
                </c:pt>
                <c:pt idx="50">
                  <c:v>4300</c:v>
                </c:pt>
                <c:pt idx="51">
                  <c:v>3450</c:v>
                </c:pt>
                <c:pt idx="52">
                  <c:v>4050</c:v>
                </c:pt>
                <c:pt idx="53">
                  <c:v>2900</c:v>
                </c:pt>
                <c:pt idx="54">
                  <c:v>3700</c:v>
                </c:pt>
                <c:pt idx="55">
                  <c:v>3550</c:v>
                </c:pt>
                <c:pt idx="56">
                  <c:v>3800</c:v>
                </c:pt>
                <c:pt idx="57">
                  <c:v>2850</c:v>
                </c:pt>
                <c:pt idx="58">
                  <c:v>3750</c:v>
                </c:pt>
                <c:pt idx="59">
                  <c:v>3150</c:v>
                </c:pt>
                <c:pt idx="60">
                  <c:v>4400</c:v>
                </c:pt>
                <c:pt idx="61">
                  <c:v>3600</c:v>
                </c:pt>
                <c:pt idx="62">
                  <c:v>4050</c:v>
                </c:pt>
                <c:pt idx="63">
                  <c:v>2850</c:v>
                </c:pt>
                <c:pt idx="64">
                  <c:v>3950</c:v>
                </c:pt>
                <c:pt idx="65">
                  <c:v>3350</c:v>
                </c:pt>
                <c:pt idx="66">
                  <c:v>4100</c:v>
                </c:pt>
                <c:pt idx="67">
                  <c:v>3050</c:v>
                </c:pt>
                <c:pt idx="68">
                  <c:v>4450</c:v>
                </c:pt>
                <c:pt idx="69">
                  <c:v>3600</c:v>
                </c:pt>
                <c:pt idx="70">
                  <c:v>3900</c:v>
                </c:pt>
                <c:pt idx="71">
                  <c:v>3550</c:v>
                </c:pt>
                <c:pt idx="72">
                  <c:v>4150</c:v>
                </c:pt>
                <c:pt idx="73">
                  <c:v>3700</c:v>
                </c:pt>
                <c:pt idx="74">
                  <c:v>4250</c:v>
                </c:pt>
                <c:pt idx="75">
                  <c:v>3700</c:v>
                </c:pt>
                <c:pt idx="76">
                  <c:v>3900</c:v>
                </c:pt>
                <c:pt idx="77">
                  <c:v>3550</c:v>
                </c:pt>
                <c:pt idx="78">
                  <c:v>4000</c:v>
                </c:pt>
                <c:pt idx="79">
                  <c:v>3200</c:v>
                </c:pt>
                <c:pt idx="80">
                  <c:v>4700</c:v>
                </c:pt>
                <c:pt idx="81">
                  <c:v>3800</c:v>
                </c:pt>
                <c:pt idx="82">
                  <c:v>4200</c:v>
                </c:pt>
                <c:pt idx="83">
                  <c:v>3350</c:v>
                </c:pt>
                <c:pt idx="84">
                  <c:v>3550</c:v>
                </c:pt>
                <c:pt idx="85">
                  <c:v>3800</c:v>
                </c:pt>
                <c:pt idx="86">
                  <c:v>3500</c:v>
                </c:pt>
                <c:pt idx="87">
                  <c:v>3950</c:v>
                </c:pt>
                <c:pt idx="88">
                  <c:v>3600</c:v>
                </c:pt>
                <c:pt idx="89">
                  <c:v>3550</c:v>
                </c:pt>
                <c:pt idx="90">
                  <c:v>4300</c:v>
                </c:pt>
                <c:pt idx="91">
                  <c:v>3400</c:v>
                </c:pt>
                <c:pt idx="92">
                  <c:v>4450</c:v>
                </c:pt>
                <c:pt idx="93">
                  <c:v>3300</c:v>
                </c:pt>
                <c:pt idx="94">
                  <c:v>4300</c:v>
                </c:pt>
                <c:pt idx="95">
                  <c:v>3700</c:v>
                </c:pt>
                <c:pt idx="96">
                  <c:v>4350</c:v>
                </c:pt>
                <c:pt idx="97">
                  <c:v>2900</c:v>
                </c:pt>
                <c:pt idx="98">
                  <c:v>4100</c:v>
                </c:pt>
                <c:pt idx="99">
                  <c:v>3725</c:v>
                </c:pt>
                <c:pt idx="100">
                  <c:v>4725</c:v>
                </c:pt>
                <c:pt idx="101">
                  <c:v>3075</c:v>
                </c:pt>
                <c:pt idx="102">
                  <c:v>4250</c:v>
                </c:pt>
                <c:pt idx="103">
                  <c:v>2925</c:v>
                </c:pt>
                <c:pt idx="104">
                  <c:v>3550</c:v>
                </c:pt>
                <c:pt idx="105">
                  <c:v>3750</c:v>
                </c:pt>
                <c:pt idx="106">
                  <c:v>3900</c:v>
                </c:pt>
                <c:pt idx="107">
                  <c:v>3175</c:v>
                </c:pt>
                <c:pt idx="108">
                  <c:v>4775</c:v>
                </c:pt>
                <c:pt idx="109">
                  <c:v>3825</c:v>
                </c:pt>
                <c:pt idx="110">
                  <c:v>4600</c:v>
                </c:pt>
                <c:pt idx="111">
                  <c:v>3200</c:v>
                </c:pt>
                <c:pt idx="112">
                  <c:v>4275</c:v>
                </c:pt>
                <c:pt idx="113">
                  <c:v>3900</c:v>
                </c:pt>
                <c:pt idx="114">
                  <c:v>4075</c:v>
                </c:pt>
                <c:pt idx="115">
                  <c:v>2900</c:v>
                </c:pt>
                <c:pt idx="116">
                  <c:v>3775</c:v>
                </c:pt>
                <c:pt idx="117">
                  <c:v>3350</c:v>
                </c:pt>
                <c:pt idx="118">
                  <c:v>3325</c:v>
                </c:pt>
                <c:pt idx="119">
                  <c:v>3150</c:v>
                </c:pt>
                <c:pt idx="120">
                  <c:v>3500</c:v>
                </c:pt>
                <c:pt idx="121">
                  <c:v>3450</c:v>
                </c:pt>
                <c:pt idx="122">
                  <c:v>3875</c:v>
                </c:pt>
                <c:pt idx="123">
                  <c:v>3050</c:v>
                </c:pt>
                <c:pt idx="124">
                  <c:v>4000</c:v>
                </c:pt>
                <c:pt idx="125">
                  <c:v>3275</c:v>
                </c:pt>
                <c:pt idx="126">
                  <c:v>4300</c:v>
                </c:pt>
                <c:pt idx="127">
                  <c:v>3050</c:v>
                </c:pt>
                <c:pt idx="128">
                  <c:v>4000</c:v>
                </c:pt>
                <c:pt idx="129">
                  <c:v>3325</c:v>
                </c:pt>
                <c:pt idx="130">
                  <c:v>3500</c:v>
                </c:pt>
                <c:pt idx="131">
                  <c:v>3500</c:v>
                </c:pt>
                <c:pt idx="132">
                  <c:v>4475</c:v>
                </c:pt>
                <c:pt idx="133">
                  <c:v>3425</c:v>
                </c:pt>
                <c:pt idx="134">
                  <c:v>3900</c:v>
                </c:pt>
                <c:pt idx="135">
                  <c:v>3175</c:v>
                </c:pt>
                <c:pt idx="136">
                  <c:v>3975</c:v>
                </c:pt>
                <c:pt idx="137">
                  <c:v>3400</c:v>
                </c:pt>
                <c:pt idx="138">
                  <c:v>4250</c:v>
                </c:pt>
                <c:pt idx="139">
                  <c:v>3400</c:v>
                </c:pt>
                <c:pt idx="140">
                  <c:v>3475</c:v>
                </c:pt>
                <c:pt idx="141">
                  <c:v>3050</c:v>
                </c:pt>
                <c:pt idx="142">
                  <c:v>3725</c:v>
                </c:pt>
                <c:pt idx="143">
                  <c:v>3000</c:v>
                </c:pt>
                <c:pt idx="144">
                  <c:v>3650</c:v>
                </c:pt>
                <c:pt idx="145">
                  <c:v>4250</c:v>
                </c:pt>
                <c:pt idx="146">
                  <c:v>3475</c:v>
                </c:pt>
                <c:pt idx="147">
                  <c:v>3450</c:v>
                </c:pt>
                <c:pt idx="148">
                  <c:v>3750</c:v>
                </c:pt>
                <c:pt idx="149">
                  <c:v>3700</c:v>
                </c:pt>
                <c:pt idx="150">
                  <c:v>4000</c:v>
                </c:pt>
                <c:pt idx="151">
                  <c:v>3500</c:v>
                </c:pt>
                <c:pt idx="152">
                  <c:v>3900</c:v>
                </c:pt>
                <c:pt idx="153">
                  <c:v>3650</c:v>
                </c:pt>
                <c:pt idx="154">
                  <c:v>3525</c:v>
                </c:pt>
                <c:pt idx="155">
                  <c:v>3725</c:v>
                </c:pt>
                <c:pt idx="156">
                  <c:v>3950</c:v>
                </c:pt>
                <c:pt idx="157">
                  <c:v>3250</c:v>
                </c:pt>
                <c:pt idx="158">
                  <c:v>3750</c:v>
                </c:pt>
                <c:pt idx="159">
                  <c:v>4150</c:v>
                </c:pt>
                <c:pt idx="160">
                  <c:v>3700</c:v>
                </c:pt>
                <c:pt idx="161">
                  <c:v>3800</c:v>
                </c:pt>
                <c:pt idx="162">
                  <c:v>3775</c:v>
                </c:pt>
                <c:pt idx="163">
                  <c:v>3700</c:v>
                </c:pt>
                <c:pt idx="164">
                  <c:v>4050</c:v>
                </c:pt>
                <c:pt idx="165">
                  <c:v>3575</c:v>
                </c:pt>
                <c:pt idx="166">
                  <c:v>4050</c:v>
                </c:pt>
                <c:pt idx="167">
                  <c:v>3300</c:v>
                </c:pt>
                <c:pt idx="168">
                  <c:v>3700</c:v>
                </c:pt>
                <c:pt idx="169">
                  <c:v>3450</c:v>
                </c:pt>
                <c:pt idx="170">
                  <c:v>4400</c:v>
                </c:pt>
                <c:pt idx="171">
                  <c:v>3600</c:v>
                </c:pt>
                <c:pt idx="172">
                  <c:v>3400</c:v>
                </c:pt>
                <c:pt idx="173">
                  <c:v>2900</c:v>
                </c:pt>
                <c:pt idx="174">
                  <c:v>3800</c:v>
                </c:pt>
                <c:pt idx="175">
                  <c:v>3300</c:v>
                </c:pt>
                <c:pt idx="176">
                  <c:v>4150</c:v>
                </c:pt>
                <c:pt idx="177">
                  <c:v>3400</c:v>
                </c:pt>
                <c:pt idx="178">
                  <c:v>3800</c:v>
                </c:pt>
                <c:pt idx="179">
                  <c:v>3700</c:v>
                </c:pt>
                <c:pt idx="180">
                  <c:v>4550</c:v>
                </c:pt>
                <c:pt idx="181">
                  <c:v>3200</c:v>
                </c:pt>
                <c:pt idx="182">
                  <c:v>4300</c:v>
                </c:pt>
                <c:pt idx="183">
                  <c:v>3350</c:v>
                </c:pt>
                <c:pt idx="184">
                  <c:v>4100</c:v>
                </c:pt>
                <c:pt idx="185">
                  <c:v>3600</c:v>
                </c:pt>
                <c:pt idx="186">
                  <c:v>3900</c:v>
                </c:pt>
                <c:pt idx="187">
                  <c:v>3850</c:v>
                </c:pt>
                <c:pt idx="188">
                  <c:v>4800</c:v>
                </c:pt>
                <c:pt idx="189">
                  <c:v>2700</c:v>
                </c:pt>
                <c:pt idx="190">
                  <c:v>4500</c:v>
                </c:pt>
                <c:pt idx="191">
                  <c:v>3950</c:v>
                </c:pt>
                <c:pt idx="192">
                  <c:v>3650</c:v>
                </c:pt>
                <c:pt idx="193">
                  <c:v>3550</c:v>
                </c:pt>
                <c:pt idx="194">
                  <c:v>3500</c:v>
                </c:pt>
                <c:pt idx="195">
                  <c:v>3675</c:v>
                </c:pt>
                <c:pt idx="196">
                  <c:v>4450</c:v>
                </c:pt>
                <c:pt idx="197">
                  <c:v>3400</c:v>
                </c:pt>
                <c:pt idx="198">
                  <c:v>4300</c:v>
                </c:pt>
                <c:pt idx="199">
                  <c:v>3250</c:v>
                </c:pt>
                <c:pt idx="200">
                  <c:v>3675</c:v>
                </c:pt>
                <c:pt idx="201">
                  <c:v>3325</c:v>
                </c:pt>
                <c:pt idx="202">
                  <c:v>3950</c:v>
                </c:pt>
                <c:pt idx="203">
                  <c:v>3600</c:v>
                </c:pt>
                <c:pt idx="204">
                  <c:v>4050</c:v>
                </c:pt>
                <c:pt idx="205">
                  <c:v>3350</c:v>
                </c:pt>
                <c:pt idx="206">
                  <c:v>3450</c:v>
                </c:pt>
                <c:pt idx="207">
                  <c:v>3250</c:v>
                </c:pt>
                <c:pt idx="208">
                  <c:v>4050</c:v>
                </c:pt>
                <c:pt idx="209">
                  <c:v>3800</c:v>
                </c:pt>
                <c:pt idx="210">
                  <c:v>3525</c:v>
                </c:pt>
                <c:pt idx="211">
                  <c:v>3950</c:v>
                </c:pt>
                <c:pt idx="212">
                  <c:v>3650</c:v>
                </c:pt>
                <c:pt idx="213">
                  <c:v>3650</c:v>
                </c:pt>
                <c:pt idx="214">
                  <c:v>4000</c:v>
                </c:pt>
                <c:pt idx="215">
                  <c:v>3400</c:v>
                </c:pt>
                <c:pt idx="216">
                  <c:v>3775</c:v>
                </c:pt>
                <c:pt idx="217">
                  <c:v>4100</c:v>
                </c:pt>
                <c:pt idx="218">
                  <c:v>3775</c:v>
                </c:pt>
                <c:pt idx="219">
                  <c:v>4500</c:v>
                </c:pt>
                <c:pt idx="220">
                  <c:v>5700</c:v>
                </c:pt>
                <c:pt idx="221">
                  <c:v>4450</c:v>
                </c:pt>
                <c:pt idx="222">
                  <c:v>5700</c:v>
                </c:pt>
                <c:pt idx="223">
                  <c:v>5400</c:v>
                </c:pt>
                <c:pt idx="224">
                  <c:v>4550</c:v>
                </c:pt>
                <c:pt idx="225">
                  <c:v>4800</c:v>
                </c:pt>
                <c:pt idx="226">
                  <c:v>5200</c:v>
                </c:pt>
                <c:pt idx="227">
                  <c:v>4400</c:v>
                </c:pt>
                <c:pt idx="228">
                  <c:v>5150</c:v>
                </c:pt>
                <c:pt idx="229">
                  <c:v>4650</c:v>
                </c:pt>
                <c:pt idx="230">
                  <c:v>5550</c:v>
                </c:pt>
                <c:pt idx="231">
                  <c:v>4650</c:v>
                </c:pt>
                <c:pt idx="232">
                  <c:v>5850</c:v>
                </c:pt>
                <c:pt idx="233">
                  <c:v>4200</c:v>
                </c:pt>
                <c:pt idx="234">
                  <c:v>5850</c:v>
                </c:pt>
                <c:pt idx="235">
                  <c:v>4150</c:v>
                </c:pt>
                <c:pt idx="236">
                  <c:v>6300</c:v>
                </c:pt>
                <c:pt idx="237">
                  <c:v>4800</c:v>
                </c:pt>
                <c:pt idx="238">
                  <c:v>5350</c:v>
                </c:pt>
                <c:pt idx="239">
                  <c:v>5700</c:v>
                </c:pt>
                <c:pt idx="240">
                  <c:v>5000</c:v>
                </c:pt>
                <c:pt idx="241">
                  <c:v>4400</c:v>
                </c:pt>
                <c:pt idx="242">
                  <c:v>5050</c:v>
                </c:pt>
                <c:pt idx="243">
                  <c:v>5000</c:v>
                </c:pt>
                <c:pt idx="244">
                  <c:v>5100</c:v>
                </c:pt>
                <c:pt idx="245">
                  <c:v>4100</c:v>
                </c:pt>
                <c:pt idx="246">
                  <c:v>5650</c:v>
                </c:pt>
                <c:pt idx="247">
                  <c:v>4600</c:v>
                </c:pt>
                <c:pt idx="248">
                  <c:v>5550</c:v>
                </c:pt>
                <c:pt idx="249">
                  <c:v>5250</c:v>
                </c:pt>
                <c:pt idx="250">
                  <c:v>4700</c:v>
                </c:pt>
                <c:pt idx="251">
                  <c:v>5050</c:v>
                </c:pt>
                <c:pt idx="252">
                  <c:v>6050</c:v>
                </c:pt>
                <c:pt idx="253">
                  <c:v>5150</c:v>
                </c:pt>
                <c:pt idx="254">
                  <c:v>5400</c:v>
                </c:pt>
                <c:pt idx="255">
                  <c:v>4950</c:v>
                </c:pt>
                <c:pt idx="256">
                  <c:v>5250</c:v>
                </c:pt>
                <c:pt idx="257">
                  <c:v>4350</c:v>
                </c:pt>
                <c:pt idx="258">
                  <c:v>5350</c:v>
                </c:pt>
                <c:pt idx="259">
                  <c:v>3950</c:v>
                </c:pt>
                <c:pt idx="260">
                  <c:v>5700</c:v>
                </c:pt>
                <c:pt idx="261">
                  <c:v>4300</c:v>
                </c:pt>
                <c:pt idx="262">
                  <c:v>4750</c:v>
                </c:pt>
                <c:pt idx="263">
                  <c:v>5550</c:v>
                </c:pt>
                <c:pt idx="264">
                  <c:v>4900</c:v>
                </c:pt>
                <c:pt idx="265">
                  <c:v>4200</c:v>
                </c:pt>
                <c:pt idx="266">
                  <c:v>5400</c:v>
                </c:pt>
                <c:pt idx="267">
                  <c:v>5100</c:v>
                </c:pt>
                <c:pt idx="268">
                  <c:v>5300</c:v>
                </c:pt>
                <c:pt idx="269">
                  <c:v>4850</c:v>
                </c:pt>
                <c:pt idx="270">
                  <c:v>5300</c:v>
                </c:pt>
                <c:pt idx="271">
                  <c:v>4400</c:v>
                </c:pt>
                <c:pt idx="272">
                  <c:v>5000</c:v>
                </c:pt>
                <c:pt idx="273">
                  <c:v>4900</c:v>
                </c:pt>
                <c:pt idx="274">
                  <c:v>5050</c:v>
                </c:pt>
                <c:pt idx="275">
                  <c:v>4300</c:v>
                </c:pt>
                <c:pt idx="276">
                  <c:v>5000</c:v>
                </c:pt>
                <c:pt idx="277">
                  <c:v>4450</c:v>
                </c:pt>
                <c:pt idx="278">
                  <c:v>5550</c:v>
                </c:pt>
                <c:pt idx="279">
                  <c:v>4200</c:v>
                </c:pt>
                <c:pt idx="280">
                  <c:v>5300</c:v>
                </c:pt>
                <c:pt idx="281">
                  <c:v>4400</c:v>
                </c:pt>
                <c:pt idx="282">
                  <c:v>5650</c:v>
                </c:pt>
                <c:pt idx="283">
                  <c:v>4700</c:v>
                </c:pt>
                <c:pt idx="284">
                  <c:v>5700</c:v>
                </c:pt>
                <c:pt idx="285">
                  <c:v>4650</c:v>
                </c:pt>
                <c:pt idx="286">
                  <c:v>5800</c:v>
                </c:pt>
                <c:pt idx="287">
                  <c:v>4700</c:v>
                </c:pt>
                <c:pt idx="288">
                  <c:v>5550</c:v>
                </c:pt>
                <c:pt idx="289">
                  <c:v>4750</c:v>
                </c:pt>
                <c:pt idx="290">
                  <c:v>5000</c:v>
                </c:pt>
                <c:pt idx="291">
                  <c:v>5100</c:v>
                </c:pt>
                <c:pt idx="292">
                  <c:v>5200</c:v>
                </c:pt>
                <c:pt idx="293">
                  <c:v>4700</c:v>
                </c:pt>
                <c:pt idx="294">
                  <c:v>5800</c:v>
                </c:pt>
                <c:pt idx="295">
                  <c:v>4600</c:v>
                </c:pt>
                <c:pt idx="296">
                  <c:v>6000</c:v>
                </c:pt>
                <c:pt idx="297">
                  <c:v>4750</c:v>
                </c:pt>
                <c:pt idx="298">
                  <c:v>5950</c:v>
                </c:pt>
                <c:pt idx="299">
                  <c:v>4625</c:v>
                </c:pt>
                <c:pt idx="300">
                  <c:v>5450</c:v>
                </c:pt>
                <c:pt idx="301">
                  <c:v>4725</c:v>
                </c:pt>
                <c:pt idx="302">
                  <c:v>5350</c:v>
                </c:pt>
                <c:pt idx="303">
                  <c:v>4750</c:v>
                </c:pt>
                <c:pt idx="304">
                  <c:v>5600</c:v>
                </c:pt>
                <c:pt idx="305">
                  <c:v>4600</c:v>
                </c:pt>
                <c:pt idx="306">
                  <c:v>5300</c:v>
                </c:pt>
                <c:pt idx="307">
                  <c:v>4875</c:v>
                </c:pt>
                <c:pt idx="308">
                  <c:v>5550</c:v>
                </c:pt>
                <c:pt idx="309">
                  <c:v>4950</c:v>
                </c:pt>
                <c:pt idx="310">
                  <c:v>5400</c:v>
                </c:pt>
                <c:pt idx="311">
                  <c:v>4750</c:v>
                </c:pt>
                <c:pt idx="312">
                  <c:v>5650</c:v>
                </c:pt>
                <c:pt idx="313">
                  <c:v>4850</c:v>
                </c:pt>
                <c:pt idx="314">
                  <c:v>5200</c:v>
                </c:pt>
                <c:pt idx="315">
                  <c:v>4925</c:v>
                </c:pt>
                <c:pt idx="316">
                  <c:v>4875</c:v>
                </c:pt>
                <c:pt idx="317">
                  <c:v>4625</c:v>
                </c:pt>
                <c:pt idx="318">
                  <c:v>5250</c:v>
                </c:pt>
                <c:pt idx="319">
                  <c:v>4850</c:v>
                </c:pt>
                <c:pt idx="320">
                  <c:v>5600</c:v>
                </c:pt>
                <c:pt idx="321">
                  <c:v>4975</c:v>
                </c:pt>
                <c:pt idx="322">
                  <c:v>5500</c:v>
                </c:pt>
                <c:pt idx="323">
                  <c:v>4725</c:v>
                </c:pt>
                <c:pt idx="324">
                  <c:v>5500</c:v>
                </c:pt>
                <c:pt idx="325">
                  <c:v>4700</c:v>
                </c:pt>
                <c:pt idx="326">
                  <c:v>5500</c:v>
                </c:pt>
                <c:pt idx="327">
                  <c:v>4575</c:v>
                </c:pt>
                <c:pt idx="328">
                  <c:v>5500</c:v>
                </c:pt>
                <c:pt idx="329">
                  <c:v>5000</c:v>
                </c:pt>
                <c:pt idx="330">
                  <c:v>5950</c:v>
                </c:pt>
                <c:pt idx="331">
                  <c:v>4650</c:v>
                </c:pt>
                <c:pt idx="332">
                  <c:v>5500</c:v>
                </c:pt>
                <c:pt idx="333">
                  <c:v>4375</c:v>
                </c:pt>
                <c:pt idx="334">
                  <c:v>5850</c:v>
                </c:pt>
                <c:pt idx="335">
                  <c:v>4875</c:v>
                </c:pt>
                <c:pt idx="336">
                  <c:v>6000</c:v>
                </c:pt>
                <c:pt idx="337">
                  <c:v>4925</c:v>
                </c:pt>
                <c:pt idx="338">
                  <c:v>4850</c:v>
                </c:pt>
                <c:pt idx="339">
                  <c:v>5750</c:v>
                </c:pt>
                <c:pt idx="340">
                  <c:v>5200</c:v>
                </c:pt>
                <c:pt idx="341">
                  <c:v>5400</c:v>
                </c:pt>
              </c:numCache>
            </c:numRef>
          </c:xVal>
          <c:yVal>
            <c:numRef>
              <c:f>'Chart Data'!$B$2:$B$343</c:f>
              <c:numCache>
                <c:formatCode>General</c:formatCode>
                <c:ptCount val="342"/>
                <c:pt idx="0">
                  <c:v>181</c:v>
                </c:pt>
                <c:pt idx="1">
                  <c:v>186</c:v>
                </c:pt>
                <c:pt idx="2">
                  <c:v>195</c:v>
                </c:pt>
                <c:pt idx="3">
                  <c:v>193</c:v>
                </c:pt>
                <c:pt idx="4">
                  <c:v>190</c:v>
                </c:pt>
                <c:pt idx="5">
                  <c:v>181</c:v>
                </c:pt>
                <c:pt idx="6">
                  <c:v>195</c:v>
                </c:pt>
                <c:pt idx="7">
                  <c:v>193</c:v>
                </c:pt>
                <c:pt idx="8">
                  <c:v>190</c:v>
                </c:pt>
                <c:pt idx="9">
                  <c:v>186</c:v>
                </c:pt>
                <c:pt idx="10">
                  <c:v>180</c:v>
                </c:pt>
                <c:pt idx="11">
                  <c:v>182</c:v>
                </c:pt>
                <c:pt idx="12">
                  <c:v>191</c:v>
                </c:pt>
                <c:pt idx="13">
                  <c:v>198</c:v>
                </c:pt>
                <c:pt idx="14">
                  <c:v>185</c:v>
                </c:pt>
                <c:pt idx="15">
                  <c:v>195</c:v>
                </c:pt>
                <c:pt idx="16">
                  <c:v>197</c:v>
                </c:pt>
                <c:pt idx="17">
                  <c:v>184</c:v>
                </c:pt>
                <c:pt idx="18">
                  <c:v>194</c:v>
                </c:pt>
                <c:pt idx="19">
                  <c:v>174</c:v>
                </c:pt>
                <c:pt idx="20">
                  <c:v>180</c:v>
                </c:pt>
                <c:pt idx="21">
                  <c:v>189</c:v>
                </c:pt>
                <c:pt idx="22">
                  <c:v>185</c:v>
                </c:pt>
                <c:pt idx="23">
                  <c:v>180</c:v>
                </c:pt>
                <c:pt idx="24">
                  <c:v>187</c:v>
                </c:pt>
                <c:pt idx="25">
                  <c:v>183</c:v>
                </c:pt>
                <c:pt idx="26">
                  <c:v>187</c:v>
                </c:pt>
                <c:pt idx="27">
                  <c:v>172</c:v>
                </c:pt>
                <c:pt idx="28">
                  <c:v>180</c:v>
                </c:pt>
                <c:pt idx="29">
                  <c:v>178</c:v>
                </c:pt>
                <c:pt idx="30">
                  <c:v>178</c:v>
                </c:pt>
                <c:pt idx="31">
                  <c:v>188</c:v>
                </c:pt>
                <c:pt idx="32">
                  <c:v>184</c:v>
                </c:pt>
                <c:pt idx="33">
                  <c:v>195</c:v>
                </c:pt>
                <c:pt idx="34">
                  <c:v>196</c:v>
                </c:pt>
                <c:pt idx="35">
                  <c:v>190</c:v>
                </c:pt>
                <c:pt idx="36">
                  <c:v>180</c:v>
                </c:pt>
                <c:pt idx="37">
                  <c:v>181</c:v>
                </c:pt>
                <c:pt idx="38">
                  <c:v>184</c:v>
                </c:pt>
                <c:pt idx="39">
                  <c:v>182</c:v>
                </c:pt>
                <c:pt idx="40">
                  <c:v>195</c:v>
                </c:pt>
                <c:pt idx="41">
                  <c:v>186</c:v>
                </c:pt>
                <c:pt idx="42">
                  <c:v>196</c:v>
                </c:pt>
                <c:pt idx="43">
                  <c:v>185</c:v>
                </c:pt>
                <c:pt idx="44">
                  <c:v>190</c:v>
                </c:pt>
                <c:pt idx="45">
                  <c:v>182</c:v>
                </c:pt>
                <c:pt idx="46">
                  <c:v>179</c:v>
                </c:pt>
                <c:pt idx="47">
                  <c:v>190</c:v>
                </c:pt>
                <c:pt idx="48">
                  <c:v>191</c:v>
                </c:pt>
                <c:pt idx="49">
                  <c:v>186</c:v>
                </c:pt>
                <c:pt idx="50">
                  <c:v>188</c:v>
                </c:pt>
                <c:pt idx="51">
                  <c:v>190</c:v>
                </c:pt>
                <c:pt idx="52">
                  <c:v>200</c:v>
                </c:pt>
                <c:pt idx="53">
                  <c:v>187</c:v>
                </c:pt>
                <c:pt idx="54">
                  <c:v>191</c:v>
                </c:pt>
                <c:pt idx="55">
                  <c:v>186</c:v>
                </c:pt>
                <c:pt idx="56">
                  <c:v>193</c:v>
                </c:pt>
                <c:pt idx="57">
                  <c:v>181</c:v>
                </c:pt>
                <c:pt idx="58">
                  <c:v>194</c:v>
                </c:pt>
                <c:pt idx="59">
                  <c:v>185</c:v>
                </c:pt>
                <c:pt idx="60">
                  <c:v>195</c:v>
                </c:pt>
                <c:pt idx="61">
                  <c:v>185</c:v>
                </c:pt>
                <c:pt idx="62">
                  <c:v>192</c:v>
                </c:pt>
                <c:pt idx="63">
                  <c:v>184</c:v>
                </c:pt>
                <c:pt idx="64">
                  <c:v>192</c:v>
                </c:pt>
                <c:pt idx="65">
                  <c:v>195</c:v>
                </c:pt>
                <c:pt idx="66">
                  <c:v>188</c:v>
                </c:pt>
                <c:pt idx="67">
                  <c:v>190</c:v>
                </c:pt>
                <c:pt idx="68">
                  <c:v>198</c:v>
                </c:pt>
                <c:pt idx="69">
                  <c:v>190</c:v>
                </c:pt>
                <c:pt idx="70">
                  <c:v>190</c:v>
                </c:pt>
                <c:pt idx="71">
                  <c:v>196</c:v>
                </c:pt>
                <c:pt idx="72">
                  <c:v>197</c:v>
                </c:pt>
                <c:pt idx="73">
                  <c:v>190</c:v>
                </c:pt>
                <c:pt idx="74">
                  <c:v>195</c:v>
                </c:pt>
                <c:pt idx="75">
                  <c:v>191</c:v>
                </c:pt>
                <c:pt idx="76">
                  <c:v>184</c:v>
                </c:pt>
                <c:pt idx="77">
                  <c:v>187</c:v>
                </c:pt>
                <c:pt idx="78">
                  <c:v>195</c:v>
                </c:pt>
                <c:pt idx="79">
                  <c:v>189</c:v>
                </c:pt>
                <c:pt idx="80">
                  <c:v>196</c:v>
                </c:pt>
                <c:pt idx="81">
                  <c:v>187</c:v>
                </c:pt>
                <c:pt idx="82">
                  <c:v>193</c:v>
                </c:pt>
                <c:pt idx="83">
                  <c:v>191</c:v>
                </c:pt>
                <c:pt idx="84">
                  <c:v>194</c:v>
                </c:pt>
                <c:pt idx="85">
                  <c:v>190</c:v>
                </c:pt>
                <c:pt idx="86">
                  <c:v>189</c:v>
                </c:pt>
                <c:pt idx="87">
                  <c:v>189</c:v>
                </c:pt>
                <c:pt idx="88">
                  <c:v>190</c:v>
                </c:pt>
                <c:pt idx="89">
                  <c:v>202</c:v>
                </c:pt>
                <c:pt idx="90">
                  <c:v>205</c:v>
                </c:pt>
                <c:pt idx="91">
                  <c:v>185</c:v>
                </c:pt>
                <c:pt idx="92">
                  <c:v>186</c:v>
                </c:pt>
                <c:pt idx="93">
                  <c:v>187</c:v>
                </c:pt>
                <c:pt idx="94">
                  <c:v>208</c:v>
                </c:pt>
                <c:pt idx="95">
                  <c:v>190</c:v>
                </c:pt>
                <c:pt idx="96">
                  <c:v>196</c:v>
                </c:pt>
                <c:pt idx="97">
                  <c:v>178</c:v>
                </c:pt>
                <c:pt idx="98">
                  <c:v>192</c:v>
                </c:pt>
                <c:pt idx="99">
                  <c:v>192</c:v>
                </c:pt>
                <c:pt idx="100">
                  <c:v>203</c:v>
                </c:pt>
                <c:pt idx="101">
                  <c:v>183</c:v>
                </c:pt>
                <c:pt idx="102">
                  <c:v>190</c:v>
                </c:pt>
                <c:pt idx="103">
                  <c:v>193</c:v>
                </c:pt>
                <c:pt idx="104">
                  <c:v>184</c:v>
                </c:pt>
                <c:pt idx="105">
                  <c:v>199</c:v>
                </c:pt>
                <c:pt idx="106">
                  <c:v>190</c:v>
                </c:pt>
                <c:pt idx="107">
                  <c:v>181</c:v>
                </c:pt>
                <c:pt idx="108">
                  <c:v>197</c:v>
                </c:pt>
                <c:pt idx="109">
                  <c:v>198</c:v>
                </c:pt>
                <c:pt idx="110">
                  <c:v>191</c:v>
                </c:pt>
                <c:pt idx="111">
                  <c:v>193</c:v>
                </c:pt>
                <c:pt idx="112">
                  <c:v>197</c:v>
                </c:pt>
                <c:pt idx="113">
                  <c:v>191</c:v>
                </c:pt>
                <c:pt idx="114">
                  <c:v>196</c:v>
                </c:pt>
                <c:pt idx="115">
                  <c:v>188</c:v>
                </c:pt>
                <c:pt idx="116">
                  <c:v>199</c:v>
                </c:pt>
                <c:pt idx="117">
                  <c:v>189</c:v>
                </c:pt>
                <c:pt idx="118">
                  <c:v>189</c:v>
                </c:pt>
                <c:pt idx="119">
                  <c:v>187</c:v>
                </c:pt>
                <c:pt idx="120">
                  <c:v>198</c:v>
                </c:pt>
                <c:pt idx="121">
                  <c:v>176</c:v>
                </c:pt>
                <c:pt idx="122">
                  <c:v>202</c:v>
                </c:pt>
                <c:pt idx="123">
                  <c:v>186</c:v>
                </c:pt>
                <c:pt idx="124">
                  <c:v>199</c:v>
                </c:pt>
                <c:pt idx="125">
                  <c:v>191</c:v>
                </c:pt>
                <c:pt idx="126">
                  <c:v>195</c:v>
                </c:pt>
                <c:pt idx="127">
                  <c:v>191</c:v>
                </c:pt>
                <c:pt idx="128">
                  <c:v>210</c:v>
                </c:pt>
                <c:pt idx="129">
                  <c:v>190</c:v>
                </c:pt>
                <c:pt idx="130">
                  <c:v>197</c:v>
                </c:pt>
                <c:pt idx="131">
                  <c:v>193</c:v>
                </c:pt>
                <c:pt idx="132">
                  <c:v>199</c:v>
                </c:pt>
                <c:pt idx="133">
                  <c:v>187</c:v>
                </c:pt>
                <c:pt idx="134">
                  <c:v>190</c:v>
                </c:pt>
                <c:pt idx="135">
                  <c:v>191</c:v>
                </c:pt>
                <c:pt idx="136">
                  <c:v>200</c:v>
                </c:pt>
                <c:pt idx="137">
                  <c:v>185</c:v>
                </c:pt>
                <c:pt idx="138">
                  <c:v>193</c:v>
                </c:pt>
                <c:pt idx="139">
                  <c:v>193</c:v>
                </c:pt>
                <c:pt idx="140">
                  <c:v>187</c:v>
                </c:pt>
                <c:pt idx="141">
                  <c:v>188</c:v>
                </c:pt>
                <c:pt idx="142">
                  <c:v>190</c:v>
                </c:pt>
                <c:pt idx="143">
                  <c:v>192</c:v>
                </c:pt>
                <c:pt idx="144">
                  <c:v>185</c:v>
                </c:pt>
                <c:pt idx="145">
                  <c:v>190</c:v>
                </c:pt>
                <c:pt idx="146">
                  <c:v>184</c:v>
                </c:pt>
                <c:pt idx="147">
                  <c:v>195</c:v>
                </c:pt>
                <c:pt idx="148">
                  <c:v>193</c:v>
                </c:pt>
                <c:pt idx="149">
                  <c:v>187</c:v>
                </c:pt>
                <c:pt idx="150">
                  <c:v>201</c:v>
                </c:pt>
                <c:pt idx="151">
                  <c:v>192</c:v>
                </c:pt>
                <c:pt idx="152">
                  <c:v>196</c:v>
                </c:pt>
                <c:pt idx="153">
                  <c:v>193</c:v>
                </c:pt>
                <c:pt idx="154">
                  <c:v>188</c:v>
                </c:pt>
                <c:pt idx="155">
                  <c:v>197</c:v>
                </c:pt>
                <c:pt idx="156">
                  <c:v>198</c:v>
                </c:pt>
                <c:pt idx="157">
                  <c:v>178</c:v>
                </c:pt>
                <c:pt idx="158">
                  <c:v>197</c:v>
                </c:pt>
                <c:pt idx="159">
                  <c:v>195</c:v>
                </c:pt>
                <c:pt idx="160">
                  <c:v>198</c:v>
                </c:pt>
                <c:pt idx="161">
                  <c:v>193</c:v>
                </c:pt>
                <c:pt idx="162">
                  <c:v>194</c:v>
                </c:pt>
                <c:pt idx="163">
                  <c:v>185</c:v>
                </c:pt>
                <c:pt idx="164">
                  <c:v>201</c:v>
                </c:pt>
                <c:pt idx="165">
                  <c:v>190</c:v>
                </c:pt>
                <c:pt idx="166">
                  <c:v>201</c:v>
                </c:pt>
                <c:pt idx="167">
                  <c:v>197</c:v>
                </c:pt>
                <c:pt idx="168">
                  <c:v>181</c:v>
                </c:pt>
                <c:pt idx="169">
                  <c:v>190</c:v>
                </c:pt>
                <c:pt idx="170">
                  <c:v>195</c:v>
                </c:pt>
                <c:pt idx="171">
                  <c:v>181</c:v>
                </c:pt>
                <c:pt idx="172">
                  <c:v>191</c:v>
                </c:pt>
                <c:pt idx="173">
                  <c:v>187</c:v>
                </c:pt>
                <c:pt idx="174">
                  <c:v>193</c:v>
                </c:pt>
                <c:pt idx="175">
                  <c:v>195</c:v>
                </c:pt>
                <c:pt idx="176">
                  <c:v>197</c:v>
                </c:pt>
                <c:pt idx="177">
                  <c:v>200</c:v>
                </c:pt>
                <c:pt idx="178">
                  <c:v>200</c:v>
                </c:pt>
                <c:pt idx="179">
                  <c:v>191</c:v>
                </c:pt>
                <c:pt idx="180">
                  <c:v>205</c:v>
                </c:pt>
                <c:pt idx="181">
                  <c:v>187</c:v>
                </c:pt>
                <c:pt idx="182">
                  <c:v>201</c:v>
                </c:pt>
                <c:pt idx="183">
                  <c:v>187</c:v>
                </c:pt>
                <c:pt idx="184">
                  <c:v>203</c:v>
                </c:pt>
                <c:pt idx="185">
                  <c:v>195</c:v>
                </c:pt>
                <c:pt idx="186">
                  <c:v>199</c:v>
                </c:pt>
                <c:pt idx="187">
                  <c:v>195</c:v>
                </c:pt>
                <c:pt idx="188">
                  <c:v>210</c:v>
                </c:pt>
                <c:pt idx="189">
                  <c:v>192</c:v>
                </c:pt>
                <c:pt idx="190">
                  <c:v>205</c:v>
                </c:pt>
                <c:pt idx="191">
                  <c:v>210</c:v>
                </c:pt>
                <c:pt idx="192">
                  <c:v>187</c:v>
                </c:pt>
                <c:pt idx="193">
                  <c:v>196</c:v>
                </c:pt>
                <c:pt idx="194">
                  <c:v>196</c:v>
                </c:pt>
                <c:pt idx="195">
                  <c:v>196</c:v>
                </c:pt>
                <c:pt idx="196">
                  <c:v>201</c:v>
                </c:pt>
                <c:pt idx="197">
                  <c:v>190</c:v>
                </c:pt>
                <c:pt idx="198">
                  <c:v>212</c:v>
                </c:pt>
                <c:pt idx="199">
                  <c:v>187</c:v>
                </c:pt>
                <c:pt idx="200">
                  <c:v>198</c:v>
                </c:pt>
                <c:pt idx="201">
                  <c:v>199</c:v>
                </c:pt>
                <c:pt idx="202">
                  <c:v>201</c:v>
                </c:pt>
                <c:pt idx="203">
                  <c:v>193</c:v>
                </c:pt>
                <c:pt idx="204">
                  <c:v>203</c:v>
                </c:pt>
                <c:pt idx="205">
                  <c:v>187</c:v>
                </c:pt>
                <c:pt idx="206">
                  <c:v>197</c:v>
                </c:pt>
                <c:pt idx="207">
                  <c:v>191</c:v>
                </c:pt>
                <c:pt idx="208">
                  <c:v>203</c:v>
                </c:pt>
                <c:pt idx="209">
                  <c:v>202</c:v>
                </c:pt>
                <c:pt idx="210">
                  <c:v>194</c:v>
                </c:pt>
                <c:pt idx="211">
                  <c:v>206</c:v>
                </c:pt>
                <c:pt idx="212">
                  <c:v>189</c:v>
                </c:pt>
                <c:pt idx="213">
                  <c:v>195</c:v>
                </c:pt>
                <c:pt idx="214">
                  <c:v>207</c:v>
                </c:pt>
                <c:pt idx="215">
                  <c:v>202</c:v>
                </c:pt>
                <c:pt idx="216">
                  <c:v>193</c:v>
                </c:pt>
                <c:pt idx="217">
                  <c:v>210</c:v>
                </c:pt>
                <c:pt idx="218">
                  <c:v>198</c:v>
                </c:pt>
                <c:pt idx="219">
                  <c:v>211</c:v>
                </c:pt>
                <c:pt idx="220">
                  <c:v>230</c:v>
                </c:pt>
                <c:pt idx="221">
                  <c:v>210</c:v>
                </c:pt>
                <c:pt idx="222">
                  <c:v>218</c:v>
                </c:pt>
                <c:pt idx="223">
                  <c:v>215</c:v>
                </c:pt>
                <c:pt idx="224">
                  <c:v>210</c:v>
                </c:pt>
                <c:pt idx="225">
                  <c:v>211</c:v>
                </c:pt>
                <c:pt idx="226">
                  <c:v>219</c:v>
                </c:pt>
                <c:pt idx="227">
                  <c:v>209</c:v>
                </c:pt>
                <c:pt idx="228">
                  <c:v>215</c:v>
                </c:pt>
                <c:pt idx="229">
                  <c:v>214</c:v>
                </c:pt>
                <c:pt idx="230">
                  <c:v>216</c:v>
                </c:pt>
                <c:pt idx="231">
                  <c:v>214</c:v>
                </c:pt>
                <c:pt idx="232">
                  <c:v>213</c:v>
                </c:pt>
                <c:pt idx="233">
                  <c:v>210</c:v>
                </c:pt>
                <c:pt idx="234">
                  <c:v>217</c:v>
                </c:pt>
                <c:pt idx="235">
                  <c:v>210</c:v>
                </c:pt>
                <c:pt idx="236">
                  <c:v>221</c:v>
                </c:pt>
                <c:pt idx="237">
                  <c:v>209</c:v>
                </c:pt>
                <c:pt idx="238">
                  <c:v>222</c:v>
                </c:pt>
                <c:pt idx="239">
                  <c:v>218</c:v>
                </c:pt>
                <c:pt idx="240">
                  <c:v>215</c:v>
                </c:pt>
                <c:pt idx="241">
                  <c:v>213</c:v>
                </c:pt>
                <c:pt idx="242">
                  <c:v>215</c:v>
                </c:pt>
                <c:pt idx="243">
                  <c:v>215</c:v>
                </c:pt>
                <c:pt idx="244">
                  <c:v>215</c:v>
                </c:pt>
                <c:pt idx="245">
                  <c:v>216</c:v>
                </c:pt>
                <c:pt idx="246">
                  <c:v>215</c:v>
                </c:pt>
                <c:pt idx="247">
                  <c:v>210</c:v>
                </c:pt>
                <c:pt idx="248">
                  <c:v>220</c:v>
                </c:pt>
                <c:pt idx="249">
                  <c:v>222</c:v>
                </c:pt>
                <c:pt idx="250">
                  <c:v>209</c:v>
                </c:pt>
                <c:pt idx="251">
                  <c:v>207</c:v>
                </c:pt>
                <c:pt idx="252">
                  <c:v>230</c:v>
                </c:pt>
                <c:pt idx="253">
                  <c:v>220</c:v>
                </c:pt>
                <c:pt idx="254">
                  <c:v>220</c:v>
                </c:pt>
                <c:pt idx="255">
                  <c:v>213</c:v>
                </c:pt>
                <c:pt idx="256">
                  <c:v>219</c:v>
                </c:pt>
                <c:pt idx="257">
                  <c:v>208</c:v>
                </c:pt>
                <c:pt idx="258">
                  <c:v>208</c:v>
                </c:pt>
                <c:pt idx="259">
                  <c:v>208</c:v>
                </c:pt>
                <c:pt idx="260">
                  <c:v>225</c:v>
                </c:pt>
                <c:pt idx="261">
                  <c:v>210</c:v>
                </c:pt>
                <c:pt idx="262">
                  <c:v>216</c:v>
                </c:pt>
                <c:pt idx="263">
                  <c:v>222</c:v>
                </c:pt>
                <c:pt idx="264">
                  <c:v>217</c:v>
                </c:pt>
                <c:pt idx="265">
                  <c:v>210</c:v>
                </c:pt>
                <c:pt idx="266">
                  <c:v>225</c:v>
                </c:pt>
                <c:pt idx="267">
                  <c:v>213</c:v>
                </c:pt>
                <c:pt idx="268">
                  <c:v>215</c:v>
                </c:pt>
                <c:pt idx="269">
                  <c:v>210</c:v>
                </c:pt>
                <c:pt idx="270">
                  <c:v>220</c:v>
                </c:pt>
                <c:pt idx="271">
                  <c:v>210</c:v>
                </c:pt>
                <c:pt idx="272">
                  <c:v>225</c:v>
                </c:pt>
                <c:pt idx="273">
                  <c:v>217</c:v>
                </c:pt>
                <c:pt idx="274">
                  <c:v>220</c:v>
                </c:pt>
                <c:pt idx="275">
                  <c:v>208</c:v>
                </c:pt>
                <c:pt idx="276">
                  <c:v>220</c:v>
                </c:pt>
                <c:pt idx="277">
                  <c:v>208</c:v>
                </c:pt>
                <c:pt idx="278">
                  <c:v>224</c:v>
                </c:pt>
                <c:pt idx="279">
                  <c:v>208</c:v>
                </c:pt>
                <c:pt idx="280">
                  <c:v>221</c:v>
                </c:pt>
                <c:pt idx="281">
                  <c:v>214</c:v>
                </c:pt>
                <c:pt idx="282">
                  <c:v>231</c:v>
                </c:pt>
                <c:pt idx="283">
                  <c:v>219</c:v>
                </c:pt>
                <c:pt idx="284">
                  <c:v>230</c:v>
                </c:pt>
                <c:pt idx="285">
                  <c:v>214</c:v>
                </c:pt>
                <c:pt idx="286">
                  <c:v>229</c:v>
                </c:pt>
                <c:pt idx="287">
                  <c:v>220</c:v>
                </c:pt>
                <c:pt idx="288">
                  <c:v>223</c:v>
                </c:pt>
                <c:pt idx="289">
                  <c:v>216</c:v>
                </c:pt>
                <c:pt idx="290">
                  <c:v>221</c:v>
                </c:pt>
                <c:pt idx="291">
                  <c:v>221</c:v>
                </c:pt>
                <c:pt idx="292">
                  <c:v>217</c:v>
                </c:pt>
                <c:pt idx="293">
                  <c:v>216</c:v>
                </c:pt>
                <c:pt idx="294">
                  <c:v>230</c:v>
                </c:pt>
                <c:pt idx="295">
                  <c:v>209</c:v>
                </c:pt>
                <c:pt idx="296">
                  <c:v>220</c:v>
                </c:pt>
                <c:pt idx="297">
                  <c:v>215</c:v>
                </c:pt>
                <c:pt idx="298">
                  <c:v>223</c:v>
                </c:pt>
                <c:pt idx="299">
                  <c:v>212</c:v>
                </c:pt>
                <c:pt idx="300">
                  <c:v>221</c:v>
                </c:pt>
                <c:pt idx="301">
                  <c:v>212</c:v>
                </c:pt>
                <c:pt idx="302">
                  <c:v>224</c:v>
                </c:pt>
                <c:pt idx="303">
                  <c:v>212</c:v>
                </c:pt>
                <c:pt idx="304">
                  <c:v>228</c:v>
                </c:pt>
                <c:pt idx="305">
                  <c:v>218</c:v>
                </c:pt>
                <c:pt idx="306">
                  <c:v>218</c:v>
                </c:pt>
                <c:pt idx="307">
                  <c:v>212</c:v>
                </c:pt>
                <c:pt idx="308">
                  <c:v>230</c:v>
                </c:pt>
                <c:pt idx="309">
                  <c:v>218</c:v>
                </c:pt>
                <c:pt idx="310">
                  <c:v>228</c:v>
                </c:pt>
                <c:pt idx="311">
                  <c:v>212</c:v>
                </c:pt>
                <c:pt idx="312">
                  <c:v>224</c:v>
                </c:pt>
                <c:pt idx="313">
                  <c:v>214</c:v>
                </c:pt>
                <c:pt idx="314">
                  <c:v>226</c:v>
                </c:pt>
                <c:pt idx="315">
                  <c:v>216</c:v>
                </c:pt>
                <c:pt idx="316">
                  <c:v>222</c:v>
                </c:pt>
                <c:pt idx="317">
                  <c:v>203</c:v>
                </c:pt>
                <c:pt idx="318">
                  <c:v>225</c:v>
                </c:pt>
                <c:pt idx="319">
                  <c:v>219</c:v>
                </c:pt>
                <c:pt idx="320">
                  <c:v>228</c:v>
                </c:pt>
                <c:pt idx="321">
                  <c:v>215</c:v>
                </c:pt>
                <c:pt idx="322">
                  <c:v>228</c:v>
                </c:pt>
                <c:pt idx="323">
                  <c:v>216</c:v>
                </c:pt>
                <c:pt idx="324">
                  <c:v>215</c:v>
                </c:pt>
                <c:pt idx="325">
                  <c:v>210</c:v>
                </c:pt>
                <c:pt idx="326">
                  <c:v>219</c:v>
                </c:pt>
                <c:pt idx="327">
                  <c:v>208</c:v>
                </c:pt>
                <c:pt idx="328">
                  <c:v>209</c:v>
                </c:pt>
                <c:pt idx="329">
                  <c:v>216</c:v>
                </c:pt>
                <c:pt idx="330">
                  <c:v>229</c:v>
                </c:pt>
                <c:pt idx="331">
                  <c:v>213</c:v>
                </c:pt>
                <c:pt idx="332">
                  <c:v>230</c:v>
                </c:pt>
                <c:pt idx="333">
                  <c:v>217</c:v>
                </c:pt>
                <c:pt idx="334">
                  <c:v>230</c:v>
                </c:pt>
                <c:pt idx="335">
                  <c:v>217</c:v>
                </c:pt>
                <c:pt idx="336">
                  <c:v>222</c:v>
                </c:pt>
                <c:pt idx="337">
                  <c:v>214</c:v>
                </c:pt>
                <c:pt idx="338">
                  <c:v>215</c:v>
                </c:pt>
                <c:pt idx="339">
                  <c:v>222</c:v>
                </c:pt>
                <c:pt idx="340">
                  <c:v>212</c:v>
                </c:pt>
                <c:pt idx="341">
                  <c:v>213</c:v>
                </c:pt>
              </c:numCache>
            </c:numRef>
          </c:yVal>
        </c:ser>
        <c:ser>
          <c:idx val="1"/>
          <c:order val="1"/>
          <c:tx>
            <c:v>Fitted line</c:v>
          </c:tx>
          <c:spPr>
            <a:solidFill xmlns:a="http://schemas.openxmlformats.org/drawingml/2006/main">
              <a:srgbClr val="1F2120"/>
            </a:solidFill>
            <a:ln xmlns:a="http://schemas.openxmlformats.org/drawingml/2006/main" w="19050">
              <a:solidFill>
                <a:srgbClr val="1F2120"/>
              </a:solidFill>
            </a:ln>
          </c:spPr>
          <c:marker>
            <c:symbol val="none"/>
            <c:size val="4"/>
          </c:marker>
          <c:xVal>
            <c:numRef>
              <c:f>'Chart Data'!$C$2:$C$3</c:f>
              <c:numCache>
                <c:formatCode>General</c:formatCode>
                <c:ptCount val="2"/>
                <c:pt idx="0">
                  <c:v>2700</c:v>
                </c:pt>
                <c:pt idx="1">
                  <c:v>6300</c:v>
                </c:pt>
              </c:numCache>
            </c:numRef>
          </c:xVal>
          <c:yVal>
            <c:numRef>
              <c:f>'Chart Data'!$D$2:$D$3</c:f>
              <c:numCache>
                <c:formatCode>General</c:formatCode>
                <c:ptCount val="2"/>
                <c:pt idx="0">
                  <c:v>177.974531414</c:v>
                </c:pt>
                <c:pt idx="1">
                  <c:v>232.967827603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0"/>
          <c:min val="17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Flipper length (mm)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20"/>
      </c:valAx>
      <c:valAx>
        <c:axId val="48650112"/>
        <c:scaling>
          <c:orientation val="minMax"/>
          <c:max val="6500"/>
          <c:min val="25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Body mass (g)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100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History</c:v>
          </c:tx>
          <c:spPr>
            <a:solidFill xmlns:a="http://schemas.openxmlformats.org/drawingml/2006/main">
              <a:srgbClr val="707070"/>
            </a:solidFill>
            <a:ln xmlns:a="http://schemas.openxmlformats.org/drawingml/2006/main" w="19050">
              <a:solidFill>
                <a:srgbClr val="707070"/>
              </a:solidFill>
            </a:ln>
          </c:spPr>
          <c:marker>
            <c:symbol val="none"/>
            <c:size val="4"/>
          </c:marker>
          <c:xVal>
            <c:numRef>
              <c:f>'Chart Data'!$A$2:$A$145</c:f>
              <c:numCache>
                <c:formatCode>General</c:formatCode>
                <c:ptCount val="144"/>
                <c:pt idx="0">
                  <c:v>1949</c:v>
                </c:pt>
                <c:pt idx="1">
                  <c:v>1949.08333333</c:v>
                </c:pt>
                <c:pt idx="2">
                  <c:v>1949.16666667</c:v>
                </c:pt>
                <c:pt idx="3">
                  <c:v>1949.25</c:v>
                </c:pt>
                <c:pt idx="4">
                  <c:v>1949.33333333</c:v>
                </c:pt>
                <c:pt idx="5">
                  <c:v>1949.41666667</c:v>
                </c:pt>
                <c:pt idx="6">
                  <c:v>1949.5</c:v>
                </c:pt>
                <c:pt idx="7">
                  <c:v>1949.58333333</c:v>
                </c:pt>
                <c:pt idx="8">
                  <c:v>1949.66666667</c:v>
                </c:pt>
                <c:pt idx="9">
                  <c:v>1949.75</c:v>
                </c:pt>
                <c:pt idx="10">
                  <c:v>1949.83333333</c:v>
                </c:pt>
                <c:pt idx="11">
                  <c:v>1949.91666667</c:v>
                </c:pt>
                <c:pt idx="12">
                  <c:v>1950</c:v>
                </c:pt>
                <c:pt idx="13">
                  <c:v>1950.08333333</c:v>
                </c:pt>
                <c:pt idx="14">
                  <c:v>1950.16666667</c:v>
                </c:pt>
                <c:pt idx="15">
                  <c:v>1950.25</c:v>
                </c:pt>
                <c:pt idx="16">
                  <c:v>1950.33333333</c:v>
                </c:pt>
                <c:pt idx="17">
                  <c:v>1950.41666667</c:v>
                </c:pt>
                <c:pt idx="18">
                  <c:v>1950.5</c:v>
                </c:pt>
                <c:pt idx="19">
                  <c:v>1950.58333333</c:v>
                </c:pt>
                <c:pt idx="20">
                  <c:v>1950.66666667</c:v>
                </c:pt>
                <c:pt idx="21">
                  <c:v>1950.75</c:v>
                </c:pt>
                <c:pt idx="22">
                  <c:v>1950.83333333</c:v>
                </c:pt>
                <c:pt idx="23">
                  <c:v>1950.91666667</c:v>
                </c:pt>
                <c:pt idx="24">
                  <c:v>1951</c:v>
                </c:pt>
                <c:pt idx="25">
                  <c:v>1951.08333333</c:v>
                </c:pt>
                <c:pt idx="26">
                  <c:v>1951.16666667</c:v>
                </c:pt>
                <c:pt idx="27">
                  <c:v>1951.25</c:v>
                </c:pt>
                <c:pt idx="28">
                  <c:v>1951.33333333</c:v>
                </c:pt>
                <c:pt idx="29">
                  <c:v>1951.41666667</c:v>
                </c:pt>
                <c:pt idx="30">
                  <c:v>1951.5</c:v>
                </c:pt>
                <c:pt idx="31">
                  <c:v>1951.58333333</c:v>
                </c:pt>
                <c:pt idx="32">
                  <c:v>1951.66666667</c:v>
                </c:pt>
                <c:pt idx="33">
                  <c:v>1951.75</c:v>
                </c:pt>
                <c:pt idx="34">
                  <c:v>1951.83333333</c:v>
                </c:pt>
                <c:pt idx="35">
                  <c:v>1951.91666667</c:v>
                </c:pt>
                <c:pt idx="36">
                  <c:v>1952</c:v>
                </c:pt>
                <c:pt idx="37">
                  <c:v>1952.08333333</c:v>
                </c:pt>
                <c:pt idx="38">
                  <c:v>1952.16666667</c:v>
                </c:pt>
                <c:pt idx="39">
                  <c:v>1952.25</c:v>
                </c:pt>
                <c:pt idx="40">
                  <c:v>1952.33333333</c:v>
                </c:pt>
                <c:pt idx="41">
                  <c:v>1952.41666667</c:v>
                </c:pt>
                <c:pt idx="42">
                  <c:v>1952.5</c:v>
                </c:pt>
                <c:pt idx="43">
                  <c:v>1952.58333333</c:v>
                </c:pt>
                <c:pt idx="44">
                  <c:v>1952.66666667</c:v>
                </c:pt>
                <c:pt idx="45">
                  <c:v>1952.75</c:v>
                </c:pt>
                <c:pt idx="46">
                  <c:v>1952.83333333</c:v>
                </c:pt>
                <c:pt idx="47">
                  <c:v>1952.91666667</c:v>
                </c:pt>
                <c:pt idx="48">
                  <c:v>1953</c:v>
                </c:pt>
                <c:pt idx="49">
                  <c:v>1953.08333333</c:v>
                </c:pt>
                <c:pt idx="50">
                  <c:v>1953.16666667</c:v>
                </c:pt>
                <c:pt idx="51">
                  <c:v>1953.25</c:v>
                </c:pt>
                <c:pt idx="52">
                  <c:v>1953.33333333</c:v>
                </c:pt>
                <c:pt idx="53">
                  <c:v>1953.41666667</c:v>
                </c:pt>
                <c:pt idx="54">
                  <c:v>1953.5</c:v>
                </c:pt>
                <c:pt idx="55">
                  <c:v>1953.58333333</c:v>
                </c:pt>
                <c:pt idx="56">
                  <c:v>1953.66666667</c:v>
                </c:pt>
                <c:pt idx="57">
                  <c:v>1953.75</c:v>
                </c:pt>
                <c:pt idx="58">
                  <c:v>1953.83333333</c:v>
                </c:pt>
                <c:pt idx="59">
                  <c:v>1953.91666667</c:v>
                </c:pt>
                <c:pt idx="60">
                  <c:v>1954</c:v>
                </c:pt>
                <c:pt idx="61">
                  <c:v>1954.08333333</c:v>
                </c:pt>
                <c:pt idx="62">
                  <c:v>1954.16666667</c:v>
                </c:pt>
                <c:pt idx="63">
                  <c:v>1954.25</c:v>
                </c:pt>
                <c:pt idx="64">
                  <c:v>1954.33333333</c:v>
                </c:pt>
                <c:pt idx="65">
                  <c:v>1954.41666667</c:v>
                </c:pt>
                <c:pt idx="66">
                  <c:v>1954.5</c:v>
                </c:pt>
                <c:pt idx="67">
                  <c:v>1954.58333333</c:v>
                </c:pt>
                <c:pt idx="68">
                  <c:v>1954.66666667</c:v>
                </c:pt>
                <c:pt idx="69">
                  <c:v>1954.75</c:v>
                </c:pt>
                <c:pt idx="70">
                  <c:v>1954.83333333</c:v>
                </c:pt>
                <c:pt idx="71">
                  <c:v>1954.91666667</c:v>
                </c:pt>
                <c:pt idx="72">
                  <c:v>1955</c:v>
                </c:pt>
                <c:pt idx="73">
                  <c:v>1955.08333333</c:v>
                </c:pt>
                <c:pt idx="74">
                  <c:v>1955.16666667</c:v>
                </c:pt>
                <c:pt idx="75">
                  <c:v>1955.25</c:v>
                </c:pt>
                <c:pt idx="76">
                  <c:v>1955.33333333</c:v>
                </c:pt>
                <c:pt idx="77">
                  <c:v>1955.41666667</c:v>
                </c:pt>
                <c:pt idx="78">
                  <c:v>1955.5</c:v>
                </c:pt>
                <c:pt idx="79">
                  <c:v>1955.58333333</c:v>
                </c:pt>
                <c:pt idx="80">
                  <c:v>1955.66666667</c:v>
                </c:pt>
                <c:pt idx="81">
                  <c:v>1955.75</c:v>
                </c:pt>
                <c:pt idx="82">
                  <c:v>1955.83333333</c:v>
                </c:pt>
                <c:pt idx="83">
                  <c:v>1955.91666667</c:v>
                </c:pt>
                <c:pt idx="84">
                  <c:v>1956</c:v>
                </c:pt>
                <c:pt idx="85">
                  <c:v>1956.08333333</c:v>
                </c:pt>
                <c:pt idx="86">
                  <c:v>1956.16666667</c:v>
                </c:pt>
                <c:pt idx="87">
                  <c:v>1956.25</c:v>
                </c:pt>
                <c:pt idx="88">
                  <c:v>1956.33333333</c:v>
                </c:pt>
                <c:pt idx="89">
                  <c:v>1956.41666667</c:v>
                </c:pt>
                <c:pt idx="90">
                  <c:v>1956.5</c:v>
                </c:pt>
                <c:pt idx="91">
                  <c:v>1956.58333333</c:v>
                </c:pt>
                <c:pt idx="92">
                  <c:v>1956.66666667</c:v>
                </c:pt>
                <c:pt idx="93">
                  <c:v>1956.75</c:v>
                </c:pt>
                <c:pt idx="94">
                  <c:v>1956.83333333</c:v>
                </c:pt>
                <c:pt idx="95">
                  <c:v>1956.91666667</c:v>
                </c:pt>
                <c:pt idx="96">
                  <c:v>1957</c:v>
                </c:pt>
                <c:pt idx="97">
                  <c:v>1957.08333333</c:v>
                </c:pt>
                <c:pt idx="98">
                  <c:v>1957.16666667</c:v>
                </c:pt>
                <c:pt idx="99">
                  <c:v>1957.25</c:v>
                </c:pt>
                <c:pt idx="100">
                  <c:v>1957.33333333</c:v>
                </c:pt>
                <c:pt idx="101">
                  <c:v>1957.41666667</c:v>
                </c:pt>
                <c:pt idx="102">
                  <c:v>1957.5</c:v>
                </c:pt>
                <c:pt idx="103">
                  <c:v>1957.58333333</c:v>
                </c:pt>
                <c:pt idx="104">
                  <c:v>1957.66666667</c:v>
                </c:pt>
                <c:pt idx="105">
                  <c:v>1957.75</c:v>
                </c:pt>
                <c:pt idx="106">
                  <c:v>1957.83333333</c:v>
                </c:pt>
                <c:pt idx="107">
                  <c:v>1957.91666667</c:v>
                </c:pt>
                <c:pt idx="108">
                  <c:v>1958</c:v>
                </c:pt>
                <c:pt idx="109">
                  <c:v>1958.08333333</c:v>
                </c:pt>
                <c:pt idx="110">
                  <c:v>1958.16666667</c:v>
                </c:pt>
                <c:pt idx="111">
                  <c:v>1958.25</c:v>
                </c:pt>
                <c:pt idx="112">
                  <c:v>1958.33333333</c:v>
                </c:pt>
                <c:pt idx="113">
                  <c:v>1958.41666667</c:v>
                </c:pt>
                <c:pt idx="114">
                  <c:v>1958.5</c:v>
                </c:pt>
                <c:pt idx="115">
                  <c:v>1958.58333333</c:v>
                </c:pt>
                <c:pt idx="116">
                  <c:v>1958.66666667</c:v>
                </c:pt>
                <c:pt idx="117">
                  <c:v>1958.75</c:v>
                </c:pt>
                <c:pt idx="118">
                  <c:v>1958.83333333</c:v>
                </c:pt>
                <c:pt idx="119">
                  <c:v>1958.91666667</c:v>
                </c:pt>
                <c:pt idx="120">
                  <c:v>1959</c:v>
                </c:pt>
                <c:pt idx="121">
                  <c:v>1959.08333333</c:v>
                </c:pt>
                <c:pt idx="122">
                  <c:v>1959.16666667</c:v>
                </c:pt>
                <c:pt idx="123">
                  <c:v>1959.25</c:v>
                </c:pt>
                <c:pt idx="124">
                  <c:v>1959.33333333</c:v>
                </c:pt>
                <c:pt idx="125">
                  <c:v>1959.41666667</c:v>
                </c:pt>
                <c:pt idx="126">
                  <c:v>1959.5</c:v>
                </c:pt>
                <c:pt idx="127">
                  <c:v>1959.58333333</c:v>
                </c:pt>
                <c:pt idx="128">
                  <c:v>1959.66666667</c:v>
                </c:pt>
                <c:pt idx="129">
                  <c:v>1959.75</c:v>
                </c:pt>
                <c:pt idx="130">
                  <c:v>1959.83333333</c:v>
                </c:pt>
                <c:pt idx="131">
                  <c:v>1959.91666667</c:v>
                </c:pt>
                <c:pt idx="132">
                  <c:v>1960</c:v>
                </c:pt>
                <c:pt idx="133">
                  <c:v>1960.08333333</c:v>
                </c:pt>
                <c:pt idx="134">
                  <c:v>1960.16666667</c:v>
                </c:pt>
                <c:pt idx="135">
                  <c:v>1960.25</c:v>
                </c:pt>
                <c:pt idx="136">
                  <c:v>1960.33333333</c:v>
                </c:pt>
                <c:pt idx="137">
                  <c:v>1960.41666667</c:v>
                </c:pt>
                <c:pt idx="138">
                  <c:v>1960.5</c:v>
                </c:pt>
                <c:pt idx="139">
                  <c:v>1960.58333333</c:v>
                </c:pt>
                <c:pt idx="140">
                  <c:v>1960.66666667</c:v>
                </c:pt>
                <c:pt idx="141">
                  <c:v>1960.75</c:v>
                </c:pt>
                <c:pt idx="142">
                  <c:v>1960.83333333</c:v>
                </c:pt>
                <c:pt idx="143">
                  <c:v>1960.91666667</c:v>
                </c:pt>
              </c:numCache>
            </c:numRef>
          </c:xVal>
          <c:yVal>
            <c:numRef>
              <c:f>'Chart Data'!$B$2:$B$145</c:f>
              <c:numCache>
                <c:formatCode>General</c:formatCode>
                <c:ptCount val="144"/>
                <c:pt idx="0">
                  <c:v>112</c:v>
                </c:pt>
                <c:pt idx="1">
                  <c:v>118</c:v>
                </c:pt>
                <c:pt idx="2">
                  <c:v>132</c:v>
                </c:pt>
                <c:pt idx="3">
                  <c:v>129</c:v>
                </c:pt>
                <c:pt idx="4">
                  <c:v>121</c:v>
                </c:pt>
                <c:pt idx="5">
                  <c:v>135</c:v>
                </c:pt>
                <c:pt idx="6">
                  <c:v>148</c:v>
                </c:pt>
                <c:pt idx="7">
                  <c:v>148</c:v>
                </c:pt>
                <c:pt idx="8">
                  <c:v>136</c:v>
                </c:pt>
                <c:pt idx="9">
                  <c:v>119</c:v>
                </c:pt>
                <c:pt idx="10">
                  <c:v>104</c:v>
                </c:pt>
                <c:pt idx="11">
                  <c:v>118</c:v>
                </c:pt>
                <c:pt idx="12">
                  <c:v>115</c:v>
                </c:pt>
                <c:pt idx="13">
                  <c:v>126</c:v>
                </c:pt>
                <c:pt idx="14">
                  <c:v>141</c:v>
                </c:pt>
                <c:pt idx="15">
                  <c:v>135</c:v>
                </c:pt>
                <c:pt idx="16">
                  <c:v>125</c:v>
                </c:pt>
                <c:pt idx="17">
                  <c:v>149</c:v>
                </c:pt>
                <c:pt idx="18">
                  <c:v>170</c:v>
                </c:pt>
                <c:pt idx="19">
                  <c:v>170</c:v>
                </c:pt>
                <c:pt idx="20">
                  <c:v>158</c:v>
                </c:pt>
                <c:pt idx="21">
                  <c:v>133</c:v>
                </c:pt>
                <c:pt idx="22">
                  <c:v>114</c:v>
                </c:pt>
                <c:pt idx="23">
                  <c:v>140</c:v>
                </c:pt>
                <c:pt idx="24">
                  <c:v>145</c:v>
                </c:pt>
                <c:pt idx="25">
                  <c:v>150</c:v>
                </c:pt>
                <c:pt idx="26">
                  <c:v>178</c:v>
                </c:pt>
                <c:pt idx="27">
                  <c:v>163</c:v>
                </c:pt>
                <c:pt idx="28">
                  <c:v>172</c:v>
                </c:pt>
                <c:pt idx="29">
                  <c:v>178</c:v>
                </c:pt>
                <c:pt idx="30">
                  <c:v>199</c:v>
                </c:pt>
                <c:pt idx="31">
                  <c:v>199</c:v>
                </c:pt>
                <c:pt idx="32">
                  <c:v>184</c:v>
                </c:pt>
                <c:pt idx="33">
                  <c:v>162</c:v>
                </c:pt>
                <c:pt idx="34">
                  <c:v>146</c:v>
                </c:pt>
                <c:pt idx="35">
                  <c:v>166</c:v>
                </c:pt>
                <c:pt idx="36">
                  <c:v>171</c:v>
                </c:pt>
                <c:pt idx="37">
                  <c:v>180</c:v>
                </c:pt>
                <c:pt idx="38">
                  <c:v>193</c:v>
                </c:pt>
                <c:pt idx="39">
                  <c:v>181</c:v>
                </c:pt>
                <c:pt idx="40">
                  <c:v>183</c:v>
                </c:pt>
                <c:pt idx="41">
                  <c:v>218</c:v>
                </c:pt>
                <c:pt idx="42">
                  <c:v>230</c:v>
                </c:pt>
                <c:pt idx="43">
                  <c:v>242</c:v>
                </c:pt>
                <c:pt idx="44">
                  <c:v>209</c:v>
                </c:pt>
                <c:pt idx="45">
                  <c:v>191</c:v>
                </c:pt>
                <c:pt idx="46">
                  <c:v>172</c:v>
                </c:pt>
                <c:pt idx="47">
                  <c:v>194</c:v>
                </c:pt>
                <c:pt idx="48">
                  <c:v>196</c:v>
                </c:pt>
                <c:pt idx="49">
                  <c:v>196</c:v>
                </c:pt>
                <c:pt idx="50">
                  <c:v>236</c:v>
                </c:pt>
                <c:pt idx="51">
                  <c:v>235</c:v>
                </c:pt>
                <c:pt idx="52">
                  <c:v>229</c:v>
                </c:pt>
                <c:pt idx="53">
                  <c:v>243</c:v>
                </c:pt>
                <c:pt idx="54">
                  <c:v>264</c:v>
                </c:pt>
                <c:pt idx="55">
                  <c:v>272</c:v>
                </c:pt>
                <c:pt idx="56">
                  <c:v>237</c:v>
                </c:pt>
                <c:pt idx="57">
                  <c:v>211</c:v>
                </c:pt>
                <c:pt idx="58">
                  <c:v>180</c:v>
                </c:pt>
                <c:pt idx="59">
                  <c:v>201</c:v>
                </c:pt>
                <c:pt idx="60">
                  <c:v>204</c:v>
                </c:pt>
                <c:pt idx="61">
                  <c:v>188</c:v>
                </c:pt>
                <c:pt idx="62">
                  <c:v>235</c:v>
                </c:pt>
                <c:pt idx="63">
                  <c:v>227</c:v>
                </c:pt>
                <c:pt idx="64">
                  <c:v>234</c:v>
                </c:pt>
                <c:pt idx="65">
                  <c:v>264</c:v>
                </c:pt>
                <c:pt idx="66">
                  <c:v>302</c:v>
                </c:pt>
                <c:pt idx="67">
                  <c:v>293</c:v>
                </c:pt>
                <c:pt idx="68">
                  <c:v>259</c:v>
                </c:pt>
                <c:pt idx="69">
                  <c:v>229</c:v>
                </c:pt>
                <c:pt idx="70">
                  <c:v>203</c:v>
                </c:pt>
                <c:pt idx="71">
                  <c:v>229</c:v>
                </c:pt>
                <c:pt idx="72">
                  <c:v>242</c:v>
                </c:pt>
                <c:pt idx="73">
                  <c:v>233</c:v>
                </c:pt>
                <c:pt idx="74">
                  <c:v>267</c:v>
                </c:pt>
                <c:pt idx="75">
                  <c:v>269</c:v>
                </c:pt>
                <c:pt idx="76">
                  <c:v>270</c:v>
                </c:pt>
                <c:pt idx="77">
                  <c:v>315</c:v>
                </c:pt>
                <c:pt idx="78">
                  <c:v>364</c:v>
                </c:pt>
                <c:pt idx="79">
                  <c:v>347</c:v>
                </c:pt>
                <c:pt idx="80">
                  <c:v>312</c:v>
                </c:pt>
                <c:pt idx="81">
                  <c:v>274</c:v>
                </c:pt>
                <c:pt idx="82">
                  <c:v>237</c:v>
                </c:pt>
                <c:pt idx="83">
                  <c:v>278</c:v>
                </c:pt>
                <c:pt idx="84">
                  <c:v>284</c:v>
                </c:pt>
                <c:pt idx="85">
                  <c:v>277</c:v>
                </c:pt>
                <c:pt idx="86">
                  <c:v>317</c:v>
                </c:pt>
                <c:pt idx="87">
                  <c:v>313</c:v>
                </c:pt>
                <c:pt idx="88">
                  <c:v>318</c:v>
                </c:pt>
                <c:pt idx="89">
                  <c:v>374</c:v>
                </c:pt>
                <c:pt idx="90">
                  <c:v>413</c:v>
                </c:pt>
                <c:pt idx="91">
                  <c:v>405</c:v>
                </c:pt>
                <c:pt idx="92">
                  <c:v>355</c:v>
                </c:pt>
                <c:pt idx="93">
                  <c:v>306</c:v>
                </c:pt>
                <c:pt idx="94">
                  <c:v>271</c:v>
                </c:pt>
                <c:pt idx="95">
                  <c:v>306</c:v>
                </c:pt>
                <c:pt idx="96">
                  <c:v>315</c:v>
                </c:pt>
                <c:pt idx="97">
                  <c:v>301</c:v>
                </c:pt>
                <c:pt idx="98">
                  <c:v>356</c:v>
                </c:pt>
                <c:pt idx="99">
                  <c:v>348</c:v>
                </c:pt>
                <c:pt idx="100">
                  <c:v>355</c:v>
                </c:pt>
                <c:pt idx="101">
                  <c:v>422</c:v>
                </c:pt>
                <c:pt idx="102">
                  <c:v>465</c:v>
                </c:pt>
                <c:pt idx="103">
                  <c:v>467</c:v>
                </c:pt>
                <c:pt idx="104">
                  <c:v>404</c:v>
                </c:pt>
                <c:pt idx="105">
                  <c:v>347</c:v>
                </c:pt>
                <c:pt idx="106">
                  <c:v>305</c:v>
                </c:pt>
                <c:pt idx="107">
                  <c:v>336</c:v>
                </c:pt>
                <c:pt idx="108">
                  <c:v>340</c:v>
                </c:pt>
                <c:pt idx="109">
                  <c:v>318</c:v>
                </c:pt>
                <c:pt idx="110">
                  <c:v>362</c:v>
                </c:pt>
                <c:pt idx="111">
                  <c:v>348</c:v>
                </c:pt>
                <c:pt idx="112">
                  <c:v>363</c:v>
                </c:pt>
                <c:pt idx="113">
                  <c:v>435</c:v>
                </c:pt>
                <c:pt idx="114">
                  <c:v>491</c:v>
                </c:pt>
                <c:pt idx="115">
                  <c:v>505</c:v>
                </c:pt>
                <c:pt idx="116">
                  <c:v>404</c:v>
                </c:pt>
                <c:pt idx="117">
                  <c:v>359</c:v>
                </c:pt>
                <c:pt idx="118">
                  <c:v>310</c:v>
                </c:pt>
                <c:pt idx="119">
                  <c:v>337</c:v>
                </c:pt>
                <c:pt idx="120">
                  <c:v>360</c:v>
                </c:pt>
                <c:pt idx="121">
                  <c:v>342</c:v>
                </c:pt>
                <c:pt idx="122">
                  <c:v>406</c:v>
                </c:pt>
                <c:pt idx="123">
                  <c:v>396</c:v>
                </c:pt>
                <c:pt idx="124">
                  <c:v>420</c:v>
                </c:pt>
                <c:pt idx="125">
                  <c:v>472</c:v>
                </c:pt>
                <c:pt idx="126">
                  <c:v>548</c:v>
                </c:pt>
                <c:pt idx="127">
                  <c:v>559</c:v>
                </c:pt>
                <c:pt idx="128">
                  <c:v>463</c:v>
                </c:pt>
                <c:pt idx="129">
                  <c:v>407</c:v>
                </c:pt>
                <c:pt idx="130">
                  <c:v>362</c:v>
                </c:pt>
                <c:pt idx="131">
                  <c:v>405</c:v>
                </c:pt>
                <c:pt idx="132">
                  <c:v>417</c:v>
                </c:pt>
                <c:pt idx="133">
                  <c:v>391</c:v>
                </c:pt>
                <c:pt idx="134">
                  <c:v>419</c:v>
                </c:pt>
                <c:pt idx="135">
                  <c:v>461</c:v>
                </c:pt>
                <c:pt idx="136">
                  <c:v>472</c:v>
                </c:pt>
                <c:pt idx="137">
                  <c:v>535</c:v>
                </c:pt>
                <c:pt idx="138">
                  <c:v>622</c:v>
                </c:pt>
                <c:pt idx="139">
                  <c:v>606</c:v>
                </c:pt>
                <c:pt idx="140">
                  <c:v>508</c:v>
                </c:pt>
                <c:pt idx="141">
                  <c:v>461</c:v>
                </c:pt>
                <c:pt idx="142">
                  <c:v>390</c:v>
                </c:pt>
                <c:pt idx="143">
                  <c:v>432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Passengers (000s)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961"/>
          <c:min val="1949"/>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
      </c:valAx>
      <c:spPr>
        <a:solidFill xmlns:a="http://schemas.openxmlformats.org/drawingml/2006/main">
          <a:srgbClr val="EEECE1"/>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EEECE1"/>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MAE</c:v>
          </c:tx>
          <c:spPr>
            <a:solidFill xmlns:a="http://schemas.openxmlformats.org/drawingml/2006/main">
              <a:srgbClr val="CF3338"/>
            </a:solidFill>
          </c:spPr>
          <c:cat>
            <c:strRef>
              <c:f>'Chart Data'!$A$2:$A$3</c:f>
              <c:strCache>
                <c:ptCount val="2"/>
                <c:pt idx="0">
                  <c:v>Repeat last year</c:v>
                </c:pt>
                <c:pt idx="1">
                  <c:v>Holt-Winters</c:v>
                </c:pt>
              </c:strCache>
            </c:strRef>
          </c:cat>
          <c:val>
            <c:numRef>
              <c:f>'Chart Data'!$B$2:$B$3</c:f>
              <c:numCache>
                <c:formatCode>General</c:formatCode>
                <c:ptCount val="2"/>
                <c:pt idx="0">
                  <c:v>47.8333333333</c:v>
                </c:pt>
                <c:pt idx="1">
                  <c:v>13.3821680518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Method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Average miss (000s)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majorUnit val="20"/>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History</c:v>
          </c:tx>
          <c:spPr>
            <a:solidFill xmlns:a="http://schemas.openxmlformats.org/drawingml/2006/main">
              <a:srgbClr val="707070"/>
            </a:solidFill>
            <a:ln xmlns:a="http://schemas.openxmlformats.org/drawingml/2006/main" w="19050">
              <a:solidFill>
                <a:srgbClr val="707070"/>
              </a:solidFill>
            </a:ln>
          </c:spPr>
          <c:marker>
            <c:symbol val="none"/>
            <c:size val="4"/>
          </c:marker>
          <c:xVal>
            <c:numRef>
              <c:f>'Chart Data'!$A$2:$A$145</c:f>
              <c:numCache>
                <c:formatCode>General</c:formatCode>
                <c:ptCount val="144"/>
                <c:pt idx="0">
                  <c:v>1949</c:v>
                </c:pt>
                <c:pt idx="1">
                  <c:v>1949.08333333</c:v>
                </c:pt>
                <c:pt idx="2">
                  <c:v>1949.16666667</c:v>
                </c:pt>
                <c:pt idx="3">
                  <c:v>1949.25</c:v>
                </c:pt>
                <c:pt idx="4">
                  <c:v>1949.33333333</c:v>
                </c:pt>
                <c:pt idx="5">
                  <c:v>1949.41666667</c:v>
                </c:pt>
                <c:pt idx="6">
                  <c:v>1949.5</c:v>
                </c:pt>
                <c:pt idx="7">
                  <c:v>1949.58333333</c:v>
                </c:pt>
                <c:pt idx="8">
                  <c:v>1949.66666667</c:v>
                </c:pt>
                <c:pt idx="9">
                  <c:v>1949.75</c:v>
                </c:pt>
                <c:pt idx="10">
                  <c:v>1949.83333333</c:v>
                </c:pt>
                <c:pt idx="11">
                  <c:v>1949.91666667</c:v>
                </c:pt>
                <c:pt idx="12">
                  <c:v>1950</c:v>
                </c:pt>
                <c:pt idx="13">
                  <c:v>1950.08333333</c:v>
                </c:pt>
                <c:pt idx="14">
                  <c:v>1950.16666667</c:v>
                </c:pt>
                <c:pt idx="15">
                  <c:v>1950.25</c:v>
                </c:pt>
                <c:pt idx="16">
                  <c:v>1950.33333333</c:v>
                </c:pt>
                <c:pt idx="17">
                  <c:v>1950.41666667</c:v>
                </c:pt>
                <c:pt idx="18">
                  <c:v>1950.5</c:v>
                </c:pt>
                <c:pt idx="19">
                  <c:v>1950.58333333</c:v>
                </c:pt>
                <c:pt idx="20">
                  <c:v>1950.66666667</c:v>
                </c:pt>
                <c:pt idx="21">
                  <c:v>1950.75</c:v>
                </c:pt>
                <c:pt idx="22">
                  <c:v>1950.83333333</c:v>
                </c:pt>
                <c:pt idx="23">
                  <c:v>1950.91666667</c:v>
                </c:pt>
                <c:pt idx="24">
                  <c:v>1951</c:v>
                </c:pt>
                <c:pt idx="25">
                  <c:v>1951.08333333</c:v>
                </c:pt>
                <c:pt idx="26">
                  <c:v>1951.16666667</c:v>
                </c:pt>
                <c:pt idx="27">
                  <c:v>1951.25</c:v>
                </c:pt>
                <c:pt idx="28">
                  <c:v>1951.33333333</c:v>
                </c:pt>
                <c:pt idx="29">
                  <c:v>1951.41666667</c:v>
                </c:pt>
                <c:pt idx="30">
                  <c:v>1951.5</c:v>
                </c:pt>
                <c:pt idx="31">
                  <c:v>1951.58333333</c:v>
                </c:pt>
                <c:pt idx="32">
                  <c:v>1951.66666667</c:v>
                </c:pt>
                <c:pt idx="33">
                  <c:v>1951.75</c:v>
                </c:pt>
                <c:pt idx="34">
                  <c:v>1951.83333333</c:v>
                </c:pt>
                <c:pt idx="35">
                  <c:v>1951.91666667</c:v>
                </c:pt>
                <c:pt idx="36">
                  <c:v>1952</c:v>
                </c:pt>
                <c:pt idx="37">
                  <c:v>1952.08333333</c:v>
                </c:pt>
                <c:pt idx="38">
                  <c:v>1952.16666667</c:v>
                </c:pt>
                <c:pt idx="39">
                  <c:v>1952.25</c:v>
                </c:pt>
                <c:pt idx="40">
                  <c:v>1952.33333333</c:v>
                </c:pt>
                <c:pt idx="41">
                  <c:v>1952.41666667</c:v>
                </c:pt>
                <c:pt idx="42">
                  <c:v>1952.5</c:v>
                </c:pt>
                <c:pt idx="43">
                  <c:v>1952.58333333</c:v>
                </c:pt>
                <c:pt idx="44">
                  <c:v>1952.66666667</c:v>
                </c:pt>
                <c:pt idx="45">
                  <c:v>1952.75</c:v>
                </c:pt>
                <c:pt idx="46">
                  <c:v>1952.83333333</c:v>
                </c:pt>
                <c:pt idx="47">
                  <c:v>1952.91666667</c:v>
                </c:pt>
                <c:pt idx="48">
                  <c:v>1953</c:v>
                </c:pt>
                <c:pt idx="49">
                  <c:v>1953.08333333</c:v>
                </c:pt>
                <c:pt idx="50">
                  <c:v>1953.16666667</c:v>
                </c:pt>
                <c:pt idx="51">
                  <c:v>1953.25</c:v>
                </c:pt>
                <c:pt idx="52">
                  <c:v>1953.33333333</c:v>
                </c:pt>
                <c:pt idx="53">
                  <c:v>1953.41666667</c:v>
                </c:pt>
                <c:pt idx="54">
                  <c:v>1953.5</c:v>
                </c:pt>
                <c:pt idx="55">
                  <c:v>1953.58333333</c:v>
                </c:pt>
                <c:pt idx="56">
                  <c:v>1953.66666667</c:v>
                </c:pt>
                <c:pt idx="57">
                  <c:v>1953.75</c:v>
                </c:pt>
                <c:pt idx="58">
                  <c:v>1953.83333333</c:v>
                </c:pt>
                <c:pt idx="59">
                  <c:v>1953.91666667</c:v>
                </c:pt>
                <c:pt idx="60">
                  <c:v>1954</c:v>
                </c:pt>
                <c:pt idx="61">
                  <c:v>1954.08333333</c:v>
                </c:pt>
                <c:pt idx="62">
                  <c:v>1954.16666667</c:v>
                </c:pt>
                <c:pt idx="63">
                  <c:v>1954.25</c:v>
                </c:pt>
                <c:pt idx="64">
                  <c:v>1954.33333333</c:v>
                </c:pt>
                <c:pt idx="65">
                  <c:v>1954.41666667</c:v>
                </c:pt>
                <c:pt idx="66">
                  <c:v>1954.5</c:v>
                </c:pt>
                <c:pt idx="67">
                  <c:v>1954.58333333</c:v>
                </c:pt>
                <c:pt idx="68">
                  <c:v>1954.66666667</c:v>
                </c:pt>
                <c:pt idx="69">
                  <c:v>1954.75</c:v>
                </c:pt>
                <c:pt idx="70">
                  <c:v>1954.83333333</c:v>
                </c:pt>
                <c:pt idx="71">
                  <c:v>1954.91666667</c:v>
                </c:pt>
                <c:pt idx="72">
                  <c:v>1955</c:v>
                </c:pt>
                <c:pt idx="73">
                  <c:v>1955.08333333</c:v>
                </c:pt>
                <c:pt idx="74">
                  <c:v>1955.16666667</c:v>
                </c:pt>
                <c:pt idx="75">
                  <c:v>1955.25</c:v>
                </c:pt>
                <c:pt idx="76">
                  <c:v>1955.33333333</c:v>
                </c:pt>
                <c:pt idx="77">
                  <c:v>1955.41666667</c:v>
                </c:pt>
                <c:pt idx="78">
                  <c:v>1955.5</c:v>
                </c:pt>
                <c:pt idx="79">
                  <c:v>1955.58333333</c:v>
                </c:pt>
                <c:pt idx="80">
                  <c:v>1955.66666667</c:v>
                </c:pt>
                <c:pt idx="81">
                  <c:v>1955.75</c:v>
                </c:pt>
                <c:pt idx="82">
                  <c:v>1955.83333333</c:v>
                </c:pt>
                <c:pt idx="83">
                  <c:v>1955.91666667</c:v>
                </c:pt>
                <c:pt idx="84">
                  <c:v>1956</c:v>
                </c:pt>
                <c:pt idx="85">
                  <c:v>1956.08333333</c:v>
                </c:pt>
                <c:pt idx="86">
                  <c:v>1956.16666667</c:v>
                </c:pt>
                <c:pt idx="87">
                  <c:v>1956.25</c:v>
                </c:pt>
                <c:pt idx="88">
                  <c:v>1956.33333333</c:v>
                </c:pt>
                <c:pt idx="89">
                  <c:v>1956.41666667</c:v>
                </c:pt>
                <c:pt idx="90">
                  <c:v>1956.5</c:v>
                </c:pt>
                <c:pt idx="91">
                  <c:v>1956.58333333</c:v>
                </c:pt>
                <c:pt idx="92">
                  <c:v>1956.66666667</c:v>
                </c:pt>
                <c:pt idx="93">
                  <c:v>1956.75</c:v>
                </c:pt>
                <c:pt idx="94">
                  <c:v>1956.83333333</c:v>
                </c:pt>
                <c:pt idx="95">
                  <c:v>1956.91666667</c:v>
                </c:pt>
                <c:pt idx="96">
                  <c:v>1957</c:v>
                </c:pt>
                <c:pt idx="97">
                  <c:v>1957.08333333</c:v>
                </c:pt>
                <c:pt idx="98">
                  <c:v>1957.16666667</c:v>
                </c:pt>
                <c:pt idx="99">
                  <c:v>1957.25</c:v>
                </c:pt>
                <c:pt idx="100">
                  <c:v>1957.33333333</c:v>
                </c:pt>
                <c:pt idx="101">
                  <c:v>1957.41666667</c:v>
                </c:pt>
                <c:pt idx="102">
                  <c:v>1957.5</c:v>
                </c:pt>
                <c:pt idx="103">
                  <c:v>1957.58333333</c:v>
                </c:pt>
                <c:pt idx="104">
                  <c:v>1957.66666667</c:v>
                </c:pt>
                <c:pt idx="105">
                  <c:v>1957.75</c:v>
                </c:pt>
                <c:pt idx="106">
                  <c:v>1957.83333333</c:v>
                </c:pt>
                <c:pt idx="107">
                  <c:v>1957.91666667</c:v>
                </c:pt>
                <c:pt idx="108">
                  <c:v>1958</c:v>
                </c:pt>
                <c:pt idx="109">
                  <c:v>1958.08333333</c:v>
                </c:pt>
                <c:pt idx="110">
                  <c:v>1958.16666667</c:v>
                </c:pt>
                <c:pt idx="111">
                  <c:v>1958.25</c:v>
                </c:pt>
                <c:pt idx="112">
                  <c:v>1958.33333333</c:v>
                </c:pt>
                <c:pt idx="113">
                  <c:v>1958.41666667</c:v>
                </c:pt>
                <c:pt idx="114">
                  <c:v>1958.5</c:v>
                </c:pt>
                <c:pt idx="115">
                  <c:v>1958.58333333</c:v>
                </c:pt>
                <c:pt idx="116">
                  <c:v>1958.66666667</c:v>
                </c:pt>
                <c:pt idx="117">
                  <c:v>1958.75</c:v>
                </c:pt>
                <c:pt idx="118">
                  <c:v>1958.83333333</c:v>
                </c:pt>
                <c:pt idx="119">
                  <c:v>1958.91666667</c:v>
                </c:pt>
                <c:pt idx="120">
                  <c:v>1959</c:v>
                </c:pt>
                <c:pt idx="121">
                  <c:v>1959.08333333</c:v>
                </c:pt>
                <c:pt idx="122">
                  <c:v>1959.16666667</c:v>
                </c:pt>
                <c:pt idx="123">
                  <c:v>1959.25</c:v>
                </c:pt>
                <c:pt idx="124">
                  <c:v>1959.33333333</c:v>
                </c:pt>
                <c:pt idx="125">
                  <c:v>1959.41666667</c:v>
                </c:pt>
                <c:pt idx="126">
                  <c:v>1959.5</c:v>
                </c:pt>
                <c:pt idx="127">
                  <c:v>1959.58333333</c:v>
                </c:pt>
                <c:pt idx="128">
                  <c:v>1959.66666667</c:v>
                </c:pt>
                <c:pt idx="129">
                  <c:v>1959.75</c:v>
                </c:pt>
                <c:pt idx="130">
                  <c:v>1959.83333333</c:v>
                </c:pt>
                <c:pt idx="131">
                  <c:v>1959.91666667</c:v>
                </c:pt>
                <c:pt idx="132">
                  <c:v>1960</c:v>
                </c:pt>
                <c:pt idx="133">
                  <c:v>1960.08333333</c:v>
                </c:pt>
                <c:pt idx="134">
                  <c:v>1960.16666667</c:v>
                </c:pt>
                <c:pt idx="135">
                  <c:v>1960.25</c:v>
                </c:pt>
                <c:pt idx="136">
                  <c:v>1960.33333333</c:v>
                </c:pt>
                <c:pt idx="137">
                  <c:v>1960.41666667</c:v>
                </c:pt>
                <c:pt idx="138">
                  <c:v>1960.5</c:v>
                </c:pt>
                <c:pt idx="139">
                  <c:v>1960.58333333</c:v>
                </c:pt>
                <c:pt idx="140">
                  <c:v>1960.66666667</c:v>
                </c:pt>
                <c:pt idx="141">
                  <c:v>1960.75</c:v>
                </c:pt>
                <c:pt idx="142">
                  <c:v>1960.83333333</c:v>
                </c:pt>
                <c:pt idx="143">
                  <c:v>1960.91666667</c:v>
                </c:pt>
              </c:numCache>
            </c:numRef>
          </c:xVal>
          <c:yVal>
            <c:numRef>
              <c:f>'Chart Data'!$B$2:$B$145</c:f>
              <c:numCache>
                <c:formatCode>General</c:formatCode>
                <c:ptCount val="144"/>
                <c:pt idx="0">
                  <c:v>112</c:v>
                </c:pt>
                <c:pt idx="1">
                  <c:v>118</c:v>
                </c:pt>
                <c:pt idx="2">
                  <c:v>132</c:v>
                </c:pt>
                <c:pt idx="3">
                  <c:v>129</c:v>
                </c:pt>
                <c:pt idx="4">
                  <c:v>121</c:v>
                </c:pt>
                <c:pt idx="5">
                  <c:v>135</c:v>
                </c:pt>
                <c:pt idx="6">
                  <c:v>148</c:v>
                </c:pt>
                <c:pt idx="7">
                  <c:v>148</c:v>
                </c:pt>
                <c:pt idx="8">
                  <c:v>136</c:v>
                </c:pt>
                <c:pt idx="9">
                  <c:v>119</c:v>
                </c:pt>
                <c:pt idx="10">
                  <c:v>104</c:v>
                </c:pt>
                <c:pt idx="11">
                  <c:v>118</c:v>
                </c:pt>
                <c:pt idx="12">
                  <c:v>115</c:v>
                </c:pt>
                <c:pt idx="13">
                  <c:v>126</c:v>
                </c:pt>
                <c:pt idx="14">
                  <c:v>141</c:v>
                </c:pt>
                <c:pt idx="15">
                  <c:v>135</c:v>
                </c:pt>
                <c:pt idx="16">
                  <c:v>125</c:v>
                </c:pt>
                <c:pt idx="17">
                  <c:v>149</c:v>
                </c:pt>
                <c:pt idx="18">
                  <c:v>170</c:v>
                </c:pt>
                <c:pt idx="19">
                  <c:v>170</c:v>
                </c:pt>
                <c:pt idx="20">
                  <c:v>158</c:v>
                </c:pt>
                <c:pt idx="21">
                  <c:v>133</c:v>
                </c:pt>
                <c:pt idx="22">
                  <c:v>114</c:v>
                </c:pt>
                <c:pt idx="23">
                  <c:v>140</c:v>
                </c:pt>
                <c:pt idx="24">
                  <c:v>145</c:v>
                </c:pt>
                <c:pt idx="25">
                  <c:v>150</c:v>
                </c:pt>
                <c:pt idx="26">
                  <c:v>178</c:v>
                </c:pt>
                <c:pt idx="27">
                  <c:v>163</c:v>
                </c:pt>
                <c:pt idx="28">
                  <c:v>172</c:v>
                </c:pt>
                <c:pt idx="29">
                  <c:v>178</c:v>
                </c:pt>
                <c:pt idx="30">
                  <c:v>199</c:v>
                </c:pt>
                <c:pt idx="31">
                  <c:v>199</c:v>
                </c:pt>
                <c:pt idx="32">
                  <c:v>184</c:v>
                </c:pt>
                <c:pt idx="33">
                  <c:v>162</c:v>
                </c:pt>
                <c:pt idx="34">
                  <c:v>146</c:v>
                </c:pt>
                <c:pt idx="35">
                  <c:v>166</c:v>
                </c:pt>
                <c:pt idx="36">
                  <c:v>171</c:v>
                </c:pt>
                <c:pt idx="37">
                  <c:v>180</c:v>
                </c:pt>
                <c:pt idx="38">
                  <c:v>193</c:v>
                </c:pt>
                <c:pt idx="39">
                  <c:v>181</c:v>
                </c:pt>
                <c:pt idx="40">
                  <c:v>183</c:v>
                </c:pt>
                <c:pt idx="41">
                  <c:v>218</c:v>
                </c:pt>
                <c:pt idx="42">
                  <c:v>230</c:v>
                </c:pt>
                <c:pt idx="43">
                  <c:v>242</c:v>
                </c:pt>
                <c:pt idx="44">
                  <c:v>209</c:v>
                </c:pt>
                <c:pt idx="45">
                  <c:v>191</c:v>
                </c:pt>
                <c:pt idx="46">
                  <c:v>172</c:v>
                </c:pt>
                <c:pt idx="47">
                  <c:v>194</c:v>
                </c:pt>
                <c:pt idx="48">
                  <c:v>196</c:v>
                </c:pt>
                <c:pt idx="49">
                  <c:v>196</c:v>
                </c:pt>
                <c:pt idx="50">
                  <c:v>236</c:v>
                </c:pt>
                <c:pt idx="51">
                  <c:v>235</c:v>
                </c:pt>
                <c:pt idx="52">
                  <c:v>229</c:v>
                </c:pt>
                <c:pt idx="53">
                  <c:v>243</c:v>
                </c:pt>
                <c:pt idx="54">
                  <c:v>264</c:v>
                </c:pt>
                <c:pt idx="55">
                  <c:v>272</c:v>
                </c:pt>
                <c:pt idx="56">
                  <c:v>237</c:v>
                </c:pt>
                <c:pt idx="57">
                  <c:v>211</c:v>
                </c:pt>
                <c:pt idx="58">
                  <c:v>180</c:v>
                </c:pt>
                <c:pt idx="59">
                  <c:v>201</c:v>
                </c:pt>
                <c:pt idx="60">
                  <c:v>204</c:v>
                </c:pt>
                <c:pt idx="61">
                  <c:v>188</c:v>
                </c:pt>
                <c:pt idx="62">
                  <c:v>235</c:v>
                </c:pt>
                <c:pt idx="63">
                  <c:v>227</c:v>
                </c:pt>
                <c:pt idx="64">
                  <c:v>234</c:v>
                </c:pt>
                <c:pt idx="65">
                  <c:v>264</c:v>
                </c:pt>
                <c:pt idx="66">
                  <c:v>302</c:v>
                </c:pt>
                <c:pt idx="67">
                  <c:v>293</c:v>
                </c:pt>
                <c:pt idx="68">
                  <c:v>259</c:v>
                </c:pt>
                <c:pt idx="69">
                  <c:v>229</c:v>
                </c:pt>
                <c:pt idx="70">
                  <c:v>203</c:v>
                </c:pt>
                <c:pt idx="71">
                  <c:v>229</c:v>
                </c:pt>
                <c:pt idx="72">
                  <c:v>242</c:v>
                </c:pt>
                <c:pt idx="73">
                  <c:v>233</c:v>
                </c:pt>
                <c:pt idx="74">
                  <c:v>267</c:v>
                </c:pt>
                <c:pt idx="75">
                  <c:v>269</c:v>
                </c:pt>
                <c:pt idx="76">
                  <c:v>270</c:v>
                </c:pt>
                <c:pt idx="77">
                  <c:v>315</c:v>
                </c:pt>
                <c:pt idx="78">
                  <c:v>364</c:v>
                </c:pt>
                <c:pt idx="79">
                  <c:v>347</c:v>
                </c:pt>
                <c:pt idx="80">
                  <c:v>312</c:v>
                </c:pt>
                <c:pt idx="81">
                  <c:v>274</c:v>
                </c:pt>
                <c:pt idx="82">
                  <c:v>237</c:v>
                </c:pt>
                <c:pt idx="83">
                  <c:v>278</c:v>
                </c:pt>
                <c:pt idx="84">
                  <c:v>284</c:v>
                </c:pt>
                <c:pt idx="85">
                  <c:v>277</c:v>
                </c:pt>
                <c:pt idx="86">
                  <c:v>317</c:v>
                </c:pt>
                <c:pt idx="87">
                  <c:v>313</c:v>
                </c:pt>
                <c:pt idx="88">
                  <c:v>318</c:v>
                </c:pt>
                <c:pt idx="89">
                  <c:v>374</c:v>
                </c:pt>
                <c:pt idx="90">
                  <c:v>413</c:v>
                </c:pt>
                <c:pt idx="91">
                  <c:v>405</c:v>
                </c:pt>
                <c:pt idx="92">
                  <c:v>355</c:v>
                </c:pt>
                <c:pt idx="93">
                  <c:v>306</c:v>
                </c:pt>
                <c:pt idx="94">
                  <c:v>271</c:v>
                </c:pt>
                <c:pt idx="95">
                  <c:v>306</c:v>
                </c:pt>
                <c:pt idx="96">
                  <c:v>315</c:v>
                </c:pt>
                <c:pt idx="97">
                  <c:v>301</c:v>
                </c:pt>
                <c:pt idx="98">
                  <c:v>356</c:v>
                </c:pt>
                <c:pt idx="99">
                  <c:v>348</c:v>
                </c:pt>
                <c:pt idx="100">
                  <c:v>355</c:v>
                </c:pt>
                <c:pt idx="101">
                  <c:v>422</c:v>
                </c:pt>
                <c:pt idx="102">
                  <c:v>465</c:v>
                </c:pt>
                <c:pt idx="103">
                  <c:v>467</c:v>
                </c:pt>
                <c:pt idx="104">
                  <c:v>404</c:v>
                </c:pt>
                <c:pt idx="105">
                  <c:v>347</c:v>
                </c:pt>
                <c:pt idx="106">
                  <c:v>305</c:v>
                </c:pt>
                <c:pt idx="107">
                  <c:v>336</c:v>
                </c:pt>
                <c:pt idx="108">
                  <c:v>340</c:v>
                </c:pt>
                <c:pt idx="109">
                  <c:v>318</c:v>
                </c:pt>
                <c:pt idx="110">
                  <c:v>362</c:v>
                </c:pt>
                <c:pt idx="111">
                  <c:v>348</c:v>
                </c:pt>
                <c:pt idx="112">
                  <c:v>363</c:v>
                </c:pt>
                <c:pt idx="113">
                  <c:v>435</c:v>
                </c:pt>
                <c:pt idx="114">
                  <c:v>491</c:v>
                </c:pt>
                <c:pt idx="115">
                  <c:v>505</c:v>
                </c:pt>
                <c:pt idx="116">
                  <c:v>404</c:v>
                </c:pt>
                <c:pt idx="117">
                  <c:v>359</c:v>
                </c:pt>
                <c:pt idx="118">
                  <c:v>310</c:v>
                </c:pt>
                <c:pt idx="119">
                  <c:v>337</c:v>
                </c:pt>
                <c:pt idx="120">
                  <c:v>360</c:v>
                </c:pt>
                <c:pt idx="121">
                  <c:v>342</c:v>
                </c:pt>
                <c:pt idx="122">
                  <c:v>406</c:v>
                </c:pt>
                <c:pt idx="123">
                  <c:v>396</c:v>
                </c:pt>
                <c:pt idx="124">
                  <c:v>420</c:v>
                </c:pt>
                <c:pt idx="125">
                  <c:v>472</c:v>
                </c:pt>
                <c:pt idx="126">
                  <c:v>548</c:v>
                </c:pt>
                <c:pt idx="127">
                  <c:v>559</c:v>
                </c:pt>
                <c:pt idx="128">
                  <c:v>463</c:v>
                </c:pt>
                <c:pt idx="129">
                  <c:v>407</c:v>
                </c:pt>
                <c:pt idx="130">
                  <c:v>362</c:v>
                </c:pt>
                <c:pt idx="131">
                  <c:v>405</c:v>
                </c:pt>
                <c:pt idx="132">
                  <c:v>417</c:v>
                </c:pt>
                <c:pt idx="133">
                  <c:v>391</c:v>
                </c:pt>
                <c:pt idx="134">
                  <c:v>419</c:v>
                </c:pt>
                <c:pt idx="135">
                  <c:v>461</c:v>
                </c:pt>
                <c:pt idx="136">
                  <c:v>472</c:v>
                </c:pt>
                <c:pt idx="137">
                  <c:v>535</c:v>
                </c:pt>
                <c:pt idx="138">
                  <c:v>622</c:v>
                </c:pt>
                <c:pt idx="139">
                  <c:v>606</c:v>
                </c:pt>
                <c:pt idx="140">
                  <c:v>508</c:v>
                </c:pt>
                <c:pt idx="141">
                  <c:v>461</c:v>
                </c:pt>
                <c:pt idx="142">
                  <c:v>390</c:v>
                </c:pt>
                <c:pt idx="143">
                  <c:v>432</c:v>
                </c:pt>
              </c:numCache>
            </c:numRef>
          </c:yVal>
        </c:ser>
        <c:ser>
          <c:idx val="1"/>
          <c:order val="1"/>
          <c:tx>
            <c:v>Forecast</c:v>
          </c:tx>
          <c:spPr>
            <a:solidFill xmlns:a="http://schemas.openxmlformats.org/drawingml/2006/main">
              <a:srgbClr val="CF3338"/>
            </a:solidFill>
            <a:ln xmlns:a="http://schemas.openxmlformats.org/drawingml/2006/main" w="19050">
              <a:solidFill>
                <a:srgbClr val="CF3338"/>
              </a:solidFill>
            </a:ln>
          </c:spPr>
          <c:marker>
            <c:symbol val="none"/>
            <c:size val="4"/>
          </c:marker>
          <c:xVal>
            <c:numRef>
              <c:f>'Chart Data'!$C$2:$C$25</c:f>
              <c:numCache>
                <c:formatCode>General</c:formatCode>
                <c:ptCount val="24"/>
                <c:pt idx="0">
                  <c:v>1961</c:v>
                </c:pt>
                <c:pt idx="1">
                  <c:v>1961.08333333</c:v>
                </c:pt>
                <c:pt idx="2">
                  <c:v>1961.16666667</c:v>
                </c:pt>
                <c:pt idx="3">
                  <c:v>1961.25</c:v>
                </c:pt>
                <c:pt idx="4">
                  <c:v>1961.33333333</c:v>
                </c:pt>
                <c:pt idx="5">
                  <c:v>1961.41666667</c:v>
                </c:pt>
                <c:pt idx="6">
                  <c:v>1961.5</c:v>
                </c:pt>
                <c:pt idx="7">
                  <c:v>1961.58333333</c:v>
                </c:pt>
                <c:pt idx="8">
                  <c:v>1961.66666667</c:v>
                </c:pt>
                <c:pt idx="9">
                  <c:v>1961.75</c:v>
                </c:pt>
                <c:pt idx="10">
                  <c:v>1961.83333333</c:v>
                </c:pt>
                <c:pt idx="11">
                  <c:v>1961.91666667</c:v>
                </c:pt>
                <c:pt idx="12">
                  <c:v>1962</c:v>
                </c:pt>
                <c:pt idx="13">
                  <c:v>1962.08333333</c:v>
                </c:pt>
                <c:pt idx="14">
                  <c:v>1962.16666667</c:v>
                </c:pt>
                <c:pt idx="15">
                  <c:v>1962.25</c:v>
                </c:pt>
                <c:pt idx="16">
                  <c:v>1962.33333333</c:v>
                </c:pt>
                <c:pt idx="17">
                  <c:v>1962.41666667</c:v>
                </c:pt>
                <c:pt idx="18">
                  <c:v>1962.5</c:v>
                </c:pt>
                <c:pt idx="19">
                  <c:v>1962.58333333</c:v>
                </c:pt>
                <c:pt idx="20">
                  <c:v>1962.66666667</c:v>
                </c:pt>
                <c:pt idx="21">
                  <c:v>1962.75</c:v>
                </c:pt>
                <c:pt idx="22">
                  <c:v>1962.83333333</c:v>
                </c:pt>
                <c:pt idx="23">
                  <c:v>1962.91666667</c:v>
                </c:pt>
              </c:numCache>
            </c:numRef>
          </c:xVal>
          <c:yVal>
            <c:numRef>
              <c:f>'Chart Data'!$D$2:$D$25</c:f>
              <c:numCache>
                <c:formatCode>General</c:formatCode>
                <c:ptCount val="24"/>
                <c:pt idx="0">
                  <c:v>451.577679995</c:v>
                </c:pt>
                <c:pt idx="1">
                  <c:v>427.258465936</c:v>
                </c:pt>
                <c:pt idx="2">
                  <c:v>464.700069539</c:v>
                </c:pt>
                <c:pt idx="3">
                  <c:v>500.104397414</c:v>
                </c:pt>
                <c:pt idx="4">
                  <c:v>508.662078965</c:v>
                </c:pt>
                <c:pt idx="5">
                  <c:v>567.715329006</c:v>
                </c:pt>
                <c:pt idx="6">
                  <c:v>647.898837763</c:v>
                </c:pt>
                <c:pt idx="7">
                  <c:v>632.462723376</c:v>
                </c:pt>
                <c:pt idx="8">
                  <c:v>534.376232068</c:v>
                </c:pt>
                <c:pt idx="9">
                  <c:v>484.933066867</c:v>
                </c:pt>
                <c:pt idx="10">
                  <c:v>418.461716215</c:v>
                </c:pt>
                <c:pt idx="11">
                  <c:v>471.061918846</c:v>
                </c:pt>
                <c:pt idx="12">
                  <c:v>482.716473985</c:v>
                </c:pt>
                <c:pt idx="13">
                  <c:v>458.397259926</c:v>
                </c:pt>
                <c:pt idx="14">
                  <c:v>495.838863529</c:v>
                </c:pt>
                <c:pt idx="15">
                  <c:v>531.243191404</c:v>
                </c:pt>
                <c:pt idx="16">
                  <c:v>539.800872955</c:v>
                </c:pt>
                <c:pt idx="17">
                  <c:v>598.854122996</c:v>
                </c:pt>
                <c:pt idx="18">
                  <c:v>679.037631753</c:v>
                </c:pt>
                <c:pt idx="19">
                  <c:v>663.601517366</c:v>
                </c:pt>
                <c:pt idx="20">
                  <c:v>565.515026058</c:v>
                </c:pt>
                <c:pt idx="21">
                  <c:v>516.071860857</c:v>
                </c:pt>
                <c:pt idx="22">
                  <c:v>449.600510205</c:v>
                </c:pt>
                <c:pt idx="23">
                  <c:v>502.200712836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Passengers (000s)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963"/>
          <c:min val="1949"/>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Year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
      </c:valAx>
      <c:spPr>
        <a:solidFill xmlns:a="http://schemas.openxmlformats.org/drawingml/2006/main">
          <a:srgbClr val="EEECE1"/>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EEECE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c5c47f4f1904179"/>
          <a:stretch xmlns:a="http://schemas.openxmlformats.org/drawingml/2006/main"/>
        </p:blipFill>
        <p:spPr>
          <a:xfrm xmlns:a="http://schemas.openxmlformats.org/drawingml/2006/main">
            <a:off x="610132" y="514350"/>
            <a:ext cx="3427937" cy="5934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F09D13-8256-4C2A-BA1F-273D3C138FAC}"/>
              </a:ext>
            </a:extLst>
          </p:cNvPr>
          <p:cNvSpPr>
            <a:spLocks xmlns:a="http://schemas.openxmlformats.org/drawingml/2006/main" noGrp="1"/>
          </p:cNvSpPr>
          <p:nvPr/>
        </p:nvSpPr>
        <p:spPr>
          <a:xfrm xmlns:a="http://schemas.openxmlformats.org/drawingml/2006/main">
            <a:off x="609600" y="1990725"/>
            <a:ext cx="1090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1">
                <a:solidFill>
                  <a:srgbClr val="CF3338"/>
                </a:solidFill>
                <a:latin typeface="Arial Black"/>
                <a:ea typeface="Arial Black"/>
                <a:cs typeface="Arial Black"/>
              </a:defRPr>
            </a:pPr>
            <a:r>
              <a:rPr sz="4575" b="1">
                <a:solidFill>
                  <a:srgbClr val="CF3338"/>
                </a:solidFill>
                <a:latin typeface="Arial Black"/>
                <a:ea typeface="Arial Black"/>
                <a:cs typeface="Arial Black"/>
              </a:rPr>
              <a:t>A trendline is a starting point</a:t>
            </a:r>
          </a:p>
        </p:txBody>
      </p:sp>
      <p:sp>
        <p:nvSpPr>
          <p:cNvPr id="3" name="">
            <a:extLst xmlns:a="http://schemas.openxmlformats.org/drawingml/2006/main">
              <a:ext uri="{FF2B5EF4-FFF2-40B4-BE49-F238E27FC236}">
                <a16:creationId xmlns:a16="http://schemas.microsoft.com/office/drawing/2014/main" id="{DD5E1E56-F095-4802-9DFF-8EBCAE688073}"/>
              </a:ext>
            </a:extLst>
          </p:cNvPr>
          <p:cNvSpPr>
            <a:spLocks xmlns:a="http://schemas.openxmlformats.org/drawingml/2006/main" noGrp="1"/>
          </p:cNvSpPr>
          <p:nvPr/>
        </p:nvSpPr>
        <p:spPr>
          <a:xfrm xmlns:a="http://schemas.openxmlformats.org/drawingml/2006/main">
            <a:off x="609600" y="3552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1F2120"/>
                </a:solidFill>
                <a:latin typeface="Arial"/>
                <a:ea typeface="Arial"/>
                <a:cs typeface="Arial"/>
              </a:defRPr>
            </a:pPr>
            <a:r>
              <a:rPr sz="2775" b="1">
                <a:solidFill>
                  <a:srgbClr val="1F2120"/>
                </a:solidFill>
                <a:latin typeface="Arial"/>
                <a:ea typeface="Arial"/>
                <a:cs typeface="Arial"/>
              </a:rPr>
              <a:t>Tests, relationships and a first forecast</a:t>
            </a:r>
          </a:p>
        </p:txBody>
      </p:sp>
      <p:sp>
        <p:nvSpPr>
          <p:cNvPr id="4" name="">
            <a:extLst xmlns:a="http://schemas.openxmlformats.org/drawingml/2006/main">
              <a:ext uri="{FF2B5EF4-FFF2-40B4-BE49-F238E27FC236}">
                <a16:creationId xmlns:a16="http://schemas.microsoft.com/office/drawing/2014/main" id="{092CD261-83A8-41B8-A40B-AC6C1307DB81}"/>
              </a:ext>
            </a:extLst>
          </p:cNvPr>
          <p:cNvSpPr>
            <a:spLocks xmlns:a="http://schemas.openxmlformats.org/drawingml/2006/main" noGrp="1"/>
          </p:cNvSpPr>
          <p:nvPr/>
        </p:nvSpPr>
        <p:spPr>
          <a:xfrm xmlns:a="http://schemas.openxmlformats.org/drawingml/2006/main">
            <a:off x="609600" y="4533900"/>
            <a:ext cx="1009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Explain what the data suggests and what to check next.</a:t>
            </a:r>
          </a:p>
        </p:txBody>
      </p:sp>
      <p:sp>
        <p:nvSpPr>
          <p:cNvPr id="5" name="">
            <a:extLst xmlns:a="http://schemas.openxmlformats.org/drawingml/2006/main">
              <a:ext uri="{FF2B5EF4-FFF2-40B4-BE49-F238E27FC236}">
                <a16:creationId xmlns:a16="http://schemas.microsoft.com/office/drawing/2014/main" id="{819B1AF5-7082-462E-98E1-0F9B6F268634}"/>
              </a:ext>
            </a:extLst>
          </p:cNvPr>
          <p:cNvSpPr>
            <a:spLocks xmlns:a="http://schemas.openxmlformats.org/drawingml/2006/main" noGrp="1"/>
          </p:cNvSpPr>
          <p:nvPr/>
        </p:nvSpPr>
        <p:spPr>
          <a:xfrm xmlns:a="http://schemas.openxmlformats.org/drawingml/2006/main">
            <a:off x="609600" y="60483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07070"/>
                </a:solidFill>
                <a:latin typeface="Arial"/>
                <a:ea typeface="Arial"/>
                <a:cs typeface="Arial"/>
              </a:defRPr>
            </a:pPr>
            <a:r>
              <a:rPr sz="1725" b="0">
                <a:solidFill>
                  <a:srgbClr val="707070"/>
                </a:solidFill>
                <a:latin typeface="Arial"/>
                <a:ea typeface="Arial"/>
                <a:cs typeface="Arial"/>
              </a:rPr>
              <a:t>George Mount  /  Session 3  /  45 minutes</a:t>
            </a:r>
          </a:p>
        </p:txBody>
      </p:sp>
    </p:spTree>
    <p:extLst>
      <p:ext uri="{BB962C8B-B14F-4D97-AF65-F5344CB8AC3E}">
        <p14:creationId xmlns:p14="http://schemas.microsoft.com/office/powerpoint/2010/main" val="1879933943"/>
      </p:ext>
    </p:extLst>
  </p:cSld>
</p:sld>
</file>

<file path=ppt/slides/slide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14B2F0-6EDC-4EC9-BF7C-330E4BE7419C}"/>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convincing line still needs a check</a:t>
            </a:r>
          </a:p>
        </p:txBody>
      </p:sp>
      <p:sp>
        <p:nvSpPr>
          <p:cNvPr id="2" name="">
            <a:extLst xmlns:a="http://schemas.openxmlformats.org/drawingml/2006/main">
              <a:ext uri="{FF2B5EF4-FFF2-40B4-BE49-F238E27FC236}">
                <a16:creationId xmlns:a16="http://schemas.microsoft.com/office/drawing/2014/main" id="{B103F630-D491-45A3-A3A0-9562E12FC549}"/>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4BD1CFB-A427-4381-9C90-A45BA91899D1}"/>
              </a:ext>
            </a:extLst>
          </p:cNvPr>
          <p:cNvSpPr>
            <a:spLocks xmlns:a="http://schemas.openxmlformats.org/drawingml/2006/main" noGrp="1"/>
          </p:cNvSpPr>
          <p:nvPr/>
        </p:nvSpPr>
        <p:spPr>
          <a:xfrm xmlns:a="http://schemas.openxmlformats.org/drawingml/2006/main">
            <a:off x="609600" y="262890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1F2120"/>
                </a:solidFill>
                <a:latin typeface="Arial"/>
                <a:ea typeface="Arial"/>
                <a:cs typeface="Arial"/>
              </a:defRPr>
            </a:pPr>
            <a:r>
              <a:rPr sz="2625" b="0">
                <a:solidFill>
                  <a:srgbClr val="1F2120"/>
                </a:solidFill>
                <a:latin typeface="Arial"/>
                <a:ea typeface="Arial"/>
                <a:cs typeface="Arial"/>
              </a:rPr>
              <a:t>Your manager asks: “Can we trust this pattern?”</a:t>
            </a:r>
          </a:p>
          <a:p xmlns:a="http://schemas.openxmlformats.org/drawingml/2006/main">
            <a:pPr>
              <a:defRPr sz="2625" b="0">
                <a:solidFill>
                  <a:srgbClr val="1F2120"/>
                </a:solidFill>
                <a:latin typeface="Arial"/>
                <a:ea typeface="Arial"/>
                <a:cs typeface="Arial"/>
              </a:defRPr>
            </a:pPr>
            <a:r>
              <a:rPr sz="2625" b="0">
                <a:solidFill>
                  <a:srgbClr val="1F2120"/>
                </a:solidFill>
                <a:latin typeface="Arial"/>
                <a:ea typeface="Arial"/>
                <a:cs typeface="Arial"/>
              </a:rPr>
              <a:t>A chart alone leaves part of the answer unfinished.</a:t>
            </a:r>
          </a:p>
        </p:txBody>
      </p:sp>
      <p:sp>
        <p:nvSpPr>
          <p:cNvPr id="4" name="">
            <a:extLst xmlns:a="http://schemas.openxmlformats.org/drawingml/2006/main">
              <a:ext uri="{FF2B5EF4-FFF2-40B4-BE49-F238E27FC236}">
                <a16:creationId xmlns:a16="http://schemas.microsoft.com/office/drawing/2014/main" id="{A5DBE1E7-AD7D-4FB8-B669-9857AA88BD1D}"/>
              </a:ext>
            </a:extLst>
          </p:cNvPr>
          <p:cNvSpPr>
            <a:spLocks xmlns:a="http://schemas.openxmlformats.org/drawingml/2006/main" noGrp="1"/>
          </p:cNvSpPr>
          <p:nvPr/>
        </p:nvSpPr>
        <p:spPr>
          <a:xfrm xmlns:a="http://schemas.openxmlformats.org/drawingml/2006/main">
            <a:off x="609600" y="5457825"/>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37DC9D-5E2E-475E-BDB1-2FDDD27981B1}"/>
              </a:ext>
            </a:extLst>
          </p:cNvPr>
          <p:cNvSpPr>
            <a:spLocks xmlns:a="http://schemas.openxmlformats.org/drawingml/2006/main" noGrp="1"/>
          </p:cNvSpPr>
          <p:nvPr/>
        </p:nvSpPr>
        <p:spPr>
          <a:xfrm xmlns:a="http://schemas.openxmlformats.org/drawingml/2006/main">
            <a:off x="828675" y="5638800"/>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Your goal: explain the result and name its limits.</a:t>
            </a:r>
          </a:p>
        </p:txBody>
      </p:sp>
    </p:spTree>
    <p:extLst>
      <p:ext uri="{BB962C8B-B14F-4D97-AF65-F5344CB8AC3E}">
        <p14:creationId xmlns:p14="http://schemas.microsoft.com/office/powerpoint/2010/main" val="302825525"/>
      </p:ext>
    </p:extLst>
  </p:cSld>
</p:sld>
</file>

<file path=ppt/slides/slide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4FBE1F-4184-4A1E-A48B-1533A2C16654}"/>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short route through today’s workbook</a:t>
            </a:r>
          </a:p>
        </p:txBody>
      </p:sp>
      <p:sp>
        <p:nvSpPr>
          <p:cNvPr id="2" name="">
            <a:extLst xmlns:a="http://schemas.openxmlformats.org/drawingml/2006/main">
              <a:ext uri="{FF2B5EF4-FFF2-40B4-BE49-F238E27FC236}">
                <a16:creationId xmlns:a16="http://schemas.microsoft.com/office/drawing/2014/main" id="{9102A9C1-8011-4BBA-8BEC-810619705360}"/>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You bring the question. I’ll guide you through the Python.</a:t>
            </a:r>
          </a:p>
        </p:txBody>
      </p:sp>
      <p:sp>
        <p:nvSpPr>
          <p:cNvPr id="3" name="">
            <a:extLst xmlns:a="http://schemas.openxmlformats.org/drawingml/2006/main">
              <a:ext uri="{FF2B5EF4-FFF2-40B4-BE49-F238E27FC236}">
                <a16:creationId xmlns:a16="http://schemas.microsoft.com/office/drawing/2014/main" id="{1EDC724C-3C25-4175-A11D-D77969A88769}"/>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EF18338-30F6-4B05-A71E-A29BEC794268}"/>
              </a:ext>
            </a:extLst>
          </p:cNvPr>
          <p:cNvSpPr>
            <a:spLocks xmlns:a="http://schemas.openxmlformats.org/drawingml/2006/main" noGrp="1"/>
          </p:cNvSpPr>
          <p:nvPr/>
        </p:nvSpPr>
        <p:spPr>
          <a:xfrm xmlns:a="http://schemas.openxmlformats.org/drawingml/2006/main">
            <a:off x="609600" y="26193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1E6F956-0935-4117-A094-65E4A580AD60}"/>
              </a:ext>
            </a:extLst>
          </p:cNvPr>
          <p:cNvSpPr>
            <a:spLocks xmlns:a="http://schemas.openxmlformats.org/drawingml/2006/main" noGrp="1"/>
          </p:cNvSpPr>
          <p:nvPr/>
        </p:nvSpPr>
        <p:spPr>
          <a:xfrm xmlns:a="http://schemas.openxmlformats.org/drawingml/2006/main">
            <a:off x="1971675" y="261937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Compare two groups</a:t>
            </a:r>
          </a:p>
        </p:txBody>
      </p:sp>
      <p:sp>
        <p:nvSpPr>
          <p:cNvPr id="6" name="">
            <a:extLst xmlns:a="http://schemas.openxmlformats.org/drawingml/2006/main">
              <a:ext uri="{FF2B5EF4-FFF2-40B4-BE49-F238E27FC236}">
                <a16:creationId xmlns:a16="http://schemas.microsoft.com/office/drawing/2014/main" id="{3FE0FA1D-F5FF-4AED-9C87-D60441EFA2A3}"/>
              </a:ext>
            </a:extLst>
          </p:cNvPr>
          <p:cNvSpPr>
            <a:spLocks xmlns:a="http://schemas.openxmlformats.org/drawingml/2006/main" noGrp="1"/>
          </p:cNvSpPr>
          <p:nvPr/>
        </p:nvSpPr>
        <p:spPr>
          <a:xfrm xmlns:a="http://schemas.openxmlformats.org/drawingml/2006/main">
            <a:off x="1971675" y="309562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Try the averages. Watch a statistical test.</a:t>
            </a:r>
          </a:p>
        </p:txBody>
      </p:sp>
      <p:sp>
        <p:nvSpPr>
          <p:cNvPr id="7" name="">
            <a:extLst xmlns:a="http://schemas.openxmlformats.org/drawingml/2006/main">
              <a:ext uri="{FF2B5EF4-FFF2-40B4-BE49-F238E27FC236}">
                <a16:creationId xmlns:a16="http://schemas.microsoft.com/office/drawing/2014/main" id="{E8028A3F-1067-4258-A0FA-10A6B1029CD1}"/>
              </a:ext>
            </a:extLst>
          </p:cNvPr>
          <p:cNvSpPr>
            <a:spLocks xmlns:a="http://schemas.openxmlformats.org/drawingml/2006/main" noGrp="1"/>
          </p:cNvSpPr>
          <p:nvPr/>
        </p:nvSpPr>
        <p:spPr>
          <a:xfrm xmlns:a="http://schemas.openxmlformats.org/drawingml/2006/main">
            <a:off x="609600" y="3695700"/>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472557E-8D40-458F-B22B-56025D68A79E}"/>
              </a:ext>
            </a:extLst>
          </p:cNvPr>
          <p:cNvSpPr>
            <a:spLocks xmlns:a="http://schemas.openxmlformats.org/drawingml/2006/main" noGrp="1"/>
          </p:cNvSpPr>
          <p:nvPr/>
        </p:nvSpPr>
        <p:spPr>
          <a:xfrm xmlns:a="http://schemas.openxmlformats.org/drawingml/2006/main">
            <a:off x="1971675" y="369570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Describe a relationship</a:t>
            </a:r>
          </a:p>
        </p:txBody>
      </p:sp>
      <p:sp>
        <p:nvSpPr>
          <p:cNvPr id="9" name="">
            <a:extLst xmlns:a="http://schemas.openxmlformats.org/drawingml/2006/main">
              <a:ext uri="{FF2B5EF4-FFF2-40B4-BE49-F238E27FC236}">
                <a16:creationId xmlns:a16="http://schemas.microsoft.com/office/drawing/2014/main" id="{2B282689-2BE3-4747-8B5E-C9D68D8ED070}"/>
              </a:ext>
            </a:extLst>
          </p:cNvPr>
          <p:cNvSpPr>
            <a:spLocks xmlns:a="http://schemas.openxmlformats.org/drawingml/2006/main" noGrp="1"/>
          </p:cNvSpPr>
          <p:nvPr/>
        </p:nvSpPr>
        <p:spPr>
          <a:xfrm xmlns:a="http://schemas.openxmlformats.org/drawingml/2006/main">
            <a:off x="1971675" y="4171950"/>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Try a fitted line. Watch the number behind it.</a:t>
            </a:r>
          </a:p>
        </p:txBody>
      </p:sp>
      <p:sp>
        <p:nvSpPr>
          <p:cNvPr id="10" name="">
            <a:extLst xmlns:a="http://schemas.openxmlformats.org/drawingml/2006/main">
              <a:ext uri="{FF2B5EF4-FFF2-40B4-BE49-F238E27FC236}">
                <a16:creationId xmlns:a16="http://schemas.microsoft.com/office/drawing/2014/main" id="{8889C21D-6765-45A9-B1C8-6156231CD740}"/>
              </a:ext>
            </a:extLst>
          </p:cNvPr>
          <p:cNvSpPr>
            <a:spLocks xmlns:a="http://schemas.openxmlformats.org/drawingml/2006/main" noGrp="1"/>
          </p:cNvSpPr>
          <p:nvPr/>
        </p:nvSpPr>
        <p:spPr>
          <a:xfrm xmlns:a="http://schemas.openxmlformats.org/drawingml/2006/main">
            <a:off x="609600" y="477202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6AA8FEC-1C09-4626-BF58-E0D9D138F771}"/>
              </a:ext>
            </a:extLst>
          </p:cNvPr>
          <p:cNvSpPr>
            <a:spLocks xmlns:a="http://schemas.openxmlformats.org/drawingml/2006/main" noGrp="1"/>
          </p:cNvSpPr>
          <p:nvPr/>
        </p:nvSpPr>
        <p:spPr>
          <a:xfrm xmlns:a="http://schemas.openxmlformats.org/drawingml/2006/main">
            <a:off x="1971675" y="477202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Check a forecast</a:t>
            </a:r>
          </a:p>
        </p:txBody>
      </p:sp>
      <p:sp>
        <p:nvSpPr>
          <p:cNvPr id="12" name="">
            <a:extLst xmlns:a="http://schemas.openxmlformats.org/drawingml/2006/main">
              <a:ext uri="{FF2B5EF4-FFF2-40B4-BE49-F238E27FC236}">
                <a16:creationId xmlns:a16="http://schemas.microsoft.com/office/drawing/2014/main" id="{6444FD51-499C-41F9-9B44-BE2E580E4D89}"/>
              </a:ext>
            </a:extLst>
          </p:cNvPr>
          <p:cNvSpPr>
            <a:spLocks xmlns:a="http://schemas.openxmlformats.org/drawingml/2006/main" noGrp="1"/>
          </p:cNvSpPr>
          <p:nvPr/>
        </p:nvSpPr>
        <p:spPr>
          <a:xfrm xmlns:a="http://schemas.openxmlformats.org/drawingml/2006/main">
            <a:off x="1971675" y="524827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Watch a test on months whose answers we already know.</a:t>
            </a:r>
          </a:p>
        </p:txBody>
      </p:sp>
    </p:spTree>
    <p:extLst>
      <p:ext uri="{BB962C8B-B14F-4D97-AF65-F5344CB8AC3E}">
        <p14:creationId xmlns:p14="http://schemas.microsoft.com/office/powerpoint/2010/main" val="876304044"/>
      </p:ext>
    </p:extLst>
  </p:cSld>
</p:sld>
</file>

<file path=ppt/slides/slide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27FDEE-0AB2-4868-BCF6-3266A47F9E43}"/>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follow-along setup</a:t>
            </a:r>
          </a:p>
        </p:txBody>
      </p:sp>
      <p:sp>
        <p:nvSpPr>
          <p:cNvPr id="2" name="">
            <a:extLst xmlns:a="http://schemas.openxmlformats.org/drawingml/2006/main">
              <a:ext uri="{FF2B5EF4-FFF2-40B4-BE49-F238E27FC236}">
                <a16:creationId xmlns:a16="http://schemas.microsoft.com/office/drawing/2014/main" id="{9B425CAA-DCE4-409B-9BE9-C0007899E6DE}"/>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Open follow-along.xlsx and the attendee worksheet.</a:t>
            </a:r>
          </a:p>
        </p:txBody>
      </p:sp>
      <p:sp>
        <p:nvSpPr>
          <p:cNvPr id="3" name="">
            <a:extLst xmlns:a="http://schemas.openxmlformats.org/drawingml/2006/main">
              <a:ext uri="{FF2B5EF4-FFF2-40B4-BE49-F238E27FC236}">
                <a16:creationId xmlns:a16="http://schemas.microsoft.com/office/drawing/2014/main" id="{857DB403-BE63-4A40-A813-6D5FDF39CBB1}"/>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2C61A0C-468C-4F8A-AE4C-B575008E99FD}"/>
              </a:ext>
            </a:extLst>
          </p:cNvPr>
          <p:cNvSpPr>
            <a:spLocks xmlns:a="http://schemas.openxmlformats.org/drawingml/2006/main" noGrp="1"/>
          </p:cNvSpPr>
          <p:nvPr/>
        </p:nvSpPr>
        <p:spPr>
          <a:xfrm xmlns:a="http://schemas.openxmlformats.org/drawingml/2006/main">
            <a:off x="609600" y="25241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1  Keep the existing mpg, penguins and AirPassengers sheets.</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2  Start on mpg at K1.</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3  Use the worksheet’s TRY IT and WATCH labels.</a:t>
            </a:r>
          </a:p>
        </p:txBody>
      </p:sp>
      <p:sp>
        <p:nvSpPr>
          <p:cNvPr id="5" name="">
            <a:extLst xmlns:a="http://schemas.openxmlformats.org/drawingml/2006/main">
              <a:ext uri="{FF2B5EF4-FFF2-40B4-BE49-F238E27FC236}">
                <a16:creationId xmlns:a16="http://schemas.microsoft.com/office/drawing/2014/main" id="{01098E48-F2F6-40BE-8E92-756306078379}"/>
              </a:ext>
            </a:extLst>
          </p:cNvPr>
          <p:cNvSpPr>
            <a:spLocks xmlns:a="http://schemas.openxmlformats.org/drawingml/2006/main" noGrp="1"/>
          </p:cNvSpPr>
          <p:nvPr/>
        </p:nvSpPr>
        <p:spPr>
          <a:xfrm xmlns:a="http://schemas.openxmlformats.org/drawingml/2006/main">
            <a:off x="609600" y="5486400"/>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F34E52-A573-4628-AFA4-5B95298E0F74}"/>
              </a:ext>
            </a:extLst>
          </p:cNvPr>
          <p:cNvSpPr>
            <a:spLocks xmlns:a="http://schemas.openxmlformats.org/drawingml/2006/main" noGrp="1"/>
          </p:cNvSpPr>
          <p:nvPr/>
        </p:nvSpPr>
        <p:spPr>
          <a:xfrm xmlns:a="http://schemas.openxmlformats.org/drawingml/2006/main">
            <a:off x="828675" y="5667375"/>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Formulas &gt; Insert Python. Ctrl+Enter runs the code.</a:t>
            </a:r>
          </a:p>
        </p:txBody>
      </p:sp>
    </p:spTree>
    <p:extLst>
      <p:ext uri="{BB962C8B-B14F-4D97-AF65-F5344CB8AC3E}">
        <p14:creationId xmlns:p14="http://schemas.microsoft.com/office/powerpoint/2010/main" val="695898398"/>
      </p:ext>
    </p:extLst>
  </p:cSld>
</p:sld>
</file>

<file path=ppt/slides/slide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9F42FE-E2EE-4113-A260-96B852108E0C}"/>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Which group has the higher average MPG?</a:t>
            </a:r>
          </a:p>
        </p:txBody>
      </p:sp>
      <p:sp>
        <p:nvSpPr>
          <p:cNvPr id="2" name="">
            <a:extLst xmlns:a="http://schemas.openxmlformats.org/drawingml/2006/main">
              <a:ext uri="{FF2B5EF4-FFF2-40B4-BE49-F238E27FC236}">
                <a16:creationId xmlns:a16="http://schemas.microsoft.com/office/drawing/2014/main" id="{BCD7609D-C2C7-43E6-8B8D-B897365AF8BD}"/>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mpg!K1</a:t>
            </a:r>
          </a:p>
        </p:txBody>
      </p:sp>
      <p:sp>
        <p:nvSpPr>
          <p:cNvPr id="3" name="">
            <a:extLst xmlns:a="http://schemas.openxmlformats.org/drawingml/2006/main">
              <a:ext uri="{FF2B5EF4-FFF2-40B4-BE49-F238E27FC236}">
                <a16:creationId xmlns:a16="http://schemas.microsoft.com/office/drawing/2014/main" id="{5AB765FD-16E3-4909-A570-DD64A23CBE87}"/>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0DDD2DF-3675-4BC3-BE2A-B645F4C4A93E}"/>
              </a:ext>
            </a:extLst>
          </p:cNvPr>
          <p:cNvSpPr>
            <a:spLocks xmlns:a="http://schemas.openxmlformats.org/drawingml/2006/main" noGrp="1"/>
          </p:cNvSpPr>
          <p:nvPr/>
        </p:nvSpPr>
        <p:spPr>
          <a:xfrm xmlns:a="http://schemas.openxmlformats.org/drawingml/2006/main">
            <a:off x="609600" y="2533650"/>
            <a:ext cx="10972800" cy="142875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36C7EF-B8BD-499A-8CD5-1280105D3BD3}"/>
              </a:ext>
            </a:extLst>
          </p:cNvPr>
          <p:cNvSpPr>
            <a:spLocks xmlns:a="http://schemas.openxmlformats.org/drawingml/2006/main" noGrp="1"/>
          </p:cNvSpPr>
          <p:nvPr/>
        </p:nvSpPr>
        <p:spPr>
          <a:xfrm xmlns:a="http://schemas.openxmlformats.org/drawingml/2006/main">
            <a:off x="838200" y="2752725"/>
            <a:ext cx="10515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mpg_df = xl("mpg[#All]", headers=True)</a:t>
            </a:r>
          </a:p>
          <a:p xmlns:a="http://schemas.openxmlformats.org/drawingml/2006/main">
            <a:pPr>
              <a:defRPr sz="2175" b="0">
                <a:solidFill>
                  <a:srgbClr val="FFFFFF"/>
                </a:solidFill>
                <a:latin typeface="Consolas"/>
                <a:ea typeface="Consolas"/>
                <a:cs typeface="Consolas"/>
              </a:defRPr>
            </a:pPr>
            <a:r>
              <a:rPr sz="2175" b="0">
                <a:solidFill>
                  <a:srgbClr val="FFFFFF"/>
                </a:solidFill>
                <a:latin typeface="Consolas"/>
                <a:ea typeface="Consolas"/>
                <a:cs typeface="Consolas"/>
              </a:rPr>
              <a:t>mpg_df.groupby("origin")["mpg"].mean()</a:t>
            </a:r>
          </a:p>
        </p:txBody>
      </p:sp>
      <p:sp>
        <p:nvSpPr>
          <p:cNvPr id="6" name="">
            <a:extLst xmlns:a="http://schemas.openxmlformats.org/drawingml/2006/main">
              <a:ext uri="{FF2B5EF4-FFF2-40B4-BE49-F238E27FC236}">
                <a16:creationId xmlns:a16="http://schemas.microsoft.com/office/drawing/2014/main" id="{2F380EB2-6590-44BE-B17F-5964719AEC8F}"/>
              </a:ext>
            </a:extLst>
          </p:cNvPr>
          <p:cNvSpPr>
            <a:spLocks xmlns:a="http://schemas.openxmlformats.org/drawingml/2006/main" noGrp="1"/>
          </p:cNvSpPr>
          <p:nvPr/>
        </p:nvSpPr>
        <p:spPr>
          <a:xfrm xmlns:a="http://schemas.openxmlformats.org/drawingml/2006/main">
            <a:off x="609600" y="44291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Compare Japan with Europe.</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How large is the difference in MPG?</a:t>
            </a:r>
          </a:p>
        </p:txBody>
      </p:sp>
    </p:spTree>
    <p:extLst>
      <p:ext uri="{BB962C8B-B14F-4D97-AF65-F5344CB8AC3E}">
        <p14:creationId xmlns:p14="http://schemas.microsoft.com/office/powerpoint/2010/main" val="1886784985"/>
      </p:ext>
    </p:extLst>
  </p:cSld>
</p:sld>
</file>

<file path=ppt/slides/slide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F20885-D052-4EE9-8E12-23EAB7FAF29D}"/>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Japan’s sample average is about 2.56 MPG higher</a:t>
            </a:r>
          </a:p>
        </p:txBody>
      </p:sp>
      <p:sp>
        <p:nvSpPr>
          <p:cNvPr id="2" name="">
            <a:extLst xmlns:a="http://schemas.openxmlformats.org/drawingml/2006/main">
              <a:ext uri="{FF2B5EF4-FFF2-40B4-BE49-F238E27FC236}">
                <a16:creationId xmlns:a16="http://schemas.microsoft.com/office/drawing/2014/main" id="{AE22D7D2-7B4E-4207-964A-2AE70F500DD8}"/>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CHECK  /  Worksheet page 1</a:t>
            </a:r>
          </a:p>
        </p:txBody>
      </p:sp>
      <p:sp>
        <p:nvSpPr>
          <p:cNvPr id="3" name="">
            <a:extLst xmlns:a="http://schemas.openxmlformats.org/drawingml/2006/main">
              <a:ext uri="{FF2B5EF4-FFF2-40B4-BE49-F238E27FC236}">
                <a16:creationId xmlns:a16="http://schemas.microsoft.com/office/drawing/2014/main" id="{DCB568DB-BAE3-4032-B595-7633D493E23B}"/>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06</a:t>
            </a:r>
          </a:p>
        </p:txBody>
      </p:sp>
      <p:graphicFrame>
        <p:nvGraphicFramePr>
          <p:cNvPr id="10" name="Chart"/>
          <p:cNvGraphicFramePr/>
          <p:nvPr/>
        </p:nvGraphicFramePr>
        <p:xfrm>
          <a:off xmlns:a="http://schemas.openxmlformats.org/drawingml/2006/main" x="609600" y="2495550"/>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e64106440dcd4f3a"/>
          </a:graphicData>
        </a:graphic>
      </p:graphicFrame>
      <p:sp>
        <p:nvSpPr>
          <p:cNvPr id="5" name="">
            <a:extLst xmlns:a="http://schemas.openxmlformats.org/drawingml/2006/main">
              <a:ext uri="{FF2B5EF4-FFF2-40B4-BE49-F238E27FC236}">
                <a16:creationId xmlns:a16="http://schemas.microsoft.com/office/drawing/2014/main" id="{723D15DB-0657-4D8B-8935-90482CC1C0DC}"/>
              </a:ext>
            </a:extLst>
          </p:cNvPr>
          <p:cNvSpPr>
            <a:spLocks xmlns:a="http://schemas.openxmlformats.org/drawingml/2006/main" noGrp="1"/>
          </p:cNvSpPr>
          <p:nvPr/>
        </p:nvSpPr>
        <p:spPr>
          <a:xfrm xmlns:a="http://schemas.openxmlformats.org/drawingml/2006/main">
            <a:off x="8496300" y="2952750"/>
            <a:ext cx="30194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75" b="1">
                <a:solidFill>
                  <a:srgbClr val="CF3338"/>
                </a:solidFill>
                <a:latin typeface="Arial"/>
                <a:ea typeface="Arial"/>
                <a:cs typeface="Arial"/>
              </a:defRPr>
            </a:pPr>
            <a:r>
              <a:rPr sz="3375" b="1">
                <a:solidFill>
                  <a:srgbClr val="CF3338"/>
                </a:solidFill>
                <a:latin typeface="Arial"/>
                <a:ea typeface="Arial"/>
                <a:cs typeface="Arial"/>
              </a:rPr>
              <a:t>+2.56 MPG</a:t>
            </a:r>
          </a:p>
        </p:txBody>
      </p:sp>
      <p:sp>
        <p:nvSpPr>
          <p:cNvPr id="6" name="">
            <a:extLst xmlns:a="http://schemas.openxmlformats.org/drawingml/2006/main">
              <a:ext uri="{FF2B5EF4-FFF2-40B4-BE49-F238E27FC236}">
                <a16:creationId xmlns:a16="http://schemas.microsoft.com/office/drawing/2014/main" id="{5E05EEDE-449C-4320-91BF-654836CD4A6A}"/>
              </a:ext>
            </a:extLst>
          </p:cNvPr>
          <p:cNvSpPr>
            <a:spLocks xmlns:a="http://schemas.openxmlformats.org/drawingml/2006/main" noGrp="1"/>
          </p:cNvSpPr>
          <p:nvPr/>
        </p:nvSpPr>
        <p:spPr>
          <a:xfrm xmlns:a="http://schemas.openxmlformats.org/drawingml/2006/main">
            <a:off x="8496300" y="41910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A sample difference</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worth examining.</a:t>
            </a:r>
          </a:p>
        </p:txBody>
      </p:sp>
    </p:spTree>
    <p:extLst>
      <p:ext uri="{BB962C8B-B14F-4D97-AF65-F5344CB8AC3E}">
        <p14:creationId xmlns:p14="http://schemas.microsoft.com/office/powerpoint/2010/main" val="1412896281"/>
      </p:ext>
    </p:extLst>
  </p:cSld>
</p:sld>
</file>

<file path=ppt/slides/slide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532A02-61CA-4554-866D-A167D22A005A}"/>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test puts the gap in context</a:t>
            </a:r>
          </a:p>
        </p:txBody>
      </p:sp>
      <p:sp>
        <p:nvSpPr>
          <p:cNvPr id="2" name="">
            <a:extLst xmlns:a="http://schemas.openxmlformats.org/drawingml/2006/main">
              <a:ext uri="{FF2B5EF4-FFF2-40B4-BE49-F238E27FC236}">
                <a16:creationId xmlns:a16="http://schemas.microsoft.com/office/drawing/2014/main" id="{08A5925F-5432-4095-B4A1-7337329DA15A}"/>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mpg!K8. Full code is on worksheet page 1.</a:t>
            </a:r>
          </a:p>
        </p:txBody>
      </p:sp>
      <p:sp>
        <p:nvSpPr>
          <p:cNvPr id="3" name="">
            <a:extLst xmlns:a="http://schemas.openxmlformats.org/drawingml/2006/main">
              <a:ext uri="{FF2B5EF4-FFF2-40B4-BE49-F238E27FC236}">
                <a16:creationId xmlns:a16="http://schemas.microsoft.com/office/drawing/2014/main" id="{F5FB5CB4-E0E2-46C6-96C7-3900458CBAEC}"/>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B9822282-9FE2-432F-AA4E-7B7D43E1561E}"/>
              </a:ext>
            </a:extLst>
          </p:cNvPr>
          <p:cNvSpPr>
            <a:spLocks xmlns:a="http://schemas.openxmlformats.org/drawingml/2006/main" noGrp="1"/>
          </p:cNvSpPr>
          <p:nvPr/>
        </p:nvSpPr>
        <p:spPr>
          <a:xfrm xmlns:a="http://schemas.openxmlformats.org/drawingml/2006/main">
            <a:off x="609600" y="25622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0">
                <a:solidFill>
                  <a:srgbClr val="1F2120"/>
                </a:solidFill>
                <a:latin typeface="Arial"/>
                <a:ea typeface="Arial"/>
                <a:cs typeface="Arial"/>
              </a:defRPr>
            </a:pPr>
            <a:r>
              <a:rPr sz="2475" b="0">
                <a:solidFill>
                  <a:srgbClr val="1F2120"/>
                </a:solidFill>
                <a:latin typeface="Arial"/>
                <a:ea typeface="Arial"/>
                <a:cs typeface="Arial"/>
              </a:rPr>
              <a:t>Assume the two population means are equal.</a:t>
            </a:r>
          </a:p>
          <a:p xmlns:a="http://schemas.openxmlformats.org/drawingml/2006/main">
            <a:pPr>
              <a:defRPr sz="2475" b="0">
                <a:solidFill>
                  <a:srgbClr val="1F2120"/>
                </a:solidFill>
                <a:latin typeface="Arial"/>
                <a:ea typeface="Arial"/>
                <a:cs typeface="Arial"/>
              </a:defRPr>
            </a:pPr>
            <a:r>
              <a:rPr sz="2475" b="0">
                <a:solidFill>
                  <a:srgbClr val="1F2120"/>
                </a:solidFill>
                <a:latin typeface="Arial"/>
                <a:ea typeface="Arial"/>
                <a:cs typeface="Arial"/>
              </a:rPr>
              <a:t>How surprising would a gap this large be under that model?</a:t>
            </a:r>
          </a:p>
        </p:txBody>
      </p:sp>
      <p:sp>
        <p:nvSpPr>
          <p:cNvPr id="5" name="">
            <a:extLst xmlns:a="http://schemas.openxmlformats.org/drawingml/2006/main">
              <a:ext uri="{FF2B5EF4-FFF2-40B4-BE49-F238E27FC236}">
                <a16:creationId xmlns:a16="http://schemas.microsoft.com/office/drawing/2014/main" id="{00802074-A9DD-4A72-A596-C69D145CBE65}"/>
              </a:ext>
            </a:extLst>
          </p:cNvPr>
          <p:cNvSpPr>
            <a:spLocks xmlns:a="http://schemas.openxmlformats.org/drawingml/2006/main" noGrp="1"/>
          </p:cNvSpPr>
          <p:nvPr/>
        </p:nvSpPr>
        <p:spPr>
          <a:xfrm xmlns:a="http://schemas.openxmlformats.org/drawingml/2006/main">
            <a:off x="609600" y="4210050"/>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b="1">
                <a:solidFill>
                  <a:srgbClr val="CF3338"/>
                </a:solidFill>
                <a:latin typeface="Arial"/>
                <a:ea typeface="Arial"/>
                <a:cs typeface="Arial"/>
              </a:defRPr>
            </a:pPr>
            <a:r>
              <a:rPr sz="3975" b="1">
                <a:solidFill>
                  <a:srgbClr val="CF3338"/>
                </a:solidFill>
                <a:latin typeface="Arial"/>
                <a:ea typeface="Arial"/>
                <a:cs typeface="Arial"/>
              </a:rPr>
              <a:t>p ≈ 0.017</a:t>
            </a:r>
          </a:p>
        </p:txBody>
      </p:sp>
      <p:sp>
        <p:nvSpPr>
          <p:cNvPr id="6" name="">
            <a:extLst xmlns:a="http://schemas.openxmlformats.org/drawingml/2006/main">
              <a:ext uri="{FF2B5EF4-FFF2-40B4-BE49-F238E27FC236}">
                <a16:creationId xmlns:a16="http://schemas.microsoft.com/office/drawing/2014/main" id="{1EFD828A-02CE-415F-B7BB-248C95FF3187}"/>
              </a:ext>
            </a:extLst>
          </p:cNvPr>
          <p:cNvSpPr>
            <a:spLocks xmlns:a="http://schemas.openxmlformats.org/drawingml/2006/main" noGrp="1"/>
          </p:cNvSpPr>
          <p:nvPr/>
        </p:nvSpPr>
        <p:spPr>
          <a:xfrm xmlns:a="http://schemas.openxmlformats.org/drawingml/2006/main">
            <a:off x="6048375" y="4191000"/>
            <a:ext cx="54102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Evidence against equal means,</a:t>
            </a:r>
          </a:p>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subject to the test’s assumptions.</a:t>
            </a:r>
          </a:p>
        </p:txBody>
      </p:sp>
      <p:sp>
        <p:nvSpPr>
          <p:cNvPr id="7" name="">
            <a:extLst xmlns:a="http://schemas.openxmlformats.org/drawingml/2006/main">
              <a:ext uri="{FF2B5EF4-FFF2-40B4-BE49-F238E27FC236}">
                <a16:creationId xmlns:a16="http://schemas.microsoft.com/office/drawing/2014/main" id="{001D3D06-25C3-4F3C-9B51-248FA5C3DD33}"/>
              </a:ext>
            </a:extLst>
          </p:cNvPr>
          <p:cNvSpPr>
            <a:spLocks xmlns:a="http://schemas.openxmlformats.org/drawingml/2006/main" noGrp="1"/>
          </p:cNvSpPr>
          <p:nvPr/>
        </p:nvSpPr>
        <p:spPr>
          <a:xfrm xmlns:a="http://schemas.openxmlformats.org/drawingml/2006/main">
            <a:off x="609600" y="58674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The p-value does not measure how useful the difference is.</a:t>
            </a:r>
          </a:p>
        </p:txBody>
      </p:sp>
    </p:spTree>
    <p:extLst>
      <p:ext uri="{BB962C8B-B14F-4D97-AF65-F5344CB8AC3E}">
        <p14:creationId xmlns:p14="http://schemas.microsoft.com/office/powerpoint/2010/main" val="1315935443"/>
      </p:ext>
    </p:extLst>
  </p:cSld>
</p:sld>
</file>

<file path=ppt/slides/slide8.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3AA81B-A4F1-4C76-8303-379F162DCFA5}"/>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fitted line summarizes a relationship</a:t>
            </a:r>
          </a:p>
        </p:txBody>
      </p:sp>
      <p:sp>
        <p:nvSpPr>
          <p:cNvPr id="2" name="">
            <a:extLst xmlns:a="http://schemas.openxmlformats.org/drawingml/2006/main">
              <a:ext uri="{FF2B5EF4-FFF2-40B4-BE49-F238E27FC236}">
                <a16:creationId xmlns:a16="http://schemas.microsoft.com/office/drawing/2014/main" id="{1191E8B4-EF99-4ECD-BEEB-D8C6E89FD0C5}"/>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penguins!I1</a:t>
            </a:r>
          </a:p>
        </p:txBody>
      </p:sp>
      <p:sp>
        <p:nvSpPr>
          <p:cNvPr id="3" name="">
            <a:extLst xmlns:a="http://schemas.openxmlformats.org/drawingml/2006/main">
              <a:ext uri="{FF2B5EF4-FFF2-40B4-BE49-F238E27FC236}">
                <a16:creationId xmlns:a16="http://schemas.microsoft.com/office/drawing/2014/main" id="{DBD36736-0175-4359-B598-5AD844626DD6}"/>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F3FE84B-1FB2-4039-A14C-2A257BCD9F37}"/>
              </a:ext>
            </a:extLst>
          </p:cNvPr>
          <p:cNvSpPr>
            <a:spLocks xmlns:a="http://schemas.openxmlformats.org/drawingml/2006/main" noGrp="1"/>
          </p:cNvSpPr>
          <p:nvPr/>
        </p:nvSpPr>
        <p:spPr>
          <a:xfrm xmlns:a="http://schemas.openxmlformats.org/drawingml/2006/main">
            <a:off x="609600" y="2381250"/>
            <a:ext cx="10972800" cy="239077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4C9C3B-E9CE-4D21-9E3B-A3982DA0E695}"/>
              </a:ext>
            </a:extLst>
          </p:cNvPr>
          <p:cNvSpPr>
            <a:spLocks xmlns:a="http://schemas.openxmlformats.org/drawingml/2006/main" noGrp="1"/>
          </p:cNvSpPr>
          <p:nvPr/>
        </p:nvSpPr>
        <p:spPr>
          <a:xfrm xmlns:a="http://schemas.openxmlformats.org/drawingml/2006/main">
            <a:off x="838200" y="2600325"/>
            <a:ext cx="105156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FFFFFF"/>
                </a:solidFill>
                <a:latin typeface="Consolas"/>
                <a:ea typeface="Consolas"/>
                <a:cs typeface="Consolas"/>
              </a:defRPr>
            </a:pPr>
            <a:r>
              <a:rPr sz="1950" b="0">
                <a:solidFill>
                  <a:srgbClr val="FFFFFF"/>
                </a:solidFill>
                <a:latin typeface="Consolas"/>
                <a:ea typeface="Consolas"/>
                <a:cs typeface="Consolas"/>
              </a:rPr>
              <a:t>penguins_df = xl("penguins[#All]", headers=True)</a:t>
            </a:r>
          </a:p>
          <a:p xmlns:a="http://schemas.openxmlformats.org/drawingml/2006/main">
            <a:pPr>
              <a:defRPr sz="1950" b="0">
                <a:solidFill>
                  <a:srgbClr val="FFFFFF"/>
                </a:solidFill>
                <a:latin typeface="Consolas"/>
                <a:ea typeface="Consolas"/>
                <a:cs typeface="Consolas"/>
              </a:defRPr>
            </a:pPr>
            <a:r>
              <a:rPr sz="1950" b="0">
                <a:solidFill>
                  <a:srgbClr val="FFFFFF"/>
                </a:solidFill>
                <a:latin typeface="Consolas"/>
                <a:ea typeface="Consolas"/>
                <a:cs typeface="Consolas"/>
              </a:rPr>
              <a:t>penguins_df = penguins_df.dropna(</a:t>
            </a:r>
          </a:p>
          <a:p xmlns:a="http://schemas.openxmlformats.org/drawingml/2006/main">
            <a:pPr>
              <a:defRPr sz="1950" b="0">
                <a:solidFill>
                  <a:srgbClr val="FFFFFF"/>
                </a:solidFill>
                <a:latin typeface="Consolas"/>
                <a:ea typeface="Consolas"/>
                <a:cs typeface="Consolas"/>
              </a:defRPr>
            </a:pPr>
            <a:r>
              <a:rPr sz="1950" b="0">
                <a:solidFill>
                  <a:srgbClr val="FFFFFF"/>
                </a:solidFill>
                <a:latin typeface="Consolas"/>
                <a:ea typeface="Consolas"/>
                <a:cs typeface="Consolas"/>
              </a:rPr>
              <a:t>    subset=["body_mass_g", "flipper_length_mm"])</a:t>
            </a:r>
          </a:p>
          <a:p xmlns:a="http://schemas.openxmlformats.org/drawingml/2006/main">
            <a:pPr>
              <a:defRPr sz="1950" b="0">
                <a:solidFill>
                  <a:srgbClr val="FFFFFF"/>
                </a:solidFill>
                <a:latin typeface="Consolas"/>
                <a:ea typeface="Consolas"/>
                <a:cs typeface="Consolas"/>
              </a:defRPr>
            </a:pPr>
            <a:r>
              <a:rPr sz="1950" b="0">
                <a:solidFill>
                  <a:srgbClr val="FFFFFF"/>
                </a:solidFill>
                <a:latin typeface="Consolas"/>
                <a:ea typeface="Consolas"/>
                <a:cs typeface="Consolas"/>
              </a:rPr>
              <a:t>plt.figure()</a:t>
            </a:r>
          </a:p>
          <a:p xmlns:a="http://schemas.openxmlformats.org/drawingml/2006/main">
            <a:pPr>
              <a:defRPr sz="1950" b="0">
                <a:solidFill>
                  <a:srgbClr val="FFFFFF"/>
                </a:solidFill>
                <a:latin typeface="Consolas"/>
                <a:ea typeface="Consolas"/>
                <a:cs typeface="Consolas"/>
              </a:defRPr>
            </a:pPr>
            <a:r>
              <a:rPr sz="1950" b="0">
                <a:solidFill>
                  <a:srgbClr val="FFFFFF"/>
                </a:solidFill>
                <a:latin typeface="Consolas"/>
                <a:ea typeface="Consolas"/>
                <a:cs typeface="Consolas"/>
              </a:rPr>
              <a:t>sns.regplot(data=penguins_df, x="body_mass_g",</a:t>
            </a:r>
          </a:p>
          <a:p xmlns:a="http://schemas.openxmlformats.org/drawingml/2006/main">
            <a:pPr>
              <a:defRPr sz="1950" b="0">
                <a:solidFill>
                  <a:srgbClr val="FFFFFF"/>
                </a:solidFill>
                <a:latin typeface="Consolas"/>
                <a:ea typeface="Consolas"/>
                <a:cs typeface="Consolas"/>
              </a:defRPr>
            </a:pPr>
            <a:r>
              <a:rPr sz="1950" b="0">
                <a:solidFill>
                  <a:srgbClr val="FFFFFF"/>
                </a:solidFill>
                <a:latin typeface="Consolas"/>
                <a:ea typeface="Consolas"/>
                <a:cs typeface="Consolas"/>
              </a:rPr>
              <a:t>            y="flipper_length_mm", ci=None, color="#CF3338")</a:t>
            </a:r>
          </a:p>
        </p:txBody>
      </p:sp>
      <p:sp>
        <p:nvSpPr>
          <p:cNvPr id="6" name="">
            <a:extLst xmlns:a="http://schemas.openxmlformats.org/drawingml/2006/main">
              <a:ext uri="{FF2B5EF4-FFF2-40B4-BE49-F238E27FC236}">
                <a16:creationId xmlns:a16="http://schemas.microsoft.com/office/drawing/2014/main" id="{B4E73D38-D5C6-4A8F-BB57-EBA5E74D96CD}"/>
              </a:ext>
            </a:extLst>
          </p:cNvPr>
          <p:cNvSpPr>
            <a:spLocks xmlns:a="http://schemas.openxmlformats.org/drawingml/2006/main" noGrp="1"/>
          </p:cNvSpPr>
          <p:nvPr/>
        </p:nvSpPr>
        <p:spPr>
          <a:xfrm xmlns:a="http://schemas.openxmlformats.org/drawingml/2006/main">
            <a:off x="609600" y="5238750"/>
            <a:ext cx="10810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Body mass goes across. Flipper length goes up.</a:t>
            </a:r>
          </a:p>
        </p:txBody>
      </p:sp>
    </p:spTree>
    <p:extLst>
      <p:ext uri="{BB962C8B-B14F-4D97-AF65-F5344CB8AC3E}">
        <p14:creationId xmlns:p14="http://schemas.microsoft.com/office/powerpoint/2010/main" val="598661747"/>
      </p:ext>
    </p:extLst>
  </p:cSld>
</p:sld>
</file>

<file path=ppt/slides/slide9.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0602E-404F-4955-A56C-535359C2CFA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Heavier penguins tend to have longer flippers</a:t>
            </a:r>
          </a:p>
        </p:txBody>
      </p:sp>
      <p:sp>
        <p:nvSpPr>
          <p:cNvPr id="2" name="">
            <a:extLst xmlns:a="http://schemas.openxmlformats.org/drawingml/2006/main">
              <a:ext uri="{FF2B5EF4-FFF2-40B4-BE49-F238E27FC236}">
                <a16:creationId xmlns:a16="http://schemas.microsoft.com/office/drawing/2014/main" id="{6FE3AF28-E605-435D-9EE9-7F94E65E38EC}"/>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CHECK  /  342 penguins with both measurements</a:t>
            </a:r>
          </a:p>
        </p:txBody>
      </p:sp>
      <p:sp>
        <p:nvSpPr>
          <p:cNvPr id="3" name="">
            <a:extLst xmlns:a="http://schemas.openxmlformats.org/drawingml/2006/main">
              <a:ext uri="{FF2B5EF4-FFF2-40B4-BE49-F238E27FC236}">
                <a16:creationId xmlns:a16="http://schemas.microsoft.com/office/drawing/2014/main" id="{2C788DB3-34D5-4E34-8FAE-1996B19ACC10}"/>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09</a:t>
            </a:r>
          </a:p>
        </p:txBody>
      </p:sp>
      <p:graphicFrame>
        <p:nvGraphicFramePr>
          <p:cNvPr id="12" name="Chart"/>
          <p:cNvGraphicFramePr/>
          <p:nvPr/>
        </p:nvGraphicFramePr>
        <p:xfrm>
          <a:off xmlns:a="http://schemas.openxmlformats.org/drawingml/2006/main" x="609600" y="2533650"/>
          <a:ext xmlns:a="http://schemas.openxmlformats.org/drawingml/2006/main" cx="7858125" cy="3419475"/>
        </p:xfrm>
        <a:graphic xmlns:a="http://schemas.openxmlformats.org/drawingml/2006/main">
          <a:graphicData uri="http://schemas.openxmlformats.org/drawingml/2006/chart">
            <c:chart xmlns:r="http://schemas.openxmlformats.org/officeDocument/2006/relationships" xmlns:c="http://schemas.openxmlformats.org/drawingml/2006/chart" r:id="R56eebb09fa3e4a33"/>
          </a:graphicData>
        </a:graphic>
      </p:graphicFrame>
      <p:sp>
        <p:nvSpPr>
          <p:cNvPr id="5" name="">
            <a:extLst xmlns:a="http://schemas.openxmlformats.org/drawingml/2006/main">
              <a:ext uri="{FF2B5EF4-FFF2-40B4-BE49-F238E27FC236}">
                <a16:creationId xmlns:a16="http://schemas.microsoft.com/office/drawing/2014/main" id="{32B44E37-5A99-41A5-8383-0C444C52BDA0}"/>
              </a:ext>
            </a:extLst>
          </p:cNvPr>
          <p:cNvSpPr>
            <a:spLocks xmlns:a="http://schemas.openxmlformats.org/drawingml/2006/main" noGrp="1"/>
          </p:cNvSpPr>
          <p:nvPr/>
        </p:nvSpPr>
        <p:spPr>
          <a:xfrm xmlns:a="http://schemas.openxmlformats.org/drawingml/2006/main">
            <a:off x="1847850" y="6048375"/>
            <a:ext cx="166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F3338"/>
                </a:solidFill>
                <a:latin typeface="Arial"/>
                <a:ea typeface="Arial"/>
                <a:cs typeface="Arial"/>
              </a:defRPr>
            </a:pPr>
            <a:r>
              <a:rPr sz="1500" b="1">
                <a:solidFill>
                  <a:srgbClr val="CF3338"/>
                </a:solidFill>
                <a:latin typeface="Arial"/>
                <a:ea typeface="Arial"/>
                <a:cs typeface="Arial"/>
              </a:rPr>
              <a:t>● Penguins</a:t>
            </a:r>
          </a:p>
        </p:txBody>
      </p:sp>
      <p:sp>
        <p:nvSpPr>
          <p:cNvPr id="6" name="">
            <a:extLst xmlns:a="http://schemas.openxmlformats.org/drawingml/2006/main">
              <a:ext uri="{FF2B5EF4-FFF2-40B4-BE49-F238E27FC236}">
                <a16:creationId xmlns:a16="http://schemas.microsoft.com/office/drawing/2014/main" id="{B8356ABB-605F-48CD-8DB8-F1C7959D5579}"/>
              </a:ext>
            </a:extLst>
          </p:cNvPr>
          <p:cNvSpPr>
            <a:spLocks xmlns:a="http://schemas.openxmlformats.org/drawingml/2006/main" noGrp="1"/>
          </p:cNvSpPr>
          <p:nvPr/>
        </p:nvSpPr>
        <p:spPr>
          <a:xfrm xmlns:a="http://schemas.openxmlformats.org/drawingml/2006/main">
            <a:off x="3514725" y="6048375"/>
            <a:ext cx="1666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1F2120"/>
                </a:solidFill>
                <a:latin typeface="Arial"/>
                <a:ea typeface="Arial"/>
                <a:cs typeface="Arial"/>
              </a:defRPr>
            </a:pPr>
            <a:r>
              <a:rPr sz="1500" b="1">
                <a:solidFill>
                  <a:srgbClr val="1F2120"/>
                </a:solidFill>
                <a:latin typeface="Arial"/>
                <a:ea typeface="Arial"/>
                <a:cs typeface="Arial"/>
              </a:rPr>
              <a:t>● Fitted line</a:t>
            </a:r>
          </a:p>
        </p:txBody>
      </p:sp>
      <p:sp>
        <p:nvSpPr>
          <p:cNvPr id="7" name="">
            <a:extLst xmlns:a="http://schemas.openxmlformats.org/drawingml/2006/main">
              <a:ext uri="{FF2B5EF4-FFF2-40B4-BE49-F238E27FC236}">
                <a16:creationId xmlns:a16="http://schemas.microsoft.com/office/drawing/2014/main" id="{C077F878-1122-403F-A14C-2F8E89D7DBB1}"/>
              </a:ext>
            </a:extLst>
          </p:cNvPr>
          <p:cNvSpPr>
            <a:spLocks xmlns:a="http://schemas.openxmlformats.org/drawingml/2006/main" noGrp="1"/>
          </p:cNvSpPr>
          <p:nvPr/>
        </p:nvSpPr>
        <p:spPr>
          <a:xfrm xmlns:a="http://schemas.openxmlformats.org/drawingml/2006/main">
            <a:off x="8877300" y="3038475"/>
            <a:ext cx="26479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Upward</a:t>
            </a:r>
          </a:p>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relationship</a:t>
            </a:r>
          </a:p>
        </p:txBody>
      </p:sp>
      <p:sp>
        <p:nvSpPr>
          <p:cNvPr id="8" name="">
            <a:extLst xmlns:a="http://schemas.openxmlformats.org/drawingml/2006/main">
              <a:ext uri="{FF2B5EF4-FFF2-40B4-BE49-F238E27FC236}">
                <a16:creationId xmlns:a16="http://schemas.microsoft.com/office/drawing/2014/main" id="{B96BCADA-E851-4E81-8374-45EA4095041C}"/>
              </a:ext>
            </a:extLst>
          </p:cNvPr>
          <p:cNvSpPr>
            <a:spLocks xmlns:a="http://schemas.openxmlformats.org/drawingml/2006/main" noGrp="1"/>
          </p:cNvSpPr>
          <p:nvPr/>
        </p:nvSpPr>
        <p:spPr>
          <a:xfrm xmlns:a="http://schemas.openxmlformats.org/drawingml/2006/main">
            <a:off x="8877300" y="4629150"/>
            <a:ext cx="26098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Other differences</a:t>
            </a:r>
          </a:p>
          <a:p xmlns:a="http://schemas.openxmlformats.org/drawingml/2006/main">
            <a:pPr>
              <a:defRPr sz="2025" b="0">
                <a:solidFill>
                  <a:srgbClr val="1F2120"/>
                </a:solidFill>
                <a:latin typeface="Arial"/>
                <a:ea typeface="Arial"/>
                <a:cs typeface="Arial"/>
              </a:defRPr>
            </a:pPr>
            <a:r>
              <a:rPr sz="2025" b="0">
                <a:solidFill>
                  <a:srgbClr val="1F2120"/>
                </a:solidFill>
                <a:latin typeface="Arial"/>
                <a:ea typeface="Arial"/>
                <a:cs typeface="Arial"/>
              </a:rPr>
              <a:t>can matter too.</a:t>
            </a:r>
          </a:p>
        </p:txBody>
      </p:sp>
    </p:spTree>
    <p:extLst>
      <p:ext uri="{BB962C8B-B14F-4D97-AF65-F5344CB8AC3E}">
        <p14:creationId xmlns:p14="http://schemas.microsoft.com/office/powerpoint/2010/main" val="1076344923"/>
      </p:ext>
    </p:extLst>
  </p:cSld>
</p:sld>
</file>

<file path=ppt/slides/slide10.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1C3133-E68C-4798-A795-E66DB73D7FF8}"/>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slope gives the line a meaning</a:t>
            </a:r>
          </a:p>
        </p:txBody>
      </p:sp>
      <p:sp>
        <p:nvSpPr>
          <p:cNvPr id="2" name="">
            <a:extLst xmlns:a="http://schemas.openxmlformats.org/drawingml/2006/main">
              <a:ext uri="{FF2B5EF4-FFF2-40B4-BE49-F238E27FC236}">
                <a16:creationId xmlns:a16="http://schemas.microsoft.com/office/drawing/2014/main" id="{637EFE17-7181-46B3-8158-CDBB0585AD1F}"/>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penguins!I12. Code is on worksheet page 2.</a:t>
            </a:r>
          </a:p>
        </p:txBody>
      </p:sp>
      <p:sp>
        <p:nvSpPr>
          <p:cNvPr id="3" name="">
            <a:extLst xmlns:a="http://schemas.openxmlformats.org/drawingml/2006/main">
              <a:ext uri="{FF2B5EF4-FFF2-40B4-BE49-F238E27FC236}">
                <a16:creationId xmlns:a16="http://schemas.microsoft.com/office/drawing/2014/main" id="{B799AE69-9821-43F3-A7F3-6EB124924868}"/>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2E9013C-E96C-4177-B68F-1689A6C94112}"/>
              </a:ext>
            </a:extLst>
          </p:cNvPr>
          <p:cNvSpPr>
            <a:spLocks xmlns:a="http://schemas.openxmlformats.org/drawingml/2006/main" noGrp="1"/>
          </p:cNvSpPr>
          <p:nvPr/>
        </p:nvSpPr>
        <p:spPr>
          <a:xfrm xmlns:a="http://schemas.openxmlformats.org/drawingml/2006/main">
            <a:off x="609600" y="2657475"/>
            <a:ext cx="54006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950" b="1">
                <a:solidFill>
                  <a:srgbClr val="CF3338"/>
                </a:solidFill>
                <a:latin typeface="Arial"/>
                <a:ea typeface="Arial"/>
                <a:cs typeface="Arial"/>
              </a:defRPr>
            </a:pPr>
            <a:r>
              <a:rPr sz="4950" b="1">
                <a:solidFill>
                  <a:srgbClr val="CF3338"/>
                </a:solidFill>
                <a:latin typeface="Arial"/>
                <a:ea typeface="Arial"/>
                <a:cs typeface="Arial"/>
              </a:rPr>
              <a:t>1.53 mm</a:t>
            </a:r>
          </a:p>
        </p:txBody>
      </p:sp>
      <p:sp>
        <p:nvSpPr>
          <p:cNvPr id="5" name="">
            <a:extLst xmlns:a="http://schemas.openxmlformats.org/drawingml/2006/main">
              <a:ext uri="{FF2B5EF4-FFF2-40B4-BE49-F238E27FC236}">
                <a16:creationId xmlns:a16="http://schemas.microsoft.com/office/drawing/2014/main" id="{632F73D4-C17D-40A9-A716-8DF9FE2B37C4}"/>
              </a:ext>
            </a:extLst>
          </p:cNvPr>
          <p:cNvSpPr>
            <a:spLocks xmlns:a="http://schemas.openxmlformats.org/drawingml/2006/main" noGrp="1"/>
          </p:cNvSpPr>
          <p:nvPr/>
        </p:nvSpPr>
        <p:spPr>
          <a:xfrm xmlns:a="http://schemas.openxmlformats.org/drawingml/2006/main">
            <a:off x="609600" y="3781425"/>
            <a:ext cx="62674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F2120"/>
                </a:solidFill>
                <a:latin typeface="Arial"/>
                <a:ea typeface="Arial"/>
                <a:cs typeface="Arial"/>
              </a:defRPr>
            </a:pPr>
            <a:r>
              <a:rPr sz="2400" b="0">
                <a:solidFill>
                  <a:srgbClr val="1F2120"/>
                </a:solidFill>
                <a:latin typeface="Arial"/>
                <a:ea typeface="Arial"/>
                <a:cs typeface="Arial"/>
              </a:rPr>
              <a:t>Longer fitted flipper length</a:t>
            </a:r>
          </a:p>
          <a:p xmlns:a="http://schemas.openxmlformats.org/drawingml/2006/main">
            <a:pPr>
              <a:defRPr sz="2400" b="0">
                <a:solidFill>
                  <a:srgbClr val="1F2120"/>
                </a:solidFill>
                <a:latin typeface="Arial"/>
                <a:ea typeface="Arial"/>
                <a:cs typeface="Arial"/>
              </a:defRPr>
            </a:pPr>
            <a:r>
              <a:rPr sz="2400" b="0">
                <a:solidFill>
                  <a:srgbClr val="1F2120"/>
                </a:solidFill>
                <a:latin typeface="Arial"/>
                <a:ea typeface="Arial"/>
                <a:cs typeface="Arial"/>
              </a:rPr>
              <a:t>for each extra 100 g of body mass.</a:t>
            </a:r>
          </a:p>
        </p:txBody>
      </p:sp>
      <p:sp>
        <p:nvSpPr>
          <p:cNvPr id="6" name="">
            <a:extLst xmlns:a="http://schemas.openxmlformats.org/drawingml/2006/main">
              <a:ext uri="{FF2B5EF4-FFF2-40B4-BE49-F238E27FC236}">
                <a16:creationId xmlns:a16="http://schemas.microsoft.com/office/drawing/2014/main" id="{0061512C-C027-4844-BB1A-B139FA0635EB}"/>
              </a:ext>
            </a:extLst>
          </p:cNvPr>
          <p:cNvSpPr>
            <a:spLocks xmlns:a="http://schemas.openxmlformats.org/drawingml/2006/main" noGrp="1"/>
          </p:cNvSpPr>
          <p:nvPr/>
        </p:nvSpPr>
        <p:spPr>
          <a:xfrm xmlns:a="http://schemas.openxmlformats.org/drawingml/2006/main">
            <a:off x="7696200" y="2543175"/>
            <a:ext cx="3876675" cy="28670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16EDA1-86E1-4E23-B5BA-844000CE601B}"/>
              </a:ext>
            </a:extLst>
          </p:cNvPr>
          <p:cNvSpPr>
            <a:spLocks xmlns:a="http://schemas.openxmlformats.org/drawingml/2006/main" noGrp="1"/>
          </p:cNvSpPr>
          <p:nvPr/>
        </p:nvSpPr>
        <p:spPr>
          <a:xfrm xmlns:a="http://schemas.openxmlformats.org/drawingml/2006/main">
            <a:off x="7962900" y="2838450"/>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 useful check</a:t>
            </a:r>
          </a:p>
        </p:txBody>
      </p:sp>
      <p:sp>
        <p:nvSpPr>
          <p:cNvPr id="8" name="">
            <a:extLst xmlns:a="http://schemas.openxmlformats.org/drawingml/2006/main">
              <a:ext uri="{FF2B5EF4-FFF2-40B4-BE49-F238E27FC236}">
                <a16:creationId xmlns:a16="http://schemas.microsoft.com/office/drawing/2014/main" id="{42DABA06-1DB7-4124-B2BB-1E2C2BDF7671}"/>
              </a:ext>
            </a:extLst>
          </p:cNvPr>
          <p:cNvSpPr>
            <a:spLocks xmlns:a="http://schemas.openxmlformats.org/drawingml/2006/main" noGrp="1"/>
          </p:cNvSpPr>
          <p:nvPr/>
        </p:nvSpPr>
        <p:spPr>
          <a:xfrm xmlns:a="http://schemas.openxmlformats.org/drawingml/2006/main">
            <a:off x="7962900" y="3562350"/>
            <a:ext cx="33147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EEECE1"/>
                </a:solidFill>
                <a:latin typeface="Arial"/>
                <a:ea typeface="Arial"/>
                <a:cs typeface="Arial"/>
              </a:defRPr>
            </a:pPr>
            <a:r>
              <a:rPr sz="2025" b="0">
                <a:solidFill>
                  <a:srgbClr val="EEECE1"/>
                </a:solidFill>
                <a:latin typeface="Arial"/>
                <a:ea typeface="Arial"/>
                <a:cs typeface="Arial"/>
              </a:rPr>
              <a:t>Does the direction</a:t>
            </a:r>
          </a:p>
          <a:p xmlns:a="http://schemas.openxmlformats.org/drawingml/2006/main">
            <a:pPr>
              <a:defRPr sz="2025" b="0">
                <a:solidFill>
                  <a:srgbClr val="EEECE1"/>
                </a:solidFill>
                <a:latin typeface="Arial"/>
                <a:ea typeface="Arial"/>
                <a:cs typeface="Arial"/>
              </a:defRPr>
            </a:pPr>
            <a:r>
              <a:rPr sz="2025" b="0">
                <a:solidFill>
                  <a:srgbClr val="EEECE1"/>
                </a:solidFill>
                <a:latin typeface="Arial"/>
                <a:ea typeface="Arial"/>
                <a:cs typeface="Arial"/>
              </a:rPr>
              <a:t>match the chart?</a:t>
            </a:r>
          </a:p>
          <a:p xmlns:a="http://schemas.openxmlformats.org/drawingml/2006/main">
            <a:r>
              <a:t/>
            </a:r>
          </a:p>
          <a:p xmlns:a="http://schemas.openxmlformats.org/drawingml/2006/main">
            <a:pPr>
              <a:defRPr sz="2025" b="0">
                <a:solidFill>
                  <a:srgbClr val="EEECE1"/>
                </a:solidFill>
                <a:latin typeface="Arial"/>
                <a:ea typeface="Arial"/>
                <a:cs typeface="Arial"/>
              </a:defRPr>
            </a:pPr>
            <a:r>
              <a:rPr sz="2025" b="0">
                <a:solidFill>
                  <a:srgbClr val="EEECE1"/>
                </a:solidFill>
                <a:latin typeface="Arial"/>
                <a:ea typeface="Arial"/>
                <a:cs typeface="Arial"/>
              </a:rPr>
              <a:t>Yes: both slope upward.</a:t>
            </a:r>
          </a:p>
        </p:txBody>
      </p:sp>
    </p:spTree>
    <p:extLst>
      <p:ext uri="{BB962C8B-B14F-4D97-AF65-F5344CB8AC3E}">
        <p14:creationId xmlns:p14="http://schemas.microsoft.com/office/powerpoint/2010/main" val="1128975937"/>
      </p:ext>
    </p:extLst>
  </p:cSld>
</p:sld>
</file>

<file path=ppt/slides/slide1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AE065F-35CD-4DD0-A96F-921C99D805DE}"/>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forecast learns from the history</a:t>
            </a:r>
          </a:p>
        </p:txBody>
      </p:sp>
      <p:sp>
        <p:nvSpPr>
          <p:cNvPr id="2" name="">
            <a:extLst xmlns:a="http://schemas.openxmlformats.org/drawingml/2006/main">
              <a:ext uri="{FF2B5EF4-FFF2-40B4-BE49-F238E27FC236}">
                <a16:creationId xmlns:a16="http://schemas.microsoft.com/office/drawing/2014/main" id="{1C7F8833-1DA6-47DE-8FFA-250B639CFFEC}"/>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AirPassengers!D1. Code is on worksheet page 3.</a:t>
            </a:r>
          </a:p>
        </p:txBody>
      </p:sp>
      <p:sp>
        <p:nvSpPr>
          <p:cNvPr id="3" name="">
            <a:extLst xmlns:a="http://schemas.openxmlformats.org/drawingml/2006/main">
              <a:ext uri="{FF2B5EF4-FFF2-40B4-BE49-F238E27FC236}">
                <a16:creationId xmlns:a16="http://schemas.microsoft.com/office/drawing/2014/main" id="{2215215F-349A-498A-A8BD-7A9902F26C8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11</a:t>
            </a:r>
          </a:p>
        </p:txBody>
      </p:sp>
      <p:graphicFrame>
        <p:nvGraphicFramePr>
          <p:cNvPr id="8" name="Chart"/>
          <p:cNvGraphicFramePr/>
          <p:nvPr/>
        </p:nvGraphicFramePr>
        <p:xfrm>
          <a:off xmlns:a="http://schemas.openxmlformats.org/drawingml/2006/main" x="609600" y="250507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c751fa86b85c4731"/>
          </a:graphicData>
        </a:graphic>
      </p:graphicFrame>
    </p:spTree>
    <p:extLst>
      <p:ext uri="{BB962C8B-B14F-4D97-AF65-F5344CB8AC3E}">
        <p14:creationId xmlns:p14="http://schemas.microsoft.com/office/powerpoint/2010/main" val="1770585300"/>
      </p:ext>
    </p:extLst>
  </p:cSld>
</p:sld>
</file>

<file path=ppt/slides/slide1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7CE818-2403-4A56-895F-CFA08C343946}"/>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fair forecast check hides the last year</a:t>
            </a:r>
          </a:p>
        </p:txBody>
      </p:sp>
      <p:sp>
        <p:nvSpPr>
          <p:cNvPr id="2" name="">
            <a:extLst xmlns:a="http://schemas.openxmlformats.org/drawingml/2006/main">
              <a:ext uri="{FF2B5EF4-FFF2-40B4-BE49-F238E27FC236}">
                <a16:creationId xmlns:a16="http://schemas.microsoft.com/office/drawing/2014/main" id="{C4363C82-C547-40F1-83F8-78E00C71B069}"/>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12</a:t>
            </a:r>
          </a:p>
        </p:txBody>
      </p:sp>
      <p:graphicFrame>
        <p:nvGraphicFramePr>
          <p:cNvPr id="7" name=""/>
          <p:cNvGraphicFramePr/>
          <p:nvPr/>
        </p:nvGraphicFramePr>
        <p:xfrm>
          <a:off xmlns:a="http://schemas.openxmlformats.org/drawingml/2006/main" x="609600" y="2571750"/>
          <a:ext xmlns:a="http://schemas.openxmlformats.org/drawingml/2006/main" cx="10972800" cy="2762250"/>
        </p:xfrm>
        <a:graphic xmlns:a="http://schemas.openxmlformats.org/drawingml/2006/main">
          <a:graphicData uri="http://schemas.openxmlformats.org/drawingml/2006/table">
            <a:tbl>
              <a:tblPr/>
              <a:tblGrid>
                <a:gridCol w="5486400"/>
                <a:gridCol w="5486400"/>
              </a:tblGrid>
              <a:tr h="690563">
                <a:tc>
                  <a:txBody>
                    <a:bodyPr/>
                    <a:lstStyle/>
                    <a:p>
                      <a:r>
                        <a:rPr sz="2025" b="1">
                          <a:solidFill>
                            <a:srgbClr val="FFFFFF"/>
                          </a:solidFill>
                          <a:latin typeface="Arial"/>
                          <a:ea typeface="Arial"/>
                          <a:cs typeface="Arial"/>
                        </a:rPr>
                        <a:t>Use these months</a:t>
                      </a:r>
                    </a:p>
                  </a:txBody>
                  <a:tcPr marL="152400" marR="95250" marT="123825" marB="95250">
                    <a:solidFill>
                      <a:srgbClr val="1F2120"/>
                    </a:solidFill>
                  </a:tcPr>
                </a:tc>
                <a:tc>
                  <a:txBody>
                    <a:bodyPr/>
                    <a:lstStyle/>
                    <a:p>
                      <a:r>
                        <a:rPr sz="2025" b="1">
                          <a:solidFill>
                            <a:srgbClr val="FFFFFF"/>
                          </a:solidFill>
                          <a:latin typeface="Arial"/>
                          <a:ea typeface="Arial"/>
                          <a:cs typeface="Arial"/>
                        </a:rPr>
                        <a:t>For this purpose</a:t>
                      </a:r>
                    </a:p>
                  </a:txBody>
                  <a:tcPr marL="152400" marR="95250" marT="123825" marB="95250">
                    <a:solidFill>
                      <a:srgbClr val="1F2120"/>
                    </a:solidFill>
                  </a:tcPr>
                </a:tc>
              </a:tr>
              <a:tr h="690563">
                <a:tc>
                  <a:txBody>
                    <a:bodyPr/>
                    <a:lstStyle/>
                    <a:p>
                      <a:r>
                        <a:rPr sz="2025" b="0">
                          <a:solidFill>
                            <a:srgbClr val="1F2120"/>
                          </a:solidFill>
                          <a:latin typeface="Arial"/>
                          <a:ea typeface="Arial"/>
                          <a:cs typeface="Arial"/>
                        </a:rPr>
                        <a:t>1949–1959</a:t>
                      </a:r>
                    </a:p>
                  </a:txBody>
                  <a:tcPr marL="152400" marR="95250" marT="123825" marB="95250">
                    <a:solidFill>
                      <a:srgbClr val="EEECE1"/>
                    </a:solidFill>
                  </a:tcPr>
                </a:tc>
                <a:tc>
                  <a:txBody>
                    <a:bodyPr/>
                    <a:lstStyle/>
                    <a:p>
                      <a:r>
                        <a:rPr sz="2025" b="0">
                          <a:solidFill>
                            <a:srgbClr val="1F2120"/>
                          </a:solidFill>
                          <a:latin typeface="Arial"/>
                          <a:ea typeface="Arial"/>
                          <a:cs typeface="Arial"/>
                        </a:rPr>
                        <a:t>Fit the model</a:t>
                      </a:r>
                    </a:p>
                  </a:txBody>
                  <a:tcPr marL="152400" marR="95250" marT="123825" marB="95250">
                    <a:solidFill>
                      <a:srgbClr val="EEECE1"/>
                    </a:solidFill>
                  </a:tcPr>
                </a:tc>
              </a:tr>
              <a:tr h="690563">
                <a:tc>
                  <a:txBody>
                    <a:bodyPr/>
                    <a:lstStyle/>
                    <a:p>
                      <a:r>
                        <a:rPr sz="2025" b="0">
                          <a:solidFill>
                            <a:srgbClr val="1F2120"/>
                          </a:solidFill>
                          <a:latin typeface="Arial"/>
                          <a:ea typeface="Arial"/>
                          <a:cs typeface="Arial"/>
                        </a:rPr>
                        <a:t>1960</a:t>
                      </a:r>
                    </a:p>
                  </a:txBody>
                  <a:tcPr marL="152400" marR="95250" marT="123825" marB="95250">
                    <a:solidFill>
                      <a:srgbClr val="EEECE1"/>
                    </a:solidFill>
                  </a:tcPr>
                </a:tc>
                <a:tc>
                  <a:txBody>
                    <a:bodyPr/>
                    <a:lstStyle/>
                    <a:p>
                      <a:r>
                        <a:rPr sz="2025" b="0">
                          <a:solidFill>
                            <a:srgbClr val="1F2120"/>
                          </a:solidFill>
                          <a:latin typeface="Arial"/>
                          <a:ea typeface="Arial"/>
                          <a:cs typeface="Arial"/>
                        </a:rPr>
                        <a:t>Check predictions against known answers</a:t>
                      </a:r>
                    </a:p>
                  </a:txBody>
                  <a:tcPr marL="152400" marR="95250" marT="123825" marB="95250">
                    <a:solidFill>
                      <a:srgbClr val="EEECE1"/>
                    </a:solidFill>
                  </a:tcPr>
                </a:tc>
              </a:tr>
              <a:tr h="690563">
                <a:tc>
                  <a:txBody>
                    <a:bodyPr/>
                    <a:lstStyle/>
                    <a:p>
                      <a:r>
                        <a:rPr sz="2025" b="0">
                          <a:solidFill>
                            <a:srgbClr val="1F2120"/>
                          </a:solidFill>
                          <a:latin typeface="Arial"/>
                          <a:ea typeface="Arial"/>
                          <a:cs typeface="Arial"/>
                        </a:rPr>
                        <a:t>Repeat the previous year</a:t>
                      </a:r>
                    </a:p>
                  </a:txBody>
                  <a:tcPr marL="152400" marR="95250" marT="123825" marB="95250">
                    <a:solidFill>
                      <a:srgbClr val="EEECE1"/>
                    </a:solidFill>
                  </a:tcPr>
                </a:tc>
                <a:tc>
                  <a:txBody>
                    <a:bodyPr/>
                    <a:lstStyle/>
                    <a:p>
                      <a:r>
                        <a:rPr sz="2025" b="0">
                          <a:solidFill>
                            <a:srgbClr val="1F2120"/>
                          </a:solidFill>
                          <a:latin typeface="Arial"/>
                          <a:ea typeface="Arial"/>
                          <a:cs typeface="Arial"/>
                        </a:rPr>
                        <a:t>A simple comparison to beat</a:t>
                      </a:r>
                    </a:p>
                  </a:txBody>
                  <a:tcPr marL="152400" marR="95250" marT="123825" marB="95250">
                    <a:solidFill>
                      <a:srgbClr val="EEECE1"/>
                    </a:solidFill>
                  </a:tcPr>
                </a:tc>
              </a:tr>
            </a:tbl>
          </a:graphicData>
        </a:graphic>
      </p:graphicFrame>
      <p:sp>
        <p:nvSpPr>
          <p:cNvPr id="4" name="">
            <a:extLst xmlns:a="http://schemas.openxmlformats.org/drawingml/2006/main">
              <a:ext uri="{FF2B5EF4-FFF2-40B4-BE49-F238E27FC236}">
                <a16:creationId xmlns:a16="http://schemas.microsoft.com/office/drawing/2014/main" id="{920E12B7-27EA-46F9-9C9E-57E7B557FEEF}"/>
              </a:ext>
            </a:extLst>
          </p:cNvPr>
          <p:cNvSpPr>
            <a:spLocks xmlns:a="http://schemas.openxmlformats.org/drawingml/2006/main" noGrp="1"/>
          </p:cNvSpPr>
          <p:nvPr/>
        </p:nvSpPr>
        <p:spPr>
          <a:xfrm xmlns:a="http://schemas.openxmlformats.org/drawingml/2006/main">
            <a:off x="609600" y="5762625"/>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This checks one year. More time periods can give a stronger check.</a:t>
            </a:r>
          </a:p>
        </p:txBody>
      </p:sp>
    </p:spTree>
    <p:extLst>
      <p:ext uri="{BB962C8B-B14F-4D97-AF65-F5344CB8AC3E}">
        <p14:creationId xmlns:p14="http://schemas.microsoft.com/office/powerpoint/2010/main" val="499889517"/>
      </p:ext>
    </p:extLst>
  </p:cSld>
</p:sld>
</file>

<file path=ppt/slides/slide1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0E6CD1-3C2C-4454-879E-D2BF918C0505}"/>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model beats the simple baseline here</a:t>
            </a:r>
          </a:p>
        </p:txBody>
      </p:sp>
      <p:sp>
        <p:nvSpPr>
          <p:cNvPr id="2" name="">
            <a:extLst xmlns:a="http://schemas.openxmlformats.org/drawingml/2006/main">
              <a:ext uri="{FF2B5EF4-FFF2-40B4-BE49-F238E27FC236}">
                <a16:creationId xmlns:a16="http://schemas.microsoft.com/office/drawing/2014/main" id="{B68801B6-061C-4719-8BC7-EA5DAC73827B}"/>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AirPassengers!D8. Lower error is better.</a:t>
            </a:r>
          </a:p>
        </p:txBody>
      </p:sp>
      <p:sp>
        <p:nvSpPr>
          <p:cNvPr id="3" name="">
            <a:extLst xmlns:a="http://schemas.openxmlformats.org/drawingml/2006/main">
              <a:ext uri="{FF2B5EF4-FFF2-40B4-BE49-F238E27FC236}">
                <a16:creationId xmlns:a16="http://schemas.microsoft.com/office/drawing/2014/main" id="{B94BB0AC-6473-49C3-A112-A847164C9619}"/>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13</a:t>
            </a:r>
          </a:p>
        </p:txBody>
      </p:sp>
      <p:graphicFrame>
        <p:nvGraphicFramePr>
          <p:cNvPr id="10" name="Chart"/>
          <p:cNvGraphicFramePr/>
          <p:nvPr/>
        </p:nvGraphicFramePr>
        <p:xfrm>
          <a:off xmlns:a="http://schemas.openxmlformats.org/drawingml/2006/main" x="609600" y="2543175"/>
          <a:ext xmlns:a="http://schemas.openxmlformats.org/drawingml/2006/main" cx="7505700" cy="3390900"/>
        </p:xfrm>
        <a:graphic xmlns:a="http://schemas.openxmlformats.org/drawingml/2006/main">
          <a:graphicData uri="http://schemas.openxmlformats.org/drawingml/2006/chart">
            <c:chart xmlns:r="http://schemas.openxmlformats.org/officeDocument/2006/relationships" xmlns:c="http://schemas.openxmlformats.org/drawingml/2006/chart" r:id="R11b4f33fd17d494b"/>
          </a:graphicData>
        </a:graphic>
      </p:graphicFrame>
      <p:sp>
        <p:nvSpPr>
          <p:cNvPr id="5" name="">
            <a:extLst xmlns:a="http://schemas.openxmlformats.org/drawingml/2006/main">
              <a:ext uri="{FF2B5EF4-FFF2-40B4-BE49-F238E27FC236}">
                <a16:creationId xmlns:a16="http://schemas.microsoft.com/office/drawing/2014/main" id="{99B7842F-5A5C-4162-AD9B-376EF048DCF8}"/>
              </a:ext>
            </a:extLst>
          </p:cNvPr>
          <p:cNvSpPr>
            <a:spLocks xmlns:a="http://schemas.openxmlformats.org/drawingml/2006/main" noGrp="1"/>
          </p:cNvSpPr>
          <p:nvPr/>
        </p:nvSpPr>
        <p:spPr>
          <a:xfrm xmlns:a="http://schemas.openxmlformats.org/drawingml/2006/main">
            <a:off x="8591550" y="2886075"/>
            <a:ext cx="2762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725" b="1">
                <a:solidFill>
                  <a:srgbClr val="CF3338"/>
                </a:solidFill>
                <a:latin typeface="Arial"/>
                <a:ea typeface="Arial"/>
                <a:cs typeface="Arial"/>
              </a:defRPr>
            </a:pPr>
            <a:r>
              <a:rPr sz="4725" b="1">
                <a:solidFill>
                  <a:srgbClr val="CF3338"/>
                </a:solidFill>
                <a:latin typeface="Arial"/>
                <a:ea typeface="Arial"/>
                <a:cs typeface="Arial"/>
              </a:rPr>
              <a:t>13.4</a:t>
            </a:r>
          </a:p>
        </p:txBody>
      </p:sp>
      <p:sp>
        <p:nvSpPr>
          <p:cNvPr id="6" name="">
            <a:extLst xmlns:a="http://schemas.openxmlformats.org/drawingml/2006/main">
              <a:ext uri="{FF2B5EF4-FFF2-40B4-BE49-F238E27FC236}">
                <a16:creationId xmlns:a16="http://schemas.microsoft.com/office/drawing/2014/main" id="{CEB61F88-8BCF-421A-8519-C58535AA4961}"/>
              </a:ext>
            </a:extLst>
          </p:cNvPr>
          <p:cNvSpPr>
            <a:spLocks xmlns:a="http://schemas.openxmlformats.org/drawingml/2006/main" noGrp="1"/>
          </p:cNvSpPr>
          <p:nvPr/>
        </p:nvSpPr>
        <p:spPr>
          <a:xfrm xmlns:a="http://schemas.openxmlformats.org/drawingml/2006/main">
            <a:off x="8591550" y="4019550"/>
            <a:ext cx="29146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thousand passengers</a:t>
            </a:r>
          </a:p>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average miss</a:t>
            </a:r>
          </a:p>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on the held-out year</a:t>
            </a:r>
          </a:p>
        </p:txBody>
      </p:sp>
    </p:spTree>
    <p:extLst>
      <p:ext uri="{BB962C8B-B14F-4D97-AF65-F5344CB8AC3E}">
        <p14:creationId xmlns:p14="http://schemas.microsoft.com/office/powerpoint/2010/main" val="975887260"/>
      </p:ext>
    </p:extLst>
  </p:cSld>
</p:sld>
</file>

<file path=ppt/slides/slide1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5C4BC1-0E2C-47A2-8F23-B1AE631F903D}"/>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next 24 months are estimates</a:t>
            </a:r>
          </a:p>
        </p:txBody>
      </p:sp>
      <p:sp>
        <p:nvSpPr>
          <p:cNvPr id="2" name="">
            <a:extLst xmlns:a="http://schemas.openxmlformats.org/drawingml/2006/main">
              <a:ext uri="{FF2B5EF4-FFF2-40B4-BE49-F238E27FC236}">
                <a16:creationId xmlns:a16="http://schemas.microsoft.com/office/drawing/2014/main" id="{465DC329-2543-4847-BFE1-EB541B18EB6E}"/>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AirPassengers!D20. Full code is on worksheet page 4.</a:t>
            </a:r>
          </a:p>
        </p:txBody>
      </p:sp>
      <p:sp>
        <p:nvSpPr>
          <p:cNvPr id="3" name="">
            <a:extLst xmlns:a="http://schemas.openxmlformats.org/drawingml/2006/main">
              <a:ext uri="{FF2B5EF4-FFF2-40B4-BE49-F238E27FC236}">
                <a16:creationId xmlns:a16="http://schemas.microsoft.com/office/drawing/2014/main" id="{53B7548D-BFC4-4026-B72D-7528386A4D72}"/>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14</a:t>
            </a:r>
          </a:p>
        </p:txBody>
      </p:sp>
      <p:graphicFrame>
        <p:nvGraphicFramePr>
          <p:cNvPr id="9" name="Chart"/>
          <p:cNvGraphicFramePr/>
          <p:nvPr/>
        </p:nvGraphicFramePr>
        <p:xfrm>
          <a:off xmlns:a="http://schemas.openxmlformats.org/drawingml/2006/main" x="609600" y="2505075"/>
          <a:ext xmlns:a="http://schemas.openxmlformats.org/drawingml/2006/main" cx="10972800" cy="3352800"/>
        </p:xfrm>
        <a:graphic xmlns:a="http://schemas.openxmlformats.org/drawingml/2006/main">
          <a:graphicData uri="http://schemas.openxmlformats.org/drawingml/2006/chart">
            <c:chart xmlns:r="http://schemas.openxmlformats.org/officeDocument/2006/relationships" xmlns:c="http://schemas.openxmlformats.org/drawingml/2006/chart" r:id="R7cdef3ebefc24607"/>
          </a:graphicData>
        </a:graphic>
      </p:graphicFrame>
      <p:sp>
        <p:nvSpPr>
          <p:cNvPr id="5" name="">
            <a:extLst xmlns:a="http://schemas.openxmlformats.org/drawingml/2006/main">
              <a:ext uri="{FF2B5EF4-FFF2-40B4-BE49-F238E27FC236}">
                <a16:creationId xmlns:a16="http://schemas.microsoft.com/office/drawing/2014/main" id="{1A467D7D-E7E4-4CEC-BC78-727EC2754DCE}"/>
              </a:ext>
            </a:extLst>
          </p:cNvPr>
          <p:cNvSpPr>
            <a:spLocks xmlns:a="http://schemas.openxmlformats.org/drawingml/2006/main" noGrp="1"/>
          </p:cNvSpPr>
          <p:nvPr/>
        </p:nvSpPr>
        <p:spPr>
          <a:xfrm xmlns:a="http://schemas.openxmlformats.org/drawingml/2006/main">
            <a:off x="609600" y="5991225"/>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The model extends past patterns. Real conditions can change.</a:t>
            </a:r>
          </a:p>
        </p:txBody>
      </p:sp>
    </p:spTree>
    <p:extLst>
      <p:ext uri="{BB962C8B-B14F-4D97-AF65-F5344CB8AC3E}">
        <p14:creationId xmlns:p14="http://schemas.microsoft.com/office/powerpoint/2010/main" val="1185521602"/>
      </p:ext>
    </p:extLst>
  </p:cSld>
</p:sld>
</file>

<file path=ppt/slides/slide15.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C6D3A3-0FCD-4BF7-82BF-76A58445B116}"/>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A result needs a plain-English explanation</a:t>
            </a:r>
          </a:p>
        </p:txBody>
      </p:sp>
      <p:sp>
        <p:nvSpPr>
          <p:cNvPr id="2" name="">
            <a:extLst xmlns:a="http://schemas.openxmlformats.org/drawingml/2006/main">
              <a:ext uri="{FF2B5EF4-FFF2-40B4-BE49-F238E27FC236}">
                <a16:creationId xmlns:a16="http://schemas.microsoft.com/office/drawing/2014/main" id="{7958FA4A-38F3-4D20-AA2C-AB345BD5E309}"/>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YOUR TURN  /  One result and one limitation</a:t>
            </a:r>
          </a:p>
        </p:txBody>
      </p:sp>
      <p:sp>
        <p:nvSpPr>
          <p:cNvPr id="3" name="">
            <a:extLst xmlns:a="http://schemas.openxmlformats.org/drawingml/2006/main">
              <a:ext uri="{FF2B5EF4-FFF2-40B4-BE49-F238E27FC236}">
                <a16:creationId xmlns:a16="http://schemas.microsoft.com/office/drawing/2014/main" id="{A0F5E5DC-883E-4A11-9436-6C2FA6E07E07}"/>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A4A4951F-6C56-47E9-85CF-3E504797DF24}"/>
              </a:ext>
            </a:extLst>
          </p:cNvPr>
          <p:cNvSpPr>
            <a:spLocks xmlns:a="http://schemas.openxmlformats.org/drawingml/2006/main" noGrp="1"/>
          </p:cNvSpPr>
          <p:nvPr/>
        </p:nvSpPr>
        <p:spPr>
          <a:xfrm xmlns:a="http://schemas.openxmlformats.org/drawingml/2006/main">
            <a:off x="609600" y="266700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model missed by about 13,400 passengers</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on average in the test year.”</a:t>
            </a:r>
          </a:p>
        </p:txBody>
      </p:sp>
      <p:sp>
        <p:nvSpPr>
          <p:cNvPr id="5" name="">
            <a:extLst xmlns:a="http://schemas.openxmlformats.org/drawingml/2006/main">
              <a:ext uri="{FF2B5EF4-FFF2-40B4-BE49-F238E27FC236}">
                <a16:creationId xmlns:a16="http://schemas.microsoft.com/office/drawing/2014/main" id="{55E5B069-AA3F-4467-86BD-76D760F368BE}"/>
              </a:ext>
            </a:extLst>
          </p:cNvPr>
          <p:cNvSpPr>
            <a:spLocks xmlns:a="http://schemas.openxmlformats.org/drawingml/2006/main" noGrp="1"/>
          </p:cNvSpPr>
          <p:nvPr/>
        </p:nvSpPr>
        <p:spPr>
          <a:xfrm xmlns:a="http://schemas.openxmlformats.org/drawingml/2006/main">
            <a:off x="609600" y="47053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EEECE1"/>
                </a:solidFill>
                <a:latin typeface="Arial"/>
                <a:ea typeface="Arial"/>
                <a:cs typeface="Arial"/>
              </a:defRPr>
            </a:pPr>
            <a:r>
              <a:rPr sz="2325" b="0">
                <a:solidFill>
                  <a:srgbClr val="EEECE1"/>
                </a:solidFill>
                <a:latin typeface="Arial"/>
                <a:ea typeface="Arial"/>
                <a:cs typeface="Arial"/>
              </a:rPr>
              <a:t>“I would test it on other periods before relying on it.”</a:t>
            </a:r>
          </a:p>
        </p:txBody>
      </p:sp>
    </p:spTree>
    <p:extLst>
      <p:ext uri="{BB962C8B-B14F-4D97-AF65-F5344CB8AC3E}">
        <p14:creationId xmlns:p14="http://schemas.microsoft.com/office/powerpoint/2010/main" val="720158892"/>
      </p:ext>
    </p:extLst>
  </p:cSld>
</p:sld>
</file>

<file path=ppt/slides/slide1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5041FE-525E-4F2E-B62D-8E7CBF162CCE}"/>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book to help you keep going</a:t>
            </a:r>
          </a:p>
        </p:txBody>
      </p:sp>
      <p:sp>
        <p:nvSpPr>
          <p:cNvPr id="2" name="">
            <a:extLst xmlns:a="http://schemas.openxmlformats.org/drawingml/2006/main">
              <a:ext uri="{FF2B5EF4-FFF2-40B4-BE49-F238E27FC236}">
                <a16:creationId xmlns:a16="http://schemas.microsoft.com/office/drawing/2014/main" id="{54E6A4ED-62BA-40A3-B45E-98BE7C635C57}"/>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Python in Excel for Data Analytics  /  George Mount  /  Packt</a:t>
            </a:r>
          </a:p>
        </p:txBody>
      </p:sp>
      <p:sp>
        <p:nvSpPr>
          <p:cNvPr id="3" name="">
            <a:extLst xmlns:a="http://schemas.openxmlformats.org/drawingml/2006/main">
              <a:ext uri="{FF2B5EF4-FFF2-40B4-BE49-F238E27FC236}">
                <a16:creationId xmlns:a16="http://schemas.microsoft.com/office/drawing/2014/main" id="{0934696A-848D-4C7D-AB5A-0B319361873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3ba31c05be74d28"/>
          <a:stretch xmlns:a="http://schemas.openxmlformats.org/drawingml/2006/main"/>
        </p:blipFill>
        <p:spPr>
          <a:xfrm xmlns:a="http://schemas.openxmlformats.org/drawingml/2006/main">
            <a:off x="8140117" y="2314575"/>
            <a:ext cx="3226965"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42F5DB-C317-4D27-8931-C460353C9FCD}"/>
              </a:ext>
            </a:extLst>
          </p:cNvPr>
          <p:cNvSpPr>
            <a:spLocks xmlns:a="http://schemas.openxmlformats.org/drawingml/2006/main" noGrp="1"/>
          </p:cNvSpPr>
          <p:nvPr/>
        </p:nvSpPr>
        <p:spPr>
          <a:xfrm xmlns:a="http://schemas.openxmlformats.org/drawingml/2006/main">
            <a:off x="609600" y="260985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Build on today’s examples</a:t>
            </a:r>
          </a:p>
        </p:txBody>
      </p:sp>
      <p:sp>
        <p:nvSpPr>
          <p:cNvPr id="6" name="">
            <a:extLst xmlns:a="http://schemas.openxmlformats.org/drawingml/2006/main">
              <a:ext uri="{FF2B5EF4-FFF2-40B4-BE49-F238E27FC236}">
                <a16:creationId xmlns:a16="http://schemas.microsoft.com/office/drawing/2014/main" id="{CF3BEEF2-D12D-4938-B7A6-C6BF5C6F072D}"/>
              </a:ext>
            </a:extLst>
          </p:cNvPr>
          <p:cNvSpPr>
            <a:spLocks xmlns:a="http://schemas.openxmlformats.org/drawingml/2006/main" noGrp="1"/>
          </p:cNvSpPr>
          <p:nvPr/>
        </p:nvSpPr>
        <p:spPr>
          <a:xfrm xmlns:a="http://schemas.openxmlformats.org/drawingml/2006/main">
            <a:off x="609600" y="3209925"/>
            <a:ext cx="6905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Chapters 5–7 cover statistical tests, regression and forecasting.</a:t>
            </a:r>
          </a:p>
        </p:txBody>
      </p:sp>
      <p:sp>
        <p:nvSpPr>
          <p:cNvPr id="7" name="">
            <a:extLst xmlns:a="http://schemas.openxmlformats.org/drawingml/2006/main">
              <a:ext uri="{FF2B5EF4-FFF2-40B4-BE49-F238E27FC236}">
                <a16:creationId xmlns:a16="http://schemas.microsoft.com/office/drawing/2014/main" id="{AA817F6A-04CD-4CD0-A81B-550A91925C56}"/>
              </a:ext>
            </a:extLst>
          </p:cNvPr>
          <p:cNvSpPr>
            <a:spLocks xmlns:a="http://schemas.openxmlformats.org/drawingml/2006/main" noGrp="1"/>
          </p:cNvSpPr>
          <p:nvPr/>
        </p:nvSpPr>
        <p:spPr>
          <a:xfrm xmlns:a="http://schemas.openxmlformats.org/drawingml/2006/main">
            <a:off x="609600" y="470535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A path you can practice</a:t>
            </a:r>
          </a:p>
        </p:txBody>
      </p:sp>
      <p:sp>
        <p:nvSpPr>
          <p:cNvPr id="8" name="">
            <a:extLst xmlns:a="http://schemas.openxmlformats.org/drawingml/2006/main">
              <a:ext uri="{FF2B5EF4-FFF2-40B4-BE49-F238E27FC236}">
                <a16:creationId xmlns:a16="http://schemas.microsoft.com/office/drawing/2014/main" id="{CDB5DBA1-10B1-4EA5-89E4-E41076D6406F}"/>
              </a:ext>
            </a:extLst>
          </p:cNvPr>
          <p:cNvSpPr>
            <a:spLocks xmlns:a="http://schemas.openxmlformats.org/drawingml/2006/main" noGrp="1"/>
          </p:cNvSpPr>
          <p:nvPr/>
        </p:nvSpPr>
        <p:spPr>
          <a:xfrm xmlns:a="http://schemas.openxmlformats.org/drawingml/2006/main">
            <a:off x="609600" y="5276850"/>
            <a:ext cx="695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Follow worked examples and learn how to interpret and check your results.</a:t>
            </a:r>
          </a:p>
        </p:txBody>
      </p:sp>
    </p:spTree>
    <p:extLst>
      <p:ext uri="{BB962C8B-B14F-4D97-AF65-F5344CB8AC3E}">
        <p14:creationId xmlns:p14="http://schemas.microsoft.com/office/powerpoint/2010/main" val="1006368943"/>
      </p:ext>
    </p:extLst>
  </p:cSld>
</p:sld>
</file>

<file path=ppt/slides/slide17.xml><?xml version="1.0" encoding="utf-8"?>
<p:sld xmlns:p="http://schemas.openxmlformats.org/presentationml/2006/main">
  <p:cSld>
    <p:bg>
      <p:bgPr>
        <a:solidFill xmlns:a="http://schemas.openxmlformats.org/drawingml/2006/main">
          <a:srgbClr val="CF33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C98ACE-185E-4DEB-82E4-BDC79EA2C483}"/>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Preorder your copy</a:t>
            </a:r>
          </a:p>
        </p:txBody>
      </p:sp>
      <p:sp>
        <p:nvSpPr>
          <p:cNvPr id="2" name="">
            <a:extLst xmlns:a="http://schemas.openxmlformats.org/drawingml/2006/main">
              <a:ext uri="{FF2B5EF4-FFF2-40B4-BE49-F238E27FC236}">
                <a16:creationId xmlns:a16="http://schemas.microsoft.com/office/drawing/2014/main" id="{BB532AB4-B800-4818-8B2F-1964EA128F9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ADA7A9FC-D816-4CE8-B17F-0FBA8091AFCB}"/>
              </a:ext>
            </a:extLst>
          </p:cNvPr>
          <p:cNvSpPr>
            <a:spLocks xmlns:a="http://schemas.openxmlformats.org/drawingml/2006/main" noGrp="1"/>
          </p:cNvSpPr>
          <p:nvPr/>
        </p:nvSpPr>
        <p:spPr>
          <a:xfrm xmlns:a="http://schemas.openxmlformats.org/drawingml/2006/main">
            <a:off x="609600" y="2171700"/>
            <a:ext cx="714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Python in Excel</a:t>
            </a:r>
          </a:p>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for Data Analytics</a:t>
            </a:r>
          </a:p>
        </p:txBody>
      </p:sp>
      <p:sp>
        <p:nvSpPr>
          <p:cNvPr id="4" name="">
            <a:extLst xmlns:a="http://schemas.openxmlformats.org/drawingml/2006/main">
              <a:ext uri="{FF2B5EF4-FFF2-40B4-BE49-F238E27FC236}">
                <a16:creationId xmlns:a16="http://schemas.microsoft.com/office/drawing/2014/main" id="{EAD859AF-EE54-4CB2-A12F-D4D4457704B7}"/>
              </a:ext>
            </a:extLst>
          </p:cNvPr>
          <p:cNvSpPr>
            <a:spLocks xmlns:a="http://schemas.openxmlformats.org/drawingml/2006/main" noGrp="1"/>
          </p:cNvSpPr>
          <p:nvPr/>
        </p:nvSpPr>
        <p:spPr>
          <a:xfrm xmlns:a="http://schemas.openxmlformats.org/drawingml/2006/main">
            <a:off x="609600" y="4067175"/>
            <a:ext cx="68770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Open the book page.</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your bookseller.</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Reserve your preferred format.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2b443a398c24069"/>
          <a:stretch xmlns:a="http://schemas.openxmlformats.org/drawingml/2006/main"/>
        </p:blipFill>
        <p:spPr>
          <a:xfrm xmlns:a="http://schemas.openxmlformats.org/drawingml/2006/main">
            <a:off x="8601075" y="2238375"/>
            <a:ext cx="2800350" cy="2800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758BD7F-FE09-488F-8DE1-FDAE9A6E459F}"/>
              </a:ext>
            </a:extLst>
          </p:cNvPr>
          <p:cNvSpPr>
            <a:spLocks xmlns:a="http://schemas.openxmlformats.org/drawingml/2006/main" noGrp="1"/>
          </p:cNvSpPr>
          <p:nvPr/>
        </p:nvSpPr>
        <p:spPr>
          <a:xfrm xmlns:a="http://schemas.openxmlformats.org/drawingml/2006/main">
            <a:off x="609600" y="5915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3b1997d9323e497c"/>
              </a:rPr>
              <a:t>stringfestanalytics.com/pyxlda</a:t>
            </a:r>
          </a:p>
        </p:txBody>
      </p:sp>
    </p:spTree>
    <p:extLst>
      <p:ext uri="{BB962C8B-B14F-4D97-AF65-F5344CB8AC3E}">
        <p14:creationId xmlns:p14="http://schemas.microsoft.com/office/powerpoint/2010/main" val="633644393"/>
      </p:ext>
    </p:extLst>
  </p:cSld>
</p:sld>
</file>

<file path=ppt/slides/slide18.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231EA5-37BB-468F-9F68-77DF4CFF2BB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What would you try in your own workbook?</a:t>
            </a:r>
          </a:p>
        </p:txBody>
      </p:sp>
      <p:sp>
        <p:nvSpPr>
          <p:cNvPr id="2" name="">
            <a:extLst xmlns:a="http://schemas.openxmlformats.org/drawingml/2006/main">
              <a:ext uri="{FF2B5EF4-FFF2-40B4-BE49-F238E27FC236}">
                <a16:creationId xmlns:a16="http://schemas.microsoft.com/office/drawing/2014/main" id="{6AF0C15E-514C-49FE-A59C-C848F46D52D7}"/>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Questions and your next step</a:t>
            </a:r>
          </a:p>
        </p:txBody>
      </p:sp>
      <p:sp>
        <p:nvSpPr>
          <p:cNvPr id="3" name="">
            <a:extLst xmlns:a="http://schemas.openxmlformats.org/drawingml/2006/main">
              <a:ext uri="{FF2B5EF4-FFF2-40B4-BE49-F238E27FC236}">
                <a16:creationId xmlns:a16="http://schemas.microsoft.com/office/drawing/2014/main" id="{50D963E5-2543-4D8A-9A27-18B4BD1C3B91}"/>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F6515D6B-6E6F-4C30-92CD-425EA6BB5B34}"/>
              </a:ext>
            </a:extLst>
          </p:cNvPr>
          <p:cNvSpPr>
            <a:spLocks xmlns:a="http://schemas.openxmlformats.org/drawingml/2006/main" noGrp="1"/>
          </p:cNvSpPr>
          <p:nvPr/>
        </p:nvSpPr>
        <p:spPr>
          <a:xfrm xmlns:a="http://schemas.openxmlformats.org/drawingml/2006/main">
            <a:off x="609600" y="27908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One question. One small example you can check.</a:t>
            </a:r>
          </a:p>
        </p:txBody>
      </p:sp>
      <p:sp>
        <p:nvSpPr>
          <p:cNvPr id="5" name="">
            <a:extLst xmlns:a="http://schemas.openxmlformats.org/drawingml/2006/main">
              <a:ext uri="{FF2B5EF4-FFF2-40B4-BE49-F238E27FC236}">
                <a16:creationId xmlns:a16="http://schemas.microsoft.com/office/drawing/2014/main" id="{A2CFFA9B-46A4-4853-BB54-89A79B8B443E}"/>
              </a:ext>
            </a:extLst>
          </p:cNvPr>
          <p:cNvSpPr>
            <a:spLocks xmlns:a="http://schemas.openxmlformats.org/drawingml/2006/main" noGrp="1"/>
          </p:cNvSpPr>
          <p:nvPr/>
        </p:nvSpPr>
        <p:spPr>
          <a:xfrm xmlns:a="http://schemas.openxmlformats.org/drawingml/2006/main">
            <a:off x="609600" y="43338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a7b83fa0d001400c"/>
              </a:rPr>
              <a:t>Preorder: stringfestanalytics.com/pyxlda</a:t>
            </a:r>
          </a:p>
        </p:txBody>
      </p:sp>
      <p:sp>
        <p:nvSpPr>
          <p:cNvPr id="6" name="">
            <a:extLst xmlns:a="http://schemas.openxmlformats.org/drawingml/2006/main">
              <a:ext uri="{FF2B5EF4-FFF2-40B4-BE49-F238E27FC236}">
                <a16:creationId xmlns:a16="http://schemas.microsoft.com/office/drawing/2014/main" id="{A425817F-AA67-4120-A3F6-339A1EC57566}"/>
              </a:ext>
            </a:extLst>
          </p:cNvPr>
          <p:cNvSpPr>
            <a:spLocks xmlns:a="http://schemas.openxmlformats.org/drawingml/2006/main" noGrp="1"/>
          </p:cNvSpPr>
          <p:nvPr/>
        </p:nvSpPr>
        <p:spPr>
          <a:xfrm xmlns:a="http://schemas.openxmlformats.org/drawingml/2006/main">
            <a:off x="609600" y="55435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EECE1"/>
                </a:solidFill>
                <a:latin typeface="Arial"/>
                <a:ea typeface="Arial"/>
                <a:cs typeface="Arial"/>
              </a:defRPr>
            </a:pPr>
            <a:r>
              <a:rPr>
                <a:hlinkClick xmlns:r="http://schemas.openxmlformats.org/officeDocument/2006/relationships" r:id="Ra9caa52af36c4122"/>
              </a:rPr>
              <a:t>Files and replay: stringfestdata.gumroad.com/l/pxlaf</a:t>
            </a:r>
          </a:p>
        </p:txBody>
      </p:sp>
    </p:spTree>
    <p:extLst>
      <p:ext uri="{BB962C8B-B14F-4D97-AF65-F5344CB8AC3E}">
        <p14:creationId xmlns:p14="http://schemas.microsoft.com/office/powerpoint/2010/main" val="599971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2026-09-20T21:41:36.9370000Z</dcterms:created>
  <dcterms:modified xsi:type="dcterms:W3CDTF">2026-09-20T21:41:36.9370000Z</dcterms:modified>
</coreProperties>
</file>